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27" r:id="rId5"/>
    <p:sldId id="328" r:id="rId6"/>
    <p:sldId id="329" r:id="rId7"/>
    <p:sldId id="330" r:id="rId8"/>
    <p:sldId id="331" r:id="rId9"/>
    <p:sldId id="332" r:id="rId10"/>
    <p:sldId id="337" r:id="rId11"/>
    <p:sldId id="338" r:id="rId12"/>
    <p:sldId id="339" r:id="rId13"/>
    <p:sldId id="340" r:id="rId14"/>
    <p:sldId id="341" r:id="rId15"/>
    <p:sldId id="277" r:id="rId16"/>
    <p:sldId id="278" r:id="rId17"/>
    <p:sldId id="279" r:id="rId18"/>
    <p:sldId id="280" r:id="rId19"/>
    <p:sldId id="385" r:id="rId20"/>
    <p:sldId id="386" r:id="rId21"/>
    <p:sldId id="387" r:id="rId22"/>
    <p:sldId id="388" r:id="rId23"/>
    <p:sldId id="389" r:id="rId24"/>
    <p:sldId id="281" r:id="rId25"/>
    <p:sldId id="282" r:id="rId26"/>
    <p:sldId id="283" r:id="rId27"/>
    <p:sldId id="357" r:id="rId28"/>
    <p:sldId id="358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FF"/>
    <a:srgbClr val="FFFF00"/>
    <a:srgbClr val="FF99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8" autoAdjust="0"/>
    <p:restoredTop sz="94660" autoAdjust="0"/>
  </p:normalViewPr>
  <p:slideViewPr>
    <p:cSldViewPr>
      <p:cViewPr varScale="1">
        <p:scale>
          <a:sx n="208" d="100"/>
          <a:sy n="208" d="100"/>
        </p:scale>
        <p:origin x="864" y="186"/>
      </p:cViewPr>
      <p:guideLst>
        <p:guide orient="horz" pos="2145"/>
        <p:guide pos="290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5" Type="http://schemas.openxmlformats.org/officeDocument/2006/relationships/slide" Target="slides/slide13.xml"/><Relationship Id="rId4" Type="http://schemas.openxmlformats.org/officeDocument/2006/relationships/slide" Target="slides/slide9.xml"/><Relationship Id="rId3" Type="http://schemas.openxmlformats.org/officeDocument/2006/relationships/slide" Target="slides/slide4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8AC74AC1-1B62-42D2-A12F-FF0BBD509A6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95BFD0-BD4A-49F9-AA64-BA61AA112ABF}" type="slidenum">
              <a:rPr lang="en-US" altLang="zh-CN"/>
            </a:fld>
            <a:endParaRPr lang="en-US" altLang="zh-CN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77410B0-4BEF-4260-8434-7B764748F2A5}" type="slidenum">
              <a:rPr lang="en-US" altLang="zh-CN"/>
            </a:fld>
            <a:endParaRPr lang="en-US" altLang="zh-CN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4B8B7A7-74B8-499F-9402-2B107165A619}" type="slidenum">
              <a:rPr lang="en-US" altLang="zh-CN"/>
            </a:fld>
            <a:endParaRPr lang="en-US" altLang="zh-CN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E56F5F4-B89A-4934-BCB3-17EAAF94F322}" type="slidenum">
              <a:rPr lang="en-US" altLang="zh-CN"/>
            </a:fld>
            <a:endParaRPr lang="en-US" altLang="zh-CN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7ED73DD-05B9-424A-8329-D63687B85E07}" type="slidenum">
              <a:rPr lang="en-US" altLang="zh-CN"/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7B727D0-7715-4598-854B-C5A9C24F6BC6}" type="slidenum">
              <a:rPr lang="en-US" altLang="zh-CN"/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B4C031C-D9DB-495B-AB5C-5742C835A1D3}" type="slidenum">
              <a:rPr lang="en-US" altLang="zh-CN"/>
            </a:fld>
            <a:endParaRPr lang="en-US" altLang="zh-CN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591972B-F958-45E8-8933-D725970B229E}" type="slidenum">
              <a:rPr lang="en-US" altLang="zh-CN"/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3E51F7B-7E67-43FB-A71A-A43D13C35C61}" type="slidenum">
              <a:rPr lang="en-US" altLang="zh-CN"/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933E989-D5A4-425B-8412-4120FC508ECD}" type="slidenum">
              <a:rPr lang="en-US" altLang="zh-CN"/>
            </a:fld>
            <a:endParaRPr lang="en-US" altLang="zh-CN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10C14EC-C663-461B-9E08-1672452EF4B3}" type="slidenum">
              <a:rPr lang="en-US" altLang="zh-CN"/>
            </a:fld>
            <a:endParaRPr lang="en-US" altLang="zh-CN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83E930B-B96E-4FFB-9931-2A6BDEDE0875}" type="slidenum">
              <a:rPr lang="en-US" altLang="zh-CN"/>
            </a:fld>
            <a:endParaRPr lang="en-US" altLang="zh-CN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65A2AC9-4AEB-4799-9E49-267C7E99190E}" type="slidenum">
              <a:rPr lang="en-US" altLang="zh-CN"/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FCC10ED-06E3-4C64-B1EF-C6A104BE5435}" type="slidenum">
              <a:rPr lang="en-US" altLang="zh-CN"/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1946223-C11B-4431-85B5-2CF1208AEA62}" type="slidenum">
              <a:rPr lang="en-US" altLang="zh-CN"/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4EFE4AE-8817-4596-A410-5E072E5E87F9}" type="slidenum">
              <a:rPr lang="en-US" altLang="zh-CN"/>
            </a:fld>
            <a:endParaRPr lang="en-US" altLang="zh-CN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1770FB1-B9D1-4EF7-83B3-374B521BA9C1}" type="slidenum">
              <a:rPr lang="en-US" altLang="zh-CN"/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9B32248-97FC-4FE9-8C6F-E2632E9FD566}" type="slidenum">
              <a:rPr lang="en-US" altLang="zh-CN"/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直接置</a:t>
            </a:r>
            <a:r>
              <a:rPr lang="en-US" altLang="zh-CN"/>
              <a:t>0</a:t>
            </a:r>
            <a:r>
              <a:rPr lang="zh-CN" altLang="en-US"/>
              <a:t>端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/>
              <a:t>和直接置</a:t>
            </a:r>
            <a:r>
              <a:rPr lang="en-US" altLang="zh-CN"/>
              <a:t>1</a:t>
            </a:r>
            <a:r>
              <a:rPr lang="zh-CN" altLang="en-US"/>
              <a:t>端</a:t>
            </a:r>
            <a:r>
              <a:rPr lang="en-US" altLang="zh-CN"/>
              <a:t>S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/>
              <a:t>都是低电平有效，平时应该保持为高电平。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A942DBE-92ED-43DC-A265-5476AE124BF8}" type="slidenum">
              <a:rPr lang="en-US" altLang="zh-CN"/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8F81C1D-8EC5-4DD8-B008-794526F09AC9}" type="slidenum">
              <a:rPr lang="en-US" altLang="zh-CN"/>
            </a:fld>
            <a:endParaRPr lang="en-US" altLang="zh-CN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81F5DAC-2442-45CE-B8F0-9AC73AA0C281}" type="slidenum">
              <a:rPr lang="en-US" altLang="zh-CN"/>
            </a:fld>
            <a:endParaRPr lang="en-US" altLang="zh-CN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3CA102-A77C-4C32-BB66-E628741F08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46103-88CF-4858-B6EB-CD78A7B5A5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319D5-C720-48EE-B3C4-6E4C912639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2375E-5291-410A-B6F5-2081694815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6662FF-B4A6-4A45-8971-A2E9AC4FF96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1F6D4-F63B-4C5F-BEE8-D25F79CD89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1B260-AA81-49A8-83EC-EB38A775CA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0C2B78-7CFC-4A18-93BF-99500BA8B8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E91822-86C0-44A3-8368-D6112C3AAD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56AE1-8EAF-4A2B-B25A-21333A9500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11C04-ECD6-4F6F-AA4C-2D255CEC4F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057C07F-18D2-4412-BB05-772B20DA97B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emf"/><Relationship Id="rId11" Type="http://schemas.openxmlformats.org/officeDocument/2006/relationships/notesSlide" Target="../notesSlides/notesSlide20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2FB577B-77B9-4D02-A4E1-93C39B2E9219}" type="slidenum">
              <a:rPr lang="en-US" altLang="zh-CN" sz="1400"/>
            </a:fld>
            <a:endParaRPr lang="en-US" altLang="zh-CN" sz="1400"/>
          </a:p>
        </p:txBody>
      </p: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1336040" y="206375"/>
            <a:ext cx="5389880" cy="132207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第一部分计算机基础</a:t>
            </a:r>
            <a:endParaRPr lang="zh-CN" altLang="en-US" sz="4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CH1-4</a:t>
            </a: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触发器</a:t>
            </a:r>
            <a:endParaRPr lang="en-US" altLang="zh-CN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28650" y="1706563"/>
            <a:ext cx="304482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触发器概述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28650" y="2667000"/>
            <a:ext cx="345503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28650" y="3657600"/>
            <a:ext cx="336486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钟控触发器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50875" y="4606925"/>
            <a:ext cx="3290570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4.4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集成触发器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2052" grpId="0" bldLvl="0" animBg="1" autoUpdateAnimBg="0"/>
      <p:bldP spid="2053" grpId="0" bldLvl="0" animBg="1" autoUpdateAnimBg="0"/>
      <p:bldP spid="2054" grpId="0" bldLvl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E5C293-C1F6-4A42-A79B-8F87249B9B50}" type="slidenum">
              <a:rPr lang="en-US" altLang="zh-CN" sz="1400"/>
            </a:fld>
            <a:endParaRPr lang="en-US" altLang="zh-CN" sz="1400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057400" y="146050"/>
            <a:ext cx="48768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4.1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触发器概述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152400" y="1752600"/>
            <a:ext cx="88392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能够存储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一位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二进制信息的基本单元电路称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(Flip-Flop)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152400" y="3733800"/>
            <a:ext cx="884555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、具有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两个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能自我保持的稳定状态，用来表示逻辑状态的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，或表示二进制数的</a:t>
            </a: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dirty="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6437" name="Group 5"/>
          <p:cNvGrpSpPr/>
          <p:nvPr/>
        </p:nvGrpSpPr>
        <p:grpSpPr bwMode="auto">
          <a:xfrm>
            <a:off x="152400" y="4953000"/>
            <a:ext cx="5670550" cy="579438"/>
            <a:chOff x="144" y="3264"/>
            <a:chExt cx="3572" cy="365"/>
          </a:xfrm>
        </p:grpSpPr>
        <p:sp>
          <p:nvSpPr>
            <p:cNvPr id="146438" name="Rectangle 6"/>
            <p:cNvSpPr>
              <a:spLocks noChangeArrowheads="1"/>
            </p:cNvSpPr>
            <p:nvPr/>
          </p:nvSpPr>
          <p:spPr bwMode="auto">
            <a:xfrm>
              <a:off x="144" y="3264"/>
              <a:ext cx="3572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、具有一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对互补输出</a:t>
              </a:r>
              <a:r>
                <a:rPr lang="en-US" altLang="zh-CN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 Q</a:t>
              </a:r>
              <a:r>
                <a:rPr lang="zh-CN" altLang="en-US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 )</a:t>
              </a:r>
              <a:endPara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88" name="Line 7"/>
            <p:cNvSpPr>
              <a:spLocks noChangeShapeType="1"/>
            </p:cNvSpPr>
            <p:nvPr/>
          </p:nvSpPr>
          <p:spPr bwMode="auto">
            <a:xfrm>
              <a:off x="3235" y="3347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152400" y="1031875"/>
            <a:ext cx="34353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一、触发器的定义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152400" y="3048000"/>
            <a:ext cx="46545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二、触发器应具备的特点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6442" name="Group 10"/>
          <p:cNvGrpSpPr/>
          <p:nvPr/>
        </p:nvGrpSpPr>
        <p:grpSpPr bwMode="auto">
          <a:xfrm>
            <a:off x="381000" y="6202363"/>
            <a:ext cx="7251700" cy="579437"/>
            <a:chOff x="240" y="864"/>
            <a:chExt cx="4568" cy="365"/>
          </a:xfrm>
        </p:grpSpPr>
        <p:sp>
          <p:nvSpPr>
            <p:cNvPr id="146443" name="Rectangle 11"/>
            <p:cNvSpPr>
              <a:spLocks noChangeArrowheads="1"/>
            </p:cNvSpPr>
            <p:nvPr/>
          </p:nvSpPr>
          <p:spPr bwMode="auto">
            <a:xfrm>
              <a:off x="240" y="864"/>
              <a:ext cx="45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当 </a:t>
              </a: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Q=0( Q=1 )</a:t>
              </a: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时称触发器存储了</a:t>
              </a: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  <a:ea typeface="黑体" panose="02010609060101010101" pitchFamily="49" charset="-122"/>
                </a:rPr>
                <a:t>“</a:t>
              </a: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  <a:ea typeface="黑体" panose="02010609060101010101" pitchFamily="49" charset="-122"/>
                </a:rPr>
                <a:t>”</a:t>
              </a: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86" name="Line 12"/>
            <p:cNvSpPr>
              <a:spLocks noChangeShapeType="1"/>
            </p:cNvSpPr>
            <p:nvPr/>
          </p:nvSpPr>
          <p:spPr bwMode="auto">
            <a:xfrm>
              <a:off x="1440" y="91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6445" name="Group 13"/>
          <p:cNvGrpSpPr/>
          <p:nvPr/>
        </p:nvGrpSpPr>
        <p:grpSpPr bwMode="auto">
          <a:xfrm>
            <a:off x="368300" y="5635625"/>
            <a:ext cx="7251700" cy="579438"/>
            <a:chOff x="240" y="864"/>
            <a:chExt cx="4568" cy="365"/>
          </a:xfrm>
        </p:grpSpPr>
        <p:sp>
          <p:nvSpPr>
            <p:cNvPr id="146446" name="Rectangle 14"/>
            <p:cNvSpPr>
              <a:spLocks noChangeArrowheads="1"/>
            </p:cNvSpPr>
            <p:nvPr/>
          </p:nvSpPr>
          <p:spPr bwMode="auto">
            <a:xfrm>
              <a:off x="240" y="864"/>
              <a:ext cx="45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当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Q=1( Q=0 )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时称触发器存储了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  <a:ea typeface="黑体" panose="02010609060101010101" pitchFamily="49" charset="-122"/>
                </a:rPr>
                <a:t>“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  <a:ea typeface="黑体" panose="02010609060101010101" pitchFamily="49" charset="-122"/>
                </a:rPr>
                <a:t>”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；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84" name="Line 15"/>
            <p:cNvSpPr>
              <a:spLocks noChangeShapeType="1"/>
            </p:cNvSpPr>
            <p:nvPr/>
          </p:nvSpPr>
          <p:spPr bwMode="auto">
            <a:xfrm>
              <a:off x="1440" y="91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ldLvl="0" animBg="1" autoUpdateAnimBg="0"/>
      <p:bldP spid="146436" grpId="0" bldLvl="0" animBg="1" autoUpdateAnimBg="0"/>
      <p:bldP spid="146440" grpId="0" animBg="1" autoUpdateAnimBg="0"/>
      <p:bldP spid="146441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66B9CB-5852-48E9-BD2D-272A13830A67}" type="slidenum">
              <a:rPr lang="en-US" altLang="zh-CN" sz="1400"/>
            </a:fld>
            <a:endParaRPr lang="en-US" altLang="zh-CN" sz="1400"/>
          </a:p>
        </p:txBody>
      </p:sp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71450" y="931863"/>
            <a:ext cx="64833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、有一组控制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激励、驱动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输入。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71450" y="1673225"/>
            <a:ext cx="7905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、或许有定时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时钟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端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CP(Clock Pulse)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179388" y="2379663"/>
            <a:ext cx="874395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、在输入信号消失后，电路能将获得的新状态保持下来。</a:t>
            </a:r>
            <a:endParaRPr lang="zh-CN" altLang="en-US" sz="3200" dirty="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180975" y="3578225"/>
            <a:ext cx="8734425" cy="204152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、触发器接收输入信号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之前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的状态叫做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现态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，用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表示。触发器接收输入信号</a:t>
            </a:r>
            <a:r>
              <a:rPr lang="zh-CN" altLang="en-US" sz="320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之后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的状态叫做</a:t>
            </a:r>
            <a:r>
              <a:rPr lang="zh-CN" altLang="en-US" sz="320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次态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，用</a:t>
            </a:r>
            <a:r>
              <a:rPr lang="en-US" altLang="zh-CN" sz="320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表示。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现态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320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次态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是两个相邻离散时间里触发器输出端的状态。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ldLvl="0" animBg="1" autoUpdateAnimBg="0"/>
      <p:bldP spid="148484" grpId="0" bldLvl="0" animBg="1" autoUpdateAnimBg="0"/>
      <p:bldP spid="148485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11C415-1738-4288-9BA3-1474963EF68A}" type="slidenum">
              <a:rPr lang="en-US" altLang="zh-CN" sz="1400"/>
            </a:fld>
            <a:endParaRPr lang="en-US" altLang="zh-CN" sz="140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1905000" y="222250"/>
            <a:ext cx="53340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171450" y="2011363"/>
            <a:ext cx="2428875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0532" name="Group 4"/>
          <p:cNvGrpSpPr/>
          <p:nvPr/>
        </p:nvGrpSpPr>
        <p:grpSpPr bwMode="auto">
          <a:xfrm>
            <a:off x="5562600" y="2784475"/>
            <a:ext cx="2362200" cy="3284538"/>
            <a:chOff x="3504" y="1440"/>
            <a:chExt cx="1488" cy="2069"/>
          </a:xfrm>
        </p:grpSpPr>
        <p:sp>
          <p:nvSpPr>
            <p:cNvPr id="5159" name="Rectangle 5"/>
            <p:cNvSpPr>
              <a:spLocks noChangeArrowheads="1"/>
            </p:cNvSpPr>
            <p:nvPr/>
          </p:nvSpPr>
          <p:spPr bwMode="auto">
            <a:xfrm>
              <a:off x="3504" y="2064"/>
              <a:ext cx="1488" cy="7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60" name="Line 6"/>
            <p:cNvSpPr>
              <a:spLocks noChangeShapeType="1"/>
            </p:cNvSpPr>
            <p:nvPr/>
          </p:nvSpPr>
          <p:spPr bwMode="auto">
            <a:xfrm>
              <a:off x="3840" y="2880"/>
              <a:ext cx="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61" name="Line 7"/>
            <p:cNvSpPr>
              <a:spLocks noChangeShapeType="1"/>
            </p:cNvSpPr>
            <p:nvPr/>
          </p:nvSpPr>
          <p:spPr bwMode="auto">
            <a:xfrm>
              <a:off x="4704" y="2880"/>
              <a:ext cx="1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62" name="Line 8"/>
            <p:cNvSpPr>
              <a:spLocks noChangeShapeType="1"/>
            </p:cNvSpPr>
            <p:nvPr/>
          </p:nvSpPr>
          <p:spPr bwMode="auto">
            <a:xfrm flipV="1">
              <a:off x="4704" y="1728"/>
              <a:ext cx="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63" name="Line 9"/>
            <p:cNvSpPr>
              <a:spLocks noChangeShapeType="1"/>
            </p:cNvSpPr>
            <p:nvPr/>
          </p:nvSpPr>
          <p:spPr bwMode="auto">
            <a:xfrm flipV="1">
              <a:off x="3840" y="1824"/>
              <a:ext cx="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8" name="Rectangle 10"/>
            <p:cNvSpPr>
              <a:spLocks noChangeArrowheads="1"/>
            </p:cNvSpPr>
            <p:nvPr/>
          </p:nvSpPr>
          <p:spPr bwMode="auto">
            <a:xfrm>
              <a:off x="3696" y="314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39" name="Rectangle 11"/>
            <p:cNvSpPr>
              <a:spLocks noChangeArrowheads="1"/>
            </p:cNvSpPr>
            <p:nvPr/>
          </p:nvSpPr>
          <p:spPr bwMode="auto">
            <a:xfrm>
              <a:off x="4608" y="31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6" name="Line 12"/>
            <p:cNvSpPr>
              <a:spLocks noChangeShapeType="1"/>
            </p:cNvSpPr>
            <p:nvPr/>
          </p:nvSpPr>
          <p:spPr bwMode="auto">
            <a:xfrm>
              <a:off x="3744" y="3168"/>
              <a:ext cx="1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67" name="Line 13"/>
            <p:cNvSpPr>
              <a:spLocks noChangeShapeType="1"/>
            </p:cNvSpPr>
            <p:nvPr/>
          </p:nvSpPr>
          <p:spPr bwMode="auto">
            <a:xfrm>
              <a:off x="4608" y="3168"/>
              <a:ext cx="19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2" name="Rectangle 14"/>
            <p:cNvSpPr>
              <a:spLocks noChangeArrowheads="1"/>
            </p:cNvSpPr>
            <p:nvPr/>
          </p:nvSpPr>
          <p:spPr bwMode="auto">
            <a:xfrm>
              <a:off x="3696" y="14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43" name="Rectangle 15"/>
            <p:cNvSpPr>
              <a:spLocks noChangeArrowheads="1"/>
            </p:cNvSpPr>
            <p:nvPr/>
          </p:nvSpPr>
          <p:spPr bwMode="auto">
            <a:xfrm>
              <a:off x="4704" y="14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0" name="Line 16"/>
            <p:cNvSpPr>
              <a:spLocks noChangeShapeType="1"/>
            </p:cNvSpPr>
            <p:nvPr/>
          </p:nvSpPr>
          <p:spPr bwMode="auto">
            <a:xfrm>
              <a:off x="4752" y="1512"/>
              <a:ext cx="1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71" name="Oval 17"/>
            <p:cNvSpPr>
              <a:spLocks noChangeArrowheads="1"/>
            </p:cNvSpPr>
            <p:nvPr/>
          </p:nvSpPr>
          <p:spPr bwMode="auto">
            <a:xfrm>
              <a:off x="3792" y="278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72" name="Oval 18"/>
            <p:cNvSpPr>
              <a:spLocks noChangeArrowheads="1"/>
            </p:cNvSpPr>
            <p:nvPr/>
          </p:nvSpPr>
          <p:spPr bwMode="auto">
            <a:xfrm>
              <a:off x="4656" y="278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73" name="Oval 19"/>
            <p:cNvSpPr>
              <a:spLocks noChangeArrowheads="1"/>
            </p:cNvSpPr>
            <p:nvPr/>
          </p:nvSpPr>
          <p:spPr bwMode="auto">
            <a:xfrm>
              <a:off x="4656" y="1968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50548" name="Group 20"/>
          <p:cNvGrpSpPr/>
          <p:nvPr/>
        </p:nvGrpSpPr>
        <p:grpSpPr bwMode="auto">
          <a:xfrm>
            <a:off x="1066800" y="2811463"/>
            <a:ext cx="3810000" cy="3284537"/>
            <a:chOff x="336" y="1560"/>
            <a:chExt cx="2400" cy="2069"/>
          </a:xfrm>
        </p:grpSpPr>
        <p:sp>
          <p:nvSpPr>
            <p:cNvPr id="5130" name="Rectangle 21"/>
            <p:cNvSpPr>
              <a:spLocks noChangeArrowheads="1"/>
            </p:cNvSpPr>
            <p:nvPr/>
          </p:nvSpPr>
          <p:spPr bwMode="auto">
            <a:xfrm>
              <a:off x="1680" y="2286"/>
              <a:ext cx="768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1" name="Rectangle 22"/>
            <p:cNvSpPr>
              <a:spLocks noChangeArrowheads="1"/>
            </p:cNvSpPr>
            <p:nvPr/>
          </p:nvSpPr>
          <p:spPr bwMode="auto">
            <a:xfrm>
              <a:off x="384" y="2286"/>
              <a:ext cx="768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2" name="Oval 23"/>
            <p:cNvSpPr>
              <a:spLocks noChangeArrowheads="1"/>
            </p:cNvSpPr>
            <p:nvPr/>
          </p:nvSpPr>
          <p:spPr bwMode="auto">
            <a:xfrm>
              <a:off x="720" y="219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3" name="Oval 24"/>
            <p:cNvSpPr>
              <a:spLocks noChangeArrowheads="1"/>
            </p:cNvSpPr>
            <p:nvPr/>
          </p:nvSpPr>
          <p:spPr bwMode="auto">
            <a:xfrm>
              <a:off x="2016" y="219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4" name="Line 25"/>
            <p:cNvSpPr>
              <a:spLocks noChangeShapeType="1"/>
            </p:cNvSpPr>
            <p:nvPr/>
          </p:nvSpPr>
          <p:spPr bwMode="auto">
            <a:xfrm flipV="1">
              <a:off x="768" y="190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5" name="Line 26"/>
            <p:cNvSpPr>
              <a:spLocks noChangeShapeType="1"/>
            </p:cNvSpPr>
            <p:nvPr/>
          </p:nvSpPr>
          <p:spPr bwMode="auto">
            <a:xfrm flipV="1">
              <a:off x="2064" y="190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6" name="Line 27"/>
            <p:cNvSpPr>
              <a:spLocks noChangeShapeType="1"/>
            </p:cNvSpPr>
            <p:nvPr/>
          </p:nvSpPr>
          <p:spPr bwMode="auto">
            <a:xfrm>
              <a:off x="768" y="204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7" name="Line 28"/>
            <p:cNvSpPr>
              <a:spLocks noChangeShapeType="1"/>
            </p:cNvSpPr>
            <p:nvPr/>
          </p:nvSpPr>
          <p:spPr bwMode="auto">
            <a:xfrm>
              <a:off x="1440" y="204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8" name="Line 29"/>
            <p:cNvSpPr>
              <a:spLocks noChangeShapeType="1"/>
            </p:cNvSpPr>
            <p:nvPr/>
          </p:nvSpPr>
          <p:spPr bwMode="auto">
            <a:xfrm flipH="1">
              <a:off x="1164" y="2046"/>
              <a:ext cx="276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9" name="Line 30"/>
            <p:cNvSpPr>
              <a:spLocks noChangeShapeType="1"/>
            </p:cNvSpPr>
            <p:nvPr/>
          </p:nvSpPr>
          <p:spPr bwMode="auto">
            <a:xfrm>
              <a:off x="1248" y="2046"/>
              <a:ext cx="48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0" name="Line 31"/>
            <p:cNvSpPr>
              <a:spLocks noChangeShapeType="1"/>
            </p:cNvSpPr>
            <p:nvPr/>
          </p:nvSpPr>
          <p:spPr bwMode="auto">
            <a:xfrm>
              <a:off x="576" y="267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1" name="Line 32"/>
            <p:cNvSpPr>
              <a:spLocks noChangeShapeType="1"/>
            </p:cNvSpPr>
            <p:nvPr/>
          </p:nvSpPr>
          <p:spPr bwMode="auto">
            <a:xfrm>
              <a:off x="960" y="267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2" name="Line 33"/>
            <p:cNvSpPr>
              <a:spLocks noChangeShapeType="1"/>
            </p:cNvSpPr>
            <p:nvPr/>
          </p:nvSpPr>
          <p:spPr bwMode="auto">
            <a:xfrm>
              <a:off x="1872" y="267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3" name="Line 34"/>
            <p:cNvSpPr>
              <a:spLocks noChangeShapeType="1"/>
            </p:cNvSpPr>
            <p:nvPr/>
          </p:nvSpPr>
          <p:spPr bwMode="auto">
            <a:xfrm>
              <a:off x="2256" y="267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4" name="Line 35"/>
            <p:cNvSpPr>
              <a:spLocks noChangeShapeType="1"/>
            </p:cNvSpPr>
            <p:nvPr/>
          </p:nvSpPr>
          <p:spPr bwMode="auto">
            <a:xfrm flipH="1">
              <a:off x="960" y="291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5" name="Line 36"/>
            <p:cNvSpPr>
              <a:spLocks noChangeShapeType="1"/>
            </p:cNvSpPr>
            <p:nvPr/>
          </p:nvSpPr>
          <p:spPr bwMode="auto">
            <a:xfrm>
              <a:off x="1872" y="271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6" name="Line 37"/>
            <p:cNvSpPr>
              <a:spLocks noChangeShapeType="1"/>
            </p:cNvSpPr>
            <p:nvPr/>
          </p:nvSpPr>
          <p:spPr bwMode="auto">
            <a:xfrm>
              <a:off x="1872" y="286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7" name="Line 38"/>
            <p:cNvSpPr>
              <a:spLocks noChangeShapeType="1"/>
            </p:cNvSpPr>
            <p:nvPr/>
          </p:nvSpPr>
          <p:spPr bwMode="auto">
            <a:xfrm flipH="1">
              <a:off x="1728" y="29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67" name="Rectangle 39"/>
            <p:cNvSpPr>
              <a:spLocks noChangeArrowheads="1"/>
            </p:cNvSpPr>
            <p:nvPr/>
          </p:nvSpPr>
          <p:spPr bwMode="auto">
            <a:xfrm>
              <a:off x="624" y="15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68" name="Rectangle 40"/>
            <p:cNvSpPr>
              <a:spLocks noChangeArrowheads="1"/>
            </p:cNvSpPr>
            <p:nvPr/>
          </p:nvSpPr>
          <p:spPr bwMode="auto">
            <a:xfrm>
              <a:off x="1920" y="15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69" name="Rectangle 41"/>
            <p:cNvSpPr>
              <a:spLocks noChangeArrowheads="1"/>
            </p:cNvSpPr>
            <p:nvPr/>
          </p:nvSpPr>
          <p:spPr bwMode="auto">
            <a:xfrm>
              <a:off x="336" y="324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S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70" name="Rectangle 42"/>
            <p:cNvSpPr>
              <a:spLocks noChangeArrowheads="1"/>
            </p:cNvSpPr>
            <p:nvPr/>
          </p:nvSpPr>
          <p:spPr bwMode="auto">
            <a:xfrm>
              <a:off x="2064" y="326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R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52" name="Line 43"/>
            <p:cNvSpPr>
              <a:spLocks noChangeShapeType="1"/>
            </p:cNvSpPr>
            <p:nvPr/>
          </p:nvSpPr>
          <p:spPr bwMode="auto">
            <a:xfrm>
              <a:off x="1968" y="161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3" name="Line 44"/>
            <p:cNvSpPr>
              <a:spLocks noChangeShapeType="1"/>
            </p:cNvSpPr>
            <p:nvPr/>
          </p:nvSpPr>
          <p:spPr bwMode="auto">
            <a:xfrm>
              <a:off x="480" y="329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4" name="Line 45"/>
            <p:cNvSpPr>
              <a:spLocks noChangeShapeType="1"/>
            </p:cNvSpPr>
            <p:nvPr/>
          </p:nvSpPr>
          <p:spPr bwMode="auto">
            <a:xfrm>
              <a:off x="2208" y="331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74" name="Rectangle 46"/>
            <p:cNvSpPr>
              <a:spLocks noChangeArrowheads="1"/>
            </p:cNvSpPr>
            <p:nvPr/>
          </p:nvSpPr>
          <p:spPr bwMode="auto">
            <a:xfrm>
              <a:off x="624" y="22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0575" name="Rectangle 47"/>
            <p:cNvSpPr>
              <a:spLocks noChangeArrowheads="1"/>
            </p:cNvSpPr>
            <p:nvPr/>
          </p:nvSpPr>
          <p:spPr bwMode="auto">
            <a:xfrm>
              <a:off x="1920" y="22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57" name="Oval 48"/>
            <p:cNvSpPr>
              <a:spLocks noChangeArrowheads="1"/>
            </p:cNvSpPr>
            <p:nvPr/>
          </p:nvSpPr>
          <p:spPr bwMode="auto">
            <a:xfrm>
              <a:off x="734" y="2005"/>
              <a:ext cx="68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58" name="Oval 49"/>
            <p:cNvSpPr>
              <a:spLocks noChangeArrowheads="1"/>
            </p:cNvSpPr>
            <p:nvPr/>
          </p:nvSpPr>
          <p:spPr bwMode="auto">
            <a:xfrm>
              <a:off x="2028" y="2008"/>
              <a:ext cx="68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50578" name="Rectangle 50"/>
          <p:cNvSpPr>
            <a:spLocks noChangeArrowheads="1"/>
          </p:cNvSpPr>
          <p:nvPr/>
        </p:nvSpPr>
        <p:spPr bwMode="auto">
          <a:xfrm>
            <a:off x="152400" y="1143000"/>
            <a:ext cx="7086600" cy="70675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4.2.1 </a:t>
            </a: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与非门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构成的</a:t>
            </a:r>
            <a:r>
              <a:rPr lang="en-US" altLang="zh-CN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animBg="1" autoUpdateAnimBg="0"/>
      <p:bldP spid="150578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5501" y="2659527"/>
            <a:ext cx="2072699" cy="2408237"/>
          </a:xfrm>
          <a:prstGeom prst="rect">
            <a:avLst/>
          </a:prstGeom>
        </p:spPr>
      </p:pic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D26D59B-4791-4626-A78F-1008F8ACC7C3}" type="slidenum">
              <a:rPr lang="en-US" altLang="zh-CN" sz="1400"/>
            </a:fld>
            <a:endParaRPr lang="en-US" altLang="zh-CN" sz="1400"/>
          </a:p>
        </p:txBody>
      </p:sp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222250" y="258763"/>
            <a:ext cx="2836863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、状态转换表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79450" y="1858963"/>
            <a:ext cx="5124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0    0    0     1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1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2581" name="Group 5"/>
          <p:cNvGrpSpPr/>
          <p:nvPr/>
        </p:nvGrpSpPr>
        <p:grpSpPr bwMode="auto">
          <a:xfrm>
            <a:off x="477838" y="990600"/>
            <a:ext cx="7239000" cy="5197475"/>
            <a:chOff x="240" y="720"/>
            <a:chExt cx="4560" cy="3274"/>
          </a:xfrm>
        </p:grpSpPr>
        <p:sp>
          <p:nvSpPr>
            <p:cNvPr id="6167" name="Line 6"/>
            <p:cNvSpPr>
              <a:spLocks noChangeShapeType="1"/>
            </p:cNvSpPr>
            <p:nvPr/>
          </p:nvSpPr>
          <p:spPr bwMode="auto">
            <a:xfrm flipV="1">
              <a:off x="240" y="1248"/>
              <a:ext cx="4560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8" name="Line 7"/>
            <p:cNvSpPr>
              <a:spLocks noChangeShapeType="1"/>
            </p:cNvSpPr>
            <p:nvPr/>
          </p:nvSpPr>
          <p:spPr bwMode="auto">
            <a:xfrm>
              <a:off x="2064" y="720"/>
              <a:ext cx="1" cy="32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9" name="Line 8"/>
            <p:cNvSpPr>
              <a:spLocks noChangeShapeType="1"/>
            </p:cNvSpPr>
            <p:nvPr/>
          </p:nvSpPr>
          <p:spPr bwMode="auto">
            <a:xfrm>
              <a:off x="3888" y="720"/>
              <a:ext cx="1" cy="32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585" name="Rectangle 9"/>
            <p:cNvSpPr>
              <a:spLocks noChangeArrowheads="1"/>
            </p:cNvSpPr>
            <p:nvPr/>
          </p:nvSpPr>
          <p:spPr bwMode="auto">
            <a:xfrm>
              <a:off x="288" y="826"/>
              <a:ext cx="44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   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  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  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n+1   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n+1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注释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71" name="Line 10"/>
            <p:cNvSpPr>
              <a:spLocks noChangeShapeType="1"/>
            </p:cNvSpPr>
            <p:nvPr/>
          </p:nvSpPr>
          <p:spPr bwMode="auto">
            <a:xfrm>
              <a:off x="960" y="864"/>
              <a:ext cx="14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72" name="Line 11"/>
            <p:cNvSpPr>
              <a:spLocks noChangeShapeType="1"/>
            </p:cNvSpPr>
            <p:nvPr/>
          </p:nvSpPr>
          <p:spPr bwMode="auto">
            <a:xfrm>
              <a:off x="1680" y="864"/>
              <a:ext cx="14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73" name="Line 12"/>
            <p:cNvSpPr>
              <a:spLocks noChangeShapeType="1"/>
            </p:cNvSpPr>
            <p:nvPr/>
          </p:nvSpPr>
          <p:spPr bwMode="auto">
            <a:xfrm>
              <a:off x="3216" y="864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2589" name="Rectangle 13"/>
          <p:cNvSpPr>
            <a:spLocks noChangeArrowheads="1"/>
          </p:cNvSpPr>
          <p:nvPr/>
        </p:nvSpPr>
        <p:spPr bwMode="auto">
          <a:xfrm>
            <a:off x="679450" y="23923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0    0    1     1      0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0" name="Rectangle 14"/>
          <p:cNvSpPr>
            <a:spLocks noChangeArrowheads="1"/>
          </p:cNvSpPr>
          <p:nvPr/>
        </p:nvSpPr>
        <p:spPr bwMode="auto">
          <a:xfrm>
            <a:off x="679450" y="29257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0    1    0     0      1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1" name="Rectangle 15"/>
          <p:cNvSpPr>
            <a:spLocks noChangeArrowheads="1"/>
          </p:cNvSpPr>
          <p:nvPr/>
        </p:nvSpPr>
        <p:spPr bwMode="auto">
          <a:xfrm>
            <a:off x="679450" y="34591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0    1    1     0      1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2" name="Rectangle 16"/>
          <p:cNvSpPr>
            <a:spLocks noChangeArrowheads="1"/>
          </p:cNvSpPr>
          <p:nvPr/>
        </p:nvSpPr>
        <p:spPr bwMode="auto">
          <a:xfrm>
            <a:off x="679450" y="3992563"/>
            <a:ext cx="5124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1    0    0     1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1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3" name="Rectangle 17"/>
          <p:cNvSpPr>
            <a:spLocks noChangeArrowheads="1"/>
          </p:cNvSpPr>
          <p:nvPr/>
        </p:nvSpPr>
        <p:spPr bwMode="auto">
          <a:xfrm>
            <a:off x="679450" y="45259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1    0    1     1      0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4" name="Rectangle 18"/>
          <p:cNvSpPr>
            <a:spLocks noChangeArrowheads="1"/>
          </p:cNvSpPr>
          <p:nvPr/>
        </p:nvSpPr>
        <p:spPr bwMode="auto">
          <a:xfrm>
            <a:off x="679450" y="51355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1    1    0     0      1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5" name="Rectangle 19"/>
          <p:cNvSpPr>
            <a:spLocks noChangeArrowheads="1"/>
          </p:cNvSpPr>
          <p:nvPr/>
        </p:nvSpPr>
        <p:spPr bwMode="auto">
          <a:xfrm>
            <a:off x="679450" y="56689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1    1    1     1      0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97" name="Rectangle 21"/>
          <p:cNvSpPr>
            <a:spLocks noChangeArrowheads="1"/>
          </p:cNvSpPr>
          <p:nvPr/>
        </p:nvSpPr>
        <p:spPr bwMode="auto">
          <a:xfrm>
            <a:off x="6580188" y="1830388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禁用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598" name="Rectangle 22"/>
          <p:cNvSpPr>
            <a:spLocks noChangeArrowheads="1"/>
          </p:cNvSpPr>
          <p:nvPr/>
        </p:nvSpPr>
        <p:spPr bwMode="auto">
          <a:xfrm>
            <a:off x="6588125" y="2408238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置位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599" name="Rectangle 23"/>
          <p:cNvSpPr>
            <a:spLocks noChangeArrowheads="1"/>
          </p:cNvSpPr>
          <p:nvPr/>
        </p:nvSpPr>
        <p:spPr bwMode="auto">
          <a:xfrm>
            <a:off x="6588125" y="2949575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复位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600" name="Rectangle 24"/>
          <p:cNvSpPr>
            <a:spLocks noChangeArrowheads="1"/>
          </p:cNvSpPr>
          <p:nvPr/>
        </p:nvSpPr>
        <p:spPr bwMode="auto">
          <a:xfrm>
            <a:off x="6588125" y="34671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保持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601" name="Rectangle 25"/>
          <p:cNvSpPr>
            <a:spLocks noChangeArrowheads="1"/>
          </p:cNvSpPr>
          <p:nvPr/>
        </p:nvSpPr>
        <p:spPr bwMode="auto">
          <a:xfrm>
            <a:off x="6578600" y="4002088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禁用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602" name="Rectangle 26"/>
          <p:cNvSpPr>
            <a:spLocks noChangeArrowheads="1"/>
          </p:cNvSpPr>
          <p:nvPr/>
        </p:nvSpPr>
        <p:spPr bwMode="auto">
          <a:xfrm>
            <a:off x="6586538" y="45085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置位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603" name="Rectangle 27"/>
          <p:cNvSpPr>
            <a:spLocks noChangeArrowheads="1"/>
          </p:cNvSpPr>
          <p:nvPr/>
        </p:nvSpPr>
        <p:spPr bwMode="auto">
          <a:xfrm>
            <a:off x="6586538" y="51308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复位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52604" name="Rectangle 28"/>
          <p:cNvSpPr>
            <a:spLocks noChangeArrowheads="1"/>
          </p:cNvSpPr>
          <p:nvPr/>
        </p:nvSpPr>
        <p:spPr bwMode="auto">
          <a:xfrm>
            <a:off x="6586538" y="5667375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保持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7956376" y="4653135"/>
            <a:ext cx="432048" cy="407815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6465671" y="4653136"/>
            <a:ext cx="432048" cy="407815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5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5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5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5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5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5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0" grpId="0" autoUpdateAnimBg="0" build="p"/>
      <p:bldP spid="152589" grpId="0" autoUpdateAnimBg="0" build="p"/>
      <p:bldP spid="152590" grpId="0" autoUpdateAnimBg="0" build="p"/>
      <p:bldP spid="152591" grpId="0" autoUpdateAnimBg="0" build="p"/>
      <p:bldP spid="152592" grpId="0" autoUpdateAnimBg="0" build="p"/>
      <p:bldP spid="152593" grpId="0" autoUpdateAnimBg="0" build="p"/>
      <p:bldP spid="152594" grpId="0" autoUpdateAnimBg="0" build="p"/>
      <p:bldP spid="152595" grpId="0" autoUpdateAnimBg="0" build="p"/>
      <p:bldP spid="152597" grpId="0"/>
      <p:bldP spid="152598" grpId="0"/>
      <p:bldP spid="152599" grpId="0"/>
      <p:bldP spid="152600" grpId="0"/>
      <p:bldP spid="152601" grpId="0"/>
      <p:bldP spid="152602" grpId="0"/>
      <p:bldP spid="152603" grpId="0"/>
      <p:bldP spid="152604" grpId="0"/>
      <p:bldP spid="31" grpId="0" animBg="1"/>
      <p:bldP spid="31" grpId="1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29EC12A-EDB5-498C-87D4-67E35D5F3D28}" type="slidenum">
              <a:rPr lang="en-US" altLang="zh-CN" sz="1400"/>
            </a:fld>
            <a:endParaRPr lang="en-US" altLang="zh-CN" sz="1400"/>
          </a:p>
        </p:txBody>
      </p:sp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152400" y="173355"/>
            <a:ext cx="66846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、特征方程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次态方程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（了解）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4627" name="Group 3"/>
          <p:cNvGrpSpPr/>
          <p:nvPr/>
        </p:nvGrpSpPr>
        <p:grpSpPr bwMode="auto">
          <a:xfrm>
            <a:off x="1981200" y="990600"/>
            <a:ext cx="3962400" cy="2514600"/>
            <a:chOff x="816" y="667"/>
            <a:chExt cx="2496" cy="1584"/>
          </a:xfrm>
        </p:grpSpPr>
        <p:sp>
          <p:nvSpPr>
            <p:cNvPr id="7180" name="Rectangle 4"/>
            <p:cNvSpPr>
              <a:spLocks noChangeArrowheads="1"/>
            </p:cNvSpPr>
            <p:nvPr/>
          </p:nvSpPr>
          <p:spPr bwMode="auto">
            <a:xfrm>
              <a:off x="1632" y="1387"/>
              <a:ext cx="1680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181" name="Line 5"/>
            <p:cNvSpPr>
              <a:spLocks noChangeShapeType="1"/>
            </p:cNvSpPr>
            <p:nvPr/>
          </p:nvSpPr>
          <p:spPr bwMode="auto">
            <a:xfrm>
              <a:off x="1632" y="1819"/>
              <a:ext cx="16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2" name="Line 6"/>
            <p:cNvSpPr>
              <a:spLocks noChangeShapeType="1"/>
            </p:cNvSpPr>
            <p:nvPr/>
          </p:nvSpPr>
          <p:spPr bwMode="auto">
            <a:xfrm>
              <a:off x="2016" y="1387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3" name="Line 7"/>
            <p:cNvSpPr>
              <a:spLocks noChangeShapeType="1"/>
            </p:cNvSpPr>
            <p:nvPr/>
          </p:nvSpPr>
          <p:spPr bwMode="auto">
            <a:xfrm>
              <a:off x="2880" y="1387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4" name="Line 8"/>
            <p:cNvSpPr>
              <a:spLocks noChangeShapeType="1"/>
            </p:cNvSpPr>
            <p:nvPr/>
          </p:nvSpPr>
          <p:spPr bwMode="auto">
            <a:xfrm>
              <a:off x="2448" y="1387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5" name="Line 9"/>
            <p:cNvSpPr>
              <a:spLocks noChangeShapeType="1"/>
            </p:cNvSpPr>
            <p:nvPr/>
          </p:nvSpPr>
          <p:spPr bwMode="auto">
            <a:xfrm flipH="1" flipV="1">
              <a:off x="1248" y="1003"/>
              <a:ext cx="384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34" name="Rectangle 10"/>
            <p:cNvSpPr>
              <a:spLocks noChangeArrowheads="1"/>
            </p:cNvSpPr>
            <p:nvPr/>
          </p:nvSpPr>
          <p:spPr bwMode="auto">
            <a:xfrm>
              <a:off x="1344" y="829"/>
              <a:ext cx="10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 R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35" name="Rectangle 11"/>
            <p:cNvSpPr>
              <a:spLocks noChangeArrowheads="1"/>
            </p:cNvSpPr>
            <p:nvPr/>
          </p:nvSpPr>
          <p:spPr bwMode="auto">
            <a:xfrm>
              <a:off x="1632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36" name="Rectangle 12"/>
            <p:cNvSpPr>
              <a:spLocks noChangeArrowheads="1"/>
            </p:cNvSpPr>
            <p:nvPr/>
          </p:nvSpPr>
          <p:spPr bwMode="auto">
            <a:xfrm>
              <a:off x="1968" y="1045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01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37" name="Rectangle 13"/>
            <p:cNvSpPr>
              <a:spLocks noChangeArrowheads="1"/>
            </p:cNvSpPr>
            <p:nvPr/>
          </p:nvSpPr>
          <p:spPr bwMode="auto">
            <a:xfrm>
              <a:off x="2448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38" name="Rectangle 14"/>
            <p:cNvSpPr>
              <a:spLocks noChangeArrowheads="1"/>
            </p:cNvSpPr>
            <p:nvPr/>
          </p:nvSpPr>
          <p:spPr bwMode="auto">
            <a:xfrm>
              <a:off x="2880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39" name="Rectangle 15"/>
            <p:cNvSpPr>
              <a:spLocks noChangeArrowheads="1"/>
            </p:cNvSpPr>
            <p:nvPr/>
          </p:nvSpPr>
          <p:spPr bwMode="auto">
            <a:xfrm>
              <a:off x="1392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0" name="Rectangle 16"/>
            <p:cNvSpPr>
              <a:spLocks noChangeArrowheads="1"/>
            </p:cNvSpPr>
            <p:nvPr/>
          </p:nvSpPr>
          <p:spPr bwMode="auto">
            <a:xfrm>
              <a:off x="1392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1" name="Rectangle 17"/>
            <p:cNvSpPr>
              <a:spLocks noChangeArrowheads="1"/>
            </p:cNvSpPr>
            <p:nvPr/>
          </p:nvSpPr>
          <p:spPr bwMode="auto">
            <a:xfrm>
              <a:off x="1680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2" name="Rectangle 18"/>
            <p:cNvSpPr>
              <a:spLocks noChangeArrowheads="1"/>
            </p:cNvSpPr>
            <p:nvPr/>
          </p:nvSpPr>
          <p:spPr bwMode="auto">
            <a:xfrm>
              <a:off x="2544" y="1405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3" name="Rectangle 19"/>
            <p:cNvSpPr>
              <a:spLocks noChangeArrowheads="1"/>
            </p:cNvSpPr>
            <p:nvPr/>
          </p:nvSpPr>
          <p:spPr bwMode="auto">
            <a:xfrm>
              <a:off x="2112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4" name="Rectangle 20"/>
            <p:cNvSpPr>
              <a:spLocks noChangeArrowheads="1"/>
            </p:cNvSpPr>
            <p:nvPr/>
          </p:nvSpPr>
          <p:spPr bwMode="auto">
            <a:xfrm>
              <a:off x="2976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5" name="Rectangle 21"/>
            <p:cNvSpPr>
              <a:spLocks noChangeArrowheads="1"/>
            </p:cNvSpPr>
            <p:nvPr/>
          </p:nvSpPr>
          <p:spPr bwMode="auto">
            <a:xfrm>
              <a:off x="2112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6" name="Rectangle 22"/>
            <p:cNvSpPr>
              <a:spLocks noChangeArrowheads="1"/>
            </p:cNvSpPr>
            <p:nvPr/>
          </p:nvSpPr>
          <p:spPr bwMode="auto">
            <a:xfrm>
              <a:off x="2976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7" name="Rectangle 23"/>
            <p:cNvSpPr>
              <a:spLocks noChangeArrowheads="1"/>
            </p:cNvSpPr>
            <p:nvPr/>
          </p:nvSpPr>
          <p:spPr bwMode="auto">
            <a:xfrm>
              <a:off x="1680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8" name="Rectangle 24"/>
            <p:cNvSpPr>
              <a:spLocks noChangeArrowheads="1"/>
            </p:cNvSpPr>
            <p:nvPr/>
          </p:nvSpPr>
          <p:spPr bwMode="auto">
            <a:xfrm>
              <a:off x="2544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49" name="Rectangle 25"/>
            <p:cNvSpPr>
              <a:spLocks noChangeArrowheads="1"/>
            </p:cNvSpPr>
            <p:nvPr/>
          </p:nvSpPr>
          <p:spPr bwMode="auto">
            <a:xfrm>
              <a:off x="1152" y="106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4650" name="Rectangle 26"/>
            <p:cNvSpPr>
              <a:spLocks noChangeArrowheads="1"/>
            </p:cNvSpPr>
            <p:nvPr/>
          </p:nvSpPr>
          <p:spPr bwMode="auto">
            <a:xfrm>
              <a:off x="816" y="667"/>
              <a:ext cx="8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n+1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3" name="Line 27"/>
            <p:cNvSpPr>
              <a:spLocks noChangeShapeType="1"/>
            </p:cNvSpPr>
            <p:nvPr/>
          </p:nvSpPr>
          <p:spPr bwMode="auto">
            <a:xfrm>
              <a:off x="1392" y="877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28"/>
            <p:cNvSpPr>
              <a:spLocks noChangeShapeType="1"/>
            </p:cNvSpPr>
            <p:nvPr/>
          </p:nvSpPr>
          <p:spPr bwMode="auto">
            <a:xfrm>
              <a:off x="1632" y="877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4653" name="Group 29"/>
          <p:cNvGrpSpPr/>
          <p:nvPr/>
        </p:nvGrpSpPr>
        <p:grpSpPr bwMode="auto">
          <a:xfrm>
            <a:off x="2514600" y="4068763"/>
            <a:ext cx="4044950" cy="1341437"/>
            <a:chOff x="912" y="2928"/>
            <a:chExt cx="2548" cy="845"/>
          </a:xfrm>
        </p:grpSpPr>
        <p:sp>
          <p:nvSpPr>
            <p:cNvPr id="7176" name="AutoShape 30"/>
            <p:cNvSpPr/>
            <p:nvPr/>
          </p:nvSpPr>
          <p:spPr bwMode="auto">
            <a:xfrm>
              <a:off x="912" y="3059"/>
              <a:ext cx="144" cy="589"/>
            </a:xfrm>
            <a:prstGeom prst="leftBrace">
              <a:avLst>
                <a:gd name="adj1" fmla="val 3408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7177" name="Object 31"/>
            <p:cNvGraphicFramePr>
              <a:graphicFrameLocks noChangeAspect="1"/>
            </p:cNvGraphicFramePr>
            <p:nvPr/>
          </p:nvGraphicFramePr>
          <p:xfrm>
            <a:off x="1117" y="2928"/>
            <a:ext cx="153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3" name="Equation" r:id="rId1" imgW="544195" imgH="114300" progId="Equation.3">
                    <p:embed/>
                  </p:oleObj>
                </mc:Choice>
                <mc:Fallback>
                  <p:oleObj name="Equation" r:id="rId1" imgW="544195" imgH="1143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" y="2928"/>
                          <a:ext cx="153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8" name="Object 32"/>
            <p:cNvGraphicFramePr>
              <a:graphicFrameLocks noChangeAspect="1"/>
            </p:cNvGraphicFramePr>
            <p:nvPr/>
          </p:nvGraphicFramePr>
          <p:xfrm>
            <a:off x="1104" y="3417"/>
            <a:ext cx="96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4" name="Equation" r:id="rId3" imgW="321310" imgH="103505" progId="Equation.3">
                    <p:embed/>
                  </p:oleObj>
                </mc:Choice>
                <mc:Fallback>
                  <p:oleObj name="Equation" r:id="rId3" imgW="321310" imgH="10350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417"/>
                          <a:ext cx="96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57" name="Rectangle 33"/>
            <p:cNvSpPr>
              <a:spLocks noChangeArrowheads="1"/>
            </p:cNvSpPr>
            <p:nvPr/>
          </p:nvSpPr>
          <p:spPr bwMode="auto">
            <a:xfrm>
              <a:off x="2064" y="340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54658" name="Oval 34"/>
          <p:cNvSpPr>
            <a:spLocks noChangeArrowheads="1"/>
          </p:cNvSpPr>
          <p:nvPr/>
        </p:nvSpPr>
        <p:spPr bwMode="auto">
          <a:xfrm>
            <a:off x="3276600" y="2209800"/>
            <a:ext cx="1371600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4659" name="Oval 35"/>
          <p:cNvSpPr>
            <a:spLocks noChangeArrowheads="1"/>
          </p:cNvSpPr>
          <p:nvPr/>
        </p:nvSpPr>
        <p:spPr bwMode="auto">
          <a:xfrm>
            <a:off x="3810000" y="2847975"/>
            <a:ext cx="1524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58" grpId="0" animBg="1"/>
      <p:bldP spid="1546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195662B-3E54-4D6F-9662-585634C30543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156674" name="Group 2"/>
          <p:cNvGrpSpPr/>
          <p:nvPr/>
        </p:nvGrpSpPr>
        <p:grpSpPr bwMode="auto">
          <a:xfrm>
            <a:off x="2154238" y="3851275"/>
            <a:ext cx="685800" cy="381000"/>
            <a:chOff x="1357" y="2426"/>
            <a:chExt cx="432" cy="240"/>
          </a:xfrm>
        </p:grpSpPr>
        <p:sp>
          <p:nvSpPr>
            <p:cNvPr id="8300" name="Line 3"/>
            <p:cNvSpPr>
              <a:spLocks noChangeShapeType="1"/>
            </p:cNvSpPr>
            <p:nvPr/>
          </p:nvSpPr>
          <p:spPr bwMode="auto">
            <a:xfrm>
              <a:off x="1357" y="242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01" name="Line 4"/>
            <p:cNvSpPr>
              <a:spLocks noChangeShapeType="1"/>
            </p:cNvSpPr>
            <p:nvPr/>
          </p:nvSpPr>
          <p:spPr bwMode="auto">
            <a:xfrm>
              <a:off x="1357" y="266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677" name="Group 5"/>
          <p:cNvGrpSpPr/>
          <p:nvPr/>
        </p:nvGrpSpPr>
        <p:grpSpPr bwMode="auto">
          <a:xfrm>
            <a:off x="3297238" y="3394075"/>
            <a:ext cx="338137" cy="1295400"/>
            <a:chOff x="2077" y="2138"/>
            <a:chExt cx="213" cy="816"/>
          </a:xfrm>
        </p:grpSpPr>
        <p:sp>
          <p:nvSpPr>
            <p:cNvPr id="8295" name="Line 6"/>
            <p:cNvSpPr>
              <a:spLocks noChangeShapeType="1"/>
            </p:cNvSpPr>
            <p:nvPr/>
          </p:nvSpPr>
          <p:spPr bwMode="auto">
            <a:xfrm>
              <a:off x="2077" y="213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6" name="Line 7"/>
            <p:cNvSpPr>
              <a:spLocks noChangeShapeType="1"/>
            </p:cNvSpPr>
            <p:nvPr/>
          </p:nvSpPr>
          <p:spPr bwMode="auto">
            <a:xfrm>
              <a:off x="2077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297" name="Group 8"/>
            <p:cNvGrpSpPr/>
            <p:nvPr/>
          </p:nvGrpSpPr>
          <p:grpSpPr bwMode="auto">
            <a:xfrm>
              <a:off x="2077" y="2432"/>
              <a:ext cx="213" cy="227"/>
              <a:chOff x="2077" y="2432"/>
              <a:chExt cx="213" cy="227"/>
            </a:xfrm>
          </p:grpSpPr>
          <p:sp>
            <p:nvSpPr>
              <p:cNvPr id="8298" name="Line 9"/>
              <p:cNvSpPr>
                <a:spLocks noChangeShapeType="1"/>
              </p:cNvSpPr>
              <p:nvPr/>
            </p:nvSpPr>
            <p:spPr bwMode="auto">
              <a:xfrm>
                <a:off x="2077" y="2432"/>
                <a:ext cx="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9" name="Line 10"/>
              <p:cNvSpPr>
                <a:spLocks noChangeShapeType="1"/>
              </p:cNvSpPr>
              <p:nvPr/>
            </p:nvSpPr>
            <p:spPr bwMode="auto">
              <a:xfrm>
                <a:off x="2077" y="2659"/>
                <a:ext cx="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56683" name="Group 11"/>
          <p:cNvGrpSpPr/>
          <p:nvPr/>
        </p:nvGrpSpPr>
        <p:grpSpPr bwMode="auto">
          <a:xfrm>
            <a:off x="1392238" y="3384550"/>
            <a:ext cx="654050" cy="1265238"/>
            <a:chOff x="877" y="2132"/>
            <a:chExt cx="412" cy="797"/>
          </a:xfrm>
        </p:grpSpPr>
        <p:sp>
          <p:nvSpPr>
            <p:cNvPr id="156684" name="Rectangle 12"/>
            <p:cNvSpPr>
              <a:spLocks noChangeArrowheads="1"/>
            </p:cNvSpPr>
            <p:nvPr/>
          </p:nvSpPr>
          <p:spPr bwMode="auto">
            <a:xfrm>
              <a:off x="877" y="2132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6685" name="Rectangle 13"/>
            <p:cNvSpPr>
              <a:spLocks noChangeArrowheads="1"/>
            </p:cNvSpPr>
            <p:nvPr/>
          </p:nvSpPr>
          <p:spPr bwMode="auto">
            <a:xfrm>
              <a:off x="877" y="2564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94" name="Line 14"/>
            <p:cNvSpPr>
              <a:spLocks noChangeShapeType="1"/>
            </p:cNvSpPr>
            <p:nvPr/>
          </p:nvSpPr>
          <p:spPr bwMode="auto">
            <a:xfrm>
              <a:off x="1021" y="26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687" name="Group 15"/>
          <p:cNvGrpSpPr/>
          <p:nvPr/>
        </p:nvGrpSpPr>
        <p:grpSpPr bwMode="auto">
          <a:xfrm>
            <a:off x="1468438" y="1250950"/>
            <a:ext cx="6705600" cy="1609725"/>
            <a:chOff x="925" y="788"/>
            <a:chExt cx="4224" cy="1014"/>
          </a:xfrm>
        </p:grpSpPr>
        <p:sp>
          <p:nvSpPr>
            <p:cNvPr id="8255" name="Line 16"/>
            <p:cNvSpPr>
              <a:spLocks noChangeShapeType="1"/>
            </p:cNvSpPr>
            <p:nvPr/>
          </p:nvSpPr>
          <p:spPr bwMode="auto">
            <a:xfrm>
              <a:off x="1357" y="98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6" name="Line 17"/>
            <p:cNvSpPr>
              <a:spLocks noChangeShapeType="1"/>
            </p:cNvSpPr>
            <p:nvPr/>
          </p:nvSpPr>
          <p:spPr bwMode="auto">
            <a:xfrm>
              <a:off x="1789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7" name="Line 18"/>
            <p:cNvSpPr>
              <a:spLocks noChangeShapeType="1"/>
            </p:cNvSpPr>
            <p:nvPr/>
          </p:nvSpPr>
          <p:spPr bwMode="auto">
            <a:xfrm>
              <a:off x="1789" y="127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8" name="Line 19"/>
            <p:cNvSpPr>
              <a:spLocks noChangeShapeType="1"/>
            </p:cNvSpPr>
            <p:nvPr/>
          </p:nvSpPr>
          <p:spPr bwMode="auto">
            <a:xfrm flipV="1">
              <a:off x="1981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9" name="Line 20"/>
            <p:cNvSpPr>
              <a:spLocks noChangeShapeType="1"/>
            </p:cNvSpPr>
            <p:nvPr/>
          </p:nvSpPr>
          <p:spPr bwMode="auto">
            <a:xfrm>
              <a:off x="1981" y="986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0" name="Line 21"/>
            <p:cNvSpPr>
              <a:spLocks noChangeShapeType="1"/>
            </p:cNvSpPr>
            <p:nvPr/>
          </p:nvSpPr>
          <p:spPr bwMode="auto">
            <a:xfrm>
              <a:off x="2653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1" name="Line 22"/>
            <p:cNvSpPr>
              <a:spLocks noChangeShapeType="1"/>
            </p:cNvSpPr>
            <p:nvPr/>
          </p:nvSpPr>
          <p:spPr bwMode="auto">
            <a:xfrm>
              <a:off x="2653" y="127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2" name="Line 23"/>
            <p:cNvSpPr>
              <a:spLocks noChangeShapeType="1"/>
            </p:cNvSpPr>
            <p:nvPr/>
          </p:nvSpPr>
          <p:spPr bwMode="auto">
            <a:xfrm flipV="1">
              <a:off x="2797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3" name="Line 24"/>
            <p:cNvSpPr>
              <a:spLocks noChangeShapeType="1"/>
            </p:cNvSpPr>
            <p:nvPr/>
          </p:nvSpPr>
          <p:spPr bwMode="auto">
            <a:xfrm>
              <a:off x="2797" y="986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4" name="Line 25"/>
            <p:cNvSpPr>
              <a:spLocks noChangeShapeType="1"/>
            </p:cNvSpPr>
            <p:nvPr/>
          </p:nvSpPr>
          <p:spPr bwMode="auto">
            <a:xfrm>
              <a:off x="3469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5" name="Line 26"/>
            <p:cNvSpPr>
              <a:spLocks noChangeShapeType="1"/>
            </p:cNvSpPr>
            <p:nvPr/>
          </p:nvSpPr>
          <p:spPr bwMode="auto">
            <a:xfrm>
              <a:off x="3469" y="127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6" name="Line 27"/>
            <p:cNvSpPr>
              <a:spLocks noChangeShapeType="1"/>
            </p:cNvSpPr>
            <p:nvPr/>
          </p:nvSpPr>
          <p:spPr bwMode="auto">
            <a:xfrm flipV="1">
              <a:off x="3949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7" name="Line 28"/>
            <p:cNvSpPr>
              <a:spLocks noChangeShapeType="1"/>
            </p:cNvSpPr>
            <p:nvPr/>
          </p:nvSpPr>
          <p:spPr bwMode="auto">
            <a:xfrm>
              <a:off x="3949" y="98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8" name="Line 29"/>
            <p:cNvSpPr>
              <a:spLocks noChangeShapeType="1"/>
            </p:cNvSpPr>
            <p:nvPr/>
          </p:nvSpPr>
          <p:spPr bwMode="auto">
            <a:xfrm>
              <a:off x="4381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69" name="Line 30"/>
            <p:cNvSpPr>
              <a:spLocks noChangeShapeType="1"/>
            </p:cNvSpPr>
            <p:nvPr/>
          </p:nvSpPr>
          <p:spPr bwMode="auto">
            <a:xfrm>
              <a:off x="4381" y="127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0" name="Line 31"/>
            <p:cNvSpPr>
              <a:spLocks noChangeShapeType="1"/>
            </p:cNvSpPr>
            <p:nvPr/>
          </p:nvSpPr>
          <p:spPr bwMode="auto">
            <a:xfrm flipV="1">
              <a:off x="4765" y="98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1" name="Line 32"/>
            <p:cNvSpPr>
              <a:spLocks noChangeShapeType="1"/>
            </p:cNvSpPr>
            <p:nvPr/>
          </p:nvSpPr>
          <p:spPr bwMode="auto">
            <a:xfrm>
              <a:off x="4765" y="98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2" name="Line 33"/>
            <p:cNvSpPr>
              <a:spLocks noChangeShapeType="1"/>
            </p:cNvSpPr>
            <p:nvPr/>
          </p:nvSpPr>
          <p:spPr bwMode="auto">
            <a:xfrm>
              <a:off x="1405" y="151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3" name="Line 34"/>
            <p:cNvSpPr>
              <a:spLocks noChangeShapeType="1"/>
            </p:cNvSpPr>
            <p:nvPr/>
          </p:nvSpPr>
          <p:spPr bwMode="auto">
            <a:xfrm>
              <a:off x="2077" y="180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4" name="Line 35"/>
            <p:cNvSpPr>
              <a:spLocks noChangeShapeType="1"/>
            </p:cNvSpPr>
            <p:nvPr/>
          </p:nvSpPr>
          <p:spPr bwMode="auto">
            <a:xfrm>
              <a:off x="2269" y="151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5" name="Line 36"/>
            <p:cNvSpPr>
              <a:spLocks noChangeShapeType="1"/>
            </p:cNvSpPr>
            <p:nvPr/>
          </p:nvSpPr>
          <p:spPr bwMode="auto">
            <a:xfrm>
              <a:off x="3469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6" name="Line 37"/>
            <p:cNvSpPr>
              <a:spLocks noChangeShapeType="1"/>
            </p:cNvSpPr>
            <p:nvPr/>
          </p:nvSpPr>
          <p:spPr bwMode="auto">
            <a:xfrm>
              <a:off x="3469" y="180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7" name="Line 38"/>
            <p:cNvSpPr>
              <a:spLocks noChangeShapeType="1"/>
            </p:cNvSpPr>
            <p:nvPr/>
          </p:nvSpPr>
          <p:spPr bwMode="auto">
            <a:xfrm flipV="1">
              <a:off x="3613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8" name="Line 39"/>
            <p:cNvSpPr>
              <a:spLocks noChangeShapeType="1"/>
            </p:cNvSpPr>
            <p:nvPr/>
          </p:nvSpPr>
          <p:spPr bwMode="auto">
            <a:xfrm>
              <a:off x="2797" y="151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79" name="Line 40"/>
            <p:cNvSpPr>
              <a:spLocks noChangeShapeType="1"/>
            </p:cNvSpPr>
            <p:nvPr/>
          </p:nvSpPr>
          <p:spPr bwMode="auto">
            <a:xfrm>
              <a:off x="3613" y="151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0" name="Line 41"/>
            <p:cNvSpPr>
              <a:spLocks noChangeShapeType="1"/>
            </p:cNvSpPr>
            <p:nvPr/>
          </p:nvSpPr>
          <p:spPr bwMode="auto">
            <a:xfrm>
              <a:off x="3949" y="151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1" name="Line 42"/>
            <p:cNvSpPr>
              <a:spLocks noChangeShapeType="1"/>
            </p:cNvSpPr>
            <p:nvPr/>
          </p:nvSpPr>
          <p:spPr bwMode="auto">
            <a:xfrm>
              <a:off x="4381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2" name="Line 43"/>
            <p:cNvSpPr>
              <a:spLocks noChangeShapeType="1"/>
            </p:cNvSpPr>
            <p:nvPr/>
          </p:nvSpPr>
          <p:spPr bwMode="auto">
            <a:xfrm>
              <a:off x="4381" y="180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3" name="Line 44"/>
            <p:cNvSpPr>
              <a:spLocks noChangeShapeType="1"/>
            </p:cNvSpPr>
            <p:nvPr/>
          </p:nvSpPr>
          <p:spPr bwMode="auto">
            <a:xfrm flipV="1">
              <a:off x="4765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4" name="Line 45"/>
            <p:cNvSpPr>
              <a:spLocks noChangeShapeType="1"/>
            </p:cNvSpPr>
            <p:nvPr/>
          </p:nvSpPr>
          <p:spPr bwMode="auto">
            <a:xfrm>
              <a:off x="4765" y="151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5" name="Line 46"/>
            <p:cNvSpPr>
              <a:spLocks noChangeShapeType="1"/>
            </p:cNvSpPr>
            <p:nvPr/>
          </p:nvSpPr>
          <p:spPr bwMode="auto">
            <a:xfrm>
              <a:off x="3469" y="1370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719" name="Rectangle 47"/>
            <p:cNvSpPr>
              <a:spLocks noChangeArrowheads="1"/>
            </p:cNvSpPr>
            <p:nvPr/>
          </p:nvSpPr>
          <p:spPr bwMode="auto">
            <a:xfrm>
              <a:off x="925" y="7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6720" name="Rectangle 48"/>
            <p:cNvSpPr>
              <a:spLocks noChangeArrowheads="1"/>
            </p:cNvSpPr>
            <p:nvPr/>
          </p:nvSpPr>
          <p:spPr bwMode="auto">
            <a:xfrm>
              <a:off x="925" y="13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88" name="Line 49"/>
            <p:cNvSpPr>
              <a:spLocks noChangeShapeType="1"/>
            </p:cNvSpPr>
            <p:nvPr/>
          </p:nvSpPr>
          <p:spPr bwMode="auto">
            <a:xfrm>
              <a:off x="973" y="84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89" name="Line 50"/>
            <p:cNvSpPr>
              <a:spLocks noChangeShapeType="1"/>
            </p:cNvSpPr>
            <p:nvPr/>
          </p:nvSpPr>
          <p:spPr bwMode="auto">
            <a:xfrm>
              <a:off x="973" y="137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0" name="Line 51"/>
            <p:cNvSpPr>
              <a:spLocks noChangeShapeType="1"/>
            </p:cNvSpPr>
            <p:nvPr/>
          </p:nvSpPr>
          <p:spPr bwMode="auto">
            <a:xfrm>
              <a:off x="2077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1" name="Line 52"/>
            <p:cNvSpPr>
              <a:spLocks noChangeShapeType="1"/>
            </p:cNvSpPr>
            <p:nvPr/>
          </p:nvSpPr>
          <p:spPr bwMode="auto">
            <a:xfrm flipV="1">
              <a:off x="2269" y="151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6725" name="Rectangle 53"/>
          <p:cNvSpPr>
            <a:spLocks noChangeArrowheads="1"/>
          </p:cNvSpPr>
          <p:nvPr/>
        </p:nvSpPr>
        <p:spPr bwMode="auto">
          <a:xfrm>
            <a:off x="173355" y="193675"/>
            <a:ext cx="3365500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、时序图（了解）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6726" name="Group 54"/>
          <p:cNvGrpSpPr/>
          <p:nvPr/>
        </p:nvGrpSpPr>
        <p:grpSpPr bwMode="auto">
          <a:xfrm>
            <a:off x="5507038" y="3394075"/>
            <a:ext cx="228600" cy="1295400"/>
            <a:chOff x="3469" y="2138"/>
            <a:chExt cx="144" cy="816"/>
          </a:xfrm>
        </p:grpSpPr>
        <p:sp>
          <p:nvSpPr>
            <p:cNvPr id="8251" name="Line 55"/>
            <p:cNvSpPr>
              <a:spLocks noChangeShapeType="1"/>
            </p:cNvSpPr>
            <p:nvPr/>
          </p:nvSpPr>
          <p:spPr bwMode="auto">
            <a:xfrm flipV="1">
              <a:off x="3469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252" name="Group 56"/>
            <p:cNvGrpSpPr/>
            <p:nvPr/>
          </p:nvGrpSpPr>
          <p:grpSpPr bwMode="auto">
            <a:xfrm>
              <a:off x="3469" y="2138"/>
              <a:ext cx="144" cy="528"/>
              <a:chOff x="3469" y="2138"/>
              <a:chExt cx="144" cy="528"/>
            </a:xfrm>
          </p:grpSpPr>
          <p:sp>
            <p:nvSpPr>
              <p:cNvPr id="8253" name="Line 57"/>
              <p:cNvSpPr>
                <a:spLocks noChangeShapeType="1"/>
              </p:cNvSpPr>
              <p:nvPr/>
            </p:nvSpPr>
            <p:spPr bwMode="auto">
              <a:xfrm>
                <a:off x="3469" y="2666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730" name="Line 58"/>
              <p:cNvSpPr>
                <a:spLocks noChangeShapeType="1"/>
              </p:cNvSpPr>
              <p:nvPr/>
            </p:nvSpPr>
            <p:spPr bwMode="auto">
              <a:xfrm>
                <a:off x="3469" y="2138"/>
                <a:ext cx="1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pSp>
        <p:nvGrpSpPr>
          <p:cNvPr id="156731" name="Group 59"/>
          <p:cNvGrpSpPr/>
          <p:nvPr/>
        </p:nvGrpSpPr>
        <p:grpSpPr bwMode="auto">
          <a:xfrm>
            <a:off x="7564438" y="3394075"/>
            <a:ext cx="1066800" cy="1295400"/>
            <a:chOff x="4765" y="2138"/>
            <a:chExt cx="672" cy="816"/>
          </a:xfrm>
        </p:grpSpPr>
        <p:sp>
          <p:nvSpPr>
            <p:cNvPr id="8233" name="Line 60"/>
            <p:cNvSpPr>
              <a:spLocks noChangeShapeType="1"/>
            </p:cNvSpPr>
            <p:nvPr/>
          </p:nvSpPr>
          <p:spPr bwMode="auto">
            <a:xfrm>
              <a:off x="4765" y="2138"/>
              <a:ext cx="0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4" name="Line 61"/>
            <p:cNvSpPr>
              <a:spLocks noChangeShapeType="1"/>
            </p:cNvSpPr>
            <p:nvPr/>
          </p:nvSpPr>
          <p:spPr bwMode="auto">
            <a:xfrm>
              <a:off x="4765" y="2426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5" name="Line 62"/>
            <p:cNvSpPr>
              <a:spLocks noChangeShapeType="1"/>
            </p:cNvSpPr>
            <p:nvPr/>
          </p:nvSpPr>
          <p:spPr bwMode="auto">
            <a:xfrm>
              <a:off x="4957" y="2426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6" name="Line 63"/>
            <p:cNvSpPr>
              <a:spLocks noChangeShapeType="1"/>
            </p:cNvSpPr>
            <p:nvPr/>
          </p:nvSpPr>
          <p:spPr bwMode="auto">
            <a:xfrm>
              <a:off x="5197" y="2426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7" name="Line 64"/>
            <p:cNvSpPr>
              <a:spLocks noChangeShapeType="1"/>
            </p:cNvSpPr>
            <p:nvPr/>
          </p:nvSpPr>
          <p:spPr bwMode="auto">
            <a:xfrm>
              <a:off x="5341" y="2426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8" name="Line 65"/>
            <p:cNvSpPr>
              <a:spLocks noChangeShapeType="1"/>
            </p:cNvSpPr>
            <p:nvPr/>
          </p:nvSpPr>
          <p:spPr bwMode="auto">
            <a:xfrm>
              <a:off x="4813" y="2138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9" name="Line 66"/>
            <p:cNvSpPr>
              <a:spLocks noChangeShapeType="1"/>
            </p:cNvSpPr>
            <p:nvPr/>
          </p:nvSpPr>
          <p:spPr bwMode="auto">
            <a:xfrm>
              <a:off x="5005" y="2138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0" name="Line 67"/>
            <p:cNvSpPr>
              <a:spLocks noChangeShapeType="1"/>
            </p:cNvSpPr>
            <p:nvPr/>
          </p:nvSpPr>
          <p:spPr bwMode="auto">
            <a:xfrm>
              <a:off x="5197" y="2138"/>
              <a:ext cx="19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1" name="Line 68"/>
            <p:cNvSpPr>
              <a:spLocks noChangeShapeType="1"/>
            </p:cNvSpPr>
            <p:nvPr/>
          </p:nvSpPr>
          <p:spPr bwMode="auto">
            <a:xfrm>
              <a:off x="4765" y="2282"/>
              <a:ext cx="0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2" name="Line 69"/>
            <p:cNvSpPr>
              <a:spLocks noChangeShapeType="1"/>
            </p:cNvSpPr>
            <p:nvPr/>
          </p:nvSpPr>
          <p:spPr bwMode="auto">
            <a:xfrm>
              <a:off x="4765" y="2666"/>
              <a:ext cx="0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3" name="Line 70"/>
            <p:cNvSpPr>
              <a:spLocks noChangeShapeType="1"/>
            </p:cNvSpPr>
            <p:nvPr/>
          </p:nvSpPr>
          <p:spPr bwMode="auto">
            <a:xfrm>
              <a:off x="4765" y="2954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4" name="Line 71"/>
            <p:cNvSpPr>
              <a:spLocks noChangeShapeType="1"/>
            </p:cNvSpPr>
            <p:nvPr/>
          </p:nvSpPr>
          <p:spPr bwMode="auto">
            <a:xfrm>
              <a:off x="4957" y="2954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5" name="Line 72"/>
            <p:cNvSpPr>
              <a:spLocks noChangeShapeType="1"/>
            </p:cNvSpPr>
            <p:nvPr/>
          </p:nvSpPr>
          <p:spPr bwMode="auto">
            <a:xfrm>
              <a:off x="5197" y="2954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6" name="Line 73"/>
            <p:cNvSpPr>
              <a:spLocks noChangeShapeType="1"/>
            </p:cNvSpPr>
            <p:nvPr/>
          </p:nvSpPr>
          <p:spPr bwMode="auto">
            <a:xfrm>
              <a:off x="5341" y="2954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7" name="Line 74"/>
            <p:cNvSpPr>
              <a:spLocks noChangeShapeType="1"/>
            </p:cNvSpPr>
            <p:nvPr/>
          </p:nvSpPr>
          <p:spPr bwMode="auto">
            <a:xfrm>
              <a:off x="4813" y="2666"/>
              <a:ext cx="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8" name="Line 75"/>
            <p:cNvSpPr>
              <a:spLocks noChangeShapeType="1"/>
            </p:cNvSpPr>
            <p:nvPr/>
          </p:nvSpPr>
          <p:spPr bwMode="auto">
            <a:xfrm>
              <a:off x="5005" y="2666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9" name="Line 76"/>
            <p:cNvSpPr>
              <a:spLocks noChangeShapeType="1"/>
            </p:cNvSpPr>
            <p:nvPr/>
          </p:nvSpPr>
          <p:spPr bwMode="auto">
            <a:xfrm>
              <a:off x="5197" y="2666"/>
              <a:ext cx="19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0" name="Line 77"/>
            <p:cNvSpPr>
              <a:spLocks noChangeShapeType="1"/>
            </p:cNvSpPr>
            <p:nvPr/>
          </p:nvSpPr>
          <p:spPr bwMode="auto">
            <a:xfrm>
              <a:off x="4765" y="2810"/>
              <a:ext cx="0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50" name="Group 78"/>
          <p:cNvGrpSpPr/>
          <p:nvPr/>
        </p:nvGrpSpPr>
        <p:grpSpPr bwMode="auto">
          <a:xfrm>
            <a:off x="6954838" y="3394075"/>
            <a:ext cx="609600" cy="1295400"/>
            <a:chOff x="4381" y="2138"/>
            <a:chExt cx="384" cy="816"/>
          </a:xfrm>
        </p:grpSpPr>
        <p:sp>
          <p:nvSpPr>
            <p:cNvPr id="8230" name="Line 79"/>
            <p:cNvSpPr>
              <a:spLocks noChangeShapeType="1"/>
            </p:cNvSpPr>
            <p:nvPr/>
          </p:nvSpPr>
          <p:spPr bwMode="auto">
            <a:xfrm>
              <a:off x="4381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1" name="Line 80"/>
            <p:cNvSpPr>
              <a:spLocks noChangeShapeType="1"/>
            </p:cNvSpPr>
            <p:nvPr/>
          </p:nvSpPr>
          <p:spPr bwMode="auto">
            <a:xfrm flipH="1">
              <a:off x="4381" y="2666"/>
              <a:ext cx="38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32" name="Line 81"/>
            <p:cNvSpPr>
              <a:spLocks noChangeShapeType="1"/>
            </p:cNvSpPr>
            <p:nvPr/>
          </p:nvSpPr>
          <p:spPr bwMode="auto">
            <a:xfrm>
              <a:off x="4381" y="2138"/>
              <a:ext cx="38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54" name="Group 82"/>
          <p:cNvGrpSpPr/>
          <p:nvPr/>
        </p:nvGrpSpPr>
        <p:grpSpPr bwMode="auto">
          <a:xfrm>
            <a:off x="3635375" y="3860800"/>
            <a:ext cx="576263" cy="360363"/>
            <a:chOff x="2290" y="2432"/>
            <a:chExt cx="363" cy="227"/>
          </a:xfrm>
        </p:grpSpPr>
        <p:sp>
          <p:nvSpPr>
            <p:cNvPr id="8228" name="Line 83"/>
            <p:cNvSpPr>
              <a:spLocks noChangeShapeType="1"/>
            </p:cNvSpPr>
            <p:nvPr/>
          </p:nvSpPr>
          <p:spPr bwMode="auto">
            <a:xfrm>
              <a:off x="2290" y="2432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9" name="Line 84"/>
            <p:cNvSpPr>
              <a:spLocks noChangeShapeType="1"/>
            </p:cNvSpPr>
            <p:nvPr/>
          </p:nvSpPr>
          <p:spPr bwMode="auto">
            <a:xfrm>
              <a:off x="2290" y="2659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57" name="Group 85"/>
          <p:cNvGrpSpPr/>
          <p:nvPr/>
        </p:nvGrpSpPr>
        <p:grpSpPr bwMode="auto">
          <a:xfrm>
            <a:off x="2840038" y="3394075"/>
            <a:ext cx="295275" cy="1296988"/>
            <a:chOff x="1789" y="2138"/>
            <a:chExt cx="186" cy="817"/>
          </a:xfrm>
        </p:grpSpPr>
        <p:sp>
          <p:nvSpPr>
            <p:cNvPr id="8223" name="Line 86"/>
            <p:cNvSpPr>
              <a:spLocks noChangeShapeType="1"/>
            </p:cNvSpPr>
            <p:nvPr/>
          </p:nvSpPr>
          <p:spPr bwMode="auto">
            <a:xfrm flipV="1">
              <a:off x="1789" y="213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4" name="Line 87"/>
            <p:cNvSpPr>
              <a:spLocks noChangeShapeType="1"/>
            </p:cNvSpPr>
            <p:nvPr/>
          </p:nvSpPr>
          <p:spPr bwMode="auto">
            <a:xfrm flipV="1">
              <a:off x="1789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225" name="Group 88"/>
            <p:cNvGrpSpPr/>
            <p:nvPr/>
          </p:nvGrpSpPr>
          <p:grpSpPr bwMode="auto">
            <a:xfrm>
              <a:off x="1789" y="2141"/>
              <a:ext cx="186" cy="814"/>
              <a:chOff x="1789" y="2141"/>
              <a:chExt cx="186" cy="814"/>
            </a:xfrm>
          </p:grpSpPr>
          <p:sp>
            <p:nvSpPr>
              <p:cNvPr id="8226" name="Line 89"/>
              <p:cNvSpPr>
                <a:spLocks noChangeShapeType="1"/>
              </p:cNvSpPr>
              <p:nvPr/>
            </p:nvSpPr>
            <p:spPr bwMode="auto">
              <a:xfrm>
                <a:off x="1789" y="2955"/>
                <a:ext cx="1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7" name="Line 90"/>
              <p:cNvSpPr>
                <a:spLocks noChangeShapeType="1"/>
              </p:cNvSpPr>
              <p:nvPr/>
            </p:nvSpPr>
            <p:spPr bwMode="auto">
              <a:xfrm>
                <a:off x="1791" y="2141"/>
                <a:ext cx="1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56763" name="Group 91"/>
          <p:cNvGrpSpPr/>
          <p:nvPr/>
        </p:nvGrpSpPr>
        <p:grpSpPr bwMode="auto">
          <a:xfrm>
            <a:off x="3111500" y="3395663"/>
            <a:ext cx="185738" cy="1295400"/>
            <a:chOff x="1960" y="2139"/>
            <a:chExt cx="117" cy="816"/>
          </a:xfrm>
        </p:grpSpPr>
        <p:sp>
          <p:nvSpPr>
            <p:cNvPr id="8221" name="Line 92"/>
            <p:cNvSpPr>
              <a:spLocks noChangeShapeType="1"/>
            </p:cNvSpPr>
            <p:nvPr/>
          </p:nvSpPr>
          <p:spPr bwMode="auto">
            <a:xfrm flipV="1">
              <a:off x="1973" y="2139"/>
              <a:ext cx="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2" name="Line 93"/>
            <p:cNvSpPr>
              <a:spLocks noChangeShapeType="1"/>
            </p:cNvSpPr>
            <p:nvPr/>
          </p:nvSpPr>
          <p:spPr bwMode="auto">
            <a:xfrm flipV="1">
              <a:off x="1960" y="2955"/>
              <a:ext cx="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66" name="Group 94"/>
          <p:cNvGrpSpPr/>
          <p:nvPr/>
        </p:nvGrpSpPr>
        <p:grpSpPr bwMode="auto">
          <a:xfrm>
            <a:off x="4500563" y="3398838"/>
            <a:ext cx="1020762" cy="1300162"/>
            <a:chOff x="2835" y="2141"/>
            <a:chExt cx="643" cy="819"/>
          </a:xfrm>
        </p:grpSpPr>
        <p:sp>
          <p:nvSpPr>
            <p:cNvPr id="8219" name="Line 95"/>
            <p:cNvSpPr>
              <a:spLocks noChangeShapeType="1"/>
            </p:cNvSpPr>
            <p:nvPr/>
          </p:nvSpPr>
          <p:spPr bwMode="auto">
            <a:xfrm>
              <a:off x="2843" y="2141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0" name="Line 96"/>
            <p:cNvSpPr>
              <a:spLocks noChangeShapeType="1"/>
            </p:cNvSpPr>
            <p:nvPr/>
          </p:nvSpPr>
          <p:spPr bwMode="auto">
            <a:xfrm>
              <a:off x="2835" y="2960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69" name="Group 97"/>
          <p:cNvGrpSpPr/>
          <p:nvPr/>
        </p:nvGrpSpPr>
        <p:grpSpPr bwMode="auto">
          <a:xfrm>
            <a:off x="4198938" y="3394075"/>
            <a:ext cx="301625" cy="1304925"/>
            <a:chOff x="2645" y="2138"/>
            <a:chExt cx="190" cy="822"/>
          </a:xfrm>
        </p:grpSpPr>
        <p:sp>
          <p:nvSpPr>
            <p:cNvPr id="8215" name="Line 98"/>
            <p:cNvSpPr>
              <a:spLocks noChangeShapeType="1"/>
            </p:cNvSpPr>
            <p:nvPr/>
          </p:nvSpPr>
          <p:spPr bwMode="auto">
            <a:xfrm>
              <a:off x="2653" y="213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6" name="Line 99"/>
            <p:cNvSpPr>
              <a:spLocks noChangeShapeType="1"/>
            </p:cNvSpPr>
            <p:nvPr/>
          </p:nvSpPr>
          <p:spPr bwMode="auto">
            <a:xfrm>
              <a:off x="2653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7" name="Line 100"/>
            <p:cNvSpPr>
              <a:spLocks noChangeShapeType="1"/>
            </p:cNvSpPr>
            <p:nvPr/>
          </p:nvSpPr>
          <p:spPr bwMode="auto">
            <a:xfrm flipV="1">
              <a:off x="2653" y="2139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8" name="Line 101"/>
            <p:cNvSpPr>
              <a:spLocks noChangeShapeType="1"/>
            </p:cNvSpPr>
            <p:nvPr/>
          </p:nvSpPr>
          <p:spPr bwMode="auto">
            <a:xfrm flipV="1">
              <a:off x="2645" y="2960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6774" name="Group 102"/>
          <p:cNvGrpSpPr/>
          <p:nvPr/>
        </p:nvGrpSpPr>
        <p:grpSpPr bwMode="auto">
          <a:xfrm>
            <a:off x="5724525" y="3394075"/>
            <a:ext cx="590550" cy="1316038"/>
            <a:chOff x="3606" y="2138"/>
            <a:chExt cx="372" cy="829"/>
          </a:xfrm>
        </p:grpSpPr>
        <p:sp>
          <p:nvSpPr>
            <p:cNvPr id="8212" name="Line 103"/>
            <p:cNvSpPr>
              <a:spLocks noChangeShapeType="1"/>
            </p:cNvSpPr>
            <p:nvPr/>
          </p:nvSpPr>
          <p:spPr bwMode="auto">
            <a:xfrm flipV="1">
              <a:off x="3613" y="266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3" name="Line 104"/>
            <p:cNvSpPr>
              <a:spLocks noChangeShapeType="1"/>
            </p:cNvSpPr>
            <p:nvPr/>
          </p:nvSpPr>
          <p:spPr bwMode="auto">
            <a:xfrm>
              <a:off x="3606" y="2138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Line 105"/>
            <p:cNvSpPr>
              <a:spLocks noChangeShapeType="1"/>
            </p:cNvSpPr>
            <p:nvPr/>
          </p:nvSpPr>
          <p:spPr bwMode="auto">
            <a:xfrm>
              <a:off x="3615" y="2967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6778" name="Group 106"/>
          <p:cNvGrpSpPr/>
          <p:nvPr/>
        </p:nvGrpSpPr>
        <p:grpSpPr bwMode="auto">
          <a:xfrm>
            <a:off x="6300788" y="3394075"/>
            <a:ext cx="647700" cy="1316038"/>
            <a:chOff x="3969" y="2138"/>
            <a:chExt cx="408" cy="829"/>
          </a:xfrm>
        </p:grpSpPr>
        <p:sp>
          <p:nvSpPr>
            <p:cNvPr id="8210" name="Line 107"/>
            <p:cNvSpPr>
              <a:spLocks noChangeShapeType="1"/>
            </p:cNvSpPr>
            <p:nvPr/>
          </p:nvSpPr>
          <p:spPr bwMode="auto">
            <a:xfrm>
              <a:off x="3969" y="2138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108"/>
            <p:cNvSpPr>
              <a:spLocks noChangeShapeType="1"/>
            </p:cNvSpPr>
            <p:nvPr/>
          </p:nvSpPr>
          <p:spPr bwMode="auto">
            <a:xfrm>
              <a:off x="3969" y="2967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699D49B-ABB6-4C78-B08E-572852A72E5B}" type="slidenum">
              <a:rPr lang="en-US" altLang="zh-CN" sz="1400"/>
            </a:fld>
            <a:endParaRPr lang="en-US" altLang="zh-CN" sz="1400"/>
          </a:p>
        </p:txBody>
      </p:sp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228600" y="2286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从以上分析可知，与非门和或非门构成的</a:t>
            </a:r>
            <a:r>
              <a:rPr lang="en-US" altLang="zh-CN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触发器的特征方程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可统一为：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6915" name="Group 3"/>
          <p:cNvGrpSpPr/>
          <p:nvPr/>
        </p:nvGrpSpPr>
        <p:grpSpPr bwMode="auto">
          <a:xfrm>
            <a:off x="1524000" y="1524000"/>
            <a:ext cx="6108700" cy="1844675"/>
            <a:chOff x="956" y="1123"/>
            <a:chExt cx="3848" cy="1162"/>
          </a:xfrm>
        </p:grpSpPr>
        <p:graphicFrame>
          <p:nvGraphicFramePr>
            <p:cNvPr id="13320" name="Object 4"/>
            <p:cNvGraphicFramePr>
              <a:graphicFrameLocks noChangeAspect="1"/>
            </p:cNvGraphicFramePr>
            <p:nvPr/>
          </p:nvGraphicFramePr>
          <p:xfrm>
            <a:off x="956" y="1123"/>
            <a:ext cx="153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97" name="Equation" r:id="rId1" imgW="544195" imgH="114300" progId="Equation.3">
                    <p:embed/>
                  </p:oleObj>
                </mc:Choice>
                <mc:Fallback>
                  <p:oleObj name="Equation" r:id="rId1" imgW="544195" imgH="114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1123"/>
                          <a:ext cx="153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917" name="Rectangle 5"/>
            <p:cNvSpPr>
              <a:spLocks noChangeArrowheads="1"/>
            </p:cNvSpPr>
            <p:nvPr/>
          </p:nvSpPr>
          <p:spPr bwMode="auto">
            <a:xfrm>
              <a:off x="1868" y="1536"/>
              <a:ext cx="29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与非门结构的约束条件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6918" name="Rectangle 6"/>
            <p:cNvSpPr>
              <a:spLocks noChangeArrowheads="1"/>
            </p:cNvSpPr>
            <p:nvPr/>
          </p:nvSpPr>
          <p:spPr bwMode="auto">
            <a:xfrm>
              <a:off x="1872" y="1920"/>
              <a:ext cx="29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或非门结构的约束条件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3323" name="Object 7"/>
            <p:cNvGraphicFramePr>
              <a:graphicFrameLocks noChangeAspect="1"/>
            </p:cNvGraphicFramePr>
            <p:nvPr/>
          </p:nvGraphicFramePr>
          <p:xfrm>
            <a:off x="956" y="1968"/>
            <a:ext cx="89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98" name="Equation" r:id="rId3" imgW="299085" imgH="81915" progId="Equation.3">
                    <p:embed/>
                  </p:oleObj>
                </mc:Choice>
                <mc:Fallback>
                  <p:oleObj name="Equation" r:id="rId3" imgW="299085" imgH="8191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1968"/>
                          <a:ext cx="89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8"/>
            <p:cNvGraphicFramePr>
              <a:graphicFrameLocks noChangeAspect="1"/>
            </p:cNvGraphicFramePr>
            <p:nvPr/>
          </p:nvGraphicFramePr>
          <p:xfrm>
            <a:off x="956" y="1536"/>
            <a:ext cx="96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99" name="Equation" r:id="rId5" imgW="321310" imgH="103505" progId="Equation.3">
                    <p:embed/>
                  </p:oleObj>
                </mc:Choice>
                <mc:Fallback>
                  <p:oleObj name="Equation" r:id="rId5" imgW="321310" imgH="10350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1536"/>
                          <a:ext cx="96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304800" y="3581400"/>
            <a:ext cx="426561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触发器存在的问题：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304800" y="4311650"/>
            <a:ext cx="4857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存在约束条件的限制；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304800" y="5049838"/>
            <a:ext cx="85153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没有时钟信号，无法与其他部件同步工作。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1" grpId="0" animBg="1" autoUpdateAnimBg="0"/>
      <p:bldP spid="166922" grpId="0" animBg="1" autoUpdateAnimBg="0"/>
      <p:bldP spid="16692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B87647-296B-4195-B218-19567988EA1F}" type="slidenum">
              <a:rPr lang="en-US" altLang="zh-CN" sz="1400"/>
            </a:fld>
            <a:endParaRPr lang="en-US" altLang="zh-CN" sz="1400"/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2438400" y="146050"/>
            <a:ext cx="42672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钟控触发器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171450" y="19050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8964" name="Group 4"/>
          <p:cNvGrpSpPr/>
          <p:nvPr/>
        </p:nvGrpSpPr>
        <p:grpSpPr bwMode="auto">
          <a:xfrm>
            <a:off x="1214438" y="2590800"/>
            <a:ext cx="3052762" cy="3751263"/>
            <a:chOff x="288" y="1776"/>
            <a:chExt cx="1923" cy="2363"/>
          </a:xfrm>
        </p:grpSpPr>
        <p:sp>
          <p:nvSpPr>
            <p:cNvPr id="14360" name="Rectangle 5"/>
            <p:cNvSpPr>
              <a:spLocks noChangeArrowheads="1"/>
            </p:cNvSpPr>
            <p:nvPr/>
          </p:nvSpPr>
          <p:spPr bwMode="auto">
            <a:xfrm>
              <a:off x="1486" y="2238"/>
              <a:ext cx="574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61" name="Oval 6"/>
            <p:cNvSpPr>
              <a:spLocks noChangeArrowheads="1"/>
            </p:cNvSpPr>
            <p:nvPr/>
          </p:nvSpPr>
          <p:spPr bwMode="auto">
            <a:xfrm>
              <a:off x="1725" y="214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62" name="Line 7"/>
            <p:cNvSpPr>
              <a:spLocks noChangeShapeType="1"/>
            </p:cNvSpPr>
            <p:nvPr/>
          </p:nvSpPr>
          <p:spPr bwMode="auto">
            <a:xfrm>
              <a:off x="1581" y="25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3" name="Line 8"/>
            <p:cNvSpPr>
              <a:spLocks noChangeShapeType="1"/>
            </p:cNvSpPr>
            <p:nvPr/>
          </p:nvSpPr>
          <p:spPr bwMode="auto">
            <a:xfrm>
              <a:off x="1917" y="25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4" name="Line 9"/>
            <p:cNvSpPr>
              <a:spLocks noChangeShapeType="1"/>
            </p:cNvSpPr>
            <p:nvPr/>
          </p:nvSpPr>
          <p:spPr bwMode="auto">
            <a:xfrm flipV="1">
              <a:off x="1773" y="180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5" name="Rectangle 10"/>
            <p:cNvSpPr>
              <a:spLocks noChangeArrowheads="1"/>
            </p:cNvSpPr>
            <p:nvPr/>
          </p:nvSpPr>
          <p:spPr bwMode="auto">
            <a:xfrm>
              <a:off x="528" y="2238"/>
              <a:ext cx="574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66" name="Oval 11"/>
            <p:cNvSpPr>
              <a:spLocks noChangeArrowheads="1"/>
            </p:cNvSpPr>
            <p:nvPr/>
          </p:nvSpPr>
          <p:spPr bwMode="auto">
            <a:xfrm>
              <a:off x="767" y="214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67" name="Line 12"/>
            <p:cNvSpPr>
              <a:spLocks noChangeShapeType="1"/>
            </p:cNvSpPr>
            <p:nvPr/>
          </p:nvSpPr>
          <p:spPr bwMode="auto">
            <a:xfrm>
              <a:off x="959" y="25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8" name="Line 13"/>
            <p:cNvSpPr>
              <a:spLocks noChangeShapeType="1"/>
            </p:cNvSpPr>
            <p:nvPr/>
          </p:nvSpPr>
          <p:spPr bwMode="auto">
            <a:xfrm flipV="1">
              <a:off x="815" y="180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9" name="Rectangle 14"/>
            <p:cNvSpPr>
              <a:spLocks noChangeArrowheads="1"/>
            </p:cNvSpPr>
            <p:nvPr/>
          </p:nvSpPr>
          <p:spPr bwMode="auto">
            <a:xfrm>
              <a:off x="336" y="3054"/>
              <a:ext cx="575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70" name="Oval 15"/>
            <p:cNvSpPr>
              <a:spLocks noChangeArrowheads="1"/>
            </p:cNvSpPr>
            <p:nvPr/>
          </p:nvSpPr>
          <p:spPr bwMode="auto">
            <a:xfrm>
              <a:off x="575" y="295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71" name="Line 16"/>
            <p:cNvSpPr>
              <a:spLocks noChangeShapeType="1"/>
            </p:cNvSpPr>
            <p:nvPr/>
          </p:nvSpPr>
          <p:spPr bwMode="auto">
            <a:xfrm>
              <a:off x="432" y="334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2" name="Line 17"/>
            <p:cNvSpPr>
              <a:spLocks noChangeShapeType="1"/>
            </p:cNvSpPr>
            <p:nvPr/>
          </p:nvSpPr>
          <p:spPr bwMode="auto">
            <a:xfrm>
              <a:off x="767" y="334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3" name="Line 18"/>
            <p:cNvSpPr>
              <a:spLocks noChangeShapeType="1"/>
            </p:cNvSpPr>
            <p:nvPr/>
          </p:nvSpPr>
          <p:spPr bwMode="auto">
            <a:xfrm flipV="1">
              <a:off x="623" y="2526"/>
              <a:ext cx="1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4" name="Rectangle 19"/>
            <p:cNvSpPr>
              <a:spLocks noChangeArrowheads="1"/>
            </p:cNvSpPr>
            <p:nvPr/>
          </p:nvSpPr>
          <p:spPr bwMode="auto">
            <a:xfrm>
              <a:off x="1629" y="3054"/>
              <a:ext cx="575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75" name="Oval 20"/>
            <p:cNvSpPr>
              <a:spLocks noChangeArrowheads="1"/>
            </p:cNvSpPr>
            <p:nvPr/>
          </p:nvSpPr>
          <p:spPr bwMode="auto">
            <a:xfrm>
              <a:off x="1869" y="295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76" name="Line 21"/>
            <p:cNvSpPr>
              <a:spLocks noChangeShapeType="1"/>
            </p:cNvSpPr>
            <p:nvPr/>
          </p:nvSpPr>
          <p:spPr bwMode="auto">
            <a:xfrm>
              <a:off x="1725" y="334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7" name="Line 22"/>
            <p:cNvSpPr>
              <a:spLocks noChangeShapeType="1"/>
            </p:cNvSpPr>
            <p:nvPr/>
          </p:nvSpPr>
          <p:spPr bwMode="auto">
            <a:xfrm>
              <a:off x="2060" y="334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8" name="Line 23"/>
            <p:cNvSpPr>
              <a:spLocks noChangeShapeType="1"/>
            </p:cNvSpPr>
            <p:nvPr/>
          </p:nvSpPr>
          <p:spPr bwMode="auto">
            <a:xfrm flipV="1">
              <a:off x="1917" y="262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9" name="Line 24"/>
            <p:cNvSpPr>
              <a:spLocks noChangeShapeType="1"/>
            </p:cNvSpPr>
            <p:nvPr/>
          </p:nvSpPr>
          <p:spPr bwMode="auto">
            <a:xfrm>
              <a:off x="815" y="204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0" name="Line 25"/>
            <p:cNvSpPr>
              <a:spLocks noChangeShapeType="1"/>
            </p:cNvSpPr>
            <p:nvPr/>
          </p:nvSpPr>
          <p:spPr bwMode="auto">
            <a:xfrm flipH="1">
              <a:off x="1390" y="2046"/>
              <a:ext cx="3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1" name="Line 26"/>
            <p:cNvSpPr>
              <a:spLocks noChangeShapeType="1"/>
            </p:cNvSpPr>
            <p:nvPr/>
          </p:nvSpPr>
          <p:spPr bwMode="auto">
            <a:xfrm>
              <a:off x="1150" y="2046"/>
              <a:ext cx="336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2" name="Line 27"/>
            <p:cNvSpPr>
              <a:spLocks noChangeShapeType="1"/>
            </p:cNvSpPr>
            <p:nvPr/>
          </p:nvSpPr>
          <p:spPr bwMode="auto">
            <a:xfrm flipH="1">
              <a:off x="1054" y="2046"/>
              <a:ext cx="336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3" name="Line 28"/>
            <p:cNvSpPr>
              <a:spLocks noChangeShapeType="1"/>
            </p:cNvSpPr>
            <p:nvPr/>
          </p:nvSpPr>
          <p:spPr bwMode="auto">
            <a:xfrm>
              <a:off x="959" y="2670"/>
              <a:ext cx="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4" name="Line 29"/>
            <p:cNvSpPr>
              <a:spLocks noChangeShapeType="1"/>
            </p:cNvSpPr>
            <p:nvPr/>
          </p:nvSpPr>
          <p:spPr bwMode="auto">
            <a:xfrm>
              <a:off x="1486" y="2670"/>
              <a:ext cx="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5" name="Line 30"/>
            <p:cNvSpPr>
              <a:spLocks noChangeShapeType="1"/>
            </p:cNvSpPr>
            <p:nvPr/>
          </p:nvSpPr>
          <p:spPr bwMode="auto">
            <a:xfrm flipH="1">
              <a:off x="1486" y="2670"/>
              <a:ext cx="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6" name="Line 31"/>
            <p:cNvSpPr>
              <a:spLocks noChangeShapeType="1"/>
            </p:cNvSpPr>
            <p:nvPr/>
          </p:nvSpPr>
          <p:spPr bwMode="auto">
            <a:xfrm>
              <a:off x="767" y="3486"/>
              <a:ext cx="9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7" name="Line 32"/>
            <p:cNvSpPr>
              <a:spLocks noChangeShapeType="1"/>
            </p:cNvSpPr>
            <p:nvPr/>
          </p:nvSpPr>
          <p:spPr bwMode="auto">
            <a:xfrm>
              <a:off x="1246" y="348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8" name="Line 33"/>
            <p:cNvSpPr>
              <a:spLocks noChangeShapeType="1"/>
            </p:cNvSpPr>
            <p:nvPr/>
          </p:nvSpPr>
          <p:spPr bwMode="auto">
            <a:xfrm>
              <a:off x="432" y="343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89" name="Line 34"/>
            <p:cNvSpPr>
              <a:spLocks noChangeShapeType="1"/>
            </p:cNvSpPr>
            <p:nvPr/>
          </p:nvSpPr>
          <p:spPr bwMode="auto">
            <a:xfrm>
              <a:off x="2060" y="3438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8995" name="Rectangle 35"/>
            <p:cNvSpPr>
              <a:spLocks noChangeArrowheads="1"/>
            </p:cNvSpPr>
            <p:nvPr/>
          </p:nvSpPr>
          <p:spPr bwMode="auto">
            <a:xfrm>
              <a:off x="1821" y="18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8996" name="Rectangle 36"/>
            <p:cNvSpPr>
              <a:spLocks noChangeArrowheads="1"/>
            </p:cNvSpPr>
            <p:nvPr/>
          </p:nvSpPr>
          <p:spPr bwMode="auto">
            <a:xfrm>
              <a:off x="480" y="1776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8997" name="Rectangle 37"/>
            <p:cNvSpPr>
              <a:spLocks noChangeArrowheads="1"/>
            </p:cNvSpPr>
            <p:nvPr/>
          </p:nvSpPr>
          <p:spPr bwMode="auto">
            <a:xfrm>
              <a:off x="288" y="3672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8998" name="Rectangle 38"/>
            <p:cNvSpPr>
              <a:spLocks noChangeArrowheads="1"/>
            </p:cNvSpPr>
            <p:nvPr/>
          </p:nvSpPr>
          <p:spPr bwMode="auto">
            <a:xfrm>
              <a:off x="1917" y="372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8999" name="Rectangle 39"/>
            <p:cNvSpPr>
              <a:spLocks noChangeArrowheads="1"/>
            </p:cNvSpPr>
            <p:nvPr/>
          </p:nvSpPr>
          <p:spPr bwMode="auto">
            <a:xfrm>
              <a:off x="1054" y="3774"/>
              <a:ext cx="5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0" name="Rectangle 40"/>
            <p:cNvSpPr>
              <a:spLocks noChangeArrowheads="1"/>
            </p:cNvSpPr>
            <p:nvPr/>
          </p:nvSpPr>
          <p:spPr bwMode="auto">
            <a:xfrm>
              <a:off x="671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1" name="Rectangle 41"/>
            <p:cNvSpPr>
              <a:spLocks noChangeArrowheads="1"/>
            </p:cNvSpPr>
            <p:nvPr/>
          </p:nvSpPr>
          <p:spPr bwMode="auto">
            <a:xfrm>
              <a:off x="1629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2" name="Rectangle 42"/>
            <p:cNvSpPr>
              <a:spLocks noChangeArrowheads="1"/>
            </p:cNvSpPr>
            <p:nvPr/>
          </p:nvSpPr>
          <p:spPr bwMode="auto">
            <a:xfrm>
              <a:off x="480" y="30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3" name="Rectangle 43"/>
            <p:cNvSpPr>
              <a:spLocks noChangeArrowheads="1"/>
            </p:cNvSpPr>
            <p:nvPr/>
          </p:nvSpPr>
          <p:spPr bwMode="auto">
            <a:xfrm>
              <a:off x="1773" y="30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4" name="Rectangle 44"/>
            <p:cNvSpPr>
              <a:spLocks noChangeArrowheads="1"/>
            </p:cNvSpPr>
            <p:nvPr/>
          </p:nvSpPr>
          <p:spPr bwMode="auto">
            <a:xfrm>
              <a:off x="336" y="2544"/>
              <a:ext cx="62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9005" name="Rectangle 45"/>
            <p:cNvSpPr>
              <a:spLocks noChangeArrowheads="1"/>
            </p:cNvSpPr>
            <p:nvPr/>
          </p:nvSpPr>
          <p:spPr bwMode="auto">
            <a:xfrm>
              <a:off x="1968" y="2544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401" name="Line 46"/>
            <p:cNvSpPr>
              <a:spLocks noChangeShapeType="1"/>
            </p:cNvSpPr>
            <p:nvPr/>
          </p:nvSpPr>
          <p:spPr bwMode="auto">
            <a:xfrm>
              <a:off x="2012" y="257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02" name="Line 47"/>
            <p:cNvSpPr>
              <a:spLocks noChangeShapeType="1"/>
            </p:cNvSpPr>
            <p:nvPr/>
          </p:nvSpPr>
          <p:spPr bwMode="auto">
            <a:xfrm>
              <a:off x="1869" y="1872"/>
              <a:ext cx="1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03" name="Oval 48"/>
            <p:cNvSpPr>
              <a:spLocks noChangeAspect="1" noChangeArrowheads="1"/>
            </p:cNvSpPr>
            <p:nvPr/>
          </p:nvSpPr>
          <p:spPr bwMode="auto">
            <a:xfrm>
              <a:off x="1750" y="2022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404" name="Oval 49"/>
            <p:cNvSpPr>
              <a:spLocks noChangeArrowheads="1"/>
            </p:cNvSpPr>
            <p:nvPr/>
          </p:nvSpPr>
          <p:spPr bwMode="auto">
            <a:xfrm>
              <a:off x="791" y="2024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405" name="Line 50"/>
            <p:cNvSpPr>
              <a:spLocks noChangeShapeType="1"/>
            </p:cNvSpPr>
            <p:nvPr/>
          </p:nvSpPr>
          <p:spPr bwMode="auto">
            <a:xfrm>
              <a:off x="384" y="259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9011" name="Rectangle 51"/>
          <p:cNvSpPr>
            <a:spLocks noChangeArrowheads="1"/>
          </p:cNvSpPr>
          <p:nvPr/>
        </p:nvSpPr>
        <p:spPr bwMode="auto">
          <a:xfrm>
            <a:off x="149225" y="1066800"/>
            <a:ext cx="4787900" cy="70675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4.3.1 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9012" name="Group 52"/>
          <p:cNvGrpSpPr/>
          <p:nvPr/>
        </p:nvGrpSpPr>
        <p:grpSpPr bwMode="auto">
          <a:xfrm>
            <a:off x="5181600" y="2590800"/>
            <a:ext cx="2819400" cy="3132138"/>
            <a:chOff x="3264" y="1632"/>
            <a:chExt cx="1776" cy="1973"/>
          </a:xfrm>
        </p:grpSpPr>
        <p:grpSp>
          <p:nvGrpSpPr>
            <p:cNvPr id="14344" name="Group 53"/>
            <p:cNvGrpSpPr/>
            <p:nvPr/>
          </p:nvGrpSpPr>
          <p:grpSpPr bwMode="auto">
            <a:xfrm>
              <a:off x="3264" y="1632"/>
              <a:ext cx="1776" cy="1973"/>
              <a:chOff x="3024" y="1632"/>
              <a:chExt cx="1776" cy="1973"/>
            </a:xfrm>
          </p:grpSpPr>
          <p:sp>
            <p:nvSpPr>
              <p:cNvPr id="14347" name="Rectangle 54"/>
              <p:cNvSpPr>
                <a:spLocks noChangeArrowheads="1"/>
              </p:cNvSpPr>
              <p:nvPr/>
            </p:nvSpPr>
            <p:spPr bwMode="auto">
              <a:xfrm>
                <a:off x="3024" y="2299"/>
                <a:ext cx="1776" cy="7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4348" name="Oval 55"/>
              <p:cNvSpPr>
                <a:spLocks noChangeArrowheads="1"/>
              </p:cNvSpPr>
              <p:nvPr/>
            </p:nvSpPr>
            <p:spPr bwMode="auto">
              <a:xfrm>
                <a:off x="4293" y="2152"/>
                <a:ext cx="144" cy="1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9016" name="Rectangle 56"/>
              <p:cNvSpPr>
                <a:spLocks noChangeArrowheads="1"/>
              </p:cNvSpPr>
              <p:nvPr/>
            </p:nvSpPr>
            <p:spPr bwMode="auto">
              <a:xfrm>
                <a:off x="3268" y="324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9017" name="Rectangle 57"/>
              <p:cNvSpPr>
                <a:spLocks noChangeArrowheads="1"/>
              </p:cNvSpPr>
              <p:nvPr/>
            </p:nvSpPr>
            <p:spPr bwMode="auto">
              <a:xfrm>
                <a:off x="3756" y="3217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CP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9018" name="Rectangle 58"/>
              <p:cNvSpPr>
                <a:spLocks noChangeArrowheads="1"/>
              </p:cNvSpPr>
              <p:nvPr/>
            </p:nvSpPr>
            <p:spPr bwMode="auto">
              <a:xfrm>
                <a:off x="4293" y="324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R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9019" name="Rectangle 59"/>
              <p:cNvSpPr>
                <a:spLocks noChangeArrowheads="1"/>
              </p:cNvSpPr>
              <p:nvPr/>
            </p:nvSpPr>
            <p:spPr bwMode="auto">
              <a:xfrm>
                <a:off x="3366" y="163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Q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9020" name="Rectangle 60"/>
              <p:cNvSpPr>
                <a:spLocks noChangeArrowheads="1"/>
              </p:cNvSpPr>
              <p:nvPr/>
            </p:nvSpPr>
            <p:spPr bwMode="auto">
              <a:xfrm>
                <a:off x="4244" y="163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Q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354" name="Line 61"/>
              <p:cNvSpPr>
                <a:spLocks noChangeShapeType="1"/>
              </p:cNvSpPr>
              <p:nvPr/>
            </p:nvSpPr>
            <p:spPr bwMode="auto">
              <a:xfrm>
                <a:off x="3951" y="3051"/>
                <a:ext cx="1" cy="2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55" name="Line 62"/>
              <p:cNvSpPr>
                <a:spLocks noChangeShapeType="1"/>
              </p:cNvSpPr>
              <p:nvPr/>
            </p:nvSpPr>
            <p:spPr bwMode="auto">
              <a:xfrm flipV="1">
                <a:off x="3512" y="2010"/>
                <a:ext cx="0" cy="2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56" name="Line 63"/>
              <p:cNvSpPr>
                <a:spLocks noChangeShapeType="1"/>
              </p:cNvSpPr>
              <p:nvPr/>
            </p:nvSpPr>
            <p:spPr bwMode="auto">
              <a:xfrm flipV="1">
                <a:off x="4370" y="1963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57" name="Line 64"/>
              <p:cNvSpPr>
                <a:spLocks noChangeShapeType="1"/>
              </p:cNvSpPr>
              <p:nvPr/>
            </p:nvSpPr>
            <p:spPr bwMode="auto">
              <a:xfrm>
                <a:off x="3414" y="3051"/>
                <a:ext cx="0" cy="2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58" name="Line 65"/>
              <p:cNvSpPr>
                <a:spLocks noChangeShapeType="1"/>
              </p:cNvSpPr>
              <p:nvPr/>
            </p:nvSpPr>
            <p:spPr bwMode="auto">
              <a:xfrm>
                <a:off x="4390" y="3051"/>
                <a:ext cx="0" cy="2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59" name="Line 66"/>
              <p:cNvSpPr>
                <a:spLocks noChangeShapeType="1"/>
              </p:cNvSpPr>
              <p:nvPr/>
            </p:nvSpPr>
            <p:spPr bwMode="auto">
              <a:xfrm>
                <a:off x="4272" y="1680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4345" name="Line 67"/>
            <p:cNvSpPr>
              <a:spLocks noChangeShapeType="1"/>
            </p:cNvSpPr>
            <p:nvPr/>
          </p:nvSpPr>
          <p:spPr bwMode="auto">
            <a:xfrm flipV="1">
              <a:off x="3992" y="28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46" name="Line 68"/>
            <p:cNvSpPr>
              <a:spLocks noChangeShapeType="1"/>
            </p:cNvSpPr>
            <p:nvPr/>
          </p:nvSpPr>
          <p:spPr bwMode="auto">
            <a:xfrm>
              <a:off x="4184" y="28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animBg="1" autoUpdateAnimBg="0"/>
      <p:bldP spid="169011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840ADC-6D88-4CCC-9BF1-B9AA16EC896D}" type="slidenum">
              <a:rPr lang="en-US" altLang="zh-CN" sz="1400"/>
            </a:fld>
            <a:endParaRPr lang="en-US" altLang="zh-CN" sz="1400"/>
          </a:p>
        </p:txBody>
      </p:sp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171450" y="1630363"/>
            <a:ext cx="2428875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、特征方程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1011" name="Group 3"/>
          <p:cNvGrpSpPr/>
          <p:nvPr/>
        </p:nvGrpSpPr>
        <p:grpSpPr bwMode="auto">
          <a:xfrm>
            <a:off x="2533650" y="5045075"/>
            <a:ext cx="4038600" cy="1209675"/>
            <a:chOff x="1488" y="3030"/>
            <a:chExt cx="2544" cy="762"/>
          </a:xfrm>
        </p:grpSpPr>
        <p:sp>
          <p:nvSpPr>
            <p:cNvPr id="15391" name="Oval 4"/>
            <p:cNvSpPr>
              <a:spLocks noChangeArrowheads="1"/>
            </p:cNvSpPr>
            <p:nvPr/>
          </p:nvSpPr>
          <p:spPr bwMode="auto">
            <a:xfrm>
              <a:off x="3264" y="3030"/>
              <a:ext cx="768" cy="72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392" name="Oval 5"/>
            <p:cNvSpPr>
              <a:spLocks noChangeArrowheads="1"/>
            </p:cNvSpPr>
            <p:nvPr/>
          </p:nvSpPr>
          <p:spPr bwMode="auto">
            <a:xfrm>
              <a:off x="1488" y="3072"/>
              <a:ext cx="768" cy="72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1014" name="Rectangle 6"/>
            <p:cNvSpPr>
              <a:spLocks noChangeArrowheads="1"/>
            </p:cNvSpPr>
            <p:nvPr/>
          </p:nvSpPr>
          <p:spPr bwMode="auto">
            <a:xfrm>
              <a:off x="1728" y="32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1015" name="Rectangle 7"/>
            <p:cNvSpPr>
              <a:spLocks noChangeArrowheads="1"/>
            </p:cNvSpPr>
            <p:nvPr/>
          </p:nvSpPr>
          <p:spPr bwMode="auto">
            <a:xfrm>
              <a:off x="3504" y="31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1016" name="Group 8"/>
          <p:cNvGrpSpPr/>
          <p:nvPr/>
        </p:nvGrpSpPr>
        <p:grpSpPr bwMode="auto">
          <a:xfrm>
            <a:off x="2127250" y="2320925"/>
            <a:ext cx="4806950" cy="1184275"/>
            <a:chOff x="1104" y="646"/>
            <a:chExt cx="3028" cy="746"/>
          </a:xfrm>
        </p:grpSpPr>
        <p:sp>
          <p:nvSpPr>
            <p:cNvPr id="15386" name="AutoShape 9"/>
            <p:cNvSpPr/>
            <p:nvPr/>
          </p:nvSpPr>
          <p:spPr bwMode="auto">
            <a:xfrm>
              <a:off x="1104" y="790"/>
              <a:ext cx="96" cy="458"/>
            </a:xfrm>
            <a:prstGeom prst="leftBrace">
              <a:avLst>
                <a:gd name="adj1" fmla="val 3975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1018" name="Rectangle 10"/>
            <p:cNvSpPr>
              <a:spLocks noChangeArrowheads="1"/>
            </p:cNvSpPr>
            <p:nvPr/>
          </p:nvSpPr>
          <p:spPr bwMode="auto">
            <a:xfrm>
              <a:off x="2844" y="646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 CP=1 )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1019" name="Rectangle 11"/>
            <p:cNvSpPr>
              <a:spLocks noChangeArrowheads="1"/>
            </p:cNvSpPr>
            <p:nvPr/>
          </p:nvSpPr>
          <p:spPr bwMode="auto">
            <a:xfrm>
              <a:off x="2736" y="1027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5389" name="Object 12"/>
            <p:cNvGraphicFramePr>
              <a:graphicFrameLocks noChangeAspect="1"/>
            </p:cNvGraphicFramePr>
            <p:nvPr/>
          </p:nvGraphicFramePr>
          <p:xfrm>
            <a:off x="1260" y="646"/>
            <a:ext cx="153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3" name="Equation" r:id="rId1" imgW="544195" imgH="114300" progId="Equation.3">
                    <p:embed/>
                  </p:oleObj>
                </mc:Choice>
                <mc:Fallback>
                  <p:oleObj name="Equation" r:id="rId1" imgW="544195" imgH="114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" y="646"/>
                          <a:ext cx="153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0" name="Object 13"/>
            <p:cNvGraphicFramePr>
              <a:graphicFrameLocks noChangeAspect="1"/>
            </p:cNvGraphicFramePr>
            <p:nvPr/>
          </p:nvGraphicFramePr>
          <p:xfrm>
            <a:off x="1260" y="1075"/>
            <a:ext cx="89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4" name="Equation" r:id="rId3" imgW="299085" imgH="81915" progId="Equation.3">
                    <p:embed/>
                  </p:oleObj>
                </mc:Choice>
                <mc:Fallback>
                  <p:oleObj name="Equation" r:id="rId3" imgW="299085" imgH="8191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" y="1075"/>
                          <a:ext cx="89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171450" y="3611563"/>
            <a:ext cx="202088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、状态图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1023" name="Group 15"/>
          <p:cNvGrpSpPr/>
          <p:nvPr/>
        </p:nvGrpSpPr>
        <p:grpSpPr bwMode="auto">
          <a:xfrm>
            <a:off x="3448050" y="4121150"/>
            <a:ext cx="2065338" cy="1374775"/>
            <a:chOff x="2172" y="2160"/>
            <a:chExt cx="1301" cy="866"/>
          </a:xfrm>
        </p:grpSpPr>
        <p:sp>
          <p:nvSpPr>
            <p:cNvPr id="15384" name="Arc 16"/>
            <p:cNvSpPr/>
            <p:nvPr/>
          </p:nvSpPr>
          <p:spPr bwMode="auto">
            <a:xfrm>
              <a:off x="2172" y="2550"/>
              <a:ext cx="1301" cy="476"/>
            </a:xfrm>
            <a:custGeom>
              <a:avLst/>
              <a:gdLst>
                <a:gd name="T0" fmla="*/ 0 w 40070"/>
                <a:gd name="T1" fmla="*/ 0 h 21600"/>
                <a:gd name="T2" fmla="*/ 0 w 40070"/>
                <a:gd name="T3" fmla="*/ 0 h 21600"/>
                <a:gd name="T4" fmla="*/ 0 w 400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070" h="21600" fill="none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25" name="Rectangle 17"/>
            <p:cNvSpPr>
              <a:spLocks noChangeArrowheads="1"/>
            </p:cNvSpPr>
            <p:nvPr/>
          </p:nvSpPr>
          <p:spPr bwMode="auto">
            <a:xfrm>
              <a:off x="2652" y="216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1026" name="Group 18"/>
          <p:cNvGrpSpPr/>
          <p:nvPr/>
        </p:nvGrpSpPr>
        <p:grpSpPr bwMode="auto">
          <a:xfrm>
            <a:off x="6240463" y="4589463"/>
            <a:ext cx="1760537" cy="1330325"/>
            <a:chOff x="3931" y="2455"/>
            <a:chExt cx="1109" cy="838"/>
          </a:xfrm>
        </p:grpSpPr>
        <p:sp>
          <p:nvSpPr>
            <p:cNvPr id="15381" name="Arc 19"/>
            <p:cNvSpPr/>
            <p:nvPr/>
          </p:nvSpPr>
          <p:spPr bwMode="auto">
            <a:xfrm>
              <a:off x="3931" y="2455"/>
              <a:ext cx="737" cy="816"/>
            </a:xfrm>
            <a:custGeom>
              <a:avLst/>
              <a:gdLst>
                <a:gd name="T0" fmla="*/ 0 w 42712"/>
                <a:gd name="T1" fmla="*/ 0 h 43200"/>
                <a:gd name="T2" fmla="*/ 0 w 42712"/>
                <a:gd name="T3" fmla="*/ 0 h 43200"/>
                <a:gd name="T4" fmla="*/ 0 w 4271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712" h="43200" fill="none" extrusionOk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</a:path>
                <a:path w="42712" h="43200" stroke="0" extrusionOk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  <a:lnTo>
                    <a:pt x="21112" y="21600"/>
                  </a:lnTo>
                  <a:lnTo>
                    <a:pt x="0" y="17033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28" name="Rectangle 20"/>
            <p:cNvSpPr>
              <a:spLocks noChangeArrowheads="1"/>
            </p:cNvSpPr>
            <p:nvPr/>
          </p:nvSpPr>
          <p:spPr bwMode="auto">
            <a:xfrm>
              <a:off x="4668" y="264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1029" name="Rectangle 21"/>
            <p:cNvSpPr>
              <a:spLocks noChangeArrowheads="1"/>
            </p:cNvSpPr>
            <p:nvPr/>
          </p:nvSpPr>
          <p:spPr bwMode="auto">
            <a:xfrm>
              <a:off x="4681" y="2928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1030" name="Group 22"/>
          <p:cNvGrpSpPr/>
          <p:nvPr/>
        </p:nvGrpSpPr>
        <p:grpSpPr bwMode="auto">
          <a:xfrm>
            <a:off x="3600450" y="5797550"/>
            <a:ext cx="2065338" cy="755650"/>
            <a:chOff x="2268" y="3216"/>
            <a:chExt cx="1301" cy="476"/>
          </a:xfrm>
        </p:grpSpPr>
        <p:sp>
          <p:nvSpPr>
            <p:cNvPr id="15379" name="Arc 23"/>
            <p:cNvSpPr/>
            <p:nvPr/>
          </p:nvSpPr>
          <p:spPr bwMode="auto">
            <a:xfrm flipV="1">
              <a:off x="2268" y="3216"/>
              <a:ext cx="1301" cy="476"/>
            </a:xfrm>
            <a:custGeom>
              <a:avLst/>
              <a:gdLst>
                <a:gd name="T0" fmla="*/ 0 w 40070"/>
                <a:gd name="T1" fmla="*/ 0 h 21600"/>
                <a:gd name="T2" fmla="*/ 0 w 40070"/>
                <a:gd name="T3" fmla="*/ 0 h 21600"/>
                <a:gd name="T4" fmla="*/ 0 w 400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070" h="21600" fill="none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32" name="Rectangle 24"/>
            <p:cNvSpPr>
              <a:spLocks noChangeArrowheads="1"/>
            </p:cNvSpPr>
            <p:nvPr/>
          </p:nvSpPr>
          <p:spPr bwMode="auto">
            <a:xfrm>
              <a:off x="2700" y="331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1033" name="Group 25"/>
          <p:cNvGrpSpPr/>
          <p:nvPr/>
        </p:nvGrpSpPr>
        <p:grpSpPr bwMode="auto">
          <a:xfrm>
            <a:off x="857250" y="4283075"/>
            <a:ext cx="2190750" cy="1836738"/>
            <a:chOff x="540" y="2262"/>
            <a:chExt cx="1380" cy="1157"/>
          </a:xfrm>
        </p:grpSpPr>
        <p:sp>
          <p:nvSpPr>
            <p:cNvPr id="171034" name="Rectangle 26"/>
            <p:cNvSpPr>
              <a:spLocks noChangeArrowheads="1"/>
            </p:cNvSpPr>
            <p:nvPr/>
          </p:nvSpPr>
          <p:spPr bwMode="auto">
            <a:xfrm>
              <a:off x="1164" y="2262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RS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1035" name="Rectangle 27"/>
            <p:cNvSpPr>
              <a:spLocks noChangeArrowheads="1"/>
            </p:cNvSpPr>
            <p:nvPr/>
          </p:nvSpPr>
          <p:spPr bwMode="auto">
            <a:xfrm>
              <a:off x="540" y="3054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7" name="Arc 28"/>
            <p:cNvSpPr/>
            <p:nvPr/>
          </p:nvSpPr>
          <p:spPr bwMode="auto">
            <a:xfrm>
              <a:off x="972" y="2736"/>
              <a:ext cx="768" cy="643"/>
            </a:xfrm>
            <a:custGeom>
              <a:avLst/>
              <a:gdLst>
                <a:gd name="T0" fmla="*/ 0 w 38370"/>
                <a:gd name="T1" fmla="*/ 0 h 43200"/>
                <a:gd name="T2" fmla="*/ 0 w 38370"/>
                <a:gd name="T3" fmla="*/ 0 h 43200"/>
                <a:gd name="T4" fmla="*/ 0 w 3837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370" h="43200" fill="none" extrusionOk="0">
                  <a:moveTo>
                    <a:pt x="32000" y="40531"/>
                  </a:moveTo>
                  <a:cubicBezTo>
                    <a:pt x="28813" y="42282"/>
                    <a:pt x="2523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</a:path>
                <a:path w="38370" h="43200" stroke="0" extrusionOk="0">
                  <a:moveTo>
                    <a:pt x="32000" y="40531"/>
                  </a:moveTo>
                  <a:cubicBezTo>
                    <a:pt x="28813" y="42282"/>
                    <a:pt x="2523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  <a:lnTo>
                    <a:pt x="21600" y="21600"/>
                  </a:lnTo>
                  <a:lnTo>
                    <a:pt x="32000" y="40531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37" name="Rectangle 29"/>
            <p:cNvSpPr>
              <a:spLocks noChangeArrowheads="1"/>
            </p:cNvSpPr>
            <p:nvPr/>
          </p:nvSpPr>
          <p:spPr bwMode="auto">
            <a:xfrm>
              <a:off x="540" y="278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71038" name="Rectangle 30"/>
          <p:cNvSpPr>
            <a:spLocks noChangeArrowheads="1"/>
          </p:cNvSpPr>
          <p:nvPr/>
        </p:nvSpPr>
        <p:spPr bwMode="auto">
          <a:xfrm>
            <a:off x="173038" y="1524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、工作状态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171450" y="868363"/>
            <a:ext cx="92249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时，保持状态不变；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时，接收输入信号。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1040" name="Rectangle 32"/>
          <p:cNvSpPr>
            <a:spLocks noChangeArrowheads="1"/>
          </p:cNvSpPr>
          <p:nvPr/>
        </p:nvSpPr>
        <p:spPr bwMode="auto">
          <a:xfrm>
            <a:off x="860425" y="546417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1041" name="Rectangle 33"/>
          <p:cNvSpPr>
            <a:spLocks noChangeArrowheads="1"/>
          </p:cNvSpPr>
          <p:nvPr/>
        </p:nvSpPr>
        <p:spPr bwMode="auto">
          <a:xfrm>
            <a:off x="7426325" y="522922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 animBg="1" autoUpdateAnimBg="0"/>
      <p:bldP spid="171022" grpId="0" animBg="1" autoUpdateAnimBg="0"/>
      <p:bldP spid="171039" grpId="0" autoUpdateAnimBg="0"/>
      <p:bldP spid="171040" grpId="0"/>
      <p:bldP spid="1710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994D77C-A6F0-45C8-8591-15BBC52FD6E1}" type="slidenum">
              <a:rPr lang="en-US" altLang="zh-CN" sz="1400"/>
            </a:fld>
            <a:endParaRPr lang="en-US" altLang="zh-CN" sz="1400"/>
          </a:p>
        </p:txBody>
      </p:sp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212725" y="3048000"/>
            <a:ext cx="876300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期间，只要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稍有变化，那么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端也随之变化，存在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空翻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问题。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196850" y="152400"/>
            <a:ext cx="1612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、优点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212725" y="2362200"/>
            <a:ext cx="4503738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仍然存在约束条件。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212725" y="4267200"/>
            <a:ext cx="876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在一个时钟周期内触发器状态多次翻转的现象被称为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空翻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196850" y="54864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空翻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会造成节拍混乱，使系统工作不可靠，因此在实际的数字电路中是不允许出现的。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228600" y="1630363"/>
            <a:ext cx="2836863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、存在的问题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222250" y="868363"/>
            <a:ext cx="74993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加入了时钟信号，使同步工作成为可能。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animBg="1" autoUpdateAnimBg="0"/>
      <p:bldP spid="173060" grpId="0" animBg="1" autoUpdateAnimBg="0"/>
      <p:bldP spid="173061" grpId="0" animBg="1" autoUpdateAnimBg="0"/>
      <p:bldP spid="173062" grpId="0" autoUpdateAnimBg="0"/>
      <p:bldP spid="173063" grpId="0" animBg="1" autoUpdateAnimBg="0"/>
      <p:bldP spid="17306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A016E42-0836-430C-BDFF-FC8CA535052B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175106" name="Group 2"/>
          <p:cNvGrpSpPr/>
          <p:nvPr/>
        </p:nvGrpSpPr>
        <p:grpSpPr bwMode="auto">
          <a:xfrm>
            <a:off x="2362200" y="3865563"/>
            <a:ext cx="1346200" cy="1223962"/>
            <a:chOff x="1488" y="3203"/>
            <a:chExt cx="848" cy="771"/>
          </a:xfrm>
        </p:grpSpPr>
        <p:sp>
          <p:nvSpPr>
            <p:cNvPr id="17457" name="Line 3"/>
            <p:cNvSpPr>
              <a:spLocks noChangeShapeType="1"/>
            </p:cNvSpPr>
            <p:nvPr/>
          </p:nvSpPr>
          <p:spPr bwMode="auto">
            <a:xfrm>
              <a:off x="1488" y="3552"/>
              <a:ext cx="8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8" name="Line 4"/>
            <p:cNvSpPr>
              <a:spLocks noChangeShapeType="1"/>
            </p:cNvSpPr>
            <p:nvPr/>
          </p:nvSpPr>
          <p:spPr bwMode="auto">
            <a:xfrm flipV="1">
              <a:off x="2336" y="3203"/>
              <a:ext cx="0" cy="3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9" name="Line 5"/>
            <p:cNvSpPr>
              <a:spLocks noChangeShapeType="1"/>
            </p:cNvSpPr>
            <p:nvPr/>
          </p:nvSpPr>
          <p:spPr bwMode="auto">
            <a:xfrm>
              <a:off x="1488" y="3696"/>
              <a:ext cx="8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0" name="Line 6"/>
            <p:cNvSpPr>
              <a:spLocks noChangeShapeType="1"/>
            </p:cNvSpPr>
            <p:nvPr/>
          </p:nvSpPr>
          <p:spPr bwMode="auto">
            <a:xfrm>
              <a:off x="2336" y="370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412" name="Group 7"/>
          <p:cNvGrpSpPr/>
          <p:nvPr/>
        </p:nvGrpSpPr>
        <p:grpSpPr bwMode="auto">
          <a:xfrm>
            <a:off x="1676400" y="1676400"/>
            <a:ext cx="5562600" cy="2246313"/>
            <a:chOff x="1056" y="1824"/>
            <a:chExt cx="3504" cy="1415"/>
          </a:xfrm>
        </p:grpSpPr>
        <p:sp>
          <p:nvSpPr>
            <p:cNvPr id="17439" name="Line 8"/>
            <p:cNvSpPr>
              <a:spLocks noChangeShapeType="1"/>
            </p:cNvSpPr>
            <p:nvPr/>
          </p:nvSpPr>
          <p:spPr bwMode="auto">
            <a:xfrm>
              <a:off x="1440" y="2208"/>
              <a:ext cx="8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0" name="Line 9"/>
            <p:cNvSpPr>
              <a:spLocks noChangeShapeType="1"/>
            </p:cNvSpPr>
            <p:nvPr/>
          </p:nvSpPr>
          <p:spPr bwMode="auto">
            <a:xfrm flipV="1">
              <a:off x="2304" y="182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1" name="Line 10"/>
            <p:cNvSpPr>
              <a:spLocks noChangeShapeType="1"/>
            </p:cNvSpPr>
            <p:nvPr/>
          </p:nvSpPr>
          <p:spPr bwMode="auto">
            <a:xfrm>
              <a:off x="2304" y="1824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2" name="Line 11"/>
            <p:cNvSpPr>
              <a:spLocks noChangeShapeType="1"/>
            </p:cNvSpPr>
            <p:nvPr/>
          </p:nvSpPr>
          <p:spPr bwMode="auto">
            <a:xfrm>
              <a:off x="3840" y="182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3" name="Line 12"/>
            <p:cNvSpPr>
              <a:spLocks noChangeShapeType="1"/>
            </p:cNvSpPr>
            <p:nvPr/>
          </p:nvSpPr>
          <p:spPr bwMode="auto">
            <a:xfrm>
              <a:off x="3840" y="220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4" name="Line 13"/>
            <p:cNvSpPr>
              <a:spLocks noChangeShapeType="1"/>
            </p:cNvSpPr>
            <p:nvPr/>
          </p:nvSpPr>
          <p:spPr bwMode="auto">
            <a:xfrm>
              <a:off x="1565" y="2296"/>
              <a:ext cx="16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5" name="Line 14"/>
            <p:cNvSpPr>
              <a:spLocks noChangeShapeType="1"/>
            </p:cNvSpPr>
            <p:nvPr/>
          </p:nvSpPr>
          <p:spPr bwMode="auto">
            <a:xfrm flipV="1">
              <a:off x="3243" y="229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6" name="Line 15"/>
            <p:cNvSpPr>
              <a:spLocks noChangeShapeType="1"/>
            </p:cNvSpPr>
            <p:nvPr/>
          </p:nvSpPr>
          <p:spPr bwMode="auto">
            <a:xfrm>
              <a:off x="3243" y="2568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7" name="Line 16"/>
            <p:cNvSpPr>
              <a:spLocks noChangeShapeType="1"/>
            </p:cNvSpPr>
            <p:nvPr/>
          </p:nvSpPr>
          <p:spPr bwMode="auto">
            <a:xfrm>
              <a:off x="3424" y="229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8" name="Line 17"/>
            <p:cNvSpPr>
              <a:spLocks noChangeShapeType="1"/>
            </p:cNvSpPr>
            <p:nvPr/>
          </p:nvSpPr>
          <p:spPr bwMode="auto">
            <a:xfrm>
              <a:off x="3424" y="2296"/>
              <a:ext cx="11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9" name="Line 18"/>
            <p:cNvSpPr>
              <a:spLocks noChangeShapeType="1"/>
            </p:cNvSpPr>
            <p:nvPr/>
          </p:nvSpPr>
          <p:spPr bwMode="auto">
            <a:xfrm>
              <a:off x="1429" y="3022"/>
              <a:ext cx="19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0" name="Line 19"/>
            <p:cNvSpPr>
              <a:spLocks noChangeShapeType="1"/>
            </p:cNvSpPr>
            <p:nvPr/>
          </p:nvSpPr>
          <p:spPr bwMode="auto">
            <a:xfrm>
              <a:off x="3560" y="3022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1" name="Line 20"/>
            <p:cNvSpPr>
              <a:spLocks noChangeShapeType="1"/>
            </p:cNvSpPr>
            <p:nvPr/>
          </p:nvSpPr>
          <p:spPr bwMode="auto">
            <a:xfrm>
              <a:off x="3334" y="2750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2" name="Line 21"/>
            <p:cNvSpPr>
              <a:spLocks noChangeShapeType="1"/>
            </p:cNvSpPr>
            <p:nvPr/>
          </p:nvSpPr>
          <p:spPr bwMode="auto">
            <a:xfrm flipV="1">
              <a:off x="3560" y="2750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3" name="Line 22"/>
            <p:cNvSpPr>
              <a:spLocks noChangeShapeType="1"/>
            </p:cNvSpPr>
            <p:nvPr/>
          </p:nvSpPr>
          <p:spPr bwMode="auto">
            <a:xfrm>
              <a:off x="3334" y="2750"/>
              <a:ext cx="2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5127" name="Rectangle 23"/>
            <p:cNvSpPr>
              <a:spLocks noChangeArrowheads="1"/>
            </p:cNvSpPr>
            <p:nvPr/>
          </p:nvSpPr>
          <p:spPr bwMode="auto">
            <a:xfrm>
              <a:off x="1056" y="196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5128" name="Rectangle 24"/>
            <p:cNvSpPr>
              <a:spLocks noChangeArrowheads="1"/>
            </p:cNvSpPr>
            <p:nvPr/>
          </p:nvSpPr>
          <p:spPr bwMode="auto">
            <a:xfrm>
              <a:off x="1056" y="239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5129" name="Rectangle 25"/>
            <p:cNvSpPr>
              <a:spLocks noChangeArrowheads="1"/>
            </p:cNvSpPr>
            <p:nvPr/>
          </p:nvSpPr>
          <p:spPr bwMode="auto">
            <a:xfrm>
              <a:off x="1056" y="28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5130" name="Group 26"/>
          <p:cNvGrpSpPr/>
          <p:nvPr/>
        </p:nvGrpSpPr>
        <p:grpSpPr bwMode="auto">
          <a:xfrm>
            <a:off x="1676400" y="3962400"/>
            <a:ext cx="685800" cy="1103313"/>
            <a:chOff x="1056" y="3264"/>
            <a:chExt cx="432" cy="695"/>
          </a:xfrm>
        </p:grpSpPr>
        <p:sp>
          <p:nvSpPr>
            <p:cNvPr id="175131" name="Rectangle 27"/>
            <p:cNvSpPr>
              <a:spLocks noChangeArrowheads="1"/>
            </p:cNvSpPr>
            <p:nvPr/>
          </p:nvSpPr>
          <p:spPr bwMode="auto">
            <a:xfrm>
              <a:off x="1056" y="3264"/>
              <a:ext cx="4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5132" name="Rectangle 28"/>
            <p:cNvSpPr>
              <a:spLocks noChangeArrowheads="1"/>
            </p:cNvSpPr>
            <p:nvPr/>
          </p:nvSpPr>
          <p:spPr bwMode="auto">
            <a:xfrm>
              <a:off x="1056" y="359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38" name="Line 29"/>
            <p:cNvSpPr>
              <a:spLocks noChangeShapeType="1"/>
            </p:cNvSpPr>
            <p:nvPr/>
          </p:nvSpPr>
          <p:spPr bwMode="auto">
            <a:xfrm>
              <a:off x="1104" y="364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5134" name="Group 30"/>
          <p:cNvGrpSpPr/>
          <p:nvPr/>
        </p:nvGrpSpPr>
        <p:grpSpPr bwMode="auto">
          <a:xfrm>
            <a:off x="3708400" y="3860800"/>
            <a:ext cx="1368425" cy="1223963"/>
            <a:chOff x="2336" y="2432"/>
            <a:chExt cx="862" cy="771"/>
          </a:xfrm>
        </p:grpSpPr>
        <p:sp>
          <p:nvSpPr>
            <p:cNvPr id="17434" name="Line 31"/>
            <p:cNvSpPr>
              <a:spLocks noChangeShapeType="1"/>
            </p:cNvSpPr>
            <p:nvPr/>
          </p:nvSpPr>
          <p:spPr bwMode="auto">
            <a:xfrm>
              <a:off x="2336" y="2432"/>
              <a:ext cx="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32"/>
            <p:cNvSpPr>
              <a:spLocks noChangeShapeType="1"/>
            </p:cNvSpPr>
            <p:nvPr/>
          </p:nvSpPr>
          <p:spPr bwMode="auto">
            <a:xfrm>
              <a:off x="2336" y="3203"/>
              <a:ext cx="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137" name="Group 33"/>
          <p:cNvGrpSpPr/>
          <p:nvPr/>
        </p:nvGrpSpPr>
        <p:grpSpPr bwMode="auto">
          <a:xfrm>
            <a:off x="5062538" y="3860800"/>
            <a:ext cx="230187" cy="1223963"/>
            <a:chOff x="3189" y="2432"/>
            <a:chExt cx="145" cy="771"/>
          </a:xfrm>
        </p:grpSpPr>
        <p:sp>
          <p:nvSpPr>
            <p:cNvPr id="17432" name="Line 34"/>
            <p:cNvSpPr>
              <a:spLocks noChangeShapeType="1"/>
            </p:cNvSpPr>
            <p:nvPr/>
          </p:nvSpPr>
          <p:spPr bwMode="auto">
            <a:xfrm>
              <a:off x="3198" y="2432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35"/>
            <p:cNvSpPr>
              <a:spLocks noChangeShapeType="1"/>
            </p:cNvSpPr>
            <p:nvPr/>
          </p:nvSpPr>
          <p:spPr bwMode="auto">
            <a:xfrm>
              <a:off x="3189" y="3203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140" name="Group 36"/>
          <p:cNvGrpSpPr/>
          <p:nvPr/>
        </p:nvGrpSpPr>
        <p:grpSpPr bwMode="auto">
          <a:xfrm>
            <a:off x="5292725" y="3865563"/>
            <a:ext cx="215900" cy="1223962"/>
            <a:chOff x="3334" y="2435"/>
            <a:chExt cx="136" cy="771"/>
          </a:xfrm>
        </p:grpSpPr>
        <p:sp>
          <p:nvSpPr>
            <p:cNvPr id="17428" name="Line 37"/>
            <p:cNvSpPr>
              <a:spLocks noChangeShapeType="1"/>
            </p:cNvSpPr>
            <p:nvPr/>
          </p:nvSpPr>
          <p:spPr bwMode="auto">
            <a:xfrm>
              <a:off x="3334" y="2934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9" name="Line 38"/>
            <p:cNvSpPr>
              <a:spLocks noChangeShapeType="1"/>
            </p:cNvSpPr>
            <p:nvPr/>
          </p:nvSpPr>
          <p:spPr bwMode="auto">
            <a:xfrm>
              <a:off x="3334" y="2435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0" name="Line 39"/>
            <p:cNvSpPr>
              <a:spLocks noChangeShapeType="1"/>
            </p:cNvSpPr>
            <p:nvPr/>
          </p:nvSpPr>
          <p:spPr bwMode="auto">
            <a:xfrm>
              <a:off x="3334" y="2753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1" name="Line 40"/>
            <p:cNvSpPr>
              <a:spLocks noChangeShapeType="1"/>
            </p:cNvSpPr>
            <p:nvPr/>
          </p:nvSpPr>
          <p:spPr bwMode="auto">
            <a:xfrm>
              <a:off x="3334" y="2931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5145" name="Group 41"/>
          <p:cNvGrpSpPr/>
          <p:nvPr/>
        </p:nvGrpSpPr>
        <p:grpSpPr bwMode="auto">
          <a:xfrm>
            <a:off x="5508625" y="3860800"/>
            <a:ext cx="142875" cy="792163"/>
            <a:chOff x="3470" y="2432"/>
            <a:chExt cx="90" cy="499"/>
          </a:xfrm>
        </p:grpSpPr>
        <p:sp>
          <p:nvSpPr>
            <p:cNvPr id="17425" name="Line 42"/>
            <p:cNvSpPr>
              <a:spLocks noChangeShapeType="1"/>
            </p:cNvSpPr>
            <p:nvPr/>
          </p:nvSpPr>
          <p:spPr bwMode="auto">
            <a:xfrm>
              <a:off x="3470" y="2435"/>
              <a:ext cx="0" cy="3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6" name="Line 43"/>
            <p:cNvSpPr>
              <a:spLocks noChangeShapeType="1"/>
            </p:cNvSpPr>
            <p:nvPr/>
          </p:nvSpPr>
          <p:spPr bwMode="auto">
            <a:xfrm>
              <a:off x="3470" y="2931"/>
              <a:ext cx="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Line 44"/>
            <p:cNvSpPr>
              <a:spLocks noChangeShapeType="1"/>
            </p:cNvSpPr>
            <p:nvPr/>
          </p:nvSpPr>
          <p:spPr bwMode="auto">
            <a:xfrm>
              <a:off x="3470" y="2432"/>
              <a:ext cx="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149" name="Group 45"/>
          <p:cNvGrpSpPr/>
          <p:nvPr/>
        </p:nvGrpSpPr>
        <p:grpSpPr bwMode="auto">
          <a:xfrm>
            <a:off x="5651500" y="3860800"/>
            <a:ext cx="433388" cy="1228725"/>
            <a:chOff x="3560" y="2432"/>
            <a:chExt cx="273" cy="774"/>
          </a:xfrm>
        </p:grpSpPr>
        <p:sp>
          <p:nvSpPr>
            <p:cNvPr id="17422" name="Line 46"/>
            <p:cNvSpPr>
              <a:spLocks noChangeShapeType="1"/>
            </p:cNvSpPr>
            <p:nvPr/>
          </p:nvSpPr>
          <p:spPr bwMode="auto">
            <a:xfrm flipV="1">
              <a:off x="3560" y="2934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3" name="Line 47"/>
            <p:cNvSpPr>
              <a:spLocks noChangeShapeType="1"/>
            </p:cNvSpPr>
            <p:nvPr/>
          </p:nvSpPr>
          <p:spPr bwMode="auto">
            <a:xfrm>
              <a:off x="3560" y="2432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Line 48"/>
            <p:cNvSpPr>
              <a:spLocks noChangeShapeType="1"/>
            </p:cNvSpPr>
            <p:nvPr/>
          </p:nvSpPr>
          <p:spPr bwMode="auto">
            <a:xfrm>
              <a:off x="3560" y="3203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153" name="Group 49"/>
          <p:cNvGrpSpPr/>
          <p:nvPr/>
        </p:nvGrpSpPr>
        <p:grpSpPr bwMode="auto">
          <a:xfrm>
            <a:off x="6070600" y="3860800"/>
            <a:ext cx="1165225" cy="1223963"/>
            <a:chOff x="3824" y="2432"/>
            <a:chExt cx="734" cy="771"/>
          </a:xfrm>
        </p:grpSpPr>
        <p:sp>
          <p:nvSpPr>
            <p:cNvPr id="17420" name="Line 50"/>
            <p:cNvSpPr>
              <a:spLocks noChangeShapeType="1"/>
            </p:cNvSpPr>
            <p:nvPr/>
          </p:nvSpPr>
          <p:spPr bwMode="auto">
            <a:xfrm>
              <a:off x="3824" y="2432"/>
              <a:ext cx="7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Line 51"/>
            <p:cNvSpPr>
              <a:spLocks noChangeShapeType="1"/>
            </p:cNvSpPr>
            <p:nvPr/>
          </p:nvSpPr>
          <p:spPr bwMode="auto">
            <a:xfrm>
              <a:off x="3833" y="3203"/>
              <a:ext cx="7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A0FF55-2D29-435D-9A51-5897DDFA3277}" type="slidenum">
              <a:rPr lang="en-US" altLang="zh-CN" sz="1400"/>
            </a:fld>
            <a:endParaRPr lang="en-US" altLang="zh-CN" sz="140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171450" y="165100"/>
            <a:ext cx="4019550" cy="7683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4.3.3 D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0" name="Rectangle 48"/>
          <p:cNvSpPr>
            <a:spLocks noChangeArrowheads="1"/>
          </p:cNvSpPr>
          <p:nvPr/>
        </p:nvSpPr>
        <p:spPr bwMode="auto">
          <a:xfrm>
            <a:off x="190500" y="1077913"/>
            <a:ext cx="2428875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1" name="Rectangle 49"/>
          <p:cNvSpPr>
            <a:spLocks noChangeArrowheads="1"/>
          </p:cNvSpPr>
          <p:nvPr/>
        </p:nvSpPr>
        <p:spPr bwMode="auto">
          <a:xfrm>
            <a:off x="228600" y="1782763"/>
            <a:ext cx="1809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2" name="Rectangle 50"/>
          <p:cNvSpPr>
            <a:spLocks noChangeArrowheads="1"/>
          </p:cNvSpPr>
          <p:nvPr/>
        </p:nvSpPr>
        <p:spPr bwMode="auto">
          <a:xfrm>
            <a:off x="1771650" y="1763713"/>
            <a:ext cx="2279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3" name="Rectangle 51"/>
          <p:cNvSpPr>
            <a:spLocks noChangeArrowheads="1"/>
          </p:cNvSpPr>
          <p:nvPr/>
        </p:nvSpPr>
        <p:spPr bwMode="auto">
          <a:xfrm>
            <a:off x="228600" y="2438400"/>
            <a:ext cx="254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4" name="Rectangle 52"/>
          <p:cNvSpPr>
            <a:spLocks noChangeArrowheads="1"/>
          </p:cNvSpPr>
          <p:nvPr/>
        </p:nvSpPr>
        <p:spPr bwMode="auto">
          <a:xfrm>
            <a:off x="190500" y="3143250"/>
            <a:ext cx="180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05" name="Rectangle 53"/>
          <p:cNvSpPr>
            <a:spLocks noChangeArrowheads="1"/>
          </p:cNvSpPr>
          <p:nvPr/>
        </p:nvSpPr>
        <p:spPr bwMode="auto">
          <a:xfrm>
            <a:off x="4591050" y="3771900"/>
            <a:ext cx="241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11" name="Rectangle 59"/>
          <p:cNvSpPr>
            <a:spLocks noChangeArrowheads="1"/>
          </p:cNvSpPr>
          <p:nvPr/>
        </p:nvSpPr>
        <p:spPr bwMode="auto">
          <a:xfrm>
            <a:off x="209550" y="3771900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那么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12" name="Rectangle 60"/>
          <p:cNvSpPr>
            <a:spLocks noChangeArrowheads="1"/>
          </p:cNvSpPr>
          <p:nvPr/>
        </p:nvSpPr>
        <p:spPr bwMode="auto">
          <a:xfrm>
            <a:off x="2362200" y="3771900"/>
            <a:ext cx="2482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13" name="Rectangle 61"/>
          <p:cNvSpPr>
            <a:spLocks noChangeArrowheads="1"/>
          </p:cNvSpPr>
          <p:nvPr/>
        </p:nvSpPr>
        <p:spPr bwMode="auto">
          <a:xfrm>
            <a:off x="1020763" y="4362450"/>
            <a:ext cx="160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14" name="Rectangle 62"/>
          <p:cNvSpPr>
            <a:spLocks noChangeArrowheads="1"/>
          </p:cNvSpPr>
          <p:nvPr/>
        </p:nvSpPr>
        <p:spPr bwMode="auto">
          <a:xfrm>
            <a:off x="4591050" y="4362450"/>
            <a:ext cx="241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15" name="Rectangle 63"/>
          <p:cNvSpPr>
            <a:spLocks noChangeArrowheads="1"/>
          </p:cNvSpPr>
          <p:nvPr/>
        </p:nvSpPr>
        <p:spPr bwMode="auto">
          <a:xfrm>
            <a:off x="2362200" y="4362450"/>
            <a:ext cx="2482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620" name="Group 68"/>
          <p:cNvGrpSpPr/>
          <p:nvPr/>
        </p:nvGrpSpPr>
        <p:grpSpPr bwMode="auto">
          <a:xfrm>
            <a:off x="4876800" y="152400"/>
            <a:ext cx="4194175" cy="4246563"/>
            <a:chOff x="3072" y="96"/>
            <a:chExt cx="2642" cy="2675"/>
          </a:xfrm>
        </p:grpSpPr>
        <p:sp>
          <p:nvSpPr>
            <p:cNvPr id="23573" name="Rectangle 69"/>
            <p:cNvSpPr>
              <a:spLocks noChangeArrowheads="1"/>
            </p:cNvSpPr>
            <p:nvPr/>
          </p:nvSpPr>
          <p:spPr bwMode="auto">
            <a:xfrm>
              <a:off x="4596" y="534"/>
              <a:ext cx="57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74" name="Oval 70"/>
            <p:cNvSpPr>
              <a:spLocks noChangeArrowheads="1"/>
            </p:cNvSpPr>
            <p:nvPr/>
          </p:nvSpPr>
          <p:spPr bwMode="auto">
            <a:xfrm>
              <a:off x="4835" y="438"/>
              <a:ext cx="95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75" name="Line 71"/>
            <p:cNvSpPr>
              <a:spLocks noChangeShapeType="1"/>
            </p:cNvSpPr>
            <p:nvPr/>
          </p:nvSpPr>
          <p:spPr bwMode="auto">
            <a:xfrm>
              <a:off x="4692" y="82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6" name="Line 72"/>
            <p:cNvSpPr>
              <a:spLocks noChangeShapeType="1"/>
            </p:cNvSpPr>
            <p:nvPr/>
          </p:nvSpPr>
          <p:spPr bwMode="auto">
            <a:xfrm>
              <a:off x="5025" y="82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7" name="Line 73"/>
            <p:cNvSpPr>
              <a:spLocks noChangeShapeType="1"/>
            </p:cNvSpPr>
            <p:nvPr/>
          </p:nvSpPr>
          <p:spPr bwMode="auto">
            <a:xfrm flipV="1">
              <a:off x="4882" y="10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8" name="Rectangle 74"/>
            <p:cNvSpPr>
              <a:spLocks noChangeArrowheads="1"/>
            </p:cNvSpPr>
            <p:nvPr/>
          </p:nvSpPr>
          <p:spPr bwMode="auto">
            <a:xfrm>
              <a:off x="3644" y="534"/>
              <a:ext cx="571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79" name="Oval 75"/>
            <p:cNvSpPr>
              <a:spLocks noChangeArrowheads="1"/>
            </p:cNvSpPr>
            <p:nvPr/>
          </p:nvSpPr>
          <p:spPr bwMode="auto">
            <a:xfrm>
              <a:off x="3882" y="438"/>
              <a:ext cx="95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80" name="Line 76"/>
            <p:cNvSpPr>
              <a:spLocks noChangeShapeType="1"/>
            </p:cNvSpPr>
            <p:nvPr/>
          </p:nvSpPr>
          <p:spPr bwMode="auto">
            <a:xfrm>
              <a:off x="3739" y="82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1" name="Line 77"/>
            <p:cNvSpPr>
              <a:spLocks noChangeShapeType="1"/>
            </p:cNvSpPr>
            <p:nvPr/>
          </p:nvSpPr>
          <p:spPr bwMode="auto">
            <a:xfrm>
              <a:off x="4072" y="82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2" name="Line 78"/>
            <p:cNvSpPr>
              <a:spLocks noChangeShapeType="1"/>
            </p:cNvSpPr>
            <p:nvPr/>
          </p:nvSpPr>
          <p:spPr bwMode="auto">
            <a:xfrm flipV="1">
              <a:off x="3930" y="10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3" name="Rectangle 79"/>
            <p:cNvSpPr>
              <a:spLocks noChangeArrowheads="1"/>
            </p:cNvSpPr>
            <p:nvPr/>
          </p:nvSpPr>
          <p:spPr bwMode="auto">
            <a:xfrm>
              <a:off x="3453" y="1350"/>
              <a:ext cx="57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84" name="Oval 80"/>
            <p:cNvSpPr>
              <a:spLocks noChangeArrowheads="1"/>
            </p:cNvSpPr>
            <p:nvPr/>
          </p:nvSpPr>
          <p:spPr bwMode="auto">
            <a:xfrm>
              <a:off x="3691" y="125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85" name="Line 81"/>
            <p:cNvSpPr>
              <a:spLocks noChangeShapeType="1"/>
            </p:cNvSpPr>
            <p:nvPr/>
          </p:nvSpPr>
          <p:spPr bwMode="auto">
            <a:xfrm flipV="1">
              <a:off x="3739" y="91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6" name="Rectangle 82"/>
            <p:cNvSpPr>
              <a:spLocks noChangeArrowheads="1"/>
            </p:cNvSpPr>
            <p:nvPr/>
          </p:nvSpPr>
          <p:spPr bwMode="auto">
            <a:xfrm>
              <a:off x="4739" y="1350"/>
              <a:ext cx="57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87" name="Oval 83"/>
            <p:cNvSpPr>
              <a:spLocks noChangeArrowheads="1"/>
            </p:cNvSpPr>
            <p:nvPr/>
          </p:nvSpPr>
          <p:spPr bwMode="auto">
            <a:xfrm>
              <a:off x="4978" y="1254"/>
              <a:ext cx="95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88" name="Line 84"/>
            <p:cNvSpPr>
              <a:spLocks noChangeShapeType="1"/>
            </p:cNvSpPr>
            <p:nvPr/>
          </p:nvSpPr>
          <p:spPr bwMode="auto">
            <a:xfrm flipV="1">
              <a:off x="5025" y="91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9" name="Line 85"/>
            <p:cNvSpPr>
              <a:spLocks noChangeShapeType="1"/>
            </p:cNvSpPr>
            <p:nvPr/>
          </p:nvSpPr>
          <p:spPr bwMode="auto">
            <a:xfrm>
              <a:off x="3930" y="342"/>
              <a:ext cx="3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0" name="Line 86"/>
            <p:cNvSpPr>
              <a:spLocks noChangeShapeType="1"/>
            </p:cNvSpPr>
            <p:nvPr/>
          </p:nvSpPr>
          <p:spPr bwMode="auto">
            <a:xfrm flipH="1">
              <a:off x="4501" y="342"/>
              <a:ext cx="3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1" name="Line 87"/>
            <p:cNvSpPr>
              <a:spLocks noChangeShapeType="1"/>
            </p:cNvSpPr>
            <p:nvPr/>
          </p:nvSpPr>
          <p:spPr bwMode="auto">
            <a:xfrm>
              <a:off x="4263" y="342"/>
              <a:ext cx="333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2" name="Line 88"/>
            <p:cNvSpPr>
              <a:spLocks noChangeShapeType="1"/>
            </p:cNvSpPr>
            <p:nvPr/>
          </p:nvSpPr>
          <p:spPr bwMode="auto">
            <a:xfrm flipH="1">
              <a:off x="4168" y="342"/>
              <a:ext cx="333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3" name="Line 89"/>
            <p:cNvSpPr>
              <a:spLocks noChangeShapeType="1"/>
            </p:cNvSpPr>
            <p:nvPr/>
          </p:nvSpPr>
          <p:spPr bwMode="auto">
            <a:xfrm>
              <a:off x="4072" y="96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4" name="Line 90"/>
            <p:cNvSpPr>
              <a:spLocks noChangeShapeType="1"/>
            </p:cNvSpPr>
            <p:nvPr/>
          </p:nvSpPr>
          <p:spPr bwMode="auto">
            <a:xfrm>
              <a:off x="4596" y="96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5" name="Line 91"/>
            <p:cNvSpPr>
              <a:spLocks noChangeShapeType="1"/>
            </p:cNvSpPr>
            <p:nvPr/>
          </p:nvSpPr>
          <p:spPr bwMode="auto">
            <a:xfrm flipH="1">
              <a:off x="4596" y="96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6" name="Line 92"/>
            <p:cNvSpPr>
              <a:spLocks noChangeShapeType="1"/>
            </p:cNvSpPr>
            <p:nvPr/>
          </p:nvSpPr>
          <p:spPr bwMode="auto">
            <a:xfrm>
              <a:off x="3930" y="2022"/>
              <a:ext cx="12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7" name="Line 93"/>
            <p:cNvSpPr>
              <a:spLocks noChangeShapeType="1"/>
            </p:cNvSpPr>
            <p:nvPr/>
          </p:nvSpPr>
          <p:spPr bwMode="auto">
            <a:xfrm>
              <a:off x="4692" y="202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8" name="Line 94"/>
            <p:cNvSpPr>
              <a:spLocks noChangeShapeType="1"/>
            </p:cNvSpPr>
            <p:nvPr/>
          </p:nvSpPr>
          <p:spPr bwMode="auto">
            <a:xfrm>
              <a:off x="3930" y="1638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47" name="Rectangle 95"/>
            <p:cNvSpPr>
              <a:spLocks noChangeArrowheads="1"/>
            </p:cNvSpPr>
            <p:nvPr/>
          </p:nvSpPr>
          <p:spPr bwMode="auto">
            <a:xfrm>
              <a:off x="4930" y="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8" name="Rectangle 96"/>
            <p:cNvSpPr>
              <a:spLocks noChangeArrowheads="1"/>
            </p:cNvSpPr>
            <p:nvPr/>
          </p:nvSpPr>
          <p:spPr bwMode="auto">
            <a:xfrm>
              <a:off x="3501" y="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9" name="Rectangle 97"/>
            <p:cNvSpPr>
              <a:spLocks noChangeArrowheads="1"/>
            </p:cNvSpPr>
            <p:nvPr/>
          </p:nvSpPr>
          <p:spPr bwMode="auto">
            <a:xfrm>
              <a:off x="3453" y="19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0" name="Rectangle 98"/>
            <p:cNvSpPr>
              <a:spLocks noChangeArrowheads="1"/>
            </p:cNvSpPr>
            <p:nvPr/>
          </p:nvSpPr>
          <p:spPr bwMode="auto">
            <a:xfrm>
              <a:off x="4501" y="2406"/>
              <a:ext cx="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1" name="Rectangle 99"/>
            <p:cNvSpPr>
              <a:spLocks noChangeArrowheads="1"/>
            </p:cNvSpPr>
            <p:nvPr/>
          </p:nvSpPr>
          <p:spPr bwMode="auto">
            <a:xfrm>
              <a:off x="3787" y="4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2" name="Rectangle 100"/>
            <p:cNvSpPr>
              <a:spLocks noChangeArrowheads="1"/>
            </p:cNvSpPr>
            <p:nvPr/>
          </p:nvSpPr>
          <p:spPr bwMode="auto">
            <a:xfrm>
              <a:off x="4739" y="48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3" name="Rectangle 101"/>
            <p:cNvSpPr>
              <a:spLocks noChangeArrowheads="1"/>
            </p:cNvSpPr>
            <p:nvPr/>
          </p:nvSpPr>
          <p:spPr bwMode="auto">
            <a:xfrm>
              <a:off x="3596" y="12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4" name="Rectangle 102"/>
            <p:cNvSpPr>
              <a:spLocks noChangeArrowheads="1"/>
            </p:cNvSpPr>
            <p:nvPr/>
          </p:nvSpPr>
          <p:spPr bwMode="auto">
            <a:xfrm>
              <a:off x="4882" y="12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7" name="Line 103"/>
            <p:cNvSpPr>
              <a:spLocks noChangeShapeType="1"/>
            </p:cNvSpPr>
            <p:nvPr/>
          </p:nvSpPr>
          <p:spPr bwMode="auto">
            <a:xfrm>
              <a:off x="4978" y="150"/>
              <a:ext cx="1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08" name="Line 104"/>
            <p:cNvSpPr>
              <a:spLocks noChangeShapeType="1"/>
            </p:cNvSpPr>
            <p:nvPr/>
          </p:nvSpPr>
          <p:spPr bwMode="auto">
            <a:xfrm flipV="1">
              <a:off x="3596" y="163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09" name="Line 105"/>
            <p:cNvSpPr>
              <a:spLocks noChangeShapeType="1"/>
            </p:cNvSpPr>
            <p:nvPr/>
          </p:nvSpPr>
          <p:spPr bwMode="auto">
            <a:xfrm flipV="1">
              <a:off x="5168" y="1638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58" name="Rectangle 106"/>
            <p:cNvSpPr>
              <a:spLocks noChangeArrowheads="1"/>
            </p:cNvSpPr>
            <p:nvPr/>
          </p:nvSpPr>
          <p:spPr bwMode="auto">
            <a:xfrm>
              <a:off x="3263" y="48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9" name="Rectangle 107"/>
            <p:cNvSpPr>
              <a:spLocks noChangeArrowheads="1"/>
            </p:cNvSpPr>
            <p:nvPr/>
          </p:nvSpPr>
          <p:spPr bwMode="auto">
            <a:xfrm>
              <a:off x="5196" y="48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0" name="Rectangle 108"/>
            <p:cNvSpPr>
              <a:spLocks noChangeArrowheads="1"/>
            </p:cNvSpPr>
            <p:nvPr/>
          </p:nvSpPr>
          <p:spPr bwMode="auto">
            <a:xfrm>
              <a:off x="3072" y="129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1" name="Rectangle 109"/>
            <p:cNvSpPr>
              <a:spLocks noChangeArrowheads="1"/>
            </p:cNvSpPr>
            <p:nvPr/>
          </p:nvSpPr>
          <p:spPr bwMode="auto">
            <a:xfrm>
              <a:off x="5386" y="129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" name="Oval 110"/>
            <p:cNvSpPr>
              <a:spLocks noChangeArrowheads="1"/>
            </p:cNvSpPr>
            <p:nvPr/>
          </p:nvSpPr>
          <p:spPr bwMode="auto">
            <a:xfrm>
              <a:off x="3888" y="29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" name="Oval 111"/>
            <p:cNvSpPr>
              <a:spLocks noChangeArrowheads="1"/>
            </p:cNvSpPr>
            <p:nvPr/>
          </p:nvSpPr>
          <p:spPr bwMode="auto">
            <a:xfrm>
              <a:off x="4848" y="29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616" name="Oval 112"/>
            <p:cNvSpPr>
              <a:spLocks noChangeArrowheads="1"/>
            </p:cNvSpPr>
            <p:nvPr/>
          </p:nvSpPr>
          <p:spPr bwMode="auto">
            <a:xfrm>
              <a:off x="4656" y="197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617" name="Line 113"/>
            <p:cNvSpPr>
              <a:spLocks noChangeShapeType="1"/>
            </p:cNvSpPr>
            <p:nvPr/>
          </p:nvSpPr>
          <p:spPr bwMode="auto">
            <a:xfrm>
              <a:off x="4882" y="163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666" name="Group 114"/>
          <p:cNvGrpSpPr/>
          <p:nvPr/>
        </p:nvGrpSpPr>
        <p:grpSpPr bwMode="auto">
          <a:xfrm>
            <a:off x="5867400" y="1762125"/>
            <a:ext cx="1882775" cy="1066800"/>
            <a:chOff x="3696" y="1110"/>
            <a:chExt cx="1186" cy="672"/>
          </a:xfrm>
        </p:grpSpPr>
        <p:sp>
          <p:nvSpPr>
            <p:cNvPr id="23569" name="Line 115"/>
            <p:cNvSpPr>
              <a:spLocks noChangeShapeType="1"/>
            </p:cNvSpPr>
            <p:nvPr/>
          </p:nvSpPr>
          <p:spPr bwMode="auto">
            <a:xfrm>
              <a:off x="4596" y="1782"/>
              <a:ext cx="28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0" name="Line 116"/>
            <p:cNvSpPr>
              <a:spLocks noChangeShapeType="1"/>
            </p:cNvSpPr>
            <p:nvPr/>
          </p:nvSpPr>
          <p:spPr bwMode="auto">
            <a:xfrm flipH="1">
              <a:off x="3739" y="1158"/>
              <a:ext cx="52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1" name="Line 117"/>
            <p:cNvSpPr>
              <a:spLocks noChangeShapeType="1"/>
            </p:cNvSpPr>
            <p:nvPr/>
          </p:nvSpPr>
          <p:spPr bwMode="auto">
            <a:xfrm>
              <a:off x="4263" y="1158"/>
              <a:ext cx="333" cy="62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2" name="Oval 118"/>
            <p:cNvSpPr>
              <a:spLocks noChangeArrowheads="1"/>
            </p:cNvSpPr>
            <p:nvPr/>
          </p:nvSpPr>
          <p:spPr bwMode="auto">
            <a:xfrm>
              <a:off x="3696" y="1110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0" grpId="0" animBg="1" autoUpdateAnimBg="0"/>
      <p:bldP spid="23601" grpId="0" autoUpdateAnimBg="0"/>
      <p:bldP spid="23602" grpId="0" autoUpdateAnimBg="0"/>
      <p:bldP spid="23603" grpId="0" autoUpdateAnimBg="0"/>
      <p:bldP spid="23604" grpId="0" autoUpdateAnimBg="0"/>
      <p:bldP spid="23605" grpId="0" autoUpdateAnimBg="0"/>
      <p:bldP spid="23611" grpId="0" autoUpdateAnimBg="0"/>
      <p:bldP spid="23612" grpId="0" autoUpdateAnimBg="0"/>
      <p:bldP spid="23613" grpId="0" autoUpdateAnimBg="0"/>
      <p:bldP spid="23614" grpId="0" autoUpdateAnimBg="0"/>
      <p:bldP spid="236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069661B-534D-4865-B3C3-EFE40E8C2C39}" type="slidenum">
              <a:rPr lang="en-US" altLang="zh-CN" sz="1400"/>
            </a:fld>
            <a:endParaRPr lang="en-US" altLang="zh-CN" sz="1400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505200" y="944563"/>
            <a:ext cx="1397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190500" y="2286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、特征方程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73038" y="1782763"/>
            <a:ext cx="16129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、优点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52400" y="2527300"/>
            <a:ext cx="6076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有时钟信号，可以同步工作；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58750" y="3259138"/>
            <a:ext cx="36385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没有约束条件。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52400" y="4010025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、存在的问题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31763" y="4781550"/>
            <a:ext cx="40005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空翻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问题；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31763" y="5489575"/>
            <a:ext cx="6889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只有一个输入端，逻辑功能简单。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1" grpId="0" animBg="1" autoUpdateAnimBg="0"/>
      <p:bldP spid="24582" grpId="0" animBg="1" autoUpdateAnimBg="0"/>
      <p:bldP spid="24583" grpId="0" animBg="1" autoUpdateAnimBg="0"/>
      <p:bldP spid="24584" grpId="0" animBg="1" autoUpdateAnimBg="0"/>
      <p:bldP spid="24585" grpId="0" animBg="1" autoUpdateAnimBg="0"/>
      <p:bldP spid="2458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圆角矩形 90"/>
          <p:cNvSpPr/>
          <p:nvPr/>
        </p:nvSpPr>
        <p:spPr bwMode="auto">
          <a:xfrm>
            <a:off x="989014" y="3487738"/>
            <a:ext cx="2028824" cy="1257300"/>
          </a:xfrm>
          <a:prstGeom prst="roundRect">
            <a:avLst/>
          </a:prstGeom>
          <a:solidFill>
            <a:srgbClr val="FF99FF"/>
          </a:solidFill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6527800" y="3487738"/>
            <a:ext cx="1663700" cy="1257300"/>
          </a:xfrm>
          <a:prstGeom prst="roundRect">
            <a:avLst/>
          </a:prstGeom>
          <a:solidFill>
            <a:srgbClr val="FF99FF"/>
          </a:solidFill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3016250" y="1562100"/>
            <a:ext cx="3390900" cy="44624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60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9B996A-0023-43B9-84C5-712A9138F228}" type="slidenum">
              <a:rPr lang="en-US" altLang="zh-CN" sz="1400"/>
            </a:fld>
            <a:endParaRPr lang="en-US" altLang="zh-CN" sz="1400"/>
          </a:p>
        </p:txBody>
      </p:sp>
      <p:sp>
        <p:nvSpPr>
          <p:cNvPr id="25606" name="Text Box 2"/>
          <p:cNvSpPr txBox="1">
            <a:spLocks noChangeArrowheads="1"/>
          </p:cNvSpPr>
          <p:nvPr/>
        </p:nvSpPr>
        <p:spPr bwMode="auto">
          <a:xfrm>
            <a:off x="167005" y="193675"/>
            <a:ext cx="6085840" cy="7683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latin typeface="黑体" panose="02010609060101010101" pitchFamily="49" charset="-122"/>
                <a:ea typeface="黑体" panose="02010609060101010101" pitchFamily="49" charset="-122"/>
              </a:rPr>
              <a:t>4.3.4 </a:t>
            </a:r>
            <a:r>
              <a:rPr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维持阻塞</a:t>
            </a:r>
            <a:r>
              <a:rPr lang="en-US" altLang="zh-CN" sz="4400" b="1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6850" y="11430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Line 92"/>
          <p:cNvSpPr>
            <a:spLocks noChangeShapeType="1"/>
          </p:cNvSpPr>
          <p:nvPr/>
        </p:nvSpPr>
        <p:spPr bwMode="auto">
          <a:xfrm flipV="1">
            <a:off x="4763" y="4373563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 bwMode="auto">
          <a:xfrm>
            <a:off x="1035050" y="1935163"/>
            <a:ext cx="7226300" cy="4084637"/>
            <a:chOff x="1035050" y="1935164"/>
            <a:chExt cx="7226300" cy="4084638"/>
          </a:xfrm>
        </p:grpSpPr>
        <p:sp>
          <p:nvSpPr>
            <p:cNvPr id="25610" name="Rectangle 5"/>
            <p:cNvSpPr>
              <a:spLocks noChangeArrowheads="1"/>
            </p:cNvSpPr>
            <p:nvPr/>
          </p:nvSpPr>
          <p:spPr bwMode="auto">
            <a:xfrm>
              <a:off x="5073650" y="26304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1" name="Oval 6"/>
            <p:cNvSpPr>
              <a:spLocks noChangeArrowheads="1"/>
            </p:cNvSpPr>
            <p:nvPr/>
          </p:nvSpPr>
          <p:spPr bwMode="auto">
            <a:xfrm>
              <a:off x="5454650" y="24780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2" name="Line 7"/>
            <p:cNvSpPr>
              <a:spLocks noChangeShapeType="1"/>
            </p:cNvSpPr>
            <p:nvPr/>
          </p:nvSpPr>
          <p:spPr bwMode="auto">
            <a:xfrm>
              <a:off x="5226050" y="3087689"/>
              <a:ext cx="1588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3" name="Line 8"/>
            <p:cNvSpPr>
              <a:spLocks noChangeShapeType="1"/>
            </p:cNvSpPr>
            <p:nvPr/>
          </p:nvSpPr>
          <p:spPr bwMode="auto">
            <a:xfrm flipV="1">
              <a:off x="5530850" y="1944689"/>
              <a:ext cx="1588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4" name="Rectangle 9"/>
            <p:cNvSpPr>
              <a:spLocks noChangeArrowheads="1"/>
            </p:cNvSpPr>
            <p:nvPr/>
          </p:nvSpPr>
          <p:spPr bwMode="auto">
            <a:xfrm>
              <a:off x="3549650" y="26304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5" name="Oval 10"/>
            <p:cNvSpPr>
              <a:spLocks noChangeArrowheads="1"/>
            </p:cNvSpPr>
            <p:nvPr/>
          </p:nvSpPr>
          <p:spPr bwMode="auto">
            <a:xfrm>
              <a:off x="3930650" y="24780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6" name="Line 11"/>
            <p:cNvSpPr>
              <a:spLocks noChangeShapeType="1"/>
            </p:cNvSpPr>
            <p:nvPr/>
          </p:nvSpPr>
          <p:spPr bwMode="auto">
            <a:xfrm>
              <a:off x="3702050" y="3087689"/>
              <a:ext cx="1588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7" name="Line 12"/>
            <p:cNvSpPr>
              <a:spLocks noChangeShapeType="1"/>
            </p:cNvSpPr>
            <p:nvPr/>
          </p:nvSpPr>
          <p:spPr bwMode="auto">
            <a:xfrm flipV="1">
              <a:off x="4006850" y="1944689"/>
              <a:ext cx="1588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8" name="Line 13"/>
            <p:cNvSpPr>
              <a:spLocks noChangeShapeType="1"/>
            </p:cNvSpPr>
            <p:nvPr/>
          </p:nvSpPr>
          <p:spPr bwMode="auto">
            <a:xfrm>
              <a:off x="4006850" y="23256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9" name="Line 14"/>
            <p:cNvSpPr>
              <a:spLocks noChangeShapeType="1"/>
            </p:cNvSpPr>
            <p:nvPr/>
          </p:nvSpPr>
          <p:spPr bwMode="auto">
            <a:xfrm flipH="1">
              <a:off x="4921250" y="23256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0" name="Line 15"/>
            <p:cNvSpPr>
              <a:spLocks noChangeShapeType="1"/>
            </p:cNvSpPr>
            <p:nvPr/>
          </p:nvSpPr>
          <p:spPr bwMode="auto">
            <a:xfrm>
              <a:off x="4616450" y="2325689"/>
              <a:ext cx="5334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1" name="Line 16"/>
            <p:cNvSpPr>
              <a:spLocks noChangeShapeType="1"/>
            </p:cNvSpPr>
            <p:nvPr/>
          </p:nvSpPr>
          <p:spPr bwMode="auto">
            <a:xfrm flipH="1">
              <a:off x="4387850" y="2325689"/>
              <a:ext cx="5334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2" name="Line 17"/>
            <p:cNvSpPr>
              <a:spLocks noChangeShapeType="1"/>
            </p:cNvSpPr>
            <p:nvPr/>
          </p:nvSpPr>
          <p:spPr bwMode="auto">
            <a:xfrm>
              <a:off x="4235450" y="33162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3" name="Line 18"/>
            <p:cNvSpPr>
              <a:spLocks noChangeShapeType="1"/>
            </p:cNvSpPr>
            <p:nvPr/>
          </p:nvSpPr>
          <p:spPr bwMode="auto">
            <a:xfrm>
              <a:off x="5149850" y="3316289"/>
              <a:ext cx="762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" name="Rectangle 19"/>
            <p:cNvSpPr>
              <a:spLocks noChangeArrowheads="1"/>
            </p:cNvSpPr>
            <p:nvPr/>
          </p:nvSpPr>
          <p:spPr bwMode="auto">
            <a:xfrm>
              <a:off x="5607050" y="19351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3473450" y="1944689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3778250" y="25447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5302250" y="25447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28" name="Line 23"/>
            <p:cNvSpPr>
              <a:spLocks noChangeShapeType="1"/>
            </p:cNvSpPr>
            <p:nvPr/>
          </p:nvSpPr>
          <p:spPr bwMode="auto">
            <a:xfrm>
              <a:off x="5683250" y="2020889"/>
              <a:ext cx="228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" name="Rectangle 24"/>
            <p:cNvSpPr>
              <a:spLocks noChangeArrowheads="1"/>
            </p:cNvSpPr>
            <p:nvPr/>
          </p:nvSpPr>
          <p:spPr bwMode="auto">
            <a:xfrm>
              <a:off x="2940050" y="2554289"/>
              <a:ext cx="9906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25" name="Rectangle 25"/>
            <p:cNvSpPr>
              <a:spLocks noChangeArrowheads="1"/>
            </p:cNvSpPr>
            <p:nvPr/>
          </p:nvSpPr>
          <p:spPr bwMode="auto">
            <a:xfrm>
              <a:off x="5988050" y="2544764"/>
              <a:ext cx="5207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31" name="Rectangle 26"/>
            <p:cNvSpPr>
              <a:spLocks noChangeArrowheads="1"/>
            </p:cNvSpPr>
            <p:nvPr/>
          </p:nvSpPr>
          <p:spPr bwMode="auto">
            <a:xfrm>
              <a:off x="3244850" y="39258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32" name="Oval 27"/>
            <p:cNvSpPr>
              <a:spLocks noChangeArrowheads="1"/>
            </p:cNvSpPr>
            <p:nvPr/>
          </p:nvSpPr>
          <p:spPr bwMode="auto">
            <a:xfrm>
              <a:off x="3625850" y="37734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33" name="Line 28"/>
            <p:cNvSpPr>
              <a:spLocks noChangeShapeType="1"/>
            </p:cNvSpPr>
            <p:nvPr/>
          </p:nvSpPr>
          <p:spPr bwMode="auto">
            <a:xfrm>
              <a:off x="3397250" y="4383089"/>
              <a:ext cx="1588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4" name="Line 29"/>
            <p:cNvSpPr>
              <a:spLocks noChangeShapeType="1"/>
            </p:cNvSpPr>
            <p:nvPr/>
          </p:nvSpPr>
          <p:spPr bwMode="auto">
            <a:xfrm flipV="1">
              <a:off x="3702050" y="3240089"/>
              <a:ext cx="1588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5" name="Rectangle 30"/>
            <p:cNvSpPr>
              <a:spLocks noChangeArrowheads="1"/>
            </p:cNvSpPr>
            <p:nvPr/>
          </p:nvSpPr>
          <p:spPr bwMode="auto">
            <a:xfrm>
              <a:off x="1720850" y="39258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36" name="Oval 31"/>
            <p:cNvSpPr>
              <a:spLocks noChangeArrowheads="1"/>
            </p:cNvSpPr>
            <p:nvPr/>
          </p:nvSpPr>
          <p:spPr bwMode="auto">
            <a:xfrm>
              <a:off x="2101850" y="37734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37" name="Line 32"/>
            <p:cNvSpPr>
              <a:spLocks noChangeShapeType="1"/>
            </p:cNvSpPr>
            <p:nvPr/>
          </p:nvSpPr>
          <p:spPr bwMode="auto">
            <a:xfrm>
              <a:off x="1873250" y="4383089"/>
              <a:ext cx="1588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8" name="Line 33"/>
            <p:cNvSpPr>
              <a:spLocks noChangeShapeType="1"/>
            </p:cNvSpPr>
            <p:nvPr/>
          </p:nvSpPr>
          <p:spPr bwMode="auto">
            <a:xfrm flipV="1">
              <a:off x="2178050" y="3621089"/>
              <a:ext cx="1588" cy="152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9" name="Line 34"/>
            <p:cNvSpPr>
              <a:spLocks noChangeShapeType="1"/>
            </p:cNvSpPr>
            <p:nvPr/>
          </p:nvSpPr>
          <p:spPr bwMode="auto">
            <a:xfrm>
              <a:off x="2178050" y="36210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0" name="Line 35"/>
            <p:cNvSpPr>
              <a:spLocks noChangeShapeType="1"/>
            </p:cNvSpPr>
            <p:nvPr/>
          </p:nvSpPr>
          <p:spPr bwMode="auto">
            <a:xfrm flipH="1">
              <a:off x="3092450" y="36210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1" name="Line 36"/>
            <p:cNvSpPr>
              <a:spLocks noChangeShapeType="1"/>
            </p:cNvSpPr>
            <p:nvPr/>
          </p:nvSpPr>
          <p:spPr bwMode="auto">
            <a:xfrm>
              <a:off x="2787650" y="3621089"/>
              <a:ext cx="4572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2" name="Line 37"/>
            <p:cNvSpPr>
              <a:spLocks noChangeShapeType="1"/>
            </p:cNvSpPr>
            <p:nvPr/>
          </p:nvSpPr>
          <p:spPr bwMode="auto">
            <a:xfrm flipH="1">
              <a:off x="2559050" y="3621089"/>
              <a:ext cx="5334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3" name="Line 38"/>
            <p:cNvSpPr>
              <a:spLocks noChangeShapeType="1"/>
            </p:cNvSpPr>
            <p:nvPr/>
          </p:nvSpPr>
          <p:spPr bwMode="auto">
            <a:xfrm>
              <a:off x="24066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4" name="Line 39"/>
            <p:cNvSpPr>
              <a:spLocks noChangeShapeType="1"/>
            </p:cNvSpPr>
            <p:nvPr/>
          </p:nvSpPr>
          <p:spPr bwMode="auto">
            <a:xfrm>
              <a:off x="32448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5" name="Line 40"/>
            <p:cNvSpPr>
              <a:spLocks noChangeShapeType="1"/>
            </p:cNvSpPr>
            <p:nvPr/>
          </p:nvSpPr>
          <p:spPr bwMode="auto">
            <a:xfrm flipH="1">
              <a:off x="32448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" name="Rectangle 41"/>
            <p:cNvSpPr>
              <a:spLocks noChangeArrowheads="1"/>
            </p:cNvSpPr>
            <p:nvPr/>
          </p:nvSpPr>
          <p:spPr bwMode="auto">
            <a:xfrm>
              <a:off x="1949450" y="38401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Rectangle 42"/>
            <p:cNvSpPr>
              <a:spLocks noChangeArrowheads="1"/>
            </p:cNvSpPr>
            <p:nvPr/>
          </p:nvSpPr>
          <p:spPr bwMode="auto">
            <a:xfrm>
              <a:off x="3473450" y="38401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48" name="Rectangle 43"/>
            <p:cNvSpPr>
              <a:spLocks noChangeArrowheads="1"/>
            </p:cNvSpPr>
            <p:nvPr/>
          </p:nvSpPr>
          <p:spPr bwMode="auto">
            <a:xfrm>
              <a:off x="6826250" y="39258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49" name="Oval 44"/>
            <p:cNvSpPr>
              <a:spLocks noChangeArrowheads="1"/>
            </p:cNvSpPr>
            <p:nvPr/>
          </p:nvSpPr>
          <p:spPr bwMode="auto">
            <a:xfrm>
              <a:off x="7207250" y="37734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50" name="Rectangle 45"/>
            <p:cNvSpPr>
              <a:spLocks noChangeArrowheads="1"/>
            </p:cNvSpPr>
            <p:nvPr/>
          </p:nvSpPr>
          <p:spPr bwMode="auto">
            <a:xfrm>
              <a:off x="5302250" y="3925889"/>
              <a:ext cx="9144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51" name="Oval 46"/>
            <p:cNvSpPr>
              <a:spLocks noChangeArrowheads="1"/>
            </p:cNvSpPr>
            <p:nvPr/>
          </p:nvSpPr>
          <p:spPr bwMode="auto">
            <a:xfrm>
              <a:off x="5683250" y="3773489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52" name="Line 47"/>
            <p:cNvSpPr>
              <a:spLocks noChangeShapeType="1"/>
            </p:cNvSpPr>
            <p:nvPr/>
          </p:nvSpPr>
          <p:spPr bwMode="auto">
            <a:xfrm>
              <a:off x="5988050" y="4383089"/>
              <a:ext cx="1588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3" name="Line 48"/>
            <p:cNvSpPr>
              <a:spLocks noChangeShapeType="1"/>
            </p:cNvSpPr>
            <p:nvPr/>
          </p:nvSpPr>
          <p:spPr bwMode="auto">
            <a:xfrm>
              <a:off x="5759450" y="36210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4" name="Line 49"/>
            <p:cNvSpPr>
              <a:spLocks noChangeShapeType="1"/>
            </p:cNvSpPr>
            <p:nvPr/>
          </p:nvSpPr>
          <p:spPr bwMode="auto">
            <a:xfrm flipH="1">
              <a:off x="6673850" y="3621089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5" name="Line 50"/>
            <p:cNvSpPr>
              <a:spLocks noChangeShapeType="1"/>
            </p:cNvSpPr>
            <p:nvPr/>
          </p:nvSpPr>
          <p:spPr bwMode="auto">
            <a:xfrm>
              <a:off x="6369050" y="3621089"/>
              <a:ext cx="4572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6" name="Line 51"/>
            <p:cNvSpPr>
              <a:spLocks noChangeShapeType="1"/>
            </p:cNvSpPr>
            <p:nvPr/>
          </p:nvSpPr>
          <p:spPr bwMode="auto">
            <a:xfrm flipH="1">
              <a:off x="6140450" y="3621089"/>
              <a:ext cx="5334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7" name="Line 52"/>
            <p:cNvSpPr>
              <a:spLocks noChangeShapeType="1"/>
            </p:cNvSpPr>
            <p:nvPr/>
          </p:nvSpPr>
          <p:spPr bwMode="auto">
            <a:xfrm>
              <a:off x="59880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8" name="Line 53"/>
            <p:cNvSpPr>
              <a:spLocks noChangeShapeType="1"/>
            </p:cNvSpPr>
            <p:nvPr/>
          </p:nvSpPr>
          <p:spPr bwMode="auto">
            <a:xfrm>
              <a:off x="68262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9" name="Line 54"/>
            <p:cNvSpPr>
              <a:spLocks noChangeShapeType="1"/>
            </p:cNvSpPr>
            <p:nvPr/>
          </p:nvSpPr>
          <p:spPr bwMode="auto">
            <a:xfrm flipH="1">
              <a:off x="6826250" y="4611689"/>
              <a:ext cx="152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Rectangle 55"/>
            <p:cNvSpPr>
              <a:spLocks noChangeArrowheads="1"/>
            </p:cNvSpPr>
            <p:nvPr/>
          </p:nvSpPr>
          <p:spPr bwMode="auto">
            <a:xfrm>
              <a:off x="5530850" y="38401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Rectangle 56"/>
            <p:cNvSpPr>
              <a:spLocks noChangeArrowheads="1"/>
            </p:cNvSpPr>
            <p:nvPr/>
          </p:nvSpPr>
          <p:spPr bwMode="auto">
            <a:xfrm>
              <a:off x="7054850" y="3840164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Rectangle 57"/>
            <p:cNvSpPr>
              <a:spLocks noChangeArrowheads="1"/>
            </p:cNvSpPr>
            <p:nvPr/>
          </p:nvSpPr>
          <p:spPr bwMode="auto">
            <a:xfrm>
              <a:off x="7740650" y="3840164"/>
              <a:ext cx="5207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63" name="Line 58"/>
            <p:cNvSpPr>
              <a:spLocks noChangeShapeType="1"/>
            </p:cNvSpPr>
            <p:nvPr/>
          </p:nvSpPr>
          <p:spPr bwMode="auto">
            <a:xfrm>
              <a:off x="3702050" y="3621089"/>
              <a:ext cx="7620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4" name="Line 59"/>
            <p:cNvSpPr>
              <a:spLocks noChangeShapeType="1"/>
            </p:cNvSpPr>
            <p:nvPr/>
          </p:nvSpPr>
          <p:spPr bwMode="auto">
            <a:xfrm>
              <a:off x="4464050" y="3621089"/>
              <a:ext cx="45720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5" name="Line 60"/>
            <p:cNvSpPr>
              <a:spLocks noChangeShapeType="1"/>
            </p:cNvSpPr>
            <p:nvPr/>
          </p:nvSpPr>
          <p:spPr bwMode="auto">
            <a:xfrm>
              <a:off x="4921250" y="4611689"/>
              <a:ext cx="5334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6" name="Line 61"/>
            <p:cNvSpPr>
              <a:spLocks noChangeShapeType="1"/>
            </p:cNvSpPr>
            <p:nvPr/>
          </p:nvSpPr>
          <p:spPr bwMode="auto">
            <a:xfrm>
              <a:off x="3930650" y="4373564"/>
              <a:ext cx="1588" cy="1143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7" name="Line 62"/>
            <p:cNvSpPr>
              <a:spLocks noChangeShapeType="1"/>
            </p:cNvSpPr>
            <p:nvPr/>
          </p:nvSpPr>
          <p:spPr bwMode="auto">
            <a:xfrm flipH="1">
              <a:off x="3930650" y="4916489"/>
              <a:ext cx="1752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8" name="Line 63"/>
            <p:cNvSpPr>
              <a:spLocks noChangeShapeType="1"/>
            </p:cNvSpPr>
            <p:nvPr/>
          </p:nvSpPr>
          <p:spPr bwMode="auto">
            <a:xfrm>
              <a:off x="5988050" y="4535489"/>
              <a:ext cx="1588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9" name="Line 64"/>
            <p:cNvSpPr>
              <a:spLocks noChangeShapeType="1"/>
            </p:cNvSpPr>
            <p:nvPr/>
          </p:nvSpPr>
          <p:spPr bwMode="auto">
            <a:xfrm flipH="1">
              <a:off x="1873250" y="5068889"/>
              <a:ext cx="41148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0" name="Line 65"/>
            <p:cNvSpPr>
              <a:spLocks noChangeShapeType="1"/>
            </p:cNvSpPr>
            <p:nvPr/>
          </p:nvSpPr>
          <p:spPr bwMode="auto">
            <a:xfrm>
              <a:off x="1873250" y="4459289"/>
              <a:ext cx="1588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1" name="Line 66"/>
            <p:cNvSpPr>
              <a:spLocks noChangeShapeType="1"/>
            </p:cNvSpPr>
            <p:nvPr/>
          </p:nvSpPr>
          <p:spPr bwMode="auto">
            <a:xfrm>
              <a:off x="7512050" y="4383089"/>
              <a:ext cx="1588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2" name="Oval 67"/>
            <p:cNvSpPr>
              <a:spLocks noChangeArrowheads="1"/>
            </p:cNvSpPr>
            <p:nvPr/>
          </p:nvSpPr>
          <p:spPr bwMode="auto">
            <a:xfrm>
              <a:off x="3625850" y="35448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73" name="Oval 68"/>
            <p:cNvSpPr>
              <a:spLocks noChangeArrowheads="1"/>
            </p:cNvSpPr>
            <p:nvPr/>
          </p:nvSpPr>
          <p:spPr bwMode="auto">
            <a:xfrm>
              <a:off x="5683250" y="35448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74" name="Oval 69"/>
            <p:cNvSpPr>
              <a:spLocks noChangeArrowheads="1"/>
            </p:cNvSpPr>
            <p:nvPr/>
          </p:nvSpPr>
          <p:spPr bwMode="auto">
            <a:xfrm>
              <a:off x="3854450" y="48402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75" name="Oval 70"/>
            <p:cNvSpPr>
              <a:spLocks noChangeArrowheads="1"/>
            </p:cNvSpPr>
            <p:nvPr/>
          </p:nvSpPr>
          <p:spPr bwMode="auto">
            <a:xfrm>
              <a:off x="5911850" y="45354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76" name="Oval 71"/>
            <p:cNvSpPr>
              <a:spLocks noChangeArrowheads="1"/>
            </p:cNvSpPr>
            <p:nvPr/>
          </p:nvSpPr>
          <p:spPr bwMode="auto">
            <a:xfrm>
              <a:off x="3930650" y="22494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77" name="Oval 72"/>
            <p:cNvSpPr>
              <a:spLocks noChangeArrowheads="1"/>
            </p:cNvSpPr>
            <p:nvPr/>
          </p:nvSpPr>
          <p:spPr bwMode="auto">
            <a:xfrm>
              <a:off x="5454650" y="2249489"/>
              <a:ext cx="152400" cy="1524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81" name="Rectangle 81"/>
            <p:cNvSpPr>
              <a:spLocks noChangeArrowheads="1"/>
            </p:cNvSpPr>
            <p:nvPr/>
          </p:nvSpPr>
          <p:spPr bwMode="auto">
            <a:xfrm>
              <a:off x="4159250" y="3840164"/>
              <a:ext cx="5207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82" name="Rectangle 82"/>
            <p:cNvSpPr>
              <a:spLocks noChangeArrowheads="1"/>
            </p:cNvSpPr>
            <p:nvPr/>
          </p:nvSpPr>
          <p:spPr bwMode="auto">
            <a:xfrm>
              <a:off x="4692650" y="3763964"/>
              <a:ext cx="5207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83" name="Rectangle 83"/>
            <p:cNvSpPr>
              <a:spLocks noChangeArrowheads="1"/>
            </p:cNvSpPr>
            <p:nvPr/>
          </p:nvSpPr>
          <p:spPr bwMode="auto">
            <a:xfrm>
              <a:off x="1035050" y="3840164"/>
              <a:ext cx="5207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84" name="Rectangle 84"/>
            <p:cNvSpPr>
              <a:spLocks noChangeArrowheads="1"/>
            </p:cNvSpPr>
            <p:nvPr/>
          </p:nvSpPr>
          <p:spPr bwMode="auto">
            <a:xfrm>
              <a:off x="7283450" y="5221290"/>
              <a:ext cx="3873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85" name="Rectangle 85"/>
            <p:cNvSpPr>
              <a:spLocks noChangeArrowheads="1"/>
            </p:cNvSpPr>
            <p:nvPr/>
          </p:nvSpPr>
          <p:spPr bwMode="auto">
            <a:xfrm>
              <a:off x="3549650" y="5440365"/>
              <a:ext cx="5905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Line 86"/>
            <p:cNvSpPr>
              <a:spLocks noChangeShapeType="1"/>
            </p:cNvSpPr>
            <p:nvPr/>
          </p:nvSpPr>
          <p:spPr bwMode="auto">
            <a:xfrm flipV="1">
              <a:off x="5454650" y="4373564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87"/>
            <p:cNvSpPr>
              <a:spLocks noChangeShapeType="1"/>
            </p:cNvSpPr>
            <p:nvPr/>
          </p:nvSpPr>
          <p:spPr bwMode="auto">
            <a:xfrm flipV="1">
              <a:off x="5683250" y="4373564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88"/>
            <p:cNvSpPr>
              <a:spLocks noChangeShapeType="1"/>
            </p:cNvSpPr>
            <p:nvPr/>
          </p:nvSpPr>
          <p:spPr bwMode="auto">
            <a:xfrm flipV="1">
              <a:off x="2406650" y="4373564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6" name="Line 89"/>
            <p:cNvSpPr>
              <a:spLocks noChangeShapeType="1"/>
            </p:cNvSpPr>
            <p:nvPr/>
          </p:nvSpPr>
          <p:spPr bwMode="auto">
            <a:xfrm flipV="1">
              <a:off x="4235450" y="3078164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7" name="Line 90"/>
            <p:cNvSpPr>
              <a:spLocks noChangeShapeType="1"/>
            </p:cNvSpPr>
            <p:nvPr/>
          </p:nvSpPr>
          <p:spPr bwMode="auto">
            <a:xfrm>
              <a:off x="7283450" y="3611564"/>
              <a:ext cx="0" cy="152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8" name="Line 91"/>
            <p:cNvSpPr>
              <a:spLocks noChangeShapeType="1"/>
            </p:cNvSpPr>
            <p:nvPr/>
          </p:nvSpPr>
          <p:spPr bwMode="auto">
            <a:xfrm flipV="1">
              <a:off x="5759450" y="3078164"/>
              <a:ext cx="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25689" name="直接连接符 13"/>
            <p:cNvCxnSpPr>
              <a:cxnSpLocks noChangeShapeType="1"/>
              <a:stCxn id="25659" idx="0"/>
            </p:cNvCxnSpPr>
            <p:nvPr/>
          </p:nvCxnSpPr>
          <p:spPr bwMode="auto">
            <a:xfrm flipV="1">
              <a:off x="6978650" y="4383089"/>
              <a:ext cx="0" cy="22860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6" grpId="0" animBg="1"/>
      <p:bldP spid="15" grpId="0" animBg="1"/>
      <p:bldP spid="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450DC3-381F-41CC-89E4-DC20760B7CFE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4800" y="334963"/>
            <a:ext cx="2012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514600" y="334963"/>
            <a:ext cx="1873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 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04800" y="1770063"/>
            <a:ext cx="2012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2514600" y="1770063"/>
            <a:ext cx="1873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 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 baseline="300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631" name="Group 126"/>
          <p:cNvGrpSpPr/>
          <p:nvPr/>
        </p:nvGrpSpPr>
        <p:grpSpPr bwMode="auto">
          <a:xfrm>
            <a:off x="2178050" y="3200400"/>
            <a:ext cx="4933950" cy="3352800"/>
            <a:chOff x="1372" y="2016"/>
            <a:chExt cx="3108" cy="2112"/>
          </a:xfrm>
        </p:grpSpPr>
        <p:sp>
          <p:nvSpPr>
            <p:cNvPr id="26663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64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66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7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8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9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70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72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3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4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5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6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7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8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9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80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81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82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83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84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53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86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87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88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89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690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92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3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4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5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6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7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8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99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00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01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702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703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705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06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07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08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709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711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2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3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4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5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6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7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8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19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20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23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24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25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727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732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704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6632" name="Rectangle 91"/>
          <p:cNvSpPr>
            <a:spLocks noChangeArrowheads="1"/>
          </p:cNvSpPr>
          <p:nvPr/>
        </p:nvSpPr>
        <p:spPr bwMode="auto">
          <a:xfrm>
            <a:off x="228600" y="228600"/>
            <a:ext cx="87630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6633" name="Line 92"/>
          <p:cNvSpPr>
            <a:spLocks noChangeShapeType="1"/>
          </p:cNvSpPr>
          <p:nvPr/>
        </p:nvSpPr>
        <p:spPr bwMode="auto">
          <a:xfrm>
            <a:off x="228600" y="16764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4" name="Line 93"/>
          <p:cNvSpPr>
            <a:spLocks noChangeShapeType="1"/>
          </p:cNvSpPr>
          <p:nvPr/>
        </p:nvSpPr>
        <p:spPr bwMode="auto">
          <a:xfrm>
            <a:off x="228600" y="9906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5" name="Line 94"/>
          <p:cNvSpPr>
            <a:spLocks noChangeShapeType="1"/>
          </p:cNvSpPr>
          <p:nvPr/>
        </p:nvSpPr>
        <p:spPr bwMode="auto">
          <a:xfrm>
            <a:off x="228600" y="24384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6" name="Line 95"/>
          <p:cNvSpPr>
            <a:spLocks noChangeShapeType="1"/>
          </p:cNvSpPr>
          <p:nvPr/>
        </p:nvSpPr>
        <p:spPr bwMode="auto">
          <a:xfrm>
            <a:off x="8001000" y="2286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21" name="Rectangle 97"/>
          <p:cNvSpPr>
            <a:spLocks noChangeArrowheads="1"/>
          </p:cNvSpPr>
          <p:nvPr/>
        </p:nvSpPr>
        <p:spPr bwMode="auto">
          <a:xfrm>
            <a:off x="304800" y="1054100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22" name="Rectangle 98"/>
          <p:cNvSpPr>
            <a:spLocks noChangeArrowheads="1"/>
          </p:cNvSpPr>
          <p:nvPr/>
        </p:nvSpPr>
        <p:spPr bwMode="auto">
          <a:xfrm>
            <a:off x="6489700" y="1041400"/>
            <a:ext cx="139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742" name="Group 118"/>
          <p:cNvGrpSpPr/>
          <p:nvPr/>
        </p:nvGrpSpPr>
        <p:grpSpPr bwMode="auto">
          <a:xfrm>
            <a:off x="8077200" y="304800"/>
            <a:ext cx="742950" cy="1066800"/>
            <a:chOff x="5088" y="192"/>
            <a:chExt cx="468" cy="672"/>
          </a:xfrm>
        </p:grpSpPr>
        <p:sp>
          <p:nvSpPr>
            <p:cNvPr id="26659" name="Line 99"/>
            <p:cNvSpPr>
              <a:spLocks noChangeShapeType="1"/>
            </p:cNvSpPr>
            <p:nvPr/>
          </p:nvSpPr>
          <p:spPr bwMode="auto">
            <a:xfrm>
              <a:off x="5088" y="8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0" name="Line 100"/>
            <p:cNvSpPr>
              <a:spLocks noChangeShapeType="1"/>
            </p:cNvSpPr>
            <p:nvPr/>
          </p:nvSpPr>
          <p:spPr bwMode="auto">
            <a:xfrm flipV="1">
              <a:off x="5280" y="6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1" name="Line 101"/>
            <p:cNvSpPr>
              <a:spLocks noChangeShapeType="1"/>
            </p:cNvSpPr>
            <p:nvPr/>
          </p:nvSpPr>
          <p:spPr bwMode="auto">
            <a:xfrm>
              <a:off x="5280" y="6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26" name="Rectangle 102"/>
            <p:cNvSpPr>
              <a:spLocks noChangeArrowheads="1"/>
            </p:cNvSpPr>
            <p:nvPr/>
          </p:nvSpPr>
          <p:spPr bwMode="auto">
            <a:xfrm>
              <a:off x="5184" y="19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6728" name="Rectangle 104"/>
          <p:cNvSpPr>
            <a:spLocks noChangeArrowheads="1"/>
          </p:cNvSpPr>
          <p:nvPr/>
        </p:nvSpPr>
        <p:spPr bwMode="auto">
          <a:xfrm>
            <a:off x="304800" y="2489200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29" name="Rectangle 105"/>
          <p:cNvSpPr>
            <a:spLocks noChangeArrowheads="1"/>
          </p:cNvSpPr>
          <p:nvPr/>
        </p:nvSpPr>
        <p:spPr bwMode="auto">
          <a:xfrm>
            <a:off x="5397500" y="2481263"/>
            <a:ext cx="92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749" name="Group 125"/>
          <p:cNvGrpSpPr/>
          <p:nvPr/>
        </p:nvGrpSpPr>
        <p:grpSpPr bwMode="auto">
          <a:xfrm>
            <a:off x="8153400" y="1752600"/>
            <a:ext cx="685800" cy="1066800"/>
            <a:chOff x="5136" y="1104"/>
            <a:chExt cx="432" cy="672"/>
          </a:xfrm>
        </p:grpSpPr>
        <p:sp>
          <p:nvSpPr>
            <p:cNvPr id="26655" name="Line 106"/>
            <p:cNvSpPr>
              <a:spLocks noChangeShapeType="1"/>
            </p:cNvSpPr>
            <p:nvPr/>
          </p:nvSpPr>
          <p:spPr bwMode="auto">
            <a:xfrm>
              <a:off x="5136" y="17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56" name="Line 107"/>
            <p:cNvSpPr>
              <a:spLocks noChangeShapeType="1"/>
            </p:cNvSpPr>
            <p:nvPr/>
          </p:nvSpPr>
          <p:spPr bwMode="auto">
            <a:xfrm flipV="1">
              <a:off x="532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57" name="Line 108"/>
            <p:cNvSpPr>
              <a:spLocks noChangeShapeType="1"/>
            </p:cNvSpPr>
            <p:nvPr/>
          </p:nvSpPr>
          <p:spPr bwMode="auto">
            <a:xfrm>
              <a:off x="5328" y="15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733" name="Rectangle 109"/>
            <p:cNvSpPr>
              <a:spLocks noChangeArrowheads="1"/>
            </p:cNvSpPr>
            <p:nvPr/>
          </p:nvSpPr>
          <p:spPr bwMode="auto">
            <a:xfrm>
              <a:off x="5184" y="110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6736" name="Rectangle 112"/>
          <p:cNvSpPr>
            <a:spLocks noChangeArrowheads="1"/>
          </p:cNvSpPr>
          <p:nvPr/>
        </p:nvSpPr>
        <p:spPr bwMode="auto">
          <a:xfrm>
            <a:off x="6470650" y="334963"/>
            <a:ext cx="1530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38" name="Rectangle 114"/>
          <p:cNvSpPr>
            <a:spLocks noChangeArrowheads="1"/>
          </p:cNvSpPr>
          <p:nvPr/>
        </p:nvSpPr>
        <p:spPr bwMode="auto">
          <a:xfrm>
            <a:off x="5346700" y="334963"/>
            <a:ext cx="92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39" name="Rectangle 115"/>
          <p:cNvSpPr>
            <a:spLocks noChangeArrowheads="1"/>
          </p:cNvSpPr>
          <p:nvPr/>
        </p:nvSpPr>
        <p:spPr bwMode="auto">
          <a:xfrm>
            <a:off x="2501900" y="10541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0" name="Rectangle 116"/>
          <p:cNvSpPr>
            <a:spLocks noChangeArrowheads="1"/>
          </p:cNvSpPr>
          <p:nvPr/>
        </p:nvSpPr>
        <p:spPr bwMode="auto">
          <a:xfrm>
            <a:off x="3479800" y="1054100"/>
            <a:ext cx="1873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 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1" name="Rectangle 117"/>
          <p:cNvSpPr>
            <a:spLocks noChangeArrowheads="1"/>
          </p:cNvSpPr>
          <p:nvPr/>
        </p:nvSpPr>
        <p:spPr bwMode="auto">
          <a:xfrm>
            <a:off x="5372100" y="10541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3" name="Rectangle 119"/>
          <p:cNvSpPr>
            <a:spLocks noChangeArrowheads="1"/>
          </p:cNvSpPr>
          <p:nvPr/>
        </p:nvSpPr>
        <p:spPr bwMode="auto">
          <a:xfrm>
            <a:off x="5397500" y="17653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 baseline="300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4" name="Rectangle 120"/>
          <p:cNvSpPr>
            <a:spLocks noChangeArrowheads="1"/>
          </p:cNvSpPr>
          <p:nvPr/>
        </p:nvSpPr>
        <p:spPr bwMode="auto">
          <a:xfrm>
            <a:off x="4432300" y="1770063"/>
            <a:ext cx="92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5" name="Rectangle 121"/>
          <p:cNvSpPr>
            <a:spLocks noChangeArrowheads="1"/>
          </p:cNvSpPr>
          <p:nvPr/>
        </p:nvSpPr>
        <p:spPr bwMode="auto">
          <a:xfrm>
            <a:off x="6464300" y="1778000"/>
            <a:ext cx="1530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200" baseline="300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6" name="Rectangle 122"/>
          <p:cNvSpPr>
            <a:spLocks noChangeArrowheads="1"/>
          </p:cNvSpPr>
          <p:nvPr/>
        </p:nvSpPr>
        <p:spPr bwMode="auto">
          <a:xfrm>
            <a:off x="2501900" y="24892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7" name="Rectangle 123"/>
          <p:cNvSpPr>
            <a:spLocks noChangeArrowheads="1"/>
          </p:cNvSpPr>
          <p:nvPr/>
        </p:nvSpPr>
        <p:spPr bwMode="auto">
          <a:xfrm>
            <a:off x="3492500" y="2489200"/>
            <a:ext cx="2076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 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 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48" name="Rectangle 124"/>
          <p:cNvSpPr>
            <a:spLocks noChangeArrowheads="1"/>
          </p:cNvSpPr>
          <p:nvPr/>
        </p:nvSpPr>
        <p:spPr bwMode="auto">
          <a:xfrm>
            <a:off x="6515100" y="2493963"/>
            <a:ext cx="1397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752" name="Rectangle 128"/>
          <p:cNvSpPr>
            <a:spLocks noChangeArrowheads="1"/>
          </p:cNvSpPr>
          <p:nvPr/>
        </p:nvSpPr>
        <p:spPr bwMode="auto">
          <a:xfrm>
            <a:off x="4437063" y="333375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6627" grpId="0" autoUpdateAnimBg="0"/>
      <p:bldP spid="26629" grpId="0" autoUpdateAnimBg="0"/>
      <p:bldP spid="26630" grpId="0" autoUpdateAnimBg="0"/>
      <p:bldP spid="26721" grpId="0" autoUpdateAnimBg="0"/>
      <p:bldP spid="26722" grpId="0" autoUpdateAnimBg="0"/>
      <p:bldP spid="26728" grpId="0" autoUpdateAnimBg="0"/>
      <p:bldP spid="26729" grpId="0" autoUpdateAnimBg="0"/>
      <p:bldP spid="26736" grpId="0" autoUpdateAnimBg="0"/>
      <p:bldP spid="26738" grpId="0" autoUpdateAnimBg="0"/>
      <p:bldP spid="26739" grpId="0" autoUpdateAnimBg="0"/>
      <p:bldP spid="26740" grpId="0" autoUpdateAnimBg="0"/>
      <p:bldP spid="26741" grpId="0" autoUpdateAnimBg="0"/>
      <p:bldP spid="26743" grpId="0" autoUpdateAnimBg="0"/>
      <p:bldP spid="26744" grpId="0" autoUpdateAnimBg="0"/>
      <p:bldP spid="26745" grpId="0" autoUpdateAnimBg="0"/>
      <p:bldP spid="26746" grpId="0" autoUpdateAnimBg="0"/>
      <p:bldP spid="26747" grpId="0" autoUpdateAnimBg="0"/>
      <p:bldP spid="26748" grpId="0" autoUpdateAnimBg="0"/>
      <p:bldP spid="2675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31590EA-3DDF-483D-B327-702CFBB49B76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7651" name="Group 126"/>
          <p:cNvGrpSpPr/>
          <p:nvPr/>
        </p:nvGrpSpPr>
        <p:grpSpPr bwMode="auto">
          <a:xfrm>
            <a:off x="596900" y="989013"/>
            <a:ext cx="4933950" cy="3352800"/>
            <a:chOff x="1372" y="2016"/>
            <a:chExt cx="3108" cy="2112"/>
          </a:xfrm>
        </p:grpSpPr>
        <p:sp>
          <p:nvSpPr>
            <p:cNvPr id="27658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59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61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2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3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4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5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67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8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9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0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1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2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3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4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5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6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77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78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79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81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2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3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4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85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87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8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9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0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1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2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3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4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5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6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97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98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700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1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2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3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704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706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7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8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9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0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1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2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3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4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5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716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7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8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9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0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1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722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727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2701925" y="38846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2349500" y="19891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3725863" y="198913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1155700" y="1989138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711700" y="4221163"/>
            <a:ext cx="3608388" cy="224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/>
              <a:t>CP=0: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/>
              <a:t>G3</a:t>
            </a:r>
            <a:r>
              <a:rPr lang="zh-CN" altLang="en-US" sz="2800" dirty="0"/>
              <a:t>、</a:t>
            </a:r>
            <a:r>
              <a:rPr lang="en-US" altLang="zh-CN" sz="2800" dirty="0"/>
              <a:t>G4</a:t>
            </a:r>
            <a:r>
              <a:rPr lang="zh-CN" altLang="en-US" sz="2800" dirty="0"/>
              <a:t>被封锁，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/>
              <a:t>G3=G4=1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800" dirty="0"/>
              <a:t>触发器状态不变化</a:t>
            </a:r>
            <a:r>
              <a:rPr lang="en-US" altLang="zh-CN" sz="2800" dirty="0"/>
              <a:t>,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4406900" y="1804988"/>
            <a:ext cx="4238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_</a:t>
            </a:r>
            <a:endParaRPr lang="en-US" altLang="zh-CN" sz="2400">
              <a:solidFill>
                <a:srgbClr val="FF0000"/>
              </a:solidFill>
              <a:latin typeface="Century" panose="020406040505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D</a:t>
            </a:r>
            <a:endParaRPr lang="zh-CN" altLang="en-US" sz="240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BDBD84-08B1-483A-B375-275A965F6BF0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8675" name="Group 126"/>
          <p:cNvGrpSpPr/>
          <p:nvPr/>
        </p:nvGrpSpPr>
        <p:grpSpPr bwMode="auto">
          <a:xfrm>
            <a:off x="596900" y="989013"/>
            <a:ext cx="4933950" cy="3352800"/>
            <a:chOff x="1372" y="2016"/>
            <a:chExt cx="3108" cy="2112"/>
          </a:xfrm>
        </p:grpSpPr>
        <p:sp>
          <p:nvSpPr>
            <p:cNvPr id="28685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686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688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9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0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1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692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694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5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6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7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8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9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0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1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2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3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04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05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06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08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9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0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1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12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14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5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6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7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8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19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0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1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2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3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24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25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27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8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29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0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31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33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4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5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6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7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8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39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0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1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2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43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4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5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6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7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48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749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54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2701925" y="388461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zh-CN" altLang="zh-CN" sz="2400">
                <a:solidFill>
                  <a:srgbClr val="FF0000"/>
                </a:solidFill>
              </a:rPr>
              <a:t>→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1763713" y="1816100"/>
            <a:ext cx="9032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      _</a:t>
            </a:r>
            <a:endParaRPr lang="en-US" altLang="zh-CN" sz="2400">
              <a:solidFill>
                <a:srgbClr val="FF0000"/>
              </a:solidFill>
              <a:latin typeface="Century" panose="020406040505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1</a:t>
            </a:r>
            <a:r>
              <a:rPr lang="zh-CN" altLang="zh-CN" sz="2400">
                <a:solidFill>
                  <a:srgbClr val="FF0000"/>
                </a:solidFill>
              </a:rPr>
              <a:t>→</a:t>
            </a: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D</a:t>
            </a:r>
            <a:endParaRPr lang="zh-CN" altLang="en-US" sz="240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3187700" y="2032000"/>
            <a:ext cx="8874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1</a:t>
            </a:r>
            <a:r>
              <a:rPr lang="zh-CN" altLang="zh-CN" sz="2400">
                <a:solidFill>
                  <a:srgbClr val="FF0000"/>
                </a:solidFill>
              </a:rPr>
              <a:t>→</a:t>
            </a: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1155700" y="1989138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4471988" y="1804988"/>
            <a:ext cx="4222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_</a:t>
            </a:r>
            <a:endParaRPr lang="en-US" altLang="zh-CN" sz="2400">
              <a:solidFill>
                <a:srgbClr val="FF0000"/>
              </a:solidFill>
              <a:latin typeface="Century" panose="020406040505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Century" panose="02040604050505020304" pitchFamily="18" charset="0"/>
              </a:rPr>
              <a:t>D</a:t>
            </a:r>
            <a:endParaRPr lang="zh-CN" altLang="en-US" sz="240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711700" y="4221163"/>
            <a:ext cx="3868738" cy="224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/>
              <a:t>CP=0</a:t>
            </a:r>
            <a:r>
              <a:rPr lang="zh-CN" altLang="zh-CN" sz="2800" dirty="0"/>
              <a:t>→</a:t>
            </a:r>
            <a:r>
              <a:rPr lang="en-US" altLang="zh-CN" sz="2800" dirty="0"/>
              <a:t>1 :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/>
              <a:t>G3=D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/>
              <a:t>G4=D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800" dirty="0"/>
              <a:t>触发器状态随</a:t>
            </a:r>
            <a:r>
              <a:rPr lang="en-US" altLang="zh-CN" sz="2800" dirty="0"/>
              <a:t>D</a:t>
            </a:r>
            <a:r>
              <a:rPr lang="zh-CN" altLang="en-US" sz="2800" dirty="0"/>
              <a:t>变化</a:t>
            </a:r>
            <a:r>
              <a:rPr lang="en-US" altLang="zh-CN" sz="2800" dirty="0"/>
              <a:t>,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2" name="TextBox 87"/>
          <p:cNvSpPr txBox="1">
            <a:spLocks noChangeArrowheads="1"/>
          </p:cNvSpPr>
          <p:nvPr/>
        </p:nvSpPr>
        <p:spPr bwMode="auto">
          <a:xfrm>
            <a:off x="5843588" y="4362450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_</a:t>
            </a:r>
            <a:endParaRPr lang="zh-CN" altLang="en-US" sz="2400" b="1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5940425" y="728663"/>
            <a:ext cx="25161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G3</a:t>
            </a:r>
            <a:r>
              <a:rPr lang="zh-CN" altLang="en-US" sz="2400" b="1"/>
              <a:t>、</a:t>
            </a:r>
            <a:r>
              <a:rPr lang="en-US" altLang="zh-CN" sz="2400" b="1"/>
              <a:t>G4</a:t>
            </a:r>
            <a:r>
              <a:rPr lang="zh-CN" altLang="en-US" sz="2400" b="1"/>
              <a:t>的输出：</a:t>
            </a:r>
            <a:endParaRPr lang="en-US" altLang="zh-CN" sz="2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	</a:t>
            </a:r>
            <a:r>
              <a:rPr lang="zh-CN" altLang="en-US" sz="2400" b="1"/>
              <a:t>全</a:t>
            </a:r>
            <a:r>
              <a:rPr lang="en-US" altLang="zh-CN" sz="2400" b="1"/>
              <a:t>1</a:t>
            </a:r>
            <a:endParaRPr lang="en-US" altLang="zh-CN" sz="2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	</a:t>
            </a:r>
            <a:r>
              <a:rPr lang="zh-CN" altLang="en-US" sz="2400" b="1"/>
              <a:t>互补</a:t>
            </a:r>
            <a:endParaRPr lang="zh-CN" altLang="en-US" sz="2400" b="1"/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5940425" y="2205038"/>
            <a:ext cx="2987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G1</a:t>
            </a:r>
            <a:r>
              <a:rPr lang="zh-CN" altLang="en-US" sz="2400" b="1"/>
              <a:t>、</a:t>
            </a:r>
            <a:r>
              <a:rPr lang="en-US" altLang="zh-CN" sz="2400" b="1"/>
              <a:t>G2</a:t>
            </a:r>
            <a:r>
              <a:rPr lang="zh-CN" altLang="en-US" sz="2400" b="1"/>
              <a:t>构成的</a:t>
            </a:r>
            <a:r>
              <a:rPr lang="en-US" altLang="zh-CN" sz="2400" b="1"/>
              <a:t>RS</a:t>
            </a:r>
            <a:r>
              <a:rPr lang="zh-CN" altLang="en-US" sz="2400" b="1"/>
              <a:t>触发器的输入不会出现约束条件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84" grpId="0"/>
      <p:bldP spid="86" grpId="0"/>
      <p:bldP spid="87" grpId="0"/>
      <p:bldP spid="89" grpId="0"/>
      <p:bldP spid="9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7FF40A-96A7-4BD5-BA66-6E4C0B2B2E49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9699" name="Group 126"/>
          <p:cNvGrpSpPr/>
          <p:nvPr/>
        </p:nvGrpSpPr>
        <p:grpSpPr bwMode="auto">
          <a:xfrm>
            <a:off x="596900" y="989013"/>
            <a:ext cx="4933950" cy="3352800"/>
            <a:chOff x="1372" y="2016"/>
            <a:chExt cx="3108" cy="2112"/>
          </a:xfrm>
        </p:grpSpPr>
        <p:sp>
          <p:nvSpPr>
            <p:cNvPr id="29708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09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11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2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3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4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15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17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8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9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0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1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2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3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4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5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6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27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28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29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31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2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3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4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35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37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8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9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0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1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2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3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4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5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6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47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48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50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1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2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3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54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56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7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8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9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0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1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2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3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4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5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66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7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8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9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0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1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9772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77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9700" name="组合 79"/>
          <p:cNvGrpSpPr/>
          <p:nvPr/>
        </p:nvGrpSpPr>
        <p:grpSpPr bwMode="auto">
          <a:xfrm>
            <a:off x="2359025" y="1816100"/>
            <a:ext cx="1774825" cy="2530475"/>
            <a:chOff x="3940043" y="4026154"/>
            <a:chExt cx="1774416" cy="2531511"/>
          </a:xfrm>
        </p:grpSpPr>
        <p:sp>
          <p:nvSpPr>
            <p:cNvPr id="29705" name="TextBox 80"/>
            <p:cNvSpPr txBox="1">
              <a:spLocks noChangeArrowheads="1"/>
            </p:cNvSpPr>
            <p:nvPr/>
          </p:nvSpPr>
          <p:spPr bwMode="auto">
            <a:xfrm>
              <a:off x="4283110" y="609600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29706" name="TextBox 81"/>
            <p:cNvSpPr txBox="1">
              <a:spLocks noChangeArrowheads="1"/>
            </p:cNvSpPr>
            <p:nvPr/>
          </p:nvSpPr>
          <p:spPr bwMode="auto">
            <a:xfrm>
              <a:off x="3940043" y="4026154"/>
              <a:ext cx="42351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entury" panose="02040604050505020304" pitchFamily="18" charset="0"/>
                </a:rPr>
                <a:t>_</a:t>
              </a:r>
              <a:endParaRPr lang="en-US" altLang="zh-CN" sz="2400">
                <a:solidFill>
                  <a:srgbClr val="FF0000"/>
                </a:solidFill>
                <a:latin typeface="Century" panose="020406040505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entury" panose="02040604050505020304" pitchFamily="18" charset="0"/>
                </a:rPr>
                <a:t>D</a:t>
              </a:r>
              <a:endParaRPr lang="zh-CN" altLang="en-US" sz="2400">
                <a:solidFill>
                  <a:srgbClr val="FF0000"/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29707" name="TextBox 82"/>
            <p:cNvSpPr txBox="1">
              <a:spLocks noChangeArrowheads="1"/>
            </p:cNvSpPr>
            <p:nvPr/>
          </p:nvSpPr>
          <p:spPr bwMode="auto">
            <a:xfrm>
              <a:off x="5306975" y="414934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D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29701" name="TextBox 83"/>
          <p:cNvSpPr txBox="1">
            <a:spLocks noChangeArrowheads="1"/>
          </p:cNvSpPr>
          <p:nvPr/>
        </p:nvSpPr>
        <p:spPr bwMode="auto">
          <a:xfrm>
            <a:off x="1155700" y="1989138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711700" y="4221163"/>
            <a:ext cx="4227513" cy="224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/>
              <a:t>CP=1 :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D</a:t>
            </a:r>
            <a:r>
              <a:rPr lang="en-US" altLang="zh-CN" sz="2800" dirty="0"/>
              <a:t>=0</a:t>
            </a:r>
            <a:r>
              <a:rPr lang="zh-CN" altLang="en-US" sz="2800" dirty="0"/>
              <a:t>，</a:t>
            </a:r>
            <a:r>
              <a:rPr lang="en-US" altLang="zh-CN" sz="2800" dirty="0"/>
              <a:t> G6</a:t>
            </a:r>
            <a:r>
              <a:rPr lang="zh-CN" altLang="en-US" sz="2800" dirty="0"/>
              <a:t>被封锁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/>
              <a:t>G6=1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800" dirty="0"/>
              <a:t>触发器状态不随</a:t>
            </a:r>
            <a:r>
              <a:rPr lang="en-US" altLang="zh-CN" sz="2800" dirty="0"/>
              <a:t>D</a:t>
            </a:r>
            <a:r>
              <a:rPr lang="zh-CN" altLang="en-US" sz="2800" dirty="0"/>
              <a:t>变化</a:t>
            </a:r>
            <a:r>
              <a:rPr lang="en-US" altLang="zh-CN" sz="2800" dirty="0"/>
              <a:t>,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6372225" y="188913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不会出现空翻</a:t>
            </a:r>
            <a:endParaRPr lang="zh-CN" altLang="en-US" sz="2400"/>
          </a:p>
        </p:txBody>
      </p:sp>
      <p:sp>
        <p:nvSpPr>
          <p:cNvPr id="89" name="椭圆形标注 88"/>
          <p:cNvSpPr>
            <a:spLocks noChangeArrowheads="1"/>
          </p:cNvSpPr>
          <p:nvPr/>
        </p:nvSpPr>
        <p:spPr bwMode="auto">
          <a:xfrm>
            <a:off x="2381250" y="4941888"/>
            <a:ext cx="2330450" cy="647700"/>
          </a:xfrm>
          <a:prstGeom prst="wedgeEllipseCallout">
            <a:avLst>
              <a:gd name="adj1" fmla="val 36856"/>
              <a:gd name="adj2" fmla="val -305380"/>
            </a:avLst>
          </a:prstGeom>
          <a:noFill/>
          <a:ln w="9525" algn="ctr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置</a:t>
            </a:r>
            <a:r>
              <a:rPr lang="en-US" altLang="zh-CN" sz="2400"/>
              <a:t>0</a:t>
            </a:r>
            <a:r>
              <a:rPr lang="zh-CN" altLang="en-US" sz="2400"/>
              <a:t>阻塞线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5" grpId="0"/>
      <p:bldP spid="8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E70D77-D2DC-4677-A147-D36B59767539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30723" name="Group 126"/>
          <p:cNvGrpSpPr/>
          <p:nvPr/>
        </p:nvGrpSpPr>
        <p:grpSpPr bwMode="auto">
          <a:xfrm>
            <a:off x="596900" y="989013"/>
            <a:ext cx="4933950" cy="3352800"/>
            <a:chOff x="1372" y="2016"/>
            <a:chExt cx="3108" cy="2112"/>
          </a:xfrm>
        </p:grpSpPr>
        <p:sp>
          <p:nvSpPr>
            <p:cNvPr id="30732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33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7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8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39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41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2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3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4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5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6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7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8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9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0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51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52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53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55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6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7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8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59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61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2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3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4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5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6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7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8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69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70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71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72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74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75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76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77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78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80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1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2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3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4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5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6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7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8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89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90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1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2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3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4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5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796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801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724" name="组合 79"/>
          <p:cNvGrpSpPr/>
          <p:nvPr/>
        </p:nvGrpSpPr>
        <p:grpSpPr bwMode="auto">
          <a:xfrm>
            <a:off x="2359025" y="1816100"/>
            <a:ext cx="1774825" cy="2530475"/>
            <a:chOff x="3940043" y="4026154"/>
            <a:chExt cx="1774416" cy="2531511"/>
          </a:xfrm>
        </p:grpSpPr>
        <p:sp>
          <p:nvSpPr>
            <p:cNvPr id="30729" name="TextBox 80"/>
            <p:cNvSpPr txBox="1">
              <a:spLocks noChangeArrowheads="1"/>
            </p:cNvSpPr>
            <p:nvPr/>
          </p:nvSpPr>
          <p:spPr bwMode="auto">
            <a:xfrm>
              <a:off x="4283110" y="609600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30730" name="TextBox 81"/>
            <p:cNvSpPr txBox="1">
              <a:spLocks noChangeArrowheads="1"/>
            </p:cNvSpPr>
            <p:nvPr/>
          </p:nvSpPr>
          <p:spPr bwMode="auto">
            <a:xfrm>
              <a:off x="3940043" y="4026154"/>
              <a:ext cx="42351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entury" panose="02040604050505020304" pitchFamily="18" charset="0"/>
                </a:rPr>
                <a:t>_</a:t>
              </a:r>
              <a:endParaRPr lang="en-US" altLang="zh-CN" sz="2400">
                <a:solidFill>
                  <a:srgbClr val="FF0000"/>
                </a:solidFill>
                <a:latin typeface="Century" panose="020406040505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entury" panose="02040604050505020304" pitchFamily="18" charset="0"/>
                </a:rPr>
                <a:t>D</a:t>
              </a:r>
              <a:endParaRPr lang="zh-CN" altLang="en-US" sz="2400">
                <a:solidFill>
                  <a:srgbClr val="FF0000"/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30731" name="TextBox 82"/>
            <p:cNvSpPr txBox="1">
              <a:spLocks noChangeArrowheads="1"/>
            </p:cNvSpPr>
            <p:nvPr/>
          </p:nvSpPr>
          <p:spPr bwMode="auto">
            <a:xfrm>
              <a:off x="5306975" y="414934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D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30725" name="TextBox 83"/>
          <p:cNvSpPr txBox="1">
            <a:spLocks noChangeArrowheads="1"/>
          </p:cNvSpPr>
          <p:nvPr/>
        </p:nvSpPr>
        <p:spPr bwMode="auto">
          <a:xfrm>
            <a:off x="1155700" y="1989138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711700" y="4221163"/>
            <a:ext cx="4227513" cy="1816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/>
              <a:t>CP=1 :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D</a:t>
            </a:r>
            <a:r>
              <a:rPr lang="en-US" altLang="zh-CN" sz="2800" dirty="0"/>
              <a:t>=1</a:t>
            </a:r>
            <a:r>
              <a:rPr lang="zh-CN" altLang="en-US" sz="2800" dirty="0"/>
              <a:t>，</a:t>
            </a:r>
            <a:r>
              <a:rPr lang="en-US" altLang="zh-CN" sz="2800" dirty="0"/>
              <a:t> G4</a:t>
            </a:r>
            <a:r>
              <a:rPr lang="zh-CN" altLang="en-US" sz="2800" dirty="0"/>
              <a:t>、</a:t>
            </a:r>
            <a:r>
              <a:rPr lang="en-US" altLang="zh-CN" sz="2800" dirty="0"/>
              <a:t>G5</a:t>
            </a:r>
            <a:r>
              <a:rPr lang="zh-CN" altLang="en-US" sz="2800" dirty="0"/>
              <a:t>被封锁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800" dirty="0"/>
              <a:t>触发器状态不随</a:t>
            </a:r>
            <a:r>
              <a:rPr lang="en-US" altLang="zh-CN" sz="2800" dirty="0"/>
              <a:t>D</a:t>
            </a:r>
            <a:r>
              <a:rPr lang="zh-CN" altLang="en-US" sz="2800" dirty="0"/>
              <a:t>变化</a:t>
            </a:r>
            <a:r>
              <a:rPr lang="en-US" altLang="zh-CN" sz="2800" dirty="0"/>
              <a:t>,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8" name="TextBox 87"/>
          <p:cNvSpPr txBox="1">
            <a:spLocks noChangeArrowheads="1"/>
          </p:cNvSpPr>
          <p:nvPr/>
        </p:nvSpPr>
        <p:spPr bwMode="auto">
          <a:xfrm>
            <a:off x="6227763" y="757238"/>
            <a:ext cx="203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不会出现空翻</a:t>
            </a:r>
            <a:endParaRPr lang="zh-CN" altLang="en-US" sz="2400"/>
          </a:p>
        </p:txBody>
      </p:sp>
      <p:sp>
        <p:nvSpPr>
          <p:cNvPr id="89" name="椭圆形标注 88"/>
          <p:cNvSpPr>
            <a:spLocks noChangeArrowheads="1"/>
          </p:cNvSpPr>
          <p:nvPr/>
        </p:nvSpPr>
        <p:spPr bwMode="auto">
          <a:xfrm>
            <a:off x="2305050" y="5129213"/>
            <a:ext cx="2330450" cy="649287"/>
          </a:xfrm>
          <a:prstGeom prst="wedgeEllipseCallout">
            <a:avLst>
              <a:gd name="adj1" fmla="val -7778"/>
              <a:gd name="adj2" fmla="val -328639"/>
            </a:avLst>
          </a:prstGeom>
          <a:noFill/>
          <a:ln w="9525" algn="ctr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置</a:t>
            </a:r>
            <a:r>
              <a:rPr lang="en-US" altLang="zh-CN" sz="2400"/>
              <a:t>1</a:t>
            </a:r>
            <a:r>
              <a:rPr lang="zh-CN" altLang="en-US" sz="2400"/>
              <a:t>维持线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26"/>
          <p:cNvGrpSpPr/>
          <p:nvPr/>
        </p:nvGrpSpPr>
        <p:grpSpPr bwMode="auto">
          <a:xfrm>
            <a:off x="152400" y="127000"/>
            <a:ext cx="4933950" cy="3352800"/>
            <a:chOff x="1372" y="2016"/>
            <a:chExt cx="3108" cy="2112"/>
          </a:xfrm>
        </p:grpSpPr>
        <p:sp>
          <p:nvSpPr>
            <p:cNvPr id="31773" name="Rectangle 7"/>
            <p:cNvSpPr>
              <a:spLocks noChangeArrowheads="1"/>
            </p:cNvSpPr>
            <p:nvPr/>
          </p:nvSpPr>
          <p:spPr bwMode="auto">
            <a:xfrm>
              <a:off x="2380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774" name="Oval 8"/>
            <p:cNvSpPr>
              <a:spLocks noChangeArrowheads="1"/>
            </p:cNvSpPr>
            <p:nvPr/>
          </p:nvSpPr>
          <p:spPr bwMode="auto">
            <a:xfrm>
              <a:off x="2524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776" name="Line 10"/>
            <p:cNvSpPr>
              <a:spLocks noChangeShapeType="1"/>
            </p:cNvSpPr>
            <p:nvPr/>
          </p:nvSpPr>
          <p:spPr bwMode="auto">
            <a:xfrm flipV="1">
              <a:off x="2572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77" name="Line 11"/>
            <p:cNvSpPr>
              <a:spLocks noChangeShapeType="1"/>
            </p:cNvSpPr>
            <p:nvPr/>
          </p:nvSpPr>
          <p:spPr bwMode="auto">
            <a:xfrm>
              <a:off x="24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78" name="Line 12"/>
            <p:cNvSpPr>
              <a:spLocks noChangeShapeType="1"/>
            </p:cNvSpPr>
            <p:nvPr/>
          </p:nvSpPr>
          <p:spPr bwMode="auto">
            <a:xfrm>
              <a:off x="266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79" name="Rectangle 13"/>
            <p:cNvSpPr>
              <a:spLocks noChangeArrowheads="1"/>
            </p:cNvSpPr>
            <p:nvPr/>
          </p:nvSpPr>
          <p:spPr bwMode="auto">
            <a:xfrm>
              <a:off x="3052" y="240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780" name="Oval 14"/>
            <p:cNvSpPr>
              <a:spLocks noChangeArrowheads="1"/>
            </p:cNvSpPr>
            <p:nvPr/>
          </p:nvSpPr>
          <p:spPr bwMode="auto">
            <a:xfrm>
              <a:off x="3196" y="230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782" name="Line 16"/>
            <p:cNvSpPr>
              <a:spLocks noChangeShapeType="1"/>
            </p:cNvSpPr>
            <p:nvPr/>
          </p:nvSpPr>
          <p:spPr bwMode="auto">
            <a:xfrm flipV="1">
              <a:off x="324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3" name="Line 17"/>
            <p:cNvSpPr>
              <a:spLocks noChangeShapeType="1"/>
            </p:cNvSpPr>
            <p:nvPr/>
          </p:nvSpPr>
          <p:spPr bwMode="auto">
            <a:xfrm>
              <a:off x="3148" y="25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4" name="Line 18"/>
            <p:cNvSpPr>
              <a:spLocks noChangeShapeType="1"/>
            </p:cNvSpPr>
            <p:nvPr/>
          </p:nvSpPr>
          <p:spPr bwMode="auto">
            <a:xfrm>
              <a:off x="3340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5" name="Line 19"/>
            <p:cNvSpPr>
              <a:spLocks noChangeShapeType="1"/>
            </p:cNvSpPr>
            <p:nvPr/>
          </p:nvSpPr>
          <p:spPr bwMode="auto">
            <a:xfrm>
              <a:off x="2572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6" name="Line 20"/>
            <p:cNvSpPr>
              <a:spLocks noChangeShapeType="1"/>
            </p:cNvSpPr>
            <p:nvPr/>
          </p:nvSpPr>
          <p:spPr bwMode="auto">
            <a:xfrm flipH="1">
              <a:off x="3004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7" name="Line 21"/>
            <p:cNvSpPr>
              <a:spLocks noChangeShapeType="1"/>
            </p:cNvSpPr>
            <p:nvPr/>
          </p:nvSpPr>
          <p:spPr bwMode="auto">
            <a:xfrm flipH="1">
              <a:off x="2764" y="220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8" name="Line 22"/>
            <p:cNvSpPr>
              <a:spLocks noChangeShapeType="1"/>
            </p:cNvSpPr>
            <p:nvPr/>
          </p:nvSpPr>
          <p:spPr bwMode="auto">
            <a:xfrm>
              <a:off x="2812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9" name="Line 23"/>
            <p:cNvSpPr>
              <a:spLocks noChangeShapeType="1"/>
            </p:cNvSpPr>
            <p:nvPr/>
          </p:nvSpPr>
          <p:spPr bwMode="auto">
            <a:xfrm>
              <a:off x="3004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90" name="Line 24"/>
            <p:cNvSpPr>
              <a:spLocks noChangeShapeType="1"/>
            </p:cNvSpPr>
            <p:nvPr/>
          </p:nvSpPr>
          <p:spPr bwMode="auto">
            <a:xfrm flipH="1">
              <a:off x="2668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91" name="Oval 25"/>
            <p:cNvSpPr>
              <a:spLocks noChangeArrowheads="1"/>
            </p:cNvSpPr>
            <p:nvPr/>
          </p:nvSpPr>
          <p:spPr bwMode="auto"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792" name="Oval 26"/>
            <p:cNvSpPr>
              <a:spLocks noChangeArrowheads="1"/>
            </p:cNvSpPr>
            <p:nvPr/>
          </p:nvSpPr>
          <p:spPr bwMode="auto"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793" name="Rectangle 27"/>
            <p:cNvSpPr>
              <a:spLocks noChangeArrowheads="1"/>
            </p:cNvSpPr>
            <p:nvPr/>
          </p:nvSpPr>
          <p:spPr bwMode="auto">
            <a:xfrm>
              <a:off x="3148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794" name="Oval 28"/>
            <p:cNvSpPr>
              <a:spLocks noChangeArrowheads="1"/>
            </p:cNvSpPr>
            <p:nvPr/>
          </p:nvSpPr>
          <p:spPr bwMode="auto">
            <a:xfrm>
              <a:off x="3292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796" name="Line 30"/>
            <p:cNvSpPr>
              <a:spLocks noChangeShapeType="1"/>
            </p:cNvSpPr>
            <p:nvPr/>
          </p:nvSpPr>
          <p:spPr bwMode="auto">
            <a:xfrm flipV="1">
              <a:off x="3340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97" name="Line 31"/>
            <p:cNvSpPr>
              <a:spLocks noChangeShapeType="1"/>
            </p:cNvSpPr>
            <p:nvPr/>
          </p:nvSpPr>
          <p:spPr bwMode="auto">
            <a:xfrm>
              <a:off x="3340" y="33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98" name="Line 32"/>
            <p:cNvSpPr>
              <a:spLocks noChangeShapeType="1"/>
            </p:cNvSpPr>
            <p:nvPr/>
          </p:nvSpPr>
          <p:spPr bwMode="auto">
            <a:xfrm>
              <a:off x="34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99" name="Rectangle 33"/>
            <p:cNvSpPr>
              <a:spLocks noChangeArrowheads="1"/>
            </p:cNvSpPr>
            <p:nvPr/>
          </p:nvSpPr>
          <p:spPr bwMode="auto">
            <a:xfrm>
              <a:off x="3820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00" name="Oval 34"/>
            <p:cNvSpPr>
              <a:spLocks noChangeArrowheads="1"/>
            </p:cNvSpPr>
            <p:nvPr/>
          </p:nvSpPr>
          <p:spPr bwMode="auto">
            <a:xfrm>
              <a:off x="3964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802" name="Line 36"/>
            <p:cNvSpPr>
              <a:spLocks noChangeShapeType="1"/>
            </p:cNvSpPr>
            <p:nvPr/>
          </p:nvSpPr>
          <p:spPr bwMode="auto">
            <a:xfrm flipV="1">
              <a:off x="4012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3" name="Line 37"/>
            <p:cNvSpPr>
              <a:spLocks noChangeShapeType="1"/>
            </p:cNvSpPr>
            <p:nvPr/>
          </p:nvSpPr>
          <p:spPr bwMode="auto">
            <a:xfrm>
              <a:off x="3916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4" name="Line 38"/>
            <p:cNvSpPr>
              <a:spLocks noChangeShapeType="1"/>
            </p:cNvSpPr>
            <p:nvPr/>
          </p:nvSpPr>
          <p:spPr bwMode="auto">
            <a:xfrm>
              <a:off x="41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5" name="Line 39"/>
            <p:cNvSpPr>
              <a:spLocks noChangeShapeType="1"/>
            </p:cNvSpPr>
            <p:nvPr/>
          </p:nvSpPr>
          <p:spPr bwMode="auto">
            <a:xfrm>
              <a:off x="3340" y="2928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6" name="Line 40"/>
            <p:cNvSpPr>
              <a:spLocks noChangeShapeType="1"/>
            </p:cNvSpPr>
            <p:nvPr/>
          </p:nvSpPr>
          <p:spPr bwMode="auto">
            <a:xfrm flipH="1">
              <a:off x="3772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7" name="Line 41"/>
            <p:cNvSpPr>
              <a:spLocks noChangeShapeType="1"/>
            </p:cNvSpPr>
            <p:nvPr/>
          </p:nvSpPr>
          <p:spPr bwMode="auto">
            <a:xfrm flipH="1">
              <a:off x="3532" y="29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8" name="Line 42"/>
            <p:cNvSpPr>
              <a:spLocks noChangeShapeType="1"/>
            </p:cNvSpPr>
            <p:nvPr/>
          </p:nvSpPr>
          <p:spPr bwMode="auto">
            <a:xfrm>
              <a:off x="3580" y="2928"/>
              <a:ext cx="192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09" name="Line 43"/>
            <p:cNvSpPr>
              <a:spLocks noChangeShapeType="1"/>
            </p:cNvSpPr>
            <p:nvPr/>
          </p:nvSpPr>
          <p:spPr bwMode="auto">
            <a:xfrm>
              <a:off x="3772" y="3456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10" name="Line 44"/>
            <p:cNvSpPr>
              <a:spLocks noChangeShapeType="1"/>
            </p:cNvSpPr>
            <p:nvPr/>
          </p:nvSpPr>
          <p:spPr bwMode="auto">
            <a:xfrm flipH="1">
              <a:off x="3436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11" name="Oval 45"/>
            <p:cNvSpPr>
              <a:spLocks noChangeArrowheads="1"/>
            </p:cNvSpPr>
            <p:nvPr/>
          </p:nvSpPr>
          <p:spPr bwMode="auto"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12" name="Rectangle 46"/>
            <p:cNvSpPr>
              <a:spLocks noChangeArrowheads="1"/>
            </p:cNvSpPr>
            <p:nvPr/>
          </p:nvSpPr>
          <p:spPr bwMode="auto">
            <a:xfrm>
              <a:off x="1612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13" name="Oval 47"/>
            <p:cNvSpPr>
              <a:spLocks noChangeArrowheads="1"/>
            </p:cNvSpPr>
            <p:nvPr/>
          </p:nvSpPr>
          <p:spPr bwMode="auto">
            <a:xfrm>
              <a:off x="175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815" name="Line 49"/>
            <p:cNvSpPr>
              <a:spLocks noChangeShapeType="1"/>
            </p:cNvSpPr>
            <p:nvPr/>
          </p:nvSpPr>
          <p:spPr bwMode="auto">
            <a:xfrm flipV="1">
              <a:off x="1804" y="29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16" name="Line 50"/>
            <p:cNvSpPr>
              <a:spLocks noChangeShapeType="1"/>
            </p:cNvSpPr>
            <p:nvPr/>
          </p:nvSpPr>
          <p:spPr bwMode="auto">
            <a:xfrm>
              <a:off x="170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17" name="Line 51"/>
            <p:cNvSpPr>
              <a:spLocks noChangeShapeType="1"/>
            </p:cNvSpPr>
            <p:nvPr/>
          </p:nvSpPr>
          <p:spPr bwMode="auto">
            <a:xfrm>
              <a:off x="1900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18" name="Rectangle 52"/>
            <p:cNvSpPr>
              <a:spLocks noChangeArrowheads="1"/>
            </p:cNvSpPr>
            <p:nvPr/>
          </p:nvSpPr>
          <p:spPr bwMode="auto">
            <a:xfrm>
              <a:off x="2284" y="31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19" name="Oval 53"/>
            <p:cNvSpPr>
              <a:spLocks noChangeArrowheads="1"/>
            </p:cNvSpPr>
            <p:nvPr/>
          </p:nvSpPr>
          <p:spPr bwMode="auto">
            <a:xfrm>
              <a:off x="2428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821" name="Line 55"/>
            <p:cNvSpPr>
              <a:spLocks noChangeShapeType="1"/>
            </p:cNvSpPr>
            <p:nvPr/>
          </p:nvSpPr>
          <p:spPr bwMode="auto">
            <a:xfrm flipV="1">
              <a:off x="2476" y="28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2" name="Line 56"/>
            <p:cNvSpPr>
              <a:spLocks noChangeShapeType="1"/>
            </p:cNvSpPr>
            <p:nvPr/>
          </p:nvSpPr>
          <p:spPr bwMode="auto">
            <a:xfrm>
              <a:off x="2380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3" name="Line 57"/>
            <p:cNvSpPr>
              <a:spLocks noChangeShapeType="1"/>
            </p:cNvSpPr>
            <p:nvPr/>
          </p:nvSpPr>
          <p:spPr bwMode="auto">
            <a:xfrm>
              <a:off x="2572" y="3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4" name="Line 58"/>
            <p:cNvSpPr>
              <a:spLocks noChangeShapeType="1"/>
            </p:cNvSpPr>
            <p:nvPr/>
          </p:nvSpPr>
          <p:spPr bwMode="auto">
            <a:xfrm>
              <a:off x="1804" y="29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5" name="Line 59"/>
            <p:cNvSpPr>
              <a:spLocks noChangeShapeType="1"/>
            </p:cNvSpPr>
            <p:nvPr/>
          </p:nvSpPr>
          <p:spPr bwMode="auto">
            <a:xfrm flipH="1">
              <a:off x="2236" y="2928"/>
              <a:ext cx="52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6" name="Line 60"/>
            <p:cNvSpPr>
              <a:spLocks noChangeShapeType="1"/>
            </p:cNvSpPr>
            <p:nvPr/>
          </p:nvSpPr>
          <p:spPr bwMode="auto">
            <a:xfrm flipH="1">
              <a:off x="1996" y="2928"/>
              <a:ext cx="24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7" name="Line 61"/>
            <p:cNvSpPr>
              <a:spLocks noChangeShapeType="1"/>
            </p:cNvSpPr>
            <p:nvPr/>
          </p:nvSpPr>
          <p:spPr bwMode="auto">
            <a:xfrm>
              <a:off x="2044" y="292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8" name="Line 62"/>
            <p:cNvSpPr>
              <a:spLocks noChangeShapeType="1"/>
            </p:cNvSpPr>
            <p:nvPr/>
          </p:nvSpPr>
          <p:spPr bwMode="auto">
            <a:xfrm>
              <a:off x="22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29" name="Line 63"/>
            <p:cNvSpPr>
              <a:spLocks noChangeShapeType="1"/>
            </p:cNvSpPr>
            <p:nvPr/>
          </p:nvSpPr>
          <p:spPr bwMode="auto">
            <a:xfrm flipH="1">
              <a:off x="1900" y="3456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0" name="Oval 64"/>
            <p:cNvSpPr>
              <a:spLocks noChangeArrowheads="1"/>
            </p:cNvSpPr>
            <p:nvPr/>
          </p:nvSpPr>
          <p:spPr bwMode="auto"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31" name="Line 65"/>
            <p:cNvSpPr>
              <a:spLocks noChangeShapeType="1"/>
            </p:cNvSpPr>
            <p:nvPr/>
          </p:nvSpPr>
          <p:spPr bwMode="auto">
            <a:xfrm>
              <a:off x="2764" y="2928"/>
              <a:ext cx="192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2" name="Line 66"/>
            <p:cNvSpPr>
              <a:spLocks noChangeShapeType="1"/>
            </p:cNvSpPr>
            <p:nvPr/>
          </p:nvSpPr>
          <p:spPr bwMode="auto">
            <a:xfrm>
              <a:off x="2956" y="3456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3" name="Line 67"/>
            <p:cNvSpPr>
              <a:spLocks noChangeShapeType="1"/>
            </p:cNvSpPr>
            <p:nvPr/>
          </p:nvSpPr>
          <p:spPr bwMode="auto">
            <a:xfrm flipV="1">
              <a:off x="3196" y="331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4" name="Line 68"/>
            <p:cNvSpPr>
              <a:spLocks noChangeShapeType="1"/>
            </p:cNvSpPr>
            <p:nvPr/>
          </p:nvSpPr>
          <p:spPr bwMode="auto">
            <a:xfrm flipH="1">
              <a:off x="1708" y="360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5" name="Line 69"/>
            <p:cNvSpPr>
              <a:spLocks noChangeShapeType="1"/>
            </p:cNvSpPr>
            <p:nvPr/>
          </p:nvSpPr>
          <p:spPr bwMode="auto">
            <a:xfrm flipH="1">
              <a:off x="2572" y="36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836" name="Oval 70"/>
            <p:cNvSpPr>
              <a:spLocks noChangeArrowheads="1"/>
            </p:cNvSpPr>
            <p:nvPr/>
          </p:nvSpPr>
          <p:spPr bwMode="auto"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1837" name="Oval 71"/>
            <p:cNvSpPr>
              <a:spLocks noChangeArrowheads="1"/>
            </p:cNvSpPr>
            <p:nvPr/>
          </p:nvSpPr>
          <p:spPr bwMode="auto"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842" name="Line 76"/>
            <p:cNvSpPr>
              <a:spLocks noChangeShapeType="1"/>
            </p:cNvSpPr>
            <p:nvPr/>
          </p:nvSpPr>
          <p:spPr bwMode="auto">
            <a:xfrm>
              <a:off x="33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1747" name="TextBox 87"/>
          <p:cNvSpPr txBox="1">
            <a:spLocks noChangeArrowheads="1"/>
          </p:cNvSpPr>
          <p:nvPr/>
        </p:nvSpPr>
        <p:spPr bwMode="auto">
          <a:xfrm>
            <a:off x="5991225" y="3860800"/>
            <a:ext cx="2339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解决了空翻现象</a:t>
            </a:r>
            <a:endParaRPr lang="en-US" altLang="zh-CN" sz="2400"/>
          </a:p>
        </p:txBody>
      </p:sp>
      <p:graphicFrame>
        <p:nvGraphicFramePr>
          <p:cNvPr id="85" name="表格 84"/>
          <p:cNvGraphicFramePr>
            <a:graphicFrameLocks noGrp="1"/>
          </p:cNvGraphicFramePr>
          <p:nvPr/>
        </p:nvGraphicFramePr>
        <p:xfrm>
          <a:off x="5942013" y="196850"/>
          <a:ext cx="2405062" cy="3024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136"/>
                <a:gridCol w="1533926"/>
              </a:tblGrid>
              <a:tr h="75604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CP</a:t>
                      </a:r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Q</a:t>
                      </a:r>
                      <a:r>
                        <a:rPr lang="en-US" altLang="zh-CN" sz="1800" baseline="300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n+1</a:t>
                      </a:r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不发生变化</a:t>
                      </a:r>
                      <a:endParaRPr lang="en-US" altLang="zh-CN" sz="1800" dirty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4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Q</a:t>
                      </a:r>
                      <a:r>
                        <a:rPr lang="en-US" altLang="zh-CN" sz="1800" baseline="300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n+1</a:t>
                      </a:r>
                      <a:r>
                        <a:rPr lang="en-US" altLang="zh-CN" sz="180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= D</a:t>
                      </a:r>
                      <a:endParaRPr lang="zh-CN" altLang="en-US" sz="1800" dirty="0"/>
                    </a:p>
                  </a:txBody>
                  <a:tcPr marL="91469" marR="91469" marT="45718" marB="4571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764" name="Group 118"/>
          <p:cNvGrpSpPr/>
          <p:nvPr/>
        </p:nvGrpSpPr>
        <p:grpSpPr bwMode="auto">
          <a:xfrm>
            <a:off x="6011863" y="2641600"/>
            <a:ext cx="685800" cy="381000"/>
            <a:chOff x="5088" y="624"/>
            <a:chExt cx="432" cy="240"/>
          </a:xfrm>
        </p:grpSpPr>
        <p:sp>
          <p:nvSpPr>
            <p:cNvPr id="31770" name="Line 99"/>
            <p:cNvSpPr>
              <a:spLocks noChangeShapeType="1"/>
            </p:cNvSpPr>
            <p:nvPr/>
          </p:nvSpPr>
          <p:spPr bwMode="auto">
            <a:xfrm>
              <a:off x="5088" y="8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71" name="Line 100"/>
            <p:cNvSpPr>
              <a:spLocks noChangeShapeType="1"/>
            </p:cNvSpPr>
            <p:nvPr/>
          </p:nvSpPr>
          <p:spPr bwMode="auto">
            <a:xfrm flipV="1">
              <a:off x="5280" y="6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72" name="Line 101"/>
            <p:cNvSpPr>
              <a:spLocks noChangeShapeType="1"/>
            </p:cNvSpPr>
            <p:nvPr/>
          </p:nvSpPr>
          <p:spPr bwMode="auto">
            <a:xfrm>
              <a:off x="5280" y="6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1765" name="TextBox 124"/>
          <p:cNvSpPr txBox="1">
            <a:spLocks noChangeArrowheads="1"/>
          </p:cNvSpPr>
          <p:nvPr/>
        </p:nvSpPr>
        <p:spPr bwMode="auto">
          <a:xfrm>
            <a:off x="5991225" y="4581525"/>
            <a:ext cx="2339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没有了约束条件</a:t>
            </a:r>
            <a:endParaRPr lang="en-US" altLang="zh-CN" sz="2400"/>
          </a:p>
        </p:txBody>
      </p:sp>
      <p:sp>
        <p:nvSpPr>
          <p:cNvPr id="31766" name="椭圆形标注 126"/>
          <p:cNvSpPr>
            <a:spLocks noChangeArrowheads="1"/>
          </p:cNvSpPr>
          <p:nvPr/>
        </p:nvSpPr>
        <p:spPr bwMode="auto">
          <a:xfrm>
            <a:off x="3132138" y="4256088"/>
            <a:ext cx="2330450" cy="649287"/>
          </a:xfrm>
          <a:prstGeom prst="wedgeEllipseCallout">
            <a:avLst>
              <a:gd name="adj1" fmla="val -11019"/>
              <a:gd name="adj2" fmla="val -328639"/>
            </a:avLst>
          </a:prstGeom>
          <a:noFill/>
          <a:ln w="9525" algn="ctr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置</a:t>
            </a:r>
            <a:r>
              <a:rPr lang="en-US" altLang="zh-CN" sz="2400"/>
              <a:t>0</a:t>
            </a:r>
            <a:r>
              <a:rPr lang="zh-CN" altLang="en-US" sz="2400"/>
              <a:t>阻塞线</a:t>
            </a:r>
            <a:endParaRPr lang="zh-CN" altLang="en-US" sz="2400"/>
          </a:p>
        </p:txBody>
      </p:sp>
      <p:sp>
        <p:nvSpPr>
          <p:cNvPr id="31767" name="椭圆形标注 127"/>
          <p:cNvSpPr>
            <a:spLocks noChangeArrowheads="1"/>
          </p:cNvSpPr>
          <p:nvPr/>
        </p:nvSpPr>
        <p:spPr bwMode="auto">
          <a:xfrm>
            <a:off x="271463" y="4305300"/>
            <a:ext cx="2330450" cy="649288"/>
          </a:xfrm>
          <a:prstGeom prst="wedgeEllipseCallout">
            <a:avLst>
              <a:gd name="adj1" fmla="val -15338"/>
              <a:gd name="adj2" fmla="val -338977"/>
            </a:avLst>
          </a:prstGeom>
          <a:noFill/>
          <a:ln w="9525" algn="ctr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置</a:t>
            </a:r>
            <a:r>
              <a:rPr lang="en-US" altLang="zh-CN" sz="2400"/>
              <a:t>1</a:t>
            </a:r>
            <a:r>
              <a:rPr lang="zh-CN" altLang="en-US" sz="2400"/>
              <a:t>维持线</a:t>
            </a:r>
            <a:endParaRPr lang="zh-CN" altLang="en-US" sz="2400"/>
          </a:p>
        </p:txBody>
      </p:sp>
      <p:sp>
        <p:nvSpPr>
          <p:cNvPr id="31768" name="TextBox 128"/>
          <p:cNvSpPr txBox="1">
            <a:spLocks noChangeArrowheads="1"/>
          </p:cNvSpPr>
          <p:nvPr/>
        </p:nvSpPr>
        <p:spPr bwMode="auto">
          <a:xfrm>
            <a:off x="825500" y="5661025"/>
            <a:ext cx="4203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边沿（维持</a:t>
            </a:r>
            <a:r>
              <a:rPr lang="en-US" altLang="zh-CN" sz="2400" b="1"/>
              <a:t>-</a:t>
            </a:r>
            <a:r>
              <a:rPr lang="zh-CN" altLang="en-US" sz="2400" b="1"/>
              <a:t>阻塞）</a:t>
            </a:r>
            <a:r>
              <a:rPr lang="en-US" altLang="zh-CN" sz="2400" b="1"/>
              <a:t>D</a:t>
            </a:r>
            <a:r>
              <a:rPr lang="zh-CN" altLang="en-US" sz="2400" b="1"/>
              <a:t>型触发器</a:t>
            </a:r>
            <a:endParaRPr lang="zh-CN" altLang="en-US" sz="2400" b="1"/>
          </a:p>
        </p:txBody>
      </p:sp>
      <p:sp>
        <p:nvSpPr>
          <p:cNvPr id="130" name="矩形 129"/>
          <p:cNvSpPr/>
          <p:nvPr/>
        </p:nvSpPr>
        <p:spPr>
          <a:xfrm>
            <a:off x="5716588" y="5661025"/>
            <a:ext cx="1200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altLang="zh-CN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n+1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D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0CCD5B-7531-4FC7-9CAA-6B04BA644130}" type="slidenum">
              <a:rPr lang="en-US" altLang="zh-CN" sz="1400"/>
            </a:fld>
            <a:endParaRPr lang="en-US" altLang="zh-CN" sz="140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173038" y="228600"/>
            <a:ext cx="2836862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、状态转换表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652" name="Group 4"/>
          <p:cNvGrpSpPr/>
          <p:nvPr/>
        </p:nvGrpSpPr>
        <p:grpSpPr bwMode="auto">
          <a:xfrm>
            <a:off x="2438400" y="838200"/>
            <a:ext cx="4343400" cy="2781300"/>
            <a:chOff x="384" y="936"/>
            <a:chExt cx="2736" cy="1752"/>
          </a:xfrm>
        </p:grpSpPr>
        <p:sp>
          <p:nvSpPr>
            <p:cNvPr id="32816" name="Line 5"/>
            <p:cNvSpPr>
              <a:spLocks noChangeShapeType="1"/>
            </p:cNvSpPr>
            <p:nvPr/>
          </p:nvSpPr>
          <p:spPr bwMode="auto">
            <a:xfrm>
              <a:off x="384" y="1344"/>
              <a:ext cx="27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7" name="Line 6"/>
            <p:cNvSpPr>
              <a:spLocks noChangeShapeType="1"/>
            </p:cNvSpPr>
            <p:nvPr/>
          </p:nvSpPr>
          <p:spPr bwMode="auto">
            <a:xfrm>
              <a:off x="1728" y="1104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8" name="Line 7"/>
            <p:cNvSpPr>
              <a:spLocks noChangeShapeType="1"/>
            </p:cNvSpPr>
            <p:nvPr/>
          </p:nvSpPr>
          <p:spPr bwMode="auto">
            <a:xfrm>
              <a:off x="2352" y="1056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384" y="936"/>
              <a:ext cx="270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    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 D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     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n+1</a:t>
              </a:r>
              <a:endPara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685" name="Group 37"/>
          <p:cNvGrpSpPr/>
          <p:nvPr/>
        </p:nvGrpSpPr>
        <p:grpSpPr bwMode="auto">
          <a:xfrm>
            <a:off x="3048000" y="4957763"/>
            <a:ext cx="4038600" cy="1219200"/>
            <a:chOff x="1920" y="1200"/>
            <a:chExt cx="2544" cy="768"/>
          </a:xfrm>
        </p:grpSpPr>
        <p:sp>
          <p:nvSpPr>
            <p:cNvPr id="32812" name="Oval 38"/>
            <p:cNvSpPr>
              <a:spLocks noChangeArrowheads="1"/>
            </p:cNvSpPr>
            <p:nvPr/>
          </p:nvSpPr>
          <p:spPr bwMode="auto">
            <a:xfrm>
              <a:off x="3696" y="1200"/>
              <a:ext cx="768" cy="72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813" name="Oval 39"/>
            <p:cNvSpPr>
              <a:spLocks noChangeArrowheads="1"/>
            </p:cNvSpPr>
            <p:nvPr/>
          </p:nvSpPr>
          <p:spPr bwMode="auto">
            <a:xfrm>
              <a:off x="1920" y="1248"/>
              <a:ext cx="768" cy="72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88" name="Rectangle 40"/>
            <p:cNvSpPr>
              <a:spLocks noChangeArrowheads="1"/>
            </p:cNvSpPr>
            <p:nvPr/>
          </p:nvSpPr>
          <p:spPr bwMode="auto">
            <a:xfrm>
              <a:off x="2160" y="138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Rectangle 41"/>
            <p:cNvSpPr>
              <a:spLocks noChangeArrowheads="1"/>
            </p:cNvSpPr>
            <p:nvPr/>
          </p:nvSpPr>
          <p:spPr bwMode="auto">
            <a:xfrm>
              <a:off x="3936" y="133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704" name="Group 56"/>
          <p:cNvGrpSpPr/>
          <p:nvPr/>
        </p:nvGrpSpPr>
        <p:grpSpPr bwMode="auto">
          <a:xfrm>
            <a:off x="1600200" y="4195763"/>
            <a:ext cx="1677988" cy="1830387"/>
            <a:chOff x="1008" y="2643"/>
            <a:chExt cx="1057" cy="1153"/>
          </a:xfrm>
        </p:grpSpPr>
        <p:sp>
          <p:nvSpPr>
            <p:cNvPr id="32809" name="Arc 43"/>
            <p:cNvSpPr/>
            <p:nvPr/>
          </p:nvSpPr>
          <p:spPr bwMode="auto">
            <a:xfrm>
              <a:off x="1298" y="3125"/>
              <a:ext cx="767" cy="671"/>
            </a:xfrm>
            <a:custGeom>
              <a:avLst/>
              <a:gdLst>
                <a:gd name="T0" fmla="*/ 0 w 38370"/>
                <a:gd name="T1" fmla="*/ 0 h 43200"/>
                <a:gd name="T2" fmla="*/ 0 w 38370"/>
                <a:gd name="T3" fmla="*/ 0 h 43200"/>
                <a:gd name="T4" fmla="*/ 0 w 3837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370" h="43200" fill="none" extrusionOk="0">
                  <a:moveTo>
                    <a:pt x="32040" y="40508"/>
                  </a:moveTo>
                  <a:cubicBezTo>
                    <a:pt x="28844" y="42274"/>
                    <a:pt x="2525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</a:path>
                <a:path w="38370" h="43200" stroke="0" extrusionOk="0">
                  <a:moveTo>
                    <a:pt x="32040" y="40508"/>
                  </a:moveTo>
                  <a:cubicBezTo>
                    <a:pt x="28844" y="42274"/>
                    <a:pt x="2525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  <a:lnTo>
                    <a:pt x="21600" y="21600"/>
                  </a:lnTo>
                  <a:lnTo>
                    <a:pt x="32040" y="4050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2" name="Rectangle 44"/>
            <p:cNvSpPr>
              <a:spLocks noChangeArrowheads="1"/>
            </p:cNvSpPr>
            <p:nvPr/>
          </p:nvSpPr>
          <p:spPr bwMode="auto">
            <a:xfrm>
              <a:off x="1248" y="2643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93" name="Rectangle 45"/>
            <p:cNvSpPr>
              <a:spLocks noChangeArrowheads="1"/>
            </p:cNvSpPr>
            <p:nvPr/>
          </p:nvSpPr>
          <p:spPr bwMode="auto">
            <a:xfrm>
              <a:off x="1008" y="3171"/>
              <a:ext cx="6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705" name="Group 57"/>
          <p:cNvGrpSpPr/>
          <p:nvPr/>
        </p:nvGrpSpPr>
        <p:grpSpPr bwMode="auto">
          <a:xfrm>
            <a:off x="4038600" y="4005263"/>
            <a:ext cx="2073275" cy="1439862"/>
            <a:chOff x="2544" y="2523"/>
            <a:chExt cx="1306" cy="907"/>
          </a:xfrm>
        </p:grpSpPr>
        <p:sp>
          <p:nvSpPr>
            <p:cNvPr id="32807" name="Arc 47"/>
            <p:cNvSpPr/>
            <p:nvPr/>
          </p:nvSpPr>
          <p:spPr bwMode="auto">
            <a:xfrm>
              <a:off x="2544" y="2931"/>
              <a:ext cx="1306" cy="499"/>
            </a:xfrm>
            <a:custGeom>
              <a:avLst/>
              <a:gdLst>
                <a:gd name="T0" fmla="*/ 0 w 40070"/>
                <a:gd name="T1" fmla="*/ 0 h 21600"/>
                <a:gd name="T2" fmla="*/ 0 w 40070"/>
                <a:gd name="T3" fmla="*/ 0 h 21600"/>
                <a:gd name="T4" fmla="*/ 0 w 400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070" h="21600" fill="none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6" name="Rectangle 48"/>
            <p:cNvSpPr>
              <a:spLocks noChangeArrowheads="1"/>
            </p:cNvSpPr>
            <p:nvPr/>
          </p:nvSpPr>
          <p:spPr bwMode="auto">
            <a:xfrm>
              <a:off x="2976" y="252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706" name="Group 58"/>
          <p:cNvGrpSpPr/>
          <p:nvPr/>
        </p:nvGrpSpPr>
        <p:grpSpPr bwMode="auto">
          <a:xfrm>
            <a:off x="6781800" y="4500563"/>
            <a:ext cx="1539875" cy="1295400"/>
            <a:chOff x="4272" y="2835"/>
            <a:chExt cx="970" cy="816"/>
          </a:xfrm>
        </p:grpSpPr>
        <p:sp>
          <p:nvSpPr>
            <p:cNvPr id="32805" name="Arc 50"/>
            <p:cNvSpPr/>
            <p:nvPr/>
          </p:nvSpPr>
          <p:spPr bwMode="auto">
            <a:xfrm>
              <a:off x="4272" y="2835"/>
              <a:ext cx="720" cy="816"/>
            </a:xfrm>
            <a:custGeom>
              <a:avLst/>
              <a:gdLst>
                <a:gd name="T0" fmla="*/ 0 w 42712"/>
                <a:gd name="T1" fmla="*/ 0 h 43200"/>
                <a:gd name="T2" fmla="*/ 0 w 42712"/>
                <a:gd name="T3" fmla="*/ 0 h 43200"/>
                <a:gd name="T4" fmla="*/ 0 w 4271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712" h="43200" fill="none" extrusionOk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</a:path>
                <a:path w="42712" h="43200" stroke="0" extrusionOk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  <a:lnTo>
                    <a:pt x="21112" y="21600"/>
                  </a:lnTo>
                  <a:lnTo>
                    <a:pt x="0" y="17033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9" name="Rectangle 51"/>
            <p:cNvSpPr>
              <a:spLocks noChangeArrowheads="1"/>
            </p:cNvSpPr>
            <p:nvPr/>
          </p:nvSpPr>
          <p:spPr bwMode="auto">
            <a:xfrm>
              <a:off x="4998" y="30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707" name="Group 59"/>
          <p:cNvGrpSpPr/>
          <p:nvPr/>
        </p:nvGrpSpPr>
        <p:grpSpPr bwMode="auto">
          <a:xfrm>
            <a:off x="4114800" y="5719763"/>
            <a:ext cx="2065338" cy="757237"/>
            <a:chOff x="2592" y="3603"/>
            <a:chExt cx="1301" cy="477"/>
          </a:xfrm>
        </p:grpSpPr>
        <p:sp>
          <p:nvSpPr>
            <p:cNvPr id="32803" name="Arc 53"/>
            <p:cNvSpPr/>
            <p:nvPr/>
          </p:nvSpPr>
          <p:spPr bwMode="auto">
            <a:xfrm flipV="1">
              <a:off x="2592" y="3603"/>
              <a:ext cx="1301" cy="477"/>
            </a:xfrm>
            <a:custGeom>
              <a:avLst/>
              <a:gdLst>
                <a:gd name="T0" fmla="*/ 0 w 40070"/>
                <a:gd name="T1" fmla="*/ 0 h 21600"/>
                <a:gd name="T2" fmla="*/ 0 w 40070"/>
                <a:gd name="T3" fmla="*/ 0 h 21600"/>
                <a:gd name="T4" fmla="*/ 0 w 400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070" h="21600" fill="none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 extrusionOk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2" name="Rectangle 54"/>
            <p:cNvSpPr>
              <a:spLocks noChangeArrowheads="1"/>
            </p:cNvSpPr>
            <p:nvPr/>
          </p:nvSpPr>
          <p:spPr bwMode="auto">
            <a:xfrm>
              <a:off x="3024" y="362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7703" name="Rectangle 55"/>
          <p:cNvSpPr>
            <a:spLocks noChangeArrowheads="1"/>
          </p:cNvSpPr>
          <p:nvPr/>
        </p:nvSpPr>
        <p:spPr bwMode="auto">
          <a:xfrm>
            <a:off x="152400" y="3657600"/>
            <a:ext cx="2020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、状态图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728" name="Group 80"/>
          <p:cNvGrpSpPr/>
          <p:nvPr/>
        </p:nvGrpSpPr>
        <p:grpSpPr bwMode="auto">
          <a:xfrm>
            <a:off x="2466975" y="1447800"/>
            <a:ext cx="3889375" cy="579438"/>
            <a:chOff x="1554" y="912"/>
            <a:chExt cx="2450" cy="365"/>
          </a:xfrm>
        </p:grpSpPr>
        <p:sp>
          <p:nvSpPr>
            <p:cNvPr id="27663" name="Rectangle 15"/>
            <p:cNvSpPr>
              <a:spLocks noChangeArrowheads="1"/>
            </p:cNvSpPr>
            <p:nvPr/>
          </p:nvSpPr>
          <p:spPr bwMode="auto">
            <a:xfrm>
              <a:off x="2352" y="912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0     0    0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799" name="Line 62"/>
            <p:cNvSpPr>
              <a:spLocks noChangeShapeType="1"/>
            </p:cNvSpPr>
            <p:nvPr/>
          </p:nvSpPr>
          <p:spPr bwMode="auto">
            <a:xfrm flipV="1">
              <a:off x="1746" y="999"/>
              <a:ext cx="1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2800" name="Group 67"/>
            <p:cNvGrpSpPr/>
            <p:nvPr/>
          </p:nvGrpSpPr>
          <p:grpSpPr bwMode="auto">
            <a:xfrm>
              <a:off x="1554" y="999"/>
              <a:ext cx="432" cy="175"/>
              <a:chOff x="5088" y="624"/>
              <a:chExt cx="432" cy="240"/>
            </a:xfrm>
          </p:grpSpPr>
          <p:sp>
            <p:nvSpPr>
              <p:cNvPr id="32801" name="Line 61"/>
              <p:cNvSpPr>
                <a:spLocks noChangeShapeType="1"/>
              </p:cNvSpPr>
              <p:nvPr/>
            </p:nvSpPr>
            <p:spPr bwMode="auto">
              <a:xfrm>
                <a:off x="5088" y="8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02" name="Line 63"/>
              <p:cNvSpPr>
                <a:spLocks noChangeShapeType="1"/>
              </p:cNvSpPr>
              <p:nvPr/>
            </p:nvSpPr>
            <p:spPr bwMode="auto">
              <a:xfrm>
                <a:off x="5280" y="62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7729" name="Group 81"/>
          <p:cNvGrpSpPr/>
          <p:nvPr/>
        </p:nvGrpSpPr>
        <p:grpSpPr bwMode="auto">
          <a:xfrm>
            <a:off x="2474913" y="1905000"/>
            <a:ext cx="3881437" cy="579438"/>
            <a:chOff x="1559" y="1200"/>
            <a:chExt cx="2445" cy="365"/>
          </a:xfrm>
        </p:grpSpPr>
        <p:sp>
          <p:nvSpPr>
            <p:cNvPr id="7" name="Rectangle 22"/>
            <p:cNvSpPr>
              <a:spLocks noChangeArrowheads="1"/>
            </p:cNvSpPr>
            <p:nvPr/>
          </p:nvSpPr>
          <p:spPr bwMode="auto">
            <a:xfrm>
              <a:off x="2352" y="1200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794" name="Line 68"/>
            <p:cNvSpPr>
              <a:spLocks noChangeShapeType="1"/>
            </p:cNvSpPr>
            <p:nvPr/>
          </p:nvSpPr>
          <p:spPr bwMode="auto">
            <a:xfrm flipV="1">
              <a:off x="1751" y="1314"/>
              <a:ext cx="1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2795" name="Group 69"/>
            <p:cNvGrpSpPr/>
            <p:nvPr/>
          </p:nvGrpSpPr>
          <p:grpSpPr bwMode="auto">
            <a:xfrm>
              <a:off x="1559" y="1314"/>
              <a:ext cx="432" cy="175"/>
              <a:chOff x="5088" y="624"/>
              <a:chExt cx="432" cy="240"/>
            </a:xfrm>
          </p:grpSpPr>
          <p:sp>
            <p:nvSpPr>
              <p:cNvPr id="32796" name="Line 70"/>
              <p:cNvSpPr>
                <a:spLocks noChangeShapeType="1"/>
              </p:cNvSpPr>
              <p:nvPr/>
            </p:nvSpPr>
            <p:spPr bwMode="auto">
              <a:xfrm>
                <a:off x="5088" y="8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7" name="Line 71"/>
              <p:cNvSpPr>
                <a:spLocks noChangeShapeType="1"/>
              </p:cNvSpPr>
              <p:nvPr/>
            </p:nvSpPr>
            <p:spPr bwMode="auto">
              <a:xfrm>
                <a:off x="5280" y="62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7730" name="Group 82"/>
          <p:cNvGrpSpPr/>
          <p:nvPr/>
        </p:nvGrpSpPr>
        <p:grpSpPr bwMode="auto">
          <a:xfrm>
            <a:off x="2470150" y="2438400"/>
            <a:ext cx="3886200" cy="579438"/>
            <a:chOff x="1556" y="1536"/>
            <a:chExt cx="2448" cy="365"/>
          </a:xfrm>
        </p:grpSpPr>
        <p:sp>
          <p:nvSpPr>
            <p:cNvPr id="27677" name="Rectangle 29"/>
            <p:cNvSpPr>
              <a:spLocks noChangeArrowheads="1"/>
            </p:cNvSpPr>
            <p:nvPr/>
          </p:nvSpPr>
          <p:spPr bwMode="auto">
            <a:xfrm>
              <a:off x="2352" y="1536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1     0    0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789" name="Line 72"/>
            <p:cNvSpPr>
              <a:spLocks noChangeShapeType="1"/>
            </p:cNvSpPr>
            <p:nvPr/>
          </p:nvSpPr>
          <p:spPr bwMode="auto">
            <a:xfrm flipV="1">
              <a:off x="1748" y="1661"/>
              <a:ext cx="1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2790" name="Group 73"/>
            <p:cNvGrpSpPr/>
            <p:nvPr/>
          </p:nvGrpSpPr>
          <p:grpSpPr bwMode="auto">
            <a:xfrm>
              <a:off x="1556" y="1661"/>
              <a:ext cx="432" cy="175"/>
              <a:chOff x="5088" y="624"/>
              <a:chExt cx="432" cy="240"/>
            </a:xfrm>
          </p:grpSpPr>
          <p:sp>
            <p:nvSpPr>
              <p:cNvPr id="32791" name="Line 74"/>
              <p:cNvSpPr>
                <a:spLocks noChangeShapeType="1"/>
              </p:cNvSpPr>
              <p:nvPr/>
            </p:nvSpPr>
            <p:spPr bwMode="auto">
              <a:xfrm>
                <a:off x="5088" y="8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2" name="Line 75"/>
              <p:cNvSpPr>
                <a:spLocks noChangeShapeType="1"/>
              </p:cNvSpPr>
              <p:nvPr/>
            </p:nvSpPr>
            <p:spPr bwMode="auto">
              <a:xfrm>
                <a:off x="5280" y="62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7731" name="Group 83"/>
          <p:cNvGrpSpPr/>
          <p:nvPr/>
        </p:nvGrpSpPr>
        <p:grpSpPr bwMode="auto">
          <a:xfrm>
            <a:off x="2484438" y="2994025"/>
            <a:ext cx="3871912" cy="579438"/>
            <a:chOff x="1565" y="1886"/>
            <a:chExt cx="2439" cy="365"/>
          </a:xfrm>
        </p:grpSpPr>
        <p:sp>
          <p:nvSpPr>
            <p:cNvPr id="27684" name="Rectangle 36"/>
            <p:cNvSpPr>
              <a:spLocks noChangeArrowheads="1"/>
            </p:cNvSpPr>
            <p:nvPr/>
          </p:nvSpPr>
          <p:spPr bwMode="auto">
            <a:xfrm>
              <a:off x="2352" y="1886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784" name="Line 76"/>
            <p:cNvSpPr>
              <a:spLocks noChangeShapeType="1"/>
            </p:cNvSpPr>
            <p:nvPr/>
          </p:nvSpPr>
          <p:spPr bwMode="auto">
            <a:xfrm flipV="1">
              <a:off x="1757" y="1958"/>
              <a:ext cx="1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2785" name="Group 77"/>
            <p:cNvGrpSpPr/>
            <p:nvPr/>
          </p:nvGrpSpPr>
          <p:grpSpPr bwMode="auto">
            <a:xfrm>
              <a:off x="1565" y="1958"/>
              <a:ext cx="432" cy="175"/>
              <a:chOff x="5088" y="624"/>
              <a:chExt cx="432" cy="240"/>
            </a:xfrm>
          </p:grpSpPr>
          <p:sp>
            <p:nvSpPr>
              <p:cNvPr id="32786" name="Line 78"/>
              <p:cNvSpPr>
                <a:spLocks noChangeShapeType="1"/>
              </p:cNvSpPr>
              <p:nvPr/>
            </p:nvSpPr>
            <p:spPr bwMode="auto">
              <a:xfrm>
                <a:off x="5088" y="8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87" name="Line 79"/>
              <p:cNvSpPr>
                <a:spLocks noChangeShapeType="1"/>
              </p:cNvSpPr>
              <p:nvPr/>
            </p:nvSpPr>
            <p:spPr bwMode="auto">
              <a:xfrm>
                <a:off x="5280" y="62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3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2CD233-C9FC-4B11-9831-8BF31C951AE0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1613" y="2286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、特征方程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987800" y="1066800"/>
            <a:ext cx="119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=D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01613" y="20574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、逻辑符号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8712" name="Group 40"/>
          <p:cNvGrpSpPr/>
          <p:nvPr/>
        </p:nvGrpSpPr>
        <p:grpSpPr bwMode="auto">
          <a:xfrm>
            <a:off x="3041650" y="3124200"/>
            <a:ext cx="3186113" cy="2209800"/>
            <a:chOff x="1916" y="1968"/>
            <a:chExt cx="2007" cy="1392"/>
          </a:xfrm>
        </p:grpSpPr>
        <p:sp>
          <p:nvSpPr>
            <p:cNvPr id="33799" name="Rectangle 27"/>
            <p:cNvSpPr>
              <a:spLocks noChangeArrowheads="1"/>
            </p:cNvSpPr>
            <p:nvPr/>
          </p:nvSpPr>
          <p:spPr bwMode="auto">
            <a:xfrm>
              <a:off x="2684" y="2016"/>
              <a:ext cx="980" cy="134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3800" name="Line 28"/>
            <p:cNvSpPr>
              <a:spLocks noChangeShapeType="1"/>
            </p:cNvSpPr>
            <p:nvPr/>
          </p:nvSpPr>
          <p:spPr bwMode="auto">
            <a:xfrm>
              <a:off x="2684" y="2460"/>
              <a:ext cx="196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1" name="Line 29"/>
            <p:cNvSpPr>
              <a:spLocks noChangeShapeType="1"/>
            </p:cNvSpPr>
            <p:nvPr/>
          </p:nvSpPr>
          <p:spPr bwMode="auto">
            <a:xfrm flipV="1">
              <a:off x="2684" y="2604"/>
              <a:ext cx="196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2" name="Line 30"/>
            <p:cNvSpPr>
              <a:spLocks noChangeShapeType="1"/>
            </p:cNvSpPr>
            <p:nvPr/>
          </p:nvSpPr>
          <p:spPr bwMode="auto">
            <a:xfrm>
              <a:off x="3727" y="3072"/>
              <a:ext cx="19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3" name="Line 31"/>
            <p:cNvSpPr>
              <a:spLocks noChangeShapeType="1"/>
            </p:cNvSpPr>
            <p:nvPr/>
          </p:nvSpPr>
          <p:spPr bwMode="auto">
            <a:xfrm flipH="1">
              <a:off x="2300" y="2592"/>
              <a:ext cx="39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2684" y="19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3404" y="19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3404" y="28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1916" y="2478"/>
              <a:ext cx="5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08" name="Line 36"/>
            <p:cNvSpPr>
              <a:spLocks noChangeShapeType="1"/>
            </p:cNvSpPr>
            <p:nvPr/>
          </p:nvSpPr>
          <p:spPr bwMode="auto">
            <a:xfrm>
              <a:off x="3662" y="21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9" name="Line 37"/>
            <p:cNvSpPr>
              <a:spLocks noChangeShapeType="1"/>
            </p:cNvSpPr>
            <p:nvPr/>
          </p:nvSpPr>
          <p:spPr bwMode="auto">
            <a:xfrm>
              <a:off x="3452" y="295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0" name="Line 38"/>
            <p:cNvSpPr>
              <a:spLocks noChangeShapeType="1"/>
            </p:cNvSpPr>
            <p:nvPr/>
          </p:nvSpPr>
          <p:spPr bwMode="auto">
            <a:xfrm flipH="1">
              <a:off x="2492" y="22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1" name="Oval 39"/>
            <p:cNvSpPr>
              <a:spLocks noChangeArrowheads="1"/>
            </p:cNvSpPr>
            <p:nvPr/>
          </p:nvSpPr>
          <p:spPr bwMode="auto">
            <a:xfrm>
              <a:off x="3651" y="3031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76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562A16-5DEB-4DFF-8481-C84101E92AD4}" type="slidenum">
              <a:rPr lang="en-US" altLang="zh-CN" sz="1400"/>
            </a:fld>
            <a:endParaRPr lang="en-US" altLang="zh-CN" sz="1400"/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173038" y="152400"/>
            <a:ext cx="1612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、优点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152400" y="896938"/>
            <a:ext cx="6076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有时钟信号，可以同步工作；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158750" y="1628775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没有约束条件；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152400" y="3135313"/>
            <a:ext cx="2836863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、存在的问题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131763" y="3916363"/>
            <a:ext cx="62801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只有一个输入端，逻辑功能简单。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152400" y="2389188"/>
            <a:ext cx="440690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解决了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空翻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问题。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1" grpId="0" animBg="1" autoUpdateAnimBg="0"/>
      <p:bldP spid="29722" grpId="0" animBg="1" autoUpdateAnimBg="0"/>
      <p:bldP spid="29723" grpId="0" animBg="1" autoUpdateAnimBg="0"/>
      <p:bldP spid="29724" grpId="0" animBg="1" autoUpdateAnimBg="0"/>
      <p:bldP spid="29725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EF89E9-6559-4DF4-A8CC-63D2D92DEB8F}" type="slidenum">
              <a:rPr lang="en-US" altLang="zh-CN" sz="1400"/>
            </a:fld>
            <a:endParaRPr lang="en-US" altLang="zh-CN" sz="1400"/>
          </a:p>
        </p:txBody>
      </p:sp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2286000" y="187325"/>
            <a:ext cx="44958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4.4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集成触发器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171450" y="1993900"/>
            <a:ext cx="2528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、逻辑符号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152400" y="1108075"/>
            <a:ext cx="4635500" cy="70675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4.4.1 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</a:t>
            </a: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9925" name="Group 5"/>
          <p:cNvGrpSpPr/>
          <p:nvPr/>
        </p:nvGrpSpPr>
        <p:grpSpPr bwMode="auto">
          <a:xfrm>
            <a:off x="4953000" y="1571625"/>
            <a:ext cx="3200400" cy="3076575"/>
            <a:chOff x="3120" y="990"/>
            <a:chExt cx="2016" cy="1938"/>
          </a:xfrm>
        </p:grpSpPr>
        <p:sp>
          <p:nvSpPr>
            <p:cNvPr id="58395" name="Rectangle 6"/>
            <p:cNvSpPr>
              <a:spLocks noChangeArrowheads="1"/>
            </p:cNvSpPr>
            <p:nvPr/>
          </p:nvSpPr>
          <p:spPr bwMode="auto">
            <a:xfrm>
              <a:off x="3888" y="1232"/>
              <a:ext cx="960" cy="145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96" name="Line 7"/>
            <p:cNvSpPr>
              <a:spLocks noChangeShapeType="1"/>
            </p:cNvSpPr>
            <p:nvPr/>
          </p:nvSpPr>
          <p:spPr bwMode="auto">
            <a:xfrm>
              <a:off x="3888" y="1765"/>
              <a:ext cx="192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97" name="Line 8"/>
            <p:cNvSpPr>
              <a:spLocks noChangeShapeType="1"/>
            </p:cNvSpPr>
            <p:nvPr/>
          </p:nvSpPr>
          <p:spPr bwMode="auto">
            <a:xfrm flipV="1">
              <a:off x="3888" y="1911"/>
              <a:ext cx="192" cy="1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98" name="Oval 9"/>
            <p:cNvSpPr>
              <a:spLocks noChangeArrowheads="1"/>
            </p:cNvSpPr>
            <p:nvPr/>
          </p:nvSpPr>
          <p:spPr bwMode="auto">
            <a:xfrm>
              <a:off x="4320" y="2686"/>
              <a:ext cx="96" cy="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99" name="Oval 10"/>
            <p:cNvSpPr>
              <a:spLocks noChangeArrowheads="1"/>
            </p:cNvSpPr>
            <p:nvPr/>
          </p:nvSpPr>
          <p:spPr bwMode="auto">
            <a:xfrm>
              <a:off x="4320" y="1135"/>
              <a:ext cx="96" cy="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00" name="Line 11"/>
            <p:cNvSpPr>
              <a:spLocks noChangeShapeType="1"/>
            </p:cNvSpPr>
            <p:nvPr/>
          </p:nvSpPr>
          <p:spPr bwMode="auto">
            <a:xfrm flipV="1">
              <a:off x="4368" y="990"/>
              <a:ext cx="0" cy="1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1" name="Line 12"/>
            <p:cNvSpPr>
              <a:spLocks noChangeShapeType="1"/>
            </p:cNvSpPr>
            <p:nvPr/>
          </p:nvSpPr>
          <p:spPr bwMode="auto">
            <a:xfrm>
              <a:off x="4368" y="2783"/>
              <a:ext cx="0" cy="1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2" name="Line 13"/>
            <p:cNvSpPr>
              <a:spLocks noChangeShapeType="1"/>
            </p:cNvSpPr>
            <p:nvPr/>
          </p:nvSpPr>
          <p:spPr bwMode="auto">
            <a:xfrm>
              <a:off x="4848" y="147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3" name="Line 14"/>
            <p:cNvSpPr>
              <a:spLocks noChangeShapeType="1"/>
            </p:cNvSpPr>
            <p:nvPr/>
          </p:nvSpPr>
          <p:spPr bwMode="auto">
            <a:xfrm>
              <a:off x="4944" y="236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4" name="Line 15"/>
            <p:cNvSpPr>
              <a:spLocks noChangeShapeType="1"/>
            </p:cNvSpPr>
            <p:nvPr/>
          </p:nvSpPr>
          <p:spPr bwMode="auto">
            <a:xfrm flipH="1">
              <a:off x="3504" y="191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5" name="Line 16"/>
            <p:cNvSpPr>
              <a:spLocks noChangeShapeType="1"/>
            </p:cNvSpPr>
            <p:nvPr/>
          </p:nvSpPr>
          <p:spPr bwMode="auto">
            <a:xfrm flipH="1">
              <a:off x="3648" y="1475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37" name="Rectangle 17"/>
            <p:cNvSpPr>
              <a:spLocks noChangeArrowheads="1"/>
            </p:cNvSpPr>
            <p:nvPr/>
          </p:nvSpPr>
          <p:spPr bwMode="auto">
            <a:xfrm>
              <a:off x="3888" y="127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9938" name="Rectangle 18"/>
            <p:cNvSpPr>
              <a:spLocks noChangeArrowheads="1"/>
            </p:cNvSpPr>
            <p:nvPr/>
          </p:nvSpPr>
          <p:spPr bwMode="auto">
            <a:xfrm>
              <a:off x="4512" y="127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9939" name="Rectangle 19"/>
            <p:cNvSpPr>
              <a:spLocks noChangeArrowheads="1"/>
            </p:cNvSpPr>
            <p:nvPr/>
          </p:nvSpPr>
          <p:spPr bwMode="auto">
            <a:xfrm>
              <a:off x="4512" y="219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9940" name="Rectangle 20"/>
            <p:cNvSpPr>
              <a:spLocks noChangeArrowheads="1"/>
            </p:cNvSpPr>
            <p:nvPr/>
          </p:nvSpPr>
          <p:spPr bwMode="auto">
            <a:xfrm>
              <a:off x="3120" y="1765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9941" name="Rectangle 21"/>
            <p:cNvSpPr>
              <a:spLocks noChangeArrowheads="1"/>
            </p:cNvSpPr>
            <p:nvPr/>
          </p:nvSpPr>
          <p:spPr bwMode="auto">
            <a:xfrm>
              <a:off x="4224" y="1248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11" name="Line 22"/>
            <p:cNvSpPr>
              <a:spLocks noChangeShapeType="1"/>
            </p:cNvSpPr>
            <p:nvPr/>
          </p:nvSpPr>
          <p:spPr bwMode="auto">
            <a:xfrm>
              <a:off x="4272" y="12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43" name="Rectangle 23"/>
            <p:cNvSpPr>
              <a:spLocks noChangeArrowheads="1"/>
            </p:cNvSpPr>
            <p:nvPr/>
          </p:nvSpPr>
          <p:spPr bwMode="auto">
            <a:xfrm>
              <a:off x="4176" y="229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13" name="Line 24"/>
            <p:cNvSpPr>
              <a:spLocks noChangeShapeType="1"/>
            </p:cNvSpPr>
            <p:nvPr/>
          </p:nvSpPr>
          <p:spPr bwMode="auto">
            <a:xfrm>
              <a:off x="4224" y="234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4" name="Line 25"/>
            <p:cNvSpPr>
              <a:spLocks noChangeShapeType="1"/>
            </p:cNvSpPr>
            <p:nvPr/>
          </p:nvSpPr>
          <p:spPr bwMode="auto">
            <a:xfrm>
              <a:off x="4560" y="225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5" name="Oval 26"/>
            <p:cNvSpPr>
              <a:spLocks noChangeArrowheads="1"/>
            </p:cNvSpPr>
            <p:nvPr/>
          </p:nvSpPr>
          <p:spPr bwMode="auto">
            <a:xfrm>
              <a:off x="4848" y="2316"/>
              <a:ext cx="96" cy="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09947" name="Rectangle 27"/>
          <p:cNvSpPr>
            <a:spLocks noChangeArrowheads="1"/>
          </p:cNvSpPr>
          <p:nvPr/>
        </p:nvSpPr>
        <p:spPr bwMode="auto">
          <a:xfrm>
            <a:off x="169863" y="2773363"/>
            <a:ext cx="2530475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、特征方程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9948" name="Rectangle 28"/>
          <p:cNvSpPr>
            <a:spLocks noChangeArrowheads="1"/>
          </p:cNvSpPr>
          <p:nvPr/>
        </p:nvSpPr>
        <p:spPr bwMode="auto">
          <a:xfrm>
            <a:off x="171450" y="3459163"/>
            <a:ext cx="3028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同步工作时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9949" name="Group 29"/>
          <p:cNvGrpSpPr/>
          <p:nvPr/>
        </p:nvGrpSpPr>
        <p:grpSpPr bwMode="auto">
          <a:xfrm>
            <a:off x="1143000" y="4038600"/>
            <a:ext cx="4267200" cy="1165225"/>
            <a:chOff x="720" y="2544"/>
            <a:chExt cx="2688" cy="734"/>
          </a:xfrm>
        </p:grpSpPr>
        <p:sp>
          <p:nvSpPr>
            <p:cNvPr id="58384" name="Line 30"/>
            <p:cNvSpPr>
              <a:spLocks noChangeShapeType="1"/>
            </p:cNvSpPr>
            <p:nvPr/>
          </p:nvSpPr>
          <p:spPr bwMode="auto">
            <a:xfrm>
              <a:off x="2503" y="2832"/>
              <a:ext cx="2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5" name="Line 31"/>
            <p:cNvSpPr>
              <a:spLocks noChangeShapeType="1"/>
            </p:cNvSpPr>
            <p:nvPr/>
          </p:nvSpPr>
          <p:spPr bwMode="auto">
            <a:xfrm>
              <a:off x="2794" y="2832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6" name="Line 32"/>
            <p:cNvSpPr>
              <a:spLocks noChangeShapeType="1"/>
            </p:cNvSpPr>
            <p:nvPr/>
          </p:nvSpPr>
          <p:spPr bwMode="auto">
            <a:xfrm flipV="1">
              <a:off x="2794" y="2638"/>
              <a:ext cx="0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7" name="Line 33"/>
            <p:cNvSpPr>
              <a:spLocks noChangeShapeType="1"/>
            </p:cNvSpPr>
            <p:nvPr/>
          </p:nvSpPr>
          <p:spPr bwMode="auto">
            <a:xfrm>
              <a:off x="2794" y="2638"/>
              <a:ext cx="2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8" name="Line 34"/>
            <p:cNvSpPr>
              <a:spLocks noChangeShapeType="1"/>
            </p:cNvSpPr>
            <p:nvPr/>
          </p:nvSpPr>
          <p:spPr bwMode="auto">
            <a:xfrm>
              <a:off x="3036" y="2638"/>
              <a:ext cx="0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9" name="Line 35"/>
            <p:cNvSpPr>
              <a:spLocks noChangeShapeType="1"/>
            </p:cNvSpPr>
            <p:nvPr/>
          </p:nvSpPr>
          <p:spPr bwMode="auto">
            <a:xfrm>
              <a:off x="3036" y="2832"/>
              <a:ext cx="1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56" name="Rectangle 36"/>
            <p:cNvSpPr>
              <a:spLocks noChangeArrowheads="1"/>
            </p:cNvSpPr>
            <p:nvPr/>
          </p:nvSpPr>
          <p:spPr bwMode="auto">
            <a:xfrm>
              <a:off x="1960" y="2913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8391" name="Object 37"/>
            <p:cNvGraphicFramePr>
              <a:graphicFrameLocks noChangeAspect="1"/>
            </p:cNvGraphicFramePr>
            <p:nvPr/>
          </p:nvGraphicFramePr>
          <p:xfrm>
            <a:off x="828" y="2592"/>
            <a:ext cx="94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12" name="Equation" r:id="rId1" imgW="326390" imgH="108585" progId="Equation.3">
                    <p:embed/>
                  </p:oleObj>
                </mc:Choice>
                <mc:Fallback>
                  <p:oleObj name="Equation" r:id="rId1" imgW="326390" imgH="10858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2592"/>
                          <a:ext cx="94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2" name="Object 38"/>
            <p:cNvGraphicFramePr>
              <a:graphicFrameLocks noChangeAspect="1"/>
            </p:cNvGraphicFramePr>
            <p:nvPr/>
          </p:nvGraphicFramePr>
          <p:xfrm>
            <a:off x="834" y="2928"/>
            <a:ext cx="114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13" name="Equation" r:id="rId3" imgW="397510" imgH="103505" progId="Equation.3">
                    <p:embed/>
                  </p:oleObj>
                </mc:Choice>
                <mc:Fallback>
                  <p:oleObj name="Equation" r:id="rId3" imgW="397510" imgH="10350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" y="2928"/>
                          <a:ext cx="1142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59" name="Rectangle 39"/>
            <p:cNvSpPr>
              <a:spLocks noChangeArrowheads="1"/>
            </p:cNvSpPr>
            <p:nvPr/>
          </p:nvSpPr>
          <p:spPr bwMode="auto">
            <a:xfrm>
              <a:off x="1884" y="254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(CP       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94" name="AutoShape 40"/>
            <p:cNvSpPr/>
            <p:nvPr/>
          </p:nvSpPr>
          <p:spPr bwMode="auto">
            <a:xfrm>
              <a:off x="720" y="2699"/>
              <a:ext cx="48" cy="48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09961" name="Rectangle 41"/>
          <p:cNvSpPr>
            <a:spLocks noChangeArrowheads="1"/>
          </p:cNvSpPr>
          <p:nvPr/>
        </p:nvSpPr>
        <p:spPr bwMode="auto">
          <a:xfrm>
            <a:off x="169863" y="51816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异步工作时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9962" name="Group 42"/>
          <p:cNvGrpSpPr/>
          <p:nvPr/>
        </p:nvGrpSpPr>
        <p:grpSpPr bwMode="auto">
          <a:xfrm>
            <a:off x="3276600" y="5300663"/>
            <a:ext cx="4478338" cy="1100137"/>
            <a:chOff x="2208" y="3235"/>
            <a:chExt cx="2821" cy="693"/>
          </a:xfrm>
        </p:grpSpPr>
        <p:sp>
          <p:nvSpPr>
            <p:cNvPr id="58380" name="AutoShape 43"/>
            <p:cNvSpPr/>
            <p:nvPr/>
          </p:nvSpPr>
          <p:spPr bwMode="auto">
            <a:xfrm>
              <a:off x="2208" y="3408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09964" name="Rectangle 44"/>
            <p:cNvSpPr>
              <a:spLocks noChangeArrowheads="1"/>
            </p:cNvSpPr>
            <p:nvPr/>
          </p:nvSpPr>
          <p:spPr bwMode="auto">
            <a:xfrm>
              <a:off x="3633" y="3563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约束条件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8382" name="Object 45"/>
            <p:cNvGraphicFramePr>
              <a:graphicFrameLocks noChangeAspect="1"/>
            </p:cNvGraphicFramePr>
            <p:nvPr/>
          </p:nvGraphicFramePr>
          <p:xfrm>
            <a:off x="2337" y="3235"/>
            <a:ext cx="1831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14" name="Equation" r:id="rId5" imgW="653415" imgH="114300" progId="Equation.3">
                    <p:embed/>
                  </p:oleObj>
                </mc:Choice>
                <mc:Fallback>
                  <p:oleObj name="Equation" r:id="rId5" imgW="653415" imgH="1143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3235"/>
                          <a:ext cx="1831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3" name="Object 46"/>
            <p:cNvGraphicFramePr>
              <a:graphicFrameLocks noChangeAspect="1"/>
            </p:cNvGraphicFramePr>
            <p:nvPr/>
          </p:nvGraphicFramePr>
          <p:xfrm>
            <a:off x="2337" y="3600"/>
            <a:ext cx="1241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15" name="Equation" r:id="rId7" imgW="435610" imgH="103505" progId="Equation.3">
                    <p:embed/>
                  </p:oleObj>
                </mc:Choice>
                <mc:Fallback>
                  <p:oleObj name="Equation" r:id="rId7" imgW="435610" imgH="10350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3600"/>
                          <a:ext cx="1241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nimBg="1" autoUpdateAnimBg="0"/>
      <p:bldP spid="209924" grpId="0" bldLvl="0" animBg="1" autoUpdateAnimBg="0"/>
      <p:bldP spid="209947" grpId="0" animBg="1" autoUpdateAnimBg="0"/>
      <p:bldP spid="209948" grpId="0" autoUpdateAnimBg="0"/>
      <p:bldP spid="20996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025AC6-89A9-460A-A3AB-454D8C2B1E79}" type="slidenum">
              <a:rPr lang="en-US" altLang="zh-CN" sz="1400"/>
            </a:fld>
            <a:endParaRPr lang="en-US" altLang="zh-CN" sz="1400"/>
          </a:p>
        </p:txBody>
      </p:sp>
      <p:sp>
        <p:nvSpPr>
          <p:cNvPr id="211970" name="Line 2"/>
          <p:cNvSpPr>
            <a:spLocks noChangeShapeType="1"/>
          </p:cNvSpPr>
          <p:nvPr/>
        </p:nvSpPr>
        <p:spPr bwMode="auto">
          <a:xfrm>
            <a:off x="27432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1" name="Line 3"/>
          <p:cNvSpPr>
            <a:spLocks noChangeShapeType="1"/>
          </p:cNvSpPr>
          <p:nvPr/>
        </p:nvSpPr>
        <p:spPr bwMode="auto">
          <a:xfrm>
            <a:off x="2743200" y="571023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2" name="Line 4"/>
          <p:cNvSpPr>
            <a:spLocks noChangeShapeType="1"/>
          </p:cNvSpPr>
          <p:nvPr/>
        </p:nvSpPr>
        <p:spPr bwMode="auto">
          <a:xfrm flipV="1">
            <a:off x="32004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3" name="Line 5"/>
          <p:cNvSpPr>
            <a:spLocks noChangeShapeType="1"/>
          </p:cNvSpPr>
          <p:nvPr/>
        </p:nvSpPr>
        <p:spPr bwMode="auto">
          <a:xfrm>
            <a:off x="39624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4" name="Line 6"/>
          <p:cNvSpPr>
            <a:spLocks noChangeShapeType="1"/>
          </p:cNvSpPr>
          <p:nvPr/>
        </p:nvSpPr>
        <p:spPr bwMode="auto">
          <a:xfrm flipV="1">
            <a:off x="51054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5" name="Line 7"/>
          <p:cNvSpPr>
            <a:spLocks noChangeShapeType="1"/>
          </p:cNvSpPr>
          <p:nvPr/>
        </p:nvSpPr>
        <p:spPr bwMode="auto">
          <a:xfrm>
            <a:off x="5105400" y="517683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6" name="Line 8"/>
          <p:cNvSpPr>
            <a:spLocks noChangeShapeType="1"/>
          </p:cNvSpPr>
          <p:nvPr/>
        </p:nvSpPr>
        <p:spPr bwMode="auto">
          <a:xfrm>
            <a:off x="55626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7" name="Line 9"/>
          <p:cNvSpPr>
            <a:spLocks noChangeShapeType="1"/>
          </p:cNvSpPr>
          <p:nvPr/>
        </p:nvSpPr>
        <p:spPr bwMode="auto">
          <a:xfrm>
            <a:off x="6934200" y="5176838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8" name="Line 10"/>
          <p:cNvSpPr>
            <a:spLocks noChangeShapeType="1"/>
          </p:cNvSpPr>
          <p:nvPr/>
        </p:nvSpPr>
        <p:spPr bwMode="auto">
          <a:xfrm>
            <a:off x="2133600" y="5176838"/>
            <a:ext cx="623888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79" name="Line 11"/>
          <p:cNvSpPr>
            <a:spLocks noChangeShapeType="1"/>
          </p:cNvSpPr>
          <p:nvPr/>
        </p:nvSpPr>
        <p:spPr bwMode="auto">
          <a:xfrm>
            <a:off x="1600200" y="5710238"/>
            <a:ext cx="5461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80" name="Line 12"/>
          <p:cNvSpPr>
            <a:spLocks noChangeShapeType="1"/>
          </p:cNvSpPr>
          <p:nvPr/>
        </p:nvSpPr>
        <p:spPr bwMode="auto">
          <a:xfrm flipV="1">
            <a:off x="2133600" y="5176838"/>
            <a:ext cx="1588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1981" name="Rectangle 13"/>
          <p:cNvSpPr>
            <a:spLocks noChangeArrowheads="1"/>
          </p:cNvSpPr>
          <p:nvPr/>
        </p:nvSpPr>
        <p:spPr bwMode="auto">
          <a:xfrm>
            <a:off x="990600" y="5329238"/>
            <a:ext cx="5207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200" baseline="-250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1982" name="Group 14"/>
          <p:cNvGrpSpPr/>
          <p:nvPr/>
        </p:nvGrpSpPr>
        <p:grpSpPr bwMode="auto">
          <a:xfrm>
            <a:off x="914400" y="1357313"/>
            <a:ext cx="7467600" cy="3667125"/>
            <a:chOff x="576" y="855"/>
            <a:chExt cx="4704" cy="2310"/>
          </a:xfrm>
        </p:grpSpPr>
        <p:sp>
          <p:nvSpPr>
            <p:cNvPr id="59509" name="Line 15"/>
            <p:cNvSpPr>
              <a:spLocks noChangeShapeType="1"/>
            </p:cNvSpPr>
            <p:nvPr/>
          </p:nvSpPr>
          <p:spPr bwMode="auto">
            <a:xfrm>
              <a:off x="1344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0" name="Line 16"/>
            <p:cNvSpPr>
              <a:spLocks noChangeShapeType="1"/>
            </p:cNvSpPr>
            <p:nvPr/>
          </p:nvSpPr>
          <p:spPr bwMode="auto">
            <a:xfrm>
              <a:off x="1344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1" name="Line 17"/>
            <p:cNvSpPr>
              <a:spLocks noChangeShapeType="1"/>
            </p:cNvSpPr>
            <p:nvPr/>
          </p:nvSpPr>
          <p:spPr bwMode="auto">
            <a:xfrm flipV="1">
              <a:off x="1536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2" name="Line 18"/>
            <p:cNvSpPr>
              <a:spLocks noChangeShapeType="1"/>
            </p:cNvSpPr>
            <p:nvPr/>
          </p:nvSpPr>
          <p:spPr bwMode="auto">
            <a:xfrm>
              <a:off x="1536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3" name="Line 19"/>
            <p:cNvSpPr>
              <a:spLocks noChangeShapeType="1"/>
            </p:cNvSpPr>
            <p:nvPr/>
          </p:nvSpPr>
          <p:spPr bwMode="auto">
            <a:xfrm>
              <a:off x="1728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4" name="Line 20"/>
            <p:cNvSpPr>
              <a:spLocks noChangeShapeType="1"/>
            </p:cNvSpPr>
            <p:nvPr/>
          </p:nvSpPr>
          <p:spPr bwMode="auto">
            <a:xfrm>
              <a:off x="1728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5" name="Line 21"/>
            <p:cNvSpPr>
              <a:spLocks noChangeShapeType="1"/>
            </p:cNvSpPr>
            <p:nvPr/>
          </p:nvSpPr>
          <p:spPr bwMode="auto">
            <a:xfrm flipV="1">
              <a:off x="1920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6" name="Line 22"/>
            <p:cNvSpPr>
              <a:spLocks noChangeShapeType="1"/>
            </p:cNvSpPr>
            <p:nvPr/>
          </p:nvSpPr>
          <p:spPr bwMode="auto">
            <a:xfrm>
              <a:off x="1920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7" name="Line 23"/>
            <p:cNvSpPr>
              <a:spLocks noChangeShapeType="1"/>
            </p:cNvSpPr>
            <p:nvPr/>
          </p:nvSpPr>
          <p:spPr bwMode="auto">
            <a:xfrm>
              <a:off x="2112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8" name="Line 24"/>
            <p:cNvSpPr>
              <a:spLocks noChangeShapeType="1"/>
            </p:cNvSpPr>
            <p:nvPr/>
          </p:nvSpPr>
          <p:spPr bwMode="auto">
            <a:xfrm>
              <a:off x="2112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19" name="Line 25"/>
            <p:cNvSpPr>
              <a:spLocks noChangeShapeType="1"/>
            </p:cNvSpPr>
            <p:nvPr/>
          </p:nvSpPr>
          <p:spPr bwMode="auto">
            <a:xfrm flipV="1">
              <a:off x="2304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0" name="Line 26"/>
            <p:cNvSpPr>
              <a:spLocks noChangeShapeType="1"/>
            </p:cNvSpPr>
            <p:nvPr/>
          </p:nvSpPr>
          <p:spPr bwMode="auto">
            <a:xfrm>
              <a:off x="2304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1" name="Line 27"/>
            <p:cNvSpPr>
              <a:spLocks noChangeShapeType="1"/>
            </p:cNvSpPr>
            <p:nvPr/>
          </p:nvSpPr>
          <p:spPr bwMode="auto">
            <a:xfrm>
              <a:off x="2496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2" name="Line 28"/>
            <p:cNvSpPr>
              <a:spLocks noChangeShapeType="1"/>
            </p:cNvSpPr>
            <p:nvPr/>
          </p:nvSpPr>
          <p:spPr bwMode="auto">
            <a:xfrm>
              <a:off x="2496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3" name="Line 29"/>
            <p:cNvSpPr>
              <a:spLocks noChangeShapeType="1"/>
            </p:cNvSpPr>
            <p:nvPr/>
          </p:nvSpPr>
          <p:spPr bwMode="auto">
            <a:xfrm flipV="1">
              <a:off x="2688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4" name="Line 30"/>
            <p:cNvSpPr>
              <a:spLocks noChangeShapeType="1"/>
            </p:cNvSpPr>
            <p:nvPr/>
          </p:nvSpPr>
          <p:spPr bwMode="auto">
            <a:xfrm>
              <a:off x="2688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5" name="Line 31"/>
            <p:cNvSpPr>
              <a:spLocks noChangeShapeType="1"/>
            </p:cNvSpPr>
            <p:nvPr/>
          </p:nvSpPr>
          <p:spPr bwMode="auto">
            <a:xfrm flipH="1">
              <a:off x="1968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6" name="Line 32"/>
            <p:cNvSpPr>
              <a:spLocks noChangeShapeType="1"/>
            </p:cNvSpPr>
            <p:nvPr/>
          </p:nvSpPr>
          <p:spPr bwMode="auto">
            <a:xfrm>
              <a:off x="2832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7" name="Line 33"/>
            <p:cNvSpPr>
              <a:spLocks noChangeShapeType="1"/>
            </p:cNvSpPr>
            <p:nvPr/>
          </p:nvSpPr>
          <p:spPr bwMode="auto">
            <a:xfrm>
              <a:off x="2832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8" name="Line 34"/>
            <p:cNvSpPr>
              <a:spLocks noChangeShapeType="1"/>
            </p:cNvSpPr>
            <p:nvPr/>
          </p:nvSpPr>
          <p:spPr bwMode="auto">
            <a:xfrm flipV="1">
              <a:off x="3024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29" name="Line 35"/>
            <p:cNvSpPr>
              <a:spLocks noChangeShapeType="1"/>
            </p:cNvSpPr>
            <p:nvPr/>
          </p:nvSpPr>
          <p:spPr bwMode="auto">
            <a:xfrm>
              <a:off x="3024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0" name="Line 36"/>
            <p:cNvSpPr>
              <a:spLocks noChangeShapeType="1"/>
            </p:cNvSpPr>
            <p:nvPr/>
          </p:nvSpPr>
          <p:spPr bwMode="auto">
            <a:xfrm>
              <a:off x="3216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1" name="Line 37"/>
            <p:cNvSpPr>
              <a:spLocks noChangeShapeType="1"/>
            </p:cNvSpPr>
            <p:nvPr/>
          </p:nvSpPr>
          <p:spPr bwMode="auto">
            <a:xfrm>
              <a:off x="3216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2" name="Line 38"/>
            <p:cNvSpPr>
              <a:spLocks noChangeShapeType="1"/>
            </p:cNvSpPr>
            <p:nvPr/>
          </p:nvSpPr>
          <p:spPr bwMode="auto">
            <a:xfrm flipV="1">
              <a:off x="3408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3" name="Line 39"/>
            <p:cNvSpPr>
              <a:spLocks noChangeShapeType="1"/>
            </p:cNvSpPr>
            <p:nvPr/>
          </p:nvSpPr>
          <p:spPr bwMode="auto">
            <a:xfrm>
              <a:off x="3408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4" name="Line 40"/>
            <p:cNvSpPr>
              <a:spLocks noChangeShapeType="1"/>
            </p:cNvSpPr>
            <p:nvPr/>
          </p:nvSpPr>
          <p:spPr bwMode="auto">
            <a:xfrm flipH="1">
              <a:off x="2688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5" name="Line 41"/>
            <p:cNvSpPr>
              <a:spLocks noChangeShapeType="1"/>
            </p:cNvSpPr>
            <p:nvPr/>
          </p:nvSpPr>
          <p:spPr bwMode="auto">
            <a:xfrm>
              <a:off x="3600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6" name="Line 42"/>
            <p:cNvSpPr>
              <a:spLocks noChangeShapeType="1"/>
            </p:cNvSpPr>
            <p:nvPr/>
          </p:nvSpPr>
          <p:spPr bwMode="auto">
            <a:xfrm>
              <a:off x="3600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7" name="Line 43"/>
            <p:cNvSpPr>
              <a:spLocks noChangeShapeType="1"/>
            </p:cNvSpPr>
            <p:nvPr/>
          </p:nvSpPr>
          <p:spPr bwMode="auto">
            <a:xfrm flipV="1">
              <a:off x="3792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8" name="Line 44"/>
            <p:cNvSpPr>
              <a:spLocks noChangeShapeType="1"/>
            </p:cNvSpPr>
            <p:nvPr/>
          </p:nvSpPr>
          <p:spPr bwMode="auto">
            <a:xfrm>
              <a:off x="3792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39" name="Line 45"/>
            <p:cNvSpPr>
              <a:spLocks noChangeShapeType="1"/>
            </p:cNvSpPr>
            <p:nvPr/>
          </p:nvSpPr>
          <p:spPr bwMode="auto">
            <a:xfrm>
              <a:off x="3984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0" name="Line 46"/>
            <p:cNvSpPr>
              <a:spLocks noChangeShapeType="1"/>
            </p:cNvSpPr>
            <p:nvPr/>
          </p:nvSpPr>
          <p:spPr bwMode="auto">
            <a:xfrm>
              <a:off x="3984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1" name="Line 47"/>
            <p:cNvSpPr>
              <a:spLocks noChangeShapeType="1"/>
            </p:cNvSpPr>
            <p:nvPr/>
          </p:nvSpPr>
          <p:spPr bwMode="auto">
            <a:xfrm flipV="1">
              <a:off x="4176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2" name="Line 48"/>
            <p:cNvSpPr>
              <a:spLocks noChangeShapeType="1"/>
            </p:cNvSpPr>
            <p:nvPr/>
          </p:nvSpPr>
          <p:spPr bwMode="auto">
            <a:xfrm>
              <a:off x="4176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3" name="Line 49"/>
            <p:cNvSpPr>
              <a:spLocks noChangeShapeType="1"/>
            </p:cNvSpPr>
            <p:nvPr/>
          </p:nvSpPr>
          <p:spPr bwMode="auto">
            <a:xfrm>
              <a:off x="4368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4" name="Line 50"/>
            <p:cNvSpPr>
              <a:spLocks noChangeShapeType="1"/>
            </p:cNvSpPr>
            <p:nvPr/>
          </p:nvSpPr>
          <p:spPr bwMode="auto">
            <a:xfrm>
              <a:off x="4368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5" name="Line 51"/>
            <p:cNvSpPr>
              <a:spLocks noChangeShapeType="1"/>
            </p:cNvSpPr>
            <p:nvPr/>
          </p:nvSpPr>
          <p:spPr bwMode="auto">
            <a:xfrm flipV="1">
              <a:off x="4560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6" name="Line 52"/>
            <p:cNvSpPr>
              <a:spLocks noChangeShapeType="1"/>
            </p:cNvSpPr>
            <p:nvPr/>
          </p:nvSpPr>
          <p:spPr bwMode="auto">
            <a:xfrm>
              <a:off x="4560" y="1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7" name="Line 53"/>
            <p:cNvSpPr>
              <a:spLocks noChangeShapeType="1"/>
            </p:cNvSpPr>
            <p:nvPr/>
          </p:nvSpPr>
          <p:spPr bwMode="auto">
            <a:xfrm>
              <a:off x="4752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8" name="Line 54"/>
            <p:cNvSpPr>
              <a:spLocks noChangeShapeType="1"/>
            </p:cNvSpPr>
            <p:nvPr/>
          </p:nvSpPr>
          <p:spPr bwMode="auto">
            <a:xfrm>
              <a:off x="4752" y="119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49" name="Line 55"/>
            <p:cNvSpPr>
              <a:spLocks noChangeShapeType="1"/>
            </p:cNvSpPr>
            <p:nvPr/>
          </p:nvSpPr>
          <p:spPr bwMode="auto">
            <a:xfrm flipV="1">
              <a:off x="4944" y="119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50" name="Line 56"/>
            <p:cNvSpPr>
              <a:spLocks noChangeShapeType="1"/>
            </p:cNvSpPr>
            <p:nvPr/>
          </p:nvSpPr>
          <p:spPr bwMode="auto">
            <a:xfrm flipH="1">
              <a:off x="4224" y="148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51" name="Line 57"/>
            <p:cNvSpPr>
              <a:spLocks noChangeShapeType="1"/>
            </p:cNvSpPr>
            <p:nvPr/>
          </p:nvSpPr>
          <p:spPr bwMode="auto">
            <a:xfrm>
              <a:off x="4944" y="148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52" name="Line 58"/>
            <p:cNvSpPr>
              <a:spLocks noChangeShapeType="1"/>
            </p:cNvSpPr>
            <p:nvPr/>
          </p:nvSpPr>
          <p:spPr bwMode="auto">
            <a:xfrm flipH="1" flipV="1">
              <a:off x="960" y="1485"/>
              <a:ext cx="38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2027" name="Rectangle 59"/>
            <p:cNvSpPr>
              <a:spLocks noChangeArrowheads="1"/>
            </p:cNvSpPr>
            <p:nvPr/>
          </p:nvSpPr>
          <p:spPr bwMode="auto">
            <a:xfrm>
              <a:off x="1296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28" name="Rectangle 60"/>
            <p:cNvSpPr>
              <a:spLocks noChangeArrowheads="1"/>
            </p:cNvSpPr>
            <p:nvPr/>
          </p:nvSpPr>
          <p:spPr bwMode="auto">
            <a:xfrm>
              <a:off x="1680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29" name="Rectangle 61"/>
            <p:cNvSpPr>
              <a:spLocks noChangeArrowheads="1"/>
            </p:cNvSpPr>
            <p:nvPr/>
          </p:nvSpPr>
          <p:spPr bwMode="auto">
            <a:xfrm>
              <a:off x="2064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0" name="Rectangle 62"/>
            <p:cNvSpPr>
              <a:spLocks noChangeArrowheads="1"/>
            </p:cNvSpPr>
            <p:nvPr/>
          </p:nvSpPr>
          <p:spPr bwMode="auto">
            <a:xfrm>
              <a:off x="2448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1" name="Rectangle 63"/>
            <p:cNvSpPr>
              <a:spLocks noChangeArrowheads="1"/>
            </p:cNvSpPr>
            <p:nvPr/>
          </p:nvSpPr>
          <p:spPr bwMode="auto">
            <a:xfrm>
              <a:off x="2784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2" name="Rectangle 64"/>
            <p:cNvSpPr>
              <a:spLocks noChangeArrowheads="1"/>
            </p:cNvSpPr>
            <p:nvPr/>
          </p:nvSpPr>
          <p:spPr bwMode="auto">
            <a:xfrm>
              <a:off x="3168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3" name="Rectangle 65"/>
            <p:cNvSpPr>
              <a:spLocks noChangeArrowheads="1"/>
            </p:cNvSpPr>
            <p:nvPr/>
          </p:nvSpPr>
          <p:spPr bwMode="auto">
            <a:xfrm>
              <a:off x="3600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4" name="Rectangle 66"/>
            <p:cNvSpPr>
              <a:spLocks noChangeArrowheads="1"/>
            </p:cNvSpPr>
            <p:nvPr/>
          </p:nvSpPr>
          <p:spPr bwMode="auto">
            <a:xfrm>
              <a:off x="3936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5" name="Rectangle 67"/>
            <p:cNvSpPr>
              <a:spLocks noChangeArrowheads="1"/>
            </p:cNvSpPr>
            <p:nvPr/>
          </p:nvSpPr>
          <p:spPr bwMode="auto">
            <a:xfrm>
              <a:off x="4320" y="8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6" name="Rectangle 68"/>
            <p:cNvSpPr>
              <a:spLocks noChangeArrowheads="1"/>
            </p:cNvSpPr>
            <p:nvPr/>
          </p:nvSpPr>
          <p:spPr bwMode="auto">
            <a:xfrm>
              <a:off x="4656" y="85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37" name="Rectangle 69"/>
            <p:cNvSpPr>
              <a:spLocks noChangeArrowheads="1"/>
            </p:cNvSpPr>
            <p:nvPr/>
          </p:nvSpPr>
          <p:spPr bwMode="auto">
            <a:xfrm>
              <a:off x="576" y="1191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CP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9564" name="Line 70"/>
            <p:cNvSpPr>
              <a:spLocks noChangeShapeType="1"/>
            </p:cNvSpPr>
            <p:nvPr/>
          </p:nvSpPr>
          <p:spPr bwMode="auto">
            <a:xfrm>
              <a:off x="960" y="1773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65" name="Line 71"/>
            <p:cNvSpPr>
              <a:spLocks noChangeShapeType="1"/>
            </p:cNvSpPr>
            <p:nvPr/>
          </p:nvSpPr>
          <p:spPr bwMode="auto">
            <a:xfrm>
              <a:off x="2016" y="1773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66" name="Line 72"/>
            <p:cNvSpPr>
              <a:spLocks noChangeShapeType="1"/>
            </p:cNvSpPr>
            <p:nvPr/>
          </p:nvSpPr>
          <p:spPr bwMode="auto">
            <a:xfrm>
              <a:off x="2304" y="1821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67" name="Line 73"/>
            <p:cNvSpPr>
              <a:spLocks noChangeShapeType="1"/>
            </p:cNvSpPr>
            <p:nvPr/>
          </p:nvSpPr>
          <p:spPr bwMode="auto">
            <a:xfrm>
              <a:off x="2016" y="2061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68" name="Line 74"/>
            <p:cNvSpPr>
              <a:spLocks noChangeShapeType="1"/>
            </p:cNvSpPr>
            <p:nvPr/>
          </p:nvSpPr>
          <p:spPr bwMode="auto">
            <a:xfrm flipV="1">
              <a:off x="2304" y="1773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69" name="Line 75"/>
            <p:cNvSpPr>
              <a:spLocks noChangeShapeType="1"/>
            </p:cNvSpPr>
            <p:nvPr/>
          </p:nvSpPr>
          <p:spPr bwMode="auto">
            <a:xfrm>
              <a:off x="2304" y="1773"/>
              <a:ext cx="29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0" name="Line 76"/>
            <p:cNvSpPr>
              <a:spLocks noChangeShapeType="1"/>
            </p:cNvSpPr>
            <p:nvPr/>
          </p:nvSpPr>
          <p:spPr bwMode="auto">
            <a:xfrm>
              <a:off x="1008" y="2301"/>
              <a:ext cx="24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1" name="Line 77"/>
            <p:cNvSpPr>
              <a:spLocks noChangeShapeType="1"/>
            </p:cNvSpPr>
            <p:nvPr/>
          </p:nvSpPr>
          <p:spPr bwMode="auto">
            <a:xfrm>
              <a:off x="3504" y="2301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2" name="Line 78"/>
            <p:cNvSpPr>
              <a:spLocks noChangeShapeType="1"/>
            </p:cNvSpPr>
            <p:nvPr/>
          </p:nvSpPr>
          <p:spPr bwMode="auto">
            <a:xfrm>
              <a:off x="3504" y="2637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3" name="Line 79"/>
            <p:cNvSpPr>
              <a:spLocks noChangeShapeType="1"/>
            </p:cNvSpPr>
            <p:nvPr/>
          </p:nvSpPr>
          <p:spPr bwMode="auto">
            <a:xfrm>
              <a:off x="3984" y="2301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4" name="Line 80"/>
            <p:cNvSpPr>
              <a:spLocks noChangeShapeType="1"/>
            </p:cNvSpPr>
            <p:nvPr/>
          </p:nvSpPr>
          <p:spPr bwMode="auto">
            <a:xfrm>
              <a:off x="3984" y="2301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5" name="Line 81"/>
            <p:cNvSpPr>
              <a:spLocks noChangeShapeType="1"/>
            </p:cNvSpPr>
            <p:nvPr/>
          </p:nvSpPr>
          <p:spPr bwMode="auto">
            <a:xfrm>
              <a:off x="1056" y="2781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6" name="Line 82"/>
            <p:cNvSpPr>
              <a:spLocks noChangeShapeType="1"/>
            </p:cNvSpPr>
            <p:nvPr/>
          </p:nvSpPr>
          <p:spPr bwMode="auto">
            <a:xfrm>
              <a:off x="1536" y="2781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7" name="Line 83"/>
            <p:cNvSpPr>
              <a:spLocks noChangeShapeType="1"/>
            </p:cNvSpPr>
            <p:nvPr/>
          </p:nvSpPr>
          <p:spPr bwMode="auto">
            <a:xfrm>
              <a:off x="1536" y="3165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8" name="Line 84"/>
            <p:cNvSpPr>
              <a:spLocks noChangeShapeType="1"/>
            </p:cNvSpPr>
            <p:nvPr/>
          </p:nvSpPr>
          <p:spPr bwMode="auto">
            <a:xfrm flipV="1">
              <a:off x="2832" y="2781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79" name="Line 85"/>
            <p:cNvSpPr>
              <a:spLocks noChangeShapeType="1"/>
            </p:cNvSpPr>
            <p:nvPr/>
          </p:nvSpPr>
          <p:spPr bwMode="auto">
            <a:xfrm>
              <a:off x="2832" y="2781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2054" name="Rectangle 86"/>
            <p:cNvSpPr>
              <a:spLocks noChangeArrowheads="1"/>
            </p:cNvSpPr>
            <p:nvPr/>
          </p:nvSpPr>
          <p:spPr bwMode="auto">
            <a:xfrm>
              <a:off x="576" y="1527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55" name="Rectangle 87"/>
            <p:cNvSpPr>
              <a:spLocks noChangeArrowheads="1"/>
            </p:cNvSpPr>
            <p:nvPr/>
          </p:nvSpPr>
          <p:spPr bwMode="auto">
            <a:xfrm>
              <a:off x="624" y="2055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2056" name="Rectangle 88"/>
            <p:cNvSpPr>
              <a:spLocks noChangeArrowheads="1"/>
            </p:cNvSpPr>
            <p:nvPr/>
          </p:nvSpPr>
          <p:spPr bwMode="auto">
            <a:xfrm>
              <a:off x="624" y="2589"/>
              <a:ext cx="39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9583" name="Line 89"/>
            <p:cNvSpPr>
              <a:spLocks noChangeShapeType="1"/>
            </p:cNvSpPr>
            <p:nvPr/>
          </p:nvSpPr>
          <p:spPr bwMode="auto">
            <a:xfrm>
              <a:off x="624" y="1581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584" name="Line 90"/>
            <p:cNvSpPr>
              <a:spLocks noChangeShapeType="1"/>
            </p:cNvSpPr>
            <p:nvPr/>
          </p:nvSpPr>
          <p:spPr bwMode="auto">
            <a:xfrm>
              <a:off x="672" y="2109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12059" name="Rectangle 91"/>
          <p:cNvSpPr>
            <a:spLocks noChangeArrowheads="1"/>
          </p:cNvSpPr>
          <p:nvPr/>
        </p:nvSpPr>
        <p:spPr bwMode="auto">
          <a:xfrm>
            <a:off x="196850" y="228600"/>
            <a:ext cx="2020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、时序图</a:t>
            </a:r>
            <a:endParaRPr lang="zh-CN" altLang="en-US" sz="3200" b="1" dirty="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2131" name="Group 163"/>
          <p:cNvGrpSpPr/>
          <p:nvPr/>
        </p:nvGrpSpPr>
        <p:grpSpPr bwMode="auto">
          <a:xfrm>
            <a:off x="3203575" y="3322638"/>
            <a:ext cx="3111500" cy="1787525"/>
            <a:chOff x="2018" y="2093"/>
            <a:chExt cx="1960" cy="1126"/>
          </a:xfrm>
        </p:grpSpPr>
        <p:grpSp>
          <p:nvGrpSpPr>
            <p:cNvPr id="59489" name="Group 164"/>
            <p:cNvGrpSpPr/>
            <p:nvPr/>
          </p:nvGrpSpPr>
          <p:grpSpPr bwMode="auto">
            <a:xfrm>
              <a:off x="2018" y="2093"/>
              <a:ext cx="0" cy="1104"/>
              <a:chOff x="2018" y="2093"/>
              <a:chExt cx="0" cy="1104"/>
            </a:xfrm>
          </p:grpSpPr>
          <p:sp>
            <p:nvSpPr>
              <p:cNvPr id="59505" name="Line 165"/>
              <p:cNvSpPr>
                <a:spLocks noChangeShapeType="1"/>
              </p:cNvSpPr>
              <p:nvPr/>
            </p:nvSpPr>
            <p:spPr bwMode="auto">
              <a:xfrm>
                <a:off x="2018" y="2093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6" name="Line 166"/>
              <p:cNvSpPr>
                <a:spLocks noChangeShapeType="1"/>
              </p:cNvSpPr>
              <p:nvPr/>
            </p:nvSpPr>
            <p:spPr bwMode="auto">
              <a:xfrm>
                <a:off x="2018" y="233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7" name="Line 167"/>
              <p:cNvSpPr>
                <a:spLocks noChangeShapeType="1"/>
              </p:cNvSpPr>
              <p:nvPr/>
            </p:nvSpPr>
            <p:spPr bwMode="auto">
              <a:xfrm flipH="1">
                <a:off x="2018" y="2669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8" name="Line 168"/>
              <p:cNvSpPr>
                <a:spLocks noChangeShapeType="1"/>
              </p:cNvSpPr>
              <p:nvPr/>
            </p:nvSpPr>
            <p:spPr bwMode="auto">
              <a:xfrm>
                <a:off x="2018" y="30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90" name="Group 169"/>
            <p:cNvGrpSpPr/>
            <p:nvPr/>
          </p:nvGrpSpPr>
          <p:grpSpPr bwMode="auto">
            <a:xfrm>
              <a:off x="2308" y="2099"/>
              <a:ext cx="0" cy="1104"/>
              <a:chOff x="2018" y="2093"/>
              <a:chExt cx="0" cy="1104"/>
            </a:xfrm>
          </p:grpSpPr>
          <p:sp>
            <p:nvSpPr>
              <p:cNvPr id="59501" name="Line 170"/>
              <p:cNvSpPr>
                <a:spLocks noChangeShapeType="1"/>
              </p:cNvSpPr>
              <p:nvPr/>
            </p:nvSpPr>
            <p:spPr bwMode="auto">
              <a:xfrm>
                <a:off x="2018" y="2093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2" name="Line 171"/>
              <p:cNvSpPr>
                <a:spLocks noChangeShapeType="1"/>
              </p:cNvSpPr>
              <p:nvPr/>
            </p:nvSpPr>
            <p:spPr bwMode="auto">
              <a:xfrm>
                <a:off x="2018" y="233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3" name="Line 172"/>
              <p:cNvSpPr>
                <a:spLocks noChangeShapeType="1"/>
              </p:cNvSpPr>
              <p:nvPr/>
            </p:nvSpPr>
            <p:spPr bwMode="auto">
              <a:xfrm flipH="1">
                <a:off x="2018" y="2669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4" name="Line 173"/>
              <p:cNvSpPr>
                <a:spLocks noChangeShapeType="1"/>
              </p:cNvSpPr>
              <p:nvPr/>
            </p:nvSpPr>
            <p:spPr bwMode="auto">
              <a:xfrm>
                <a:off x="2018" y="30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91" name="Group 174"/>
            <p:cNvGrpSpPr/>
            <p:nvPr/>
          </p:nvGrpSpPr>
          <p:grpSpPr bwMode="auto">
            <a:xfrm>
              <a:off x="3506" y="2099"/>
              <a:ext cx="0" cy="1104"/>
              <a:chOff x="2018" y="2093"/>
              <a:chExt cx="0" cy="1104"/>
            </a:xfrm>
          </p:grpSpPr>
          <p:sp>
            <p:nvSpPr>
              <p:cNvPr id="59497" name="Line 175"/>
              <p:cNvSpPr>
                <a:spLocks noChangeShapeType="1"/>
              </p:cNvSpPr>
              <p:nvPr/>
            </p:nvSpPr>
            <p:spPr bwMode="auto">
              <a:xfrm>
                <a:off x="2018" y="2093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98" name="Line 176"/>
              <p:cNvSpPr>
                <a:spLocks noChangeShapeType="1"/>
              </p:cNvSpPr>
              <p:nvPr/>
            </p:nvSpPr>
            <p:spPr bwMode="auto">
              <a:xfrm>
                <a:off x="2018" y="233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99" name="Line 177"/>
              <p:cNvSpPr>
                <a:spLocks noChangeShapeType="1"/>
              </p:cNvSpPr>
              <p:nvPr/>
            </p:nvSpPr>
            <p:spPr bwMode="auto">
              <a:xfrm flipH="1">
                <a:off x="2018" y="2669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500" name="Line 178"/>
              <p:cNvSpPr>
                <a:spLocks noChangeShapeType="1"/>
              </p:cNvSpPr>
              <p:nvPr/>
            </p:nvSpPr>
            <p:spPr bwMode="auto">
              <a:xfrm>
                <a:off x="2018" y="30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92" name="Group 179"/>
            <p:cNvGrpSpPr/>
            <p:nvPr/>
          </p:nvGrpSpPr>
          <p:grpSpPr bwMode="auto">
            <a:xfrm>
              <a:off x="3978" y="2115"/>
              <a:ext cx="0" cy="1104"/>
              <a:chOff x="2018" y="2093"/>
              <a:chExt cx="0" cy="1104"/>
            </a:xfrm>
          </p:grpSpPr>
          <p:sp>
            <p:nvSpPr>
              <p:cNvPr id="59493" name="Line 180"/>
              <p:cNvSpPr>
                <a:spLocks noChangeShapeType="1"/>
              </p:cNvSpPr>
              <p:nvPr/>
            </p:nvSpPr>
            <p:spPr bwMode="auto">
              <a:xfrm>
                <a:off x="2018" y="2093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94" name="Line 181"/>
              <p:cNvSpPr>
                <a:spLocks noChangeShapeType="1"/>
              </p:cNvSpPr>
              <p:nvPr/>
            </p:nvSpPr>
            <p:spPr bwMode="auto">
              <a:xfrm>
                <a:off x="2018" y="233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95" name="Line 182"/>
              <p:cNvSpPr>
                <a:spLocks noChangeShapeType="1"/>
              </p:cNvSpPr>
              <p:nvPr/>
            </p:nvSpPr>
            <p:spPr bwMode="auto">
              <a:xfrm flipH="1">
                <a:off x="2018" y="2669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96" name="Line 183"/>
              <p:cNvSpPr>
                <a:spLocks noChangeShapeType="1"/>
              </p:cNvSpPr>
              <p:nvPr/>
            </p:nvSpPr>
            <p:spPr bwMode="auto">
              <a:xfrm>
                <a:off x="2018" y="30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212152" name="Line 184"/>
          <p:cNvSpPr>
            <a:spLocks noChangeShapeType="1"/>
          </p:cNvSpPr>
          <p:nvPr/>
        </p:nvSpPr>
        <p:spPr bwMode="auto">
          <a:xfrm>
            <a:off x="3192463" y="518001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3" name="Line 185"/>
          <p:cNvSpPr>
            <a:spLocks noChangeShapeType="1"/>
          </p:cNvSpPr>
          <p:nvPr/>
        </p:nvSpPr>
        <p:spPr bwMode="auto">
          <a:xfrm>
            <a:off x="3668713" y="51800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4" name="Line 186"/>
          <p:cNvSpPr>
            <a:spLocks noChangeShapeType="1"/>
          </p:cNvSpPr>
          <p:nvPr/>
        </p:nvSpPr>
        <p:spPr bwMode="auto">
          <a:xfrm>
            <a:off x="3967163" y="570071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5" name="Line 187"/>
          <p:cNvSpPr>
            <a:spLocks noChangeShapeType="1"/>
          </p:cNvSpPr>
          <p:nvPr/>
        </p:nvSpPr>
        <p:spPr bwMode="auto">
          <a:xfrm>
            <a:off x="4443413" y="5700713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6" name="Line 188"/>
          <p:cNvSpPr>
            <a:spLocks noChangeShapeType="1"/>
          </p:cNvSpPr>
          <p:nvPr/>
        </p:nvSpPr>
        <p:spPr bwMode="auto">
          <a:xfrm>
            <a:off x="5565775" y="5702300"/>
            <a:ext cx="792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7" name="Line 189"/>
          <p:cNvSpPr>
            <a:spLocks noChangeShapeType="1"/>
          </p:cNvSpPr>
          <p:nvPr/>
        </p:nvSpPr>
        <p:spPr bwMode="auto">
          <a:xfrm>
            <a:off x="6300788" y="5700713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158" name="Line 190"/>
          <p:cNvSpPr>
            <a:spLocks noChangeShapeType="1"/>
          </p:cNvSpPr>
          <p:nvPr/>
        </p:nvSpPr>
        <p:spPr bwMode="auto">
          <a:xfrm>
            <a:off x="6929438" y="517683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2230" name="Group 262"/>
          <p:cNvGrpSpPr/>
          <p:nvPr/>
        </p:nvGrpSpPr>
        <p:grpSpPr bwMode="auto">
          <a:xfrm>
            <a:off x="2124075" y="2378075"/>
            <a:ext cx="5443538" cy="2700338"/>
            <a:chOff x="1338" y="1498"/>
            <a:chExt cx="3429" cy="1701"/>
          </a:xfrm>
        </p:grpSpPr>
        <p:grpSp>
          <p:nvGrpSpPr>
            <p:cNvPr id="59419" name="Group 263"/>
            <p:cNvGrpSpPr/>
            <p:nvPr/>
          </p:nvGrpSpPr>
          <p:grpSpPr bwMode="auto">
            <a:xfrm>
              <a:off x="1338" y="1522"/>
              <a:ext cx="0" cy="1632"/>
              <a:chOff x="1338" y="1522"/>
              <a:chExt cx="0" cy="1632"/>
            </a:xfrm>
          </p:grpSpPr>
          <p:sp>
            <p:nvSpPr>
              <p:cNvPr id="59483" name="Line 264"/>
              <p:cNvSpPr>
                <a:spLocks noChangeShapeType="1"/>
              </p:cNvSpPr>
              <p:nvPr/>
            </p:nvSpPr>
            <p:spPr bwMode="auto">
              <a:xfrm>
                <a:off x="1338" y="152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4" name="Line 265"/>
              <p:cNvSpPr>
                <a:spLocks noChangeShapeType="1"/>
              </p:cNvSpPr>
              <p:nvPr/>
            </p:nvSpPr>
            <p:spPr bwMode="auto">
              <a:xfrm>
                <a:off x="1338" y="1762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5" name="Line 266"/>
              <p:cNvSpPr>
                <a:spLocks noChangeShapeType="1"/>
              </p:cNvSpPr>
              <p:nvPr/>
            </p:nvSpPr>
            <p:spPr bwMode="auto">
              <a:xfrm flipH="1">
                <a:off x="1338" y="2098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6" name="Line 267"/>
              <p:cNvSpPr>
                <a:spLocks noChangeShapeType="1"/>
              </p:cNvSpPr>
              <p:nvPr/>
            </p:nvSpPr>
            <p:spPr bwMode="auto">
              <a:xfrm>
                <a:off x="1338" y="243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7" name="Line 268"/>
              <p:cNvSpPr>
                <a:spLocks noChangeShapeType="1"/>
              </p:cNvSpPr>
              <p:nvPr/>
            </p:nvSpPr>
            <p:spPr bwMode="auto">
              <a:xfrm>
                <a:off x="1338" y="277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8" name="Line 269"/>
              <p:cNvSpPr>
                <a:spLocks noChangeShapeType="1"/>
              </p:cNvSpPr>
              <p:nvPr/>
            </p:nvSpPr>
            <p:spPr bwMode="auto">
              <a:xfrm>
                <a:off x="1338" y="296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0" name="Group 270"/>
            <p:cNvGrpSpPr/>
            <p:nvPr/>
          </p:nvGrpSpPr>
          <p:grpSpPr bwMode="auto">
            <a:xfrm>
              <a:off x="1746" y="1503"/>
              <a:ext cx="0" cy="1632"/>
              <a:chOff x="1746" y="1503"/>
              <a:chExt cx="0" cy="1632"/>
            </a:xfrm>
          </p:grpSpPr>
          <p:sp>
            <p:nvSpPr>
              <p:cNvPr id="59477" name="Line 271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8" name="Line 272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9" name="Line 273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0" name="Line 274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1" name="Line 275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82" name="Line 276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1" name="Group 277"/>
            <p:cNvGrpSpPr/>
            <p:nvPr/>
          </p:nvGrpSpPr>
          <p:grpSpPr bwMode="auto">
            <a:xfrm>
              <a:off x="2517" y="1567"/>
              <a:ext cx="0" cy="1632"/>
              <a:chOff x="2517" y="1567"/>
              <a:chExt cx="0" cy="1632"/>
            </a:xfrm>
          </p:grpSpPr>
          <p:sp>
            <p:nvSpPr>
              <p:cNvPr id="59471" name="Line 278"/>
              <p:cNvSpPr>
                <a:spLocks noChangeShapeType="1"/>
              </p:cNvSpPr>
              <p:nvPr/>
            </p:nvSpPr>
            <p:spPr bwMode="auto">
              <a:xfrm>
                <a:off x="2517" y="1567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2" name="Line 279"/>
              <p:cNvSpPr>
                <a:spLocks noChangeShapeType="1"/>
              </p:cNvSpPr>
              <p:nvPr/>
            </p:nvSpPr>
            <p:spPr bwMode="auto">
              <a:xfrm>
                <a:off x="2517" y="18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3" name="Line 280"/>
              <p:cNvSpPr>
                <a:spLocks noChangeShapeType="1"/>
              </p:cNvSpPr>
              <p:nvPr/>
            </p:nvSpPr>
            <p:spPr bwMode="auto">
              <a:xfrm flipH="1">
                <a:off x="2517" y="2143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4" name="Line 281"/>
              <p:cNvSpPr>
                <a:spLocks noChangeShapeType="1"/>
              </p:cNvSpPr>
              <p:nvPr/>
            </p:nvSpPr>
            <p:spPr bwMode="auto">
              <a:xfrm>
                <a:off x="2517" y="2479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5" name="Line 282"/>
              <p:cNvSpPr>
                <a:spLocks noChangeShapeType="1"/>
              </p:cNvSpPr>
              <p:nvPr/>
            </p:nvSpPr>
            <p:spPr bwMode="auto">
              <a:xfrm>
                <a:off x="2517" y="2815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6" name="Line 283"/>
              <p:cNvSpPr>
                <a:spLocks noChangeShapeType="1"/>
              </p:cNvSpPr>
              <p:nvPr/>
            </p:nvSpPr>
            <p:spPr bwMode="auto">
              <a:xfrm>
                <a:off x="2517" y="3007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2" name="Group 284"/>
            <p:cNvGrpSpPr/>
            <p:nvPr/>
          </p:nvGrpSpPr>
          <p:grpSpPr bwMode="auto">
            <a:xfrm>
              <a:off x="3216" y="1549"/>
              <a:ext cx="0" cy="1632"/>
              <a:chOff x="3216" y="1549"/>
              <a:chExt cx="0" cy="1632"/>
            </a:xfrm>
          </p:grpSpPr>
          <p:sp>
            <p:nvSpPr>
              <p:cNvPr id="59465" name="Line 285"/>
              <p:cNvSpPr>
                <a:spLocks noChangeShapeType="1"/>
              </p:cNvSpPr>
              <p:nvPr/>
            </p:nvSpPr>
            <p:spPr bwMode="auto">
              <a:xfrm>
                <a:off x="3216" y="1549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6" name="Line 286"/>
              <p:cNvSpPr>
                <a:spLocks noChangeShapeType="1"/>
              </p:cNvSpPr>
              <p:nvPr/>
            </p:nvSpPr>
            <p:spPr bwMode="auto">
              <a:xfrm>
                <a:off x="3216" y="1789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7" name="Line 287"/>
              <p:cNvSpPr>
                <a:spLocks noChangeShapeType="1"/>
              </p:cNvSpPr>
              <p:nvPr/>
            </p:nvSpPr>
            <p:spPr bwMode="auto">
              <a:xfrm flipH="1">
                <a:off x="3216" y="2125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8" name="Line 288"/>
              <p:cNvSpPr>
                <a:spLocks noChangeShapeType="1"/>
              </p:cNvSpPr>
              <p:nvPr/>
            </p:nvSpPr>
            <p:spPr bwMode="auto">
              <a:xfrm>
                <a:off x="3216" y="2461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9" name="Line 289"/>
              <p:cNvSpPr>
                <a:spLocks noChangeShapeType="1"/>
              </p:cNvSpPr>
              <p:nvPr/>
            </p:nvSpPr>
            <p:spPr bwMode="auto">
              <a:xfrm>
                <a:off x="3216" y="2797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70" name="Line 290"/>
              <p:cNvSpPr>
                <a:spLocks noChangeShapeType="1"/>
              </p:cNvSpPr>
              <p:nvPr/>
            </p:nvSpPr>
            <p:spPr bwMode="auto">
              <a:xfrm>
                <a:off x="3216" y="2989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3" name="Group 291"/>
            <p:cNvGrpSpPr/>
            <p:nvPr/>
          </p:nvGrpSpPr>
          <p:grpSpPr bwMode="auto">
            <a:xfrm>
              <a:off x="4377" y="1530"/>
              <a:ext cx="0" cy="1632"/>
              <a:chOff x="4377" y="1530"/>
              <a:chExt cx="0" cy="1632"/>
            </a:xfrm>
          </p:grpSpPr>
          <p:sp>
            <p:nvSpPr>
              <p:cNvPr id="59459" name="Line 292"/>
              <p:cNvSpPr>
                <a:spLocks noChangeShapeType="1"/>
              </p:cNvSpPr>
              <p:nvPr/>
            </p:nvSpPr>
            <p:spPr bwMode="auto">
              <a:xfrm>
                <a:off x="4377" y="1530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0" name="Line 293"/>
              <p:cNvSpPr>
                <a:spLocks noChangeShapeType="1"/>
              </p:cNvSpPr>
              <p:nvPr/>
            </p:nvSpPr>
            <p:spPr bwMode="auto">
              <a:xfrm>
                <a:off x="4377" y="177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1" name="Line 294"/>
              <p:cNvSpPr>
                <a:spLocks noChangeShapeType="1"/>
              </p:cNvSpPr>
              <p:nvPr/>
            </p:nvSpPr>
            <p:spPr bwMode="auto">
              <a:xfrm flipH="1">
                <a:off x="4377" y="2106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2" name="Line 295"/>
              <p:cNvSpPr>
                <a:spLocks noChangeShapeType="1"/>
              </p:cNvSpPr>
              <p:nvPr/>
            </p:nvSpPr>
            <p:spPr bwMode="auto">
              <a:xfrm>
                <a:off x="4377" y="244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3" name="Line 296"/>
              <p:cNvSpPr>
                <a:spLocks noChangeShapeType="1"/>
              </p:cNvSpPr>
              <p:nvPr/>
            </p:nvSpPr>
            <p:spPr bwMode="auto">
              <a:xfrm>
                <a:off x="4377" y="2778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64" name="Line 297"/>
              <p:cNvSpPr>
                <a:spLocks noChangeShapeType="1"/>
              </p:cNvSpPr>
              <p:nvPr/>
            </p:nvSpPr>
            <p:spPr bwMode="auto">
              <a:xfrm>
                <a:off x="4377" y="297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4" name="Group 298"/>
            <p:cNvGrpSpPr/>
            <p:nvPr/>
          </p:nvGrpSpPr>
          <p:grpSpPr bwMode="auto">
            <a:xfrm>
              <a:off x="2118" y="1508"/>
              <a:ext cx="0" cy="1632"/>
              <a:chOff x="1746" y="1503"/>
              <a:chExt cx="0" cy="1632"/>
            </a:xfrm>
          </p:grpSpPr>
          <p:sp>
            <p:nvSpPr>
              <p:cNvPr id="59453" name="Line 299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4" name="Line 300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5" name="Line 301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6" name="Line 302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7" name="Line 303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8" name="Line 304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5" name="Group 305"/>
            <p:cNvGrpSpPr/>
            <p:nvPr/>
          </p:nvGrpSpPr>
          <p:grpSpPr bwMode="auto">
            <a:xfrm>
              <a:off x="2826" y="1508"/>
              <a:ext cx="0" cy="1632"/>
              <a:chOff x="1746" y="1503"/>
              <a:chExt cx="0" cy="1632"/>
            </a:xfrm>
          </p:grpSpPr>
          <p:sp>
            <p:nvSpPr>
              <p:cNvPr id="59447" name="Line 306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8" name="Line 307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9" name="Line 308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0" name="Line 309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1" name="Line 310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52" name="Line 311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6" name="Group 312"/>
            <p:cNvGrpSpPr/>
            <p:nvPr/>
          </p:nvGrpSpPr>
          <p:grpSpPr bwMode="auto">
            <a:xfrm>
              <a:off x="3597" y="1508"/>
              <a:ext cx="0" cy="1632"/>
              <a:chOff x="1746" y="1503"/>
              <a:chExt cx="0" cy="1632"/>
            </a:xfrm>
          </p:grpSpPr>
          <p:sp>
            <p:nvSpPr>
              <p:cNvPr id="59441" name="Line 313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2" name="Line 314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3" name="Line 315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4" name="Line 316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5" name="Line 317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6" name="Line 318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7" name="Group 319"/>
            <p:cNvGrpSpPr/>
            <p:nvPr/>
          </p:nvGrpSpPr>
          <p:grpSpPr bwMode="auto">
            <a:xfrm>
              <a:off x="3978" y="1498"/>
              <a:ext cx="0" cy="1632"/>
              <a:chOff x="1746" y="1503"/>
              <a:chExt cx="0" cy="1632"/>
            </a:xfrm>
          </p:grpSpPr>
          <p:sp>
            <p:nvSpPr>
              <p:cNvPr id="59435" name="Line 320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6" name="Line 321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7" name="Line 322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8" name="Line 323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9" name="Line 324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40" name="Line 325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428" name="Group 326"/>
            <p:cNvGrpSpPr/>
            <p:nvPr/>
          </p:nvGrpSpPr>
          <p:grpSpPr bwMode="auto">
            <a:xfrm>
              <a:off x="4767" y="1525"/>
              <a:ext cx="0" cy="1632"/>
              <a:chOff x="1746" y="1503"/>
              <a:chExt cx="0" cy="1632"/>
            </a:xfrm>
          </p:grpSpPr>
          <p:sp>
            <p:nvSpPr>
              <p:cNvPr id="59429" name="Line 327"/>
              <p:cNvSpPr>
                <a:spLocks noChangeShapeType="1"/>
              </p:cNvSpPr>
              <p:nvPr/>
            </p:nvSpPr>
            <p:spPr bwMode="auto">
              <a:xfrm>
                <a:off x="1746" y="1503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0" name="Line 328"/>
              <p:cNvSpPr>
                <a:spLocks noChangeShapeType="1"/>
              </p:cNvSpPr>
              <p:nvPr/>
            </p:nvSpPr>
            <p:spPr bwMode="auto">
              <a:xfrm>
                <a:off x="1746" y="1743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1" name="Line 329"/>
              <p:cNvSpPr>
                <a:spLocks noChangeShapeType="1"/>
              </p:cNvSpPr>
              <p:nvPr/>
            </p:nvSpPr>
            <p:spPr bwMode="auto">
              <a:xfrm flipH="1">
                <a:off x="1746" y="2079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2" name="Line 330"/>
              <p:cNvSpPr>
                <a:spLocks noChangeShapeType="1"/>
              </p:cNvSpPr>
              <p:nvPr/>
            </p:nvSpPr>
            <p:spPr bwMode="auto">
              <a:xfrm>
                <a:off x="1746" y="2415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3" name="Line 331"/>
              <p:cNvSpPr>
                <a:spLocks noChangeShapeType="1"/>
              </p:cNvSpPr>
              <p:nvPr/>
            </p:nvSpPr>
            <p:spPr bwMode="auto">
              <a:xfrm>
                <a:off x="1746" y="2751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434" name="Line 332"/>
              <p:cNvSpPr>
                <a:spLocks noChangeShapeType="1"/>
              </p:cNvSpPr>
              <p:nvPr/>
            </p:nvSpPr>
            <p:spPr bwMode="auto">
              <a:xfrm>
                <a:off x="1746" y="294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212301" name="Line 333"/>
          <p:cNvSpPr>
            <a:spLocks noChangeShapeType="1"/>
          </p:cNvSpPr>
          <p:nvPr/>
        </p:nvSpPr>
        <p:spPr bwMode="auto">
          <a:xfrm>
            <a:off x="7567613" y="517683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nimBg="1"/>
      <p:bldP spid="211971" grpId="0" animBg="1"/>
      <p:bldP spid="211972" grpId="0" animBg="1"/>
      <p:bldP spid="211973" grpId="0" animBg="1"/>
      <p:bldP spid="211974" grpId="0" animBg="1"/>
      <p:bldP spid="211975" grpId="0" animBg="1"/>
      <p:bldP spid="211976" grpId="0" animBg="1"/>
      <p:bldP spid="211977" grpId="0" animBg="1"/>
      <p:bldP spid="211978" grpId="0" animBg="1"/>
      <p:bldP spid="211979" grpId="0" animBg="1"/>
      <p:bldP spid="211980" grpId="0" animBg="1"/>
      <p:bldP spid="211981" grpId="0"/>
      <p:bldP spid="212152" grpId="0" animBg="1"/>
      <p:bldP spid="212153" grpId="0" animBg="1"/>
      <p:bldP spid="212154" grpId="0" animBg="1"/>
      <p:bldP spid="212155" grpId="0" animBg="1"/>
      <p:bldP spid="212156" grpId="0" animBg="1"/>
      <p:bldP spid="212157" grpId="0" animBg="1"/>
      <p:bldP spid="212158" grpId="0" animBg="1"/>
      <p:bldP spid="212301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演示</Application>
  <PresentationFormat>全屏显示(4:3)</PresentationFormat>
  <Paragraphs>857</Paragraphs>
  <Slides>26</Slides>
  <Notes>71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26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黑体</vt:lpstr>
      <vt:lpstr>Times New Roman</vt:lpstr>
      <vt:lpstr>微软雅黑</vt:lpstr>
      <vt:lpstr>Arial Unicode MS</vt:lpstr>
      <vt:lpstr>Century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zhanjy</dc:creator>
  <cp:lastModifiedBy>86173</cp:lastModifiedBy>
  <cp:revision>246</cp:revision>
  <dcterms:created xsi:type="dcterms:W3CDTF">2008-09-03T07:31:00Z</dcterms:created>
  <dcterms:modified xsi:type="dcterms:W3CDTF">2020-09-13T11:09:16Z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