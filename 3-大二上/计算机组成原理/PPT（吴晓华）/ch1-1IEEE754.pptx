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9"/>
  </p:handoutMasterIdLst>
  <p:sldIdLst>
    <p:sldId id="257" r:id="rId3"/>
    <p:sldId id="337" r:id="rId5"/>
    <p:sldId id="310" r:id="rId6"/>
    <p:sldId id="311" r:id="rId7"/>
    <p:sldId id="312" r:id="rId8"/>
    <p:sldId id="258" r:id="rId9"/>
    <p:sldId id="338" r:id="rId10"/>
    <p:sldId id="339" r:id="rId11"/>
    <p:sldId id="362" r:id="rId12"/>
    <p:sldId id="331" r:id="rId13"/>
    <p:sldId id="332" r:id="rId14"/>
    <p:sldId id="343" r:id="rId15"/>
    <p:sldId id="344" r:id="rId16"/>
    <p:sldId id="334" r:id="rId17"/>
    <p:sldId id="378" r:id="rId18"/>
  </p:sldIdLst>
  <p:sldSz cx="9144000" cy="6858000" type="screen4x3"/>
  <p:notesSz cx="6858000" cy="9144000"/>
  <p:custDataLst>
    <p:tags r:id="rId23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9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Rg st="1" end="14"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0000"/>
    <a:srgbClr val="FF3300"/>
    <a:srgbClr val="FFBF09"/>
    <a:srgbClr val="000099"/>
    <a:srgbClr val="FDFBFB"/>
    <a:srgbClr val="3333FF"/>
    <a:srgbClr val="F0DADA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73"/>
    <p:restoredTop sz="94649"/>
  </p:normalViewPr>
  <p:slideViewPr>
    <p:cSldViewPr showGuides="1">
      <p:cViewPr>
        <p:scale>
          <a:sx n="66" d="100"/>
          <a:sy n="66" d="100"/>
        </p:scale>
        <p:origin x="-942" y="-114"/>
      </p:cViewPr>
      <p:guideLst>
        <p:guide orient="horz" pos="2159"/>
        <p:guide pos="290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7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gs" Target="tags/tag4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p>
            <a:pPr lvl="0" indent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6146" name="Rectangle 2"/>
          <p:cNvSpPr>
            <a:spLocks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6147" name="Rectangle 3"/>
          <p:cNvSpPr/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40" tIns="45720" rIns="91440" bIns="45720" anchor="t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p>
            <a:pPr lvl="0" indent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9698" name="Rectangle 2"/>
          <p:cNvSpPr>
            <a:spLocks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29699" name="Rectangle 3"/>
          <p:cNvSpPr/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40" tIns="45720" rIns="91440" bIns="45720" anchor="t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-1035050" y="1552575"/>
            <a:ext cx="10179050" cy="5305425"/>
            <a:chOff x="-652" y="978"/>
            <a:chExt cx="6412" cy="3342"/>
          </a:xfrm>
        </p:grpSpPr>
        <p:sp>
          <p:nvSpPr>
            <p:cNvPr id="8" name="Freeform 3"/>
            <p:cNvSpPr/>
            <p:nvPr/>
          </p:nvSpPr>
          <p:spPr bwMode="auto">
            <a:xfrm>
              <a:off x="2061" y="1707"/>
              <a:ext cx="3699" cy="2613"/>
            </a:xfrm>
            <a:custGeom>
              <a:avLst/>
              <a:gdLst>
                <a:gd name="T0" fmla="*/ 1523 w 3699"/>
                <a:gd name="T1" fmla="*/ 2611 h 2613"/>
                <a:gd name="T2" fmla="*/ 3698 w 3699"/>
                <a:gd name="T3" fmla="*/ 2612 h 2613"/>
                <a:gd name="T4" fmla="*/ 3698 w 3699"/>
                <a:gd name="T5" fmla="*/ 2228 h 2613"/>
                <a:gd name="T6" fmla="*/ 0 w 3699"/>
                <a:gd name="T7" fmla="*/ 0 h 2613"/>
                <a:gd name="T8" fmla="*/ 160 w 3699"/>
                <a:gd name="T9" fmla="*/ 118 h 2613"/>
                <a:gd name="T10" fmla="*/ 292 w 3699"/>
                <a:gd name="T11" fmla="*/ 219 h 2613"/>
                <a:gd name="T12" fmla="*/ 441 w 3699"/>
                <a:gd name="T13" fmla="*/ 347 h 2613"/>
                <a:gd name="T14" fmla="*/ 585 w 3699"/>
                <a:gd name="T15" fmla="*/ 482 h 2613"/>
                <a:gd name="T16" fmla="*/ 796 w 3699"/>
                <a:gd name="T17" fmla="*/ 711 h 2613"/>
                <a:gd name="T18" fmla="*/ 983 w 3699"/>
                <a:gd name="T19" fmla="*/ 955 h 2613"/>
                <a:gd name="T20" fmla="*/ 1119 w 3699"/>
                <a:gd name="T21" fmla="*/ 1168 h 2613"/>
                <a:gd name="T22" fmla="*/ 1238 w 3699"/>
                <a:gd name="T23" fmla="*/ 1388 h 2613"/>
                <a:gd name="T24" fmla="*/ 1331 w 3699"/>
                <a:gd name="T25" fmla="*/ 1608 h 2613"/>
                <a:gd name="T26" fmla="*/ 1400 w 3699"/>
                <a:gd name="T27" fmla="*/ 1809 h 2613"/>
                <a:gd name="T28" fmla="*/ 1447 w 3699"/>
                <a:gd name="T29" fmla="*/ 1979 h 2613"/>
                <a:gd name="T30" fmla="*/ 1490 w 3699"/>
                <a:gd name="T31" fmla="*/ 2190 h 2613"/>
                <a:gd name="T32" fmla="*/ 1511 w 3699"/>
                <a:gd name="T33" fmla="*/ 2374 h 2613"/>
                <a:gd name="T34" fmla="*/ 1523 w 3699"/>
                <a:gd name="T35" fmla="*/ 2611 h 2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Arc 4"/>
            <p:cNvSpPr/>
            <p:nvPr/>
          </p:nvSpPr>
          <p:spPr bwMode="auto">
            <a:xfrm>
              <a:off x="-652" y="978"/>
              <a:ext cx="4237" cy="3342"/>
            </a:xfrm>
            <a:custGeom>
              <a:avLst/>
              <a:gdLst>
                <a:gd name="T0" fmla="*/ 0 w 21600"/>
                <a:gd name="T1" fmla="*/ 0 h 21231"/>
                <a:gd name="T2" fmla="*/ 0 w 21600"/>
                <a:gd name="T3" fmla="*/ 0 h 21231"/>
                <a:gd name="T4" fmla="*/ 0 w 21600"/>
                <a:gd name="T5" fmla="*/ 0 h 212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231" fill="none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lnTo>
                    <a:pt x="3976" y="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16069" name="Rectangle 5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1293813" y="762000"/>
            <a:ext cx="7772400" cy="1143000"/>
          </a:xfrm>
          <a:prstGeom prst="rect">
            <a:avLst/>
          </a:prstGeom>
          <a:noFill/>
        </p:spPr>
        <p:txBody>
          <a:bodyPr vert="horz" wrap="square" lIns="92075" tIns="46038" rIns="92075" bIns="46038" numCol="1" anchor="b" anchorCtr="0" compatLnSpc="1"/>
          <a:lstStyle>
            <a:lvl1pPr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单击此处编辑母版标题样式</a:t>
            </a:r>
            <a:endParaRPr lang="zh-CN" altLang="en-US" strike="noStrike" noProof="0" smtClean="0"/>
          </a:p>
        </p:txBody>
      </p:sp>
      <p:sp>
        <p:nvSpPr>
          <p:cNvPr id="216070" name="Rectangle 6"/>
          <p:cNvSpPr>
            <a:spLocks noGrp="1" noChangeArrowheads="1"/>
          </p:cNvSpPr>
          <p:nvPr>
            <p:ph type="subTitle" sz="quarter" idx="1"/>
          </p:nvPr>
        </p:nvSpPr>
        <p:spPr bwMode="auto">
          <a:xfrm>
            <a:off x="685800" y="3429000"/>
            <a:ext cx="6400800" cy="1752600"/>
          </a:xfrm>
          <a:prstGeom prst="rect">
            <a:avLst/>
          </a:prstGeom>
          <a:noFill/>
        </p:spPr>
        <p:txBody>
          <a:bodyPr vert="horz" wrap="square" lIns="92075" tIns="46038" rIns="92075" bIns="46038" numCol="1" anchor="ctr" anchorCtr="0" compatLnSpc="1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单击此处编辑母版副标题样式</a:t>
            </a:r>
            <a:endParaRPr lang="zh-CN" altLang="en-US" strike="noStrike" noProof="0" smtClean="0"/>
          </a:p>
        </p:txBody>
      </p:sp>
      <p:sp>
        <p:nvSpPr>
          <p:cNvPr id="10" name="Rectangle 7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2075" tIns="46038" rIns="92075" bIns="46038" numCol="1" anchor="ctr" anchorCtr="0" compatLnSpc="1"/>
          <a:lstStyle>
            <a:lvl1pPr>
              <a:defRPr kumimoji="0"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p>
            <a:pPr algn="r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29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29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29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29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29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29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29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29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29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29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29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29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/>
          <p:nvPr/>
        </p:nvGrpSpPr>
        <p:grpSpPr>
          <a:xfrm>
            <a:off x="0" y="1588"/>
            <a:ext cx="9132888" cy="6845300"/>
            <a:chOff x="0" y="1"/>
            <a:chExt cx="5753" cy="4312"/>
          </a:xfrm>
        </p:grpSpPr>
        <p:sp>
          <p:nvSpPr>
            <p:cNvPr id="215043" name="Freeform 3"/>
            <p:cNvSpPr/>
            <p:nvPr/>
          </p:nvSpPr>
          <p:spPr bwMode="auto">
            <a:xfrm>
              <a:off x="3394" y="999"/>
              <a:ext cx="2359" cy="3314"/>
            </a:xfrm>
            <a:custGeom>
              <a:avLst/>
              <a:gdLst>
                <a:gd name="T0" fmla="*/ 1905 w 2359"/>
                <a:gd name="T1" fmla="*/ 3312 h 3314"/>
                <a:gd name="T2" fmla="*/ 2358 w 2359"/>
                <a:gd name="T3" fmla="*/ 3313 h 3314"/>
                <a:gd name="T4" fmla="*/ 2358 w 2359"/>
                <a:gd name="T5" fmla="*/ 1437 h 3314"/>
                <a:gd name="T6" fmla="*/ 0 w 2359"/>
                <a:gd name="T7" fmla="*/ 0 h 3314"/>
                <a:gd name="T8" fmla="*/ 201 w 2359"/>
                <a:gd name="T9" fmla="*/ 150 h 3314"/>
                <a:gd name="T10" fmla="*/ 366 w 2359"/>
                <a:gd name="T11" fmla="*/ 279 h 3314"/>
                <a:gd name="T12" fmla="*/ 552 w 2359"/>
                <a:gd name="T13" fmla="*/ 441 h 3314"/>
                <a:gd name="T14" fmla="*/ 732 w 2359"/>
                <a:gd name="T15" fmla="*/ 612 h 3314"/>
                <a:gd name="T16" fmla="*/ 996 w 2359"/>
                <a:gd name="T17" fmla="*/ 903 h 3314"/>
                <a:gd name="T18" fmla="*/ 1230 w 2359"/>
                <a:gd name="T19" fmla="*/ 1212 h 3314"/>
                <a:gd name="T20" fmla="*/ 1400 w 2359"/>
                <a:gd name="T21" fmla="*/ 1482 h 3314"/>
                <a:gd name="T22" fmla="*/ 1548 w 2359"/>
                <a:gd name="T23" fmla="*/ 1761 h 3314"/>
                <a:gd name="T24" fmla="*/ 1665 w 2359"/>
                <a:gd name="T25" fmla="*/ 2040 h 3314"/>
                <a:gd name="T26" fmla="*/ 1751 w 2359"/>
                <a:gd name="T27" fmla="*/ 2295 h 3314"/>
                <a:gd name="T28" fmla="*/ 1809 w 2359"/>
                <a:gd name="T29" fmla="*/ 2511 h 3314"/>
                <a:gd name="T30" fmla="*/ 1863 w 2359"/>
                <a:gd name="T31" fmla="*/ 2778 h 3314"/>
                <a:gd name="T32" fmla="*/ 1890 w 2359"/>
                <a:gd name="T33" fmla="*/ 3012 h 3314"/>
                <a:gd name="T34" fmla="*/ 1905 w 2359"/>
                <a:gd name="T35" fmla="*/ 3312 h 3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0" name="Arc 4"/>
            <p:cNvSpPr/>
            <p:nvPr/>
          </p:nvSpPr>
          <p:spPr bwMode="auto">
            <a:xfrm>
              <a:off x="0" y="1"/>
              <a:ext cx="5298" cy="431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1504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l">
              <a:defRPr kumimoji="0"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04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r">
              <a:defRPr sz="1400"/>
            </a:lvl1pPr>
          </a:lstStyle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29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NULL" TargetMode="Externa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NULL" TargetMode="Externa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4" name="Text Box 2"/>
          <p:cNvSpPr txBox="1"/>
          <p:nvPr/>
        </p:nvSpPr>
        <p:spPr>
          <a:xfrm>
            <a:off x="189230" y="476250"/>
            <a:ext cx="9104630" cy="1476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ch1-1 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600" b="1" dirty="0">
                <a:solidFill>
                  <a:srgbClr val="FFFF00"/>
                </a:solidFill>
                <a:ea typeface="黑体" panose="02010609060101010101" pitchFamily="49" charset="-122"/>
                <a:sym typeface="Wingdings" panose="05000000000000000000" pitchFamily="2" charset="2"/>
              </a:rPr>
              <a:t>规格化浮点数、</a:t>
            </a:r>
            <a:r>
              <a:rPr lang="en-US" altLang="zh-CN" sz="3600" b="1" dirty="0">
                <a:solidFill>
                  <a:schemeClr val="folHlink"/>
                </a:solidFill>
                <a:sym typeface="+mn-ea"/>
              </a:rPr>
              <a:t> </a:t>
            </a: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IEEE754 </a:t>
            </a:r>
            <a:r>
              <a:rPr lang="zh-CN" altLang="en-US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的标准</a:t>
            </a:r>
            <a:endParaRPr lang="zh-CN" altLang="en-US" sz="3600" b="1" dirty="0">
              <a:latin typeface="Times New Roman" panose="02020603050405020304" pitchFamily="18" charset="0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5474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0547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2"/>
          <p:cNvSpPr txBox="1"/>
          <p:nvPr/>
        </p:nvSpPr>
        <p:spPr>
          <a:xfrm>
            <a:off x="0" y="765175"/>
            <a:ext cx="8540750" cy="609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3200" b="1" dirty="0">
                <a:solidFill>
                  <a:srgbClr val="FDFBF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 b="1" dirty="0">
                <a:solidFill>
                  <a:srgbClr val="FDFBF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.1.3 定点数与浮点数</a:t>
            </a:r>
            <a:endParaRPr lang="zh-CN" altLang="en-US" sz="3200" b="1" dirty="0">
              <a:solidFill>
                <a:srgbClr val="FDFBF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436" name="Rectangle 2"/>
          <p:cNvSpPr/>
          <p:nvPr/>
        </p:nvSpPr>
        <p:spPr>
          <a:xfrm>
            <a:off x="269875" y="1700213"/>
            <a:ext cx="8874125" cy="3886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342900" indent="-342900" algn="ct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3200" b="1" dirty="0">
                <a:latin typeface="Times New Roman" panose="02020603050405020304" pitchFamily="18" charset="0"/>
              </a:rPr>
              <a:t>计算机中常用的数据表示格式有两种，一是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定点格式</a:t>
            </a:r>
            <a:r>
              <a:rPr lang="zh-CN" altLang="en-US" sz="3200" b="1" dirty="0">
                <a:latin typeface="Times New Roman" panose="02020603050405020304" pitchFamily="18" charset="0"/>
              </a:rPr>
              <a:t>，二是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浮点格式</a:t>
            </a:r>
            <a:endParaRPr lang="en-US" altLang="zh-CN" sz="3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pPr marL="342900" indent="-342900" algn="ct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lang="zh-CN" altLang="en-US" sz="3200" b="1" dirty="0">
              <a:latin typeface="Times New Roman" panose="02020603050405020304" pitchFamily="18" charset="0"/>
            </a:endParaRPr>
          </a:p>
          <a:p>
            <a:pPr marL="742950" lvl="1" indent="-285750" algn="ctr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定点格式</a:t>
            </a:r>
            <a:r>
              <a:rPr lang="zh-CN" altLang="en-US" sz="2800" b="1" dirty="0">
                <a:latin typeface="Times New Roman" panose="02020603050405020304" pitchFamily="18" charset="0"/>
              </a:rPr>
              <a:t>表示的数值范围有限，但要求的处理硬件比较简单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742950" lvl="1" indent="-285750" algn="ctr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浮点格式</a:t>
            </a:r>
            <a:r>
              <a:rPr lang="zh-CN" altLang="en-US" sz="2800" b="1" dirty="0">
                <a:latin typeface="Times New Roman" panose="02020603050405020304" pitchFamily="18" charset="0"/>
              </a:rPr>
              <a:t>表示的数值范围很大，但要求的处理硬件比较复杂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843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6611" name="Rectangle 3"/>
          <p:cNvSpPr/>
          <p:nvPr>
            <p:ph type="body" sz="half" idx="1"/>
          </p:nvPr>
        </p:nvSpPr>
        <p:spPr>
          <a:xfrm>
            <a:off x="395288" y="404813"/>
            <a:ext cx="8305800" cy="6121400"/>
          </a:xfrm>
          <a:noFill/>
          <a:ln>
            <a:noFill/>
          </a:ln>
        </p:spPr>
        <p:txBody>
          <a:bodyPr anchor="t"/>
          <a:p>
            <a:pPr eaLnBrk="1" hangingPunct="1">
              <a:lnSpc>
                <a:spcPct val="9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DFBF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1、定点表示法</a:t>
            </a:r>
            <a:endParaRPr lang="zh-CN" altLang="en-US" sz="2800" b="1" dirty="0">
              <a:solidFill>
                <a:srgbClr val="FDFBF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400" b="1" dirty="0"/>
              <a:t>	</a:t>
            </a:r>
            <a:r>
              <a:rPr lang="zh-CN" altLang="en-US" sz="2800" b="1" dirty="0"/>
              <a:t>由程序设计者约定，该程序中</a:t>
            </a:r>
            <a:r>
              <a:rPr lang="zh-CN" altLang="en-US" sz="2800" b="1" dirty="0">
                <a:solidFill>
                  <a:srgbClr val="FFBF09"/>
                </a:solidFill>
              </a:rPr>
              <a:t>所有数的小数点固定在同一位置不变。</a:t>
            </a:r>
            <a:endParaRPr lang="en-US" altLang="zh-CN" sz="2800" b="1" dirty="0">
              <a:solidFill>
                <a:srgbClr val="FFBF09"/>
              </a:solidFill>
            </a:endParaRPr>
          </a:p>
          <a:p>
            <a:pPr eaLnBrk="1" hangingPunct="1">
              <a:lnSpc>
                <a:spcPct val="9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zh-CN" altLang="en-US" sz="2800" b="1" dirty="0">
              <a:solidFill>
                <a:srgbClr val="FFBF09"/>
              </a:solidFill>
            </a:endParaRPr>
          </a:p>
          <a:p>
            <a:pPr eaLnBrk="1" hangingPunct="1">
              <a:lnSpc>
                <a:spcPct val="9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b="1" dirty="0"/>
              <a:t>	      </a:t>
            </a:r>
            <a:r>
              <a:rPr lang="zh-CN" altLang="en-US" sz="2800" b="1" dirty="0">
                <a:solidFill>
                  <a:schemeClr val="accent1"/>
                </a:solidFill>
              </a:rPr>
              <a:t>① 带符号的定点小数：</a:t>
            </a:r>
            <a:r>
              <a:rPr lang="zh-CN" altLang="en-US" sz="2800" b="1" dirty="0"/>
              <a:t>约定所有数的小数点的位置固定在</a:t>
            </a:r>
            <a:r>
              <a:rPr lang="zh-CN" altLang="en-US" sz="2800" b="1" u="sng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符号位</a:t>
            </a:r>
            <a:r>
              <a:rPr lang="zh-CN" altLang="en-US" sz="2800" b="1" dirty="0"/>
              <a:t>之后。</a:t>
            </a:r>
            <a:endParaRPr lang="zh-CN" altLang="en-US" sz="2800" b="1" dirty="0"/>
          </a:p>
          <a:p>
            <a:pPr eaLnBrk="1" hangingPunct="1">
              <a:lnSpc>
                <a:spcPct val="9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400" b="1" dirty="0"/>
              <a:t>		</a:t>
            </a:r>
            <a:endParaRPr lang="zh-CN" altLang="en-US" sz="2400" b="1" dirty="0"/>
          </a:p>
          <a:p>
            <a:pPr eaLnBrk="1" hangingPunct="1">
              <a:lnSpc>
                <a:spcPct val="9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zh-CN" altLang="en-US" sz="2400" b="1" dirty="0"/>
          </a:p>
          <a:p>
            <a:pPr eaLnBrk="1" hangingPunct="1">
              <a:lnSpc>
                <a:spcPct val="9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400" b="1" dirty="0"/>
              <a:t>			</a:t>
            </a:r>
            <a:endParaRPr lang="en-US" altLang="zh-CN" sz="2400" b="1" dirty="0"/>
          </a:p>
          <a:p>
            <a:pPr eaLnBrk="1" hangingPunct="1">
              <a:lnSpc>
                <a:spcPct val="9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zh-CN" altLang="en-US" sz="2400" b="1" dirty="0"/>
          </a:p>
          <a:p>
            <a:pPr eaLnBrk="1" hangingPunct="1">
              <a:lnSpc>
                <a:spcPct val="9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zh-CN" altLang="en-US" sz="2400" b="1" dirty="0"/>
          </a:p>
          <a:p>
            <a:pPr eaLnBrk="1" hangingPunct="1">
              <a:lnSpc>
                <a:spcPct val="9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/>
              <a:t>设字长= </a:t>
            </a:r>
            <a:r>
              <a:rPr lang="en-US" altLang="zh-CN" sz="2800" b="1" dirty="0"/>
              <a:t>n+1</a:t>
            </a:r>
            <a:r>
              <a:rPr lang="zh-CN" altLang="en-US" sz="2800" b="1" dirty="0"/>
              <a:t>位，表示范围为：</a:t>
            </a:r>
            <a:endParaRPr lang="zh-CN" altLang="en-US" sz="2800" b="1" dirty="0"/>
          </a:p>
          <a:p>
            <a:pPr algn="ctr" eaLnBrk="1" hangingPunct="1">
              <a:lnSpc>
                <a:spcPct val="9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accent1"/>
                </a:solidFill>
              </a:rPr>
              <a:t>1-2</a:t>
            </a:r>
            <a:r>
              <a:rPr lang="zh-CN" altLang="en-US" b="1" baseline="30000" dirty="0">
                <a:solidFill>
                  <a:schemeClr val="accent1"/>
                </a:solidFill>
              </a:rPr>
              <a:t>-</a:t>
            </a:r>
            <a:r>
              <a:rPr lang="en-US" altLang="zh-CN" b="1" baseline="30000" dirty="0">
                <a:solidFill>
                  <a:schemeClr val="accent1"/>
                </a:solidFill>
              </a:rPr>
              <a:t>n</a:t>
            </a:r>
            <a:r>
              <a:rPr lang="en-US" altLang="zh-CN" b="1" dirty="0">
                <a:solidFill>
                  <a:schemeClr val="accent1"/>
                </a:solidFill>
              </a:rPr>
              <a:t>～-(1-2</a:t>
            </a:r>
            <a:r>
              <a:rPr lang="en-US" altLang="zh-CN" b="1" baseline="30000" dirty="0">
                <a:solidFill>
                  <a:schemeClr val="accent1"/>
                </a:solidFill>
              </a:rPr>
              <a:t>-n</a:t>
            </a:r>
            <a:r>
              <a:rPr lang="en-US" altLang="zh-CN" b="1" dirty="0">
                <a:solidFill>
                  <a:schemeClr val="accent1"/>
                </a:solidFill>
              </a:rPr>
              <a:t>)</a:t>
            </a:r>
            <a:endParaRPr lang="en-US" altLang="zh-CN" b="1" dirty="0">
              <a:solidFill>
                <a:schemeClr val="accent1"/>
              </a:solidFill>
            </a:endParaRPr>
          </a:p>
        </p:txBody>
      </p:sp>
      <p:grpSp>
        <p:nvGrpSpPr>
          <p:cNvPr id="2" name="Group 26"/>
          <p:cNvGrpSpPr/>
          <p:nvPr/>
        </p:nvGrpSpPr>
        <p:grpSpPr>
          <a:xfrm>
            <a:off x="2195513" y="3644900"/>
            <a:ext cx="4787900" cy="1612900"/>
            <a:chOff x="1383" y="2295"/>
            <a:chExt cx="3016" cy="1016"/>
          </a:xfrm>
        </p:grpSpPr>
        <p:sp>
          <p:nvSpPr>
            <p:cNvPr id="23555" name="Rectangle 5"/>
            <p:cNvSpPr/>
            <p:nvPr/>
          </p:nvSpPr>
          <p:spPr>
            <a:xfrm>
              <a:off x="1979" y="2295"/>
              <a:ext cx="2420" cy="36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/>
            <a:p>
              <a:pPr marL="342900" indent="-342900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3200" b="1" dirty="0">
                  <a:latin typeface="Times New Roman" panose="02020603050405020304" pitchFamily="18" charset="0"/>
                </a:rPr>
                <a:t>    ．  </a:t>
              </a:r>
              <a:r>
                <a:rPr lang="zh-CN" altLang="en-US" sz="3200" b="1" dirty="0">
                  <a:solidFill>
                    <a:srgbClr val="FFBF09"/>
                  </a:solidFill>
                  <a:latin typeface="Times New Roman" panose="02020603050405020304" pitchFamily="18" charset="0"/>
                </a:rPr>
                <a:t>0  1  0 1 1 1 0</a:t>
              </a:r>
              <a:endParaRPr lang="zh-CN" altLang="en-US" sz="3200" b="1" dirty="0">
                <a:solidFill>
                  <a:srgbClr val="FFBF0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56" name="Rectangle 6"/>
            <p:cNvSpPr/>
            <p:nvPr/>
          </p:nvSpPr>
          <p:spPr>
            <a:xfrm>
              <a:off x="1471" y="2295"/>
              <a:ext cx="508" cy="36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/>
            <a:p>
              <a:pPr marL="342900" indent="-342900" algn="ctr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32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  <a:endParaRPr lang="zh-CN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57" name="Line 9"/>
            <p:cNvSpPr/>
            <p:nvPr/>
          </p:nvSpPr>
          <p:spPr>
            <a:xfrm>
              <a:off x="1471" y="2295"/>
              <a:ext cx="0" cy="364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58" name="Line 10"/>
            <p:cNvSpPr/>
            <p:nvPr/>
          </p:nvSpPr>
          <p:spPr>
            <a:xfrm>
              <a:off x="4399" y="2295"/>
              <a:ext cx="0" cy="364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59" name="Line 11"/>
            <p:cNvSpPr/>
            <p:nvPr/>
          </p:nvSpPr>
          <p:spPr>
            <a:xfrm>
              <a:off x="1979" y="2295"/>
              <a:ext cx="0" cy="36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60" name="Line 7"/>
            <p:cNvSpPr/>
            <p:nvPr/>
          </p:nvSpPr>
          <p:spPr>
            <a:xfrm>
              <a:off x="1471" y="2295"/>
              <a:ext cx="2928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61" name="Line 8"/>
            <p:cNvSpPr/>
            <p:nvPr/>
          </p:nvSpPr>
          <p:spPr>
            <a:xfrm>
              <a:off x="1471" y="2659"/>
              <a:ext cx="2928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62" name="Text Box 13"/>
            <p:cNvSpPr txBox="1"/>
            <p:nvPr/>
          </p:nvSpPr>
          <p:spPr>
            <a:xfrm>
              <a:off x="2829" y="2975"/>
              <a:ext cx="1171" cy="33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54000" tIns="10800" rIns="54000" bIns="10800" anchor="t"/>
            <a:p>
              <a:pPr algn="ctr"/>
              <a:r>
                <a:rPr lang="zh-CN" altLang="en-US" b="1" dirty="0">
                  <a:solidFill>
                    <a:srgbClr val="FFBF09"/>
                  </a:solidFill>
                  <a:latin typeface="Times New Roman" panose="02020603050405020304" pitchFamily="18" charset="0"/>
                </a:rPr>
                <a:t>数值部分</a:t>
              </a:r>
              <a:endParaRPr lang="zh-CN" altLang="en-US" b="1" dirty="0">
                <a:solidFill>
                  <a:srgbClr val="FFBF0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563" name="AutoShape 14"/>
            <p:cNvSpPr/>
            <p:nvPr/>
          </p:nvSpPr>
          <p:spPr>
            <a:xfrm rot="-5400000">
              <a:off x="3314" y="2221"/>
              <a:ext cx="192" cy="1248"/>
            </a:xfrm>
            <a:prstGeom prst="leftBrace">
              <a:avLst>
                <a:gd name="adj1" fmla="val 54106"/>
                <a:gd name="adj2" fmla="val 50000"/>
              </a:avLst>
            </a:prstGeom>
            <a:noFill/>
            <a:ln w="38100" cap="flat" cmpd="sng">
              <a:solidFill>
                <a:srgbClr val="FFBF0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algn="ctr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3564" name="Text Box 15"/>
            <p:cNvSpPr txBox="1"/>
            <p:nvPr/>
          </p:nvSpPr>
          <p:spPr>
            <a:xfrm>
              <a:off x="1383" y="2976"/>
              <a:ext cx="703" cy="33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10800" rIns="0" bIns="10800" anchor="t"/>
            <a:p>
              <a:pPr algn="ctr"/>
              <a:r>
                <a:rPr lang="zh-CN" altLang="en-US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符号位</a:t>
              </a:r>
              <a:endParaRPr lang="zh-CN" altLang="en-US" b="1" dirty="0">
                <a:solidFill>
                  <a:schemeClr val="accent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565" name="Text Box 21"/>
            <p:cNvSpPr txBox="1"/>
            <p:nvPr/>
          </p:nvSpPr>
          <p:spPr>
            <a:xfrm>
              <a:off x="2058" y="2976"/>
              <a:ext cx="703" cy="33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10800" rIns="0" bIns="10800" anchor="t"/>
            <a:p>
              <a:pPr algn="ctr"/>
              <a:r>
                <a:rPr lang="zh-CN" altLang="en-US" b="1" dirty="0">
                  <a:solidFill>
                    <a:srgbClr val="FDFBFB"/>
                  </a:solidFill>
                  <a:latin typeface="Times New Roman" panose="02020603050405020304" pitchFamily="18" charset="0"/>
                </a:rPr>
                <a:t>小数点</a:t>
              </a:r>
              <a:endParaRPr lang="zh-CN" altLang="en-US" b="1" dirty="0">
                <a:solidFill>
                  <a:srgbClr val="FDFBFB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566" name="Line 24"/>
            <p:cNvSpPr/>
            <p:nvPr/>
          </p:nvSpPr>
          <p:spPr>
            <a:xfrm flipV="1">
              <a:off x="1698" y="2703"/>
              <a:ext cx="0" cy="226"/>
            </a:xfrm>
            <a:prstGeom prst="line">
              <a:avLst/>
            </a:prstGeom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3567" name="Line 25"/>
            <p:cNvSpPr/>
            <p:nvPr/>
          </p:nvSpPr>
          <p:spPr>
            <a:xfrm flipV="1">
              <a:off x="2333" y="2703"/>
              <a:ext cx="0" cy="22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6611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charRg st="9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6611">
                                            <p:txEl>
                                              <p:charRg st="9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charRg st="42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80"/>
                                        <p:tgtEl>
                                          <p:spTgt spid="196611">
                                            <p:txEl>
                                              <p:charRg st="42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80"/>
                                        <p:tgtEl>
                                          <p:spTgt spid="196611">
                                            <p:txEl>
                                              <p:charRg st="42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80"/>
                                        <p:tgtEl>
                                          <p:spTgt spid="196611">
                                            <p:txEl>
                                              <p:charRg st="42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charRg st="92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96611">
                                            <p:txEl>
                                              <p:charRg st="92" end="10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charRg st="109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4" dur="80"/>
                                        <p:tgtEl>
                                          <p:spTgt spid="196611">
                                            <p:txEl>
                                              <p:charRg st="109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5" dur="80"/>
                                        <p:tgtEl>
                                          <p:spTgt spid="196611">
                                            <p:txEl>
                                              <p:charRg st="109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80"/>
                                        <p:tgtEl>
                                          <p:spTgt spid="196611">
                                            <p:txEl>
                                              <p:charRg st="109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7634" name="Rectangle 2"/>
          <p:cNvSpPr/>
          <p:nvPr>
            <p:ph type="body" sz="half" idx="1"/>
          </p:nvPr>
        </p:nvSpPr>
        <p:spPr>
          <a:xfrm>
            <a:off x="228600" y="449263"/>
            <a:ext cx="8305800" cy="4203700"/>
          </a:xfrm>
          <a:noFill/>
          <a:ln>
            <a:noFill/>
          </a:ln>
        </p:spPr>
        <p:txBody>
          <a:bodyPr anchor="t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accent1"/>
                </a:solidFill>
              </a:rPr>
              <a:t>② 带符号的定点整数：</a:t>
            </a:r>
            <a:r>
              <a:rPr lang="zh-CN" altLang="en-US" sz="2800" b="1" dirty="0"/>
              <a:t>约定所有数的小数点的位置固定在</a:t>
            </a:r>
            <a:r>
              <a:rPr lang="zh-CN" altLang="en-US" sz="2800" b="1" u="sng" dirty="0">
                <a:solidFill>
                  <a:srgbClr val="FFFF00"/>
                </a:solidFill>
              </a:rPr>
              <a:t>最低数值位</a:t>
            </a:r>
            <a:r>
              <a:rPr lang="zh-CN" altLang="en-US" sz="2800" b="1" dirty="0"/>
              <a:t>之后。</a:t>
            </a:r>
            <a:endParaRPr lang="zh-CN" altLang="en-US" sz="2800" b="1" dirty="0"/>
          </a:p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zh-CN" altLang="en-US" sz="2800" b="1" dirty="0"/>
          </a:p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zh-CN" altLang="en-US" sz="2800" b="1" dirty="0"/>
          </a:p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zh-CN" altLang="en-US" sz="2800" b="1" dirty="0"/>
          </a:p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zh-CN" altLang="en-US" sz="2800" b="1" dirty="0"/>
          </a:p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zh-CN" altLang="en-US" sz="2800" b="1" dirty="0"/>
          </a:p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b="1" dirty="0"/>
              <a:t> 设字长=</a:t>
            </a:r>
            <a:r>
              <a:rPr lang="en-US" altLang="zh-CN" sz="2800" b="1" dirty="0"/>
              <a:t>n+1</a:t>
            </a:r>
            <a:r>
              <a:rPr lang="zh-CN" altLang="en-US" sz="2800" b="1" dirty="0"/>
              <a:t>位，表示范围为：</a:t>
            </a:r>
            <a:r>
              <a:rPr lang="zh-CN" altLang="en-US" sz="2800" b="1" dirty="0">
                <a:solidFill>
                  <a:srgbClr val="CC3300"/>
                </a:solidFill>
              </a:rPr>
              <a:t> </a:t>
            </a:r>
            <a:r>
              <a:rPr lang="zh-CN" altLang="en-US" sz="2800" b="1" dirty="0">
                <a:solidFill>
                  <a:schemeClr val="accent1"/>
                </a:solidFill>
              </a:rPr>
              <a:t>2</a:t>
            </a:r>
            <a:r>
              <a:rPr lang="en-US" altLang="zh-CN" sz="2800" b="1" baseline="30000" dirty="0">
                <a:solidFill>
                  <a:schemeClr val="accent1"/>
                </a:solidFill>
              </a:rPr>
              <a:t>n</a:t>
            </a:r>
            <a:r>
              <a:rPr lang="en-US" altLang="zh-CN" sz="2800" b="1" dirty="0">
                <a:solidFill>
                  <a:schemeClr val="accent1"/>
                </a:solidFill>
              </a:rPr>
              <a:t> -1～- (2</a:t>
            </a:r>
            <a:r>
              <a:rPr lang="en-US" altLang="zh-CN" sz="2800" b="1" baseline="30000" dirty="0">
                <a:solidFill>
                  <a:schemeClr val="accent1"/>
                </a:solidFill>
              </a:rPr>
              <a:t>n</a:t>
            </a:r>
            <a:r>
              <a:rPr lang="en-US" altLang="zh-CN" sz="2800" b="1" dirty="0">
                <a:solidFill>
                  <a:schemeClr val="accent1"/>
                </a:solidFill>
              </a:rPr>
              <a:t> -1)。</a:t>
            </a:r>
            <a:endParaRPr lang="en-US" altLang="zh-CN" sz="2800" b="1" dirty="0">
              <a:solidFill>
                <a:schemeClr val="accent1"/>
              </a:solidFill>
            </a:endParaRPr>
          </a:p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zh-CN" altLang="en-US" sz="2800" b="1" dirty="0">
              <a:solidFill>
                <a:srgbClr val="FFBF09"/>
              </a:solidFill>
            </a:endParaRPr>
          </a:p>
        </p:txBody>
      </p:sp>
      <p:grpSp>
        <p:nvGrpSpPr>
          <p:cNvPr id="2" name="Group 26"/>
          <p:cNvGrpSpPr/>
          <p:nvPr/>
        </p:nvGrpSpPr>
        <p:grpSpPr>
          <a:xfrm>
            <a:off x="468313" y="1773238"/>
            <a:ext cx="4819650" cy="1738312"/>
            <a:chOff x="1296" y="1296"/>
            <a:chExt cx="3036" cy="1095"/>
          </a:xfrm>
        </p:grpSpPr>
        <p:sp>
          <p:nvSpPr>
            <p:cNvPr id="24579" name="Rectangle 4"/>
            <p:cNvSpPr/>
            <p:nvPr/>
          </p:nvSpPr>
          <p:spPr>
            <a:xfrm>
              <a:off x="1903" y="1296"/>
              <a:ext cx="2429" cy="4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/>
            <a:p>
              <a:pPr marL="342900" indent="-342900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 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0  1  0 1 1 1 0     </a:t>
              </a:r>
              <a:r>
                <a:rPr lang="zh-CN" altLang="en-US" sz="36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．</a:t>
              </a:r>
              <a:endParaRPr lang="zh-CN" altLang="en-US" sz="3600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580" name="Rectangle 5"/>
            <p:cNvSpPr/>
            <p:nvPr/>
          </p:nvSpPr>
          <p:spPr>
            <a:xfrm>
              <a:off x="1392" y="1296"/>
              <a:ext cx="511" cy="4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/>
            <a:p>
              <a:pPr marL="342900" indent="-342900" algn="ctr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8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  <a:endPara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581" name="Line 8"/>
            <p:cNvSpPr/>
            <p:nvPr/>
          </p:nvSpPr>
          <p:spPr>
            <a:xfrm>
              <a:off x="1392" y="1296"/>
              <a:ext cx="0" cy="403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582" name="Line 9"/>
            <p:cNvSpPr/>
            <p:nvPr/>
          </p:nvSpPr>
          <p:spPr>
            <a:xfrm>
              <a:off x="4332" y="1296"/>
              <a:ext cx="0" cy="403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583" name="Line 10"/>
            <p:cNvSpPr/>
            <p:nvPr/>
          </p:nvSpPr>
          <p:spPr>
            <a:xfrm>
              <a:off x="1903" y="1296"/>
              <a:ext cx="0" cy="40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584" name="Line 6"/>
            <p:cNvSpPr/>
            <p:nvPr/>
          </p:nvSpPr>
          <p:spPr>
            <a:xfrm>
              <a:off x="1392" y="1296"/>
              <a:ext cx="2940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585" name="Line 7"/>
            <p:cNvSpPr/>
            <p:nvPr/>
          </p:nvSpPr>
          <p:spPr>
            <a:xfrm>
              <a:off x="1392" y="1699"/>
              <a:ext cx="2940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586" name="Text Box 12"/>
            <p:cNvSpPr txBox="1"/>
            <p:nvPr/>
          </p:nvSpPr>
          <p:spPr>
            <a:xfrm>
              <a:off x="2177" y="1981"/>
              <a:ext cx="978" cy="4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54000" tIns="10800" rIns="54000" bIns="10800" anchor="t"/>
            <a:p>
              <a:pPr algn="ctr"/>
              <a:r>
                <a:rPr lang="zh-CN" altLang="en-US" b="1" dirty="0">
                  <a:solidFill>
                    <a:srgbClr val="FDFBFB"/>
                  </a:solidFill>
                  <a:latin typeface="Times New Roman" panose="02020603050405020304" pitchFamily="18" charset="0"/>
                </a:rPr>
                <a:t>数值部分</a:t>
              </a:r>
              <a:endParaRPr lang="zh-CN" altLang="en-US" b="1" dirty="0">
                <a:solidFill>
                  <a:srgbClr val="FDFBFB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587" name="AutoShape 13"/>
            <p:cNvSpPr/>
            <p:nvPr/>
          </p:nvSpPr>
          <p:spPr>
            <a:xfrm rot="-5400000">
              <a:off x="2496" y="1248"/>
              <a:ext cx="144" cy="1200"/>
            </a:xfrm>
            <a:prstGeom prst="leftBrace">
              <a:avLst>
                <a:gd name="adj1" fmla="val 69367"/>
                <a:gd name="adj2" fmla="val 50000"/>
              </a:avLst>
            </a:prstGeom>
            <a:noFill/>
            <a:ln w="9525" cap="flat" cmpd="sng">
              <a:solidFill>
                <a:srgbClr val="FDFBF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algn="ctr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4588" name="Text Box 14"/>
            <p:cNvSpPr txBox="1"/>
            <p:nvPr/>
          </p:nvSpPr>
          <p:spPr>
            <a:xfrm>
              <a:off x="1296" y="1981"/>
              <a:ext cx="587" cy="4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10800" rIns="0" bIns="10800" anchor="t"/>
            <a:p>
              <a:pPr algn="ctr"/>
              <a:r>
                <a:rPr lang="zh-CN" altLang="en-US" b="1" dirty="0">
                  <a:solidFill>
                    <a:srgbClr val="FDFBFB"/>
                  </a:solidFill>
                  <a:latin typeface="Times New Roman" panose="02020603050405020304" pitchFamily="18" charset="0"/>
                </a:rPr>
                <a:t>符号位</a:t>
              </a:r>
              <a:endParaRPr lang="zh-CN" altLang="en-US" b="1" dirty="0">
                <a:solidFill>
                  <a:srgbClr val="FDFBFB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589" name="Text Box 15"/>
            <p:cNvSpPr txBox="1"/>
            <p:nvPr/>
          </p:nvSpPr>
          <p:spPr>
            <a:xfrm>
              <a:off x="3253" y="1981"/>
              <a:ext cx="587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10800" rIns="0" bIns="10800" anchor="t"/>
            <a:p>
              <a:pPr algn="ctr"/>
              <a:r>
                <a:rPr lang="zh-CN" altLang="en-US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小数点</a:t>
              </a:r>
              <a:endParaRPr lang="zh-CN" altLang="en-US" b="1" dirty="0">
                <a:solidFill>
                  <a:schemeClr val="accent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590" name="Line 16"/>
            <p:cNvSpPr/>
            <p:nvPr/>
          </p:nvSpPr>
          <p:spPr>
            <a:xfrm flipV="1">
              <a:off x="1584" y="1728"/>
              <a:ext cx="0" cy="192"/>
            </a:xfrm>
            <a:prstGeom prst="line">
              <a:avLst/>
            </a:prstGeom>
            <a:ln w="38100" cap="flat" cmpd="sng">
              <a:solidFill>
                <a:srgbClr val="FDFBFB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4591" name="Line 17"/>
            <p:cNvSpPr/>
            <p:nvPr/>
          </p:nvSpPr>
          <p:spPr>
            <a:xfrm flipV="1">
              <a:off x="3651" y="1787"/>
              <a:ext cx="0" cy="192"/>
            </a:xfrm>
            <a:prstGeom prst="line">
              <a:avLst/>
            </a:prstGeom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4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97634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97634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97634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4">
                                            <p:txEl>
                                              <p:charRg st="40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97634">
                                            <p:txEl>
                                              <p:charRg st="40" end="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8658" name="Rectangle 2"/>
          <p:cNvSpPr/>
          <p:nvPr>
            <p:ph type="body" sz="half" idx="1"/>
          </p:nvPr>
        </p:nvSpPr>
        <p:spPr>
          <a:xfrm>
            <a:off x="323850" y="260350"/>
            <a:ext cx="8229600" cy="1752600"/>
          </a:xfrm>
          <a:noFill/>
          <a:ln>
            <a:noFill/>
          </a:ln>
        </p:spPr>
        <p:txBody>
          <a:bodyPr anchor="t"/>
          <a:p>
            <a:pPr eaLnBrk="1" hangingPunct="1">
              <a:lnSpc>
                <a:spcPct val="9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FFBF0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2、浮点表示法</a:t>
            </a:r>
            <a:r>
              <a:rPr lang="en-US" altLang="zh-CN" b="1" dirty="0">
                <a:solidFill>
                  <a:srgbClr val="FFBF0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b="1" dirty="0">
                <a:solidFill>
                  <a:srgbClr val="FFBF0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原理性</a:t>
            </a:r>
            <a:r>
              <a:rPr lang="en-US" altLang="zh-CN" b="1" dirty="0">
                <a:solidFill>
                  <a:srgbClr val="FFBF0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b="1" dirty="0">
              <a:solidFill>
                <a:srgbClr val="FFBF0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zh-CN" altLang="en-US" sz="1400" b="1" dirty="0">
              <a:solidFill>
                <a:srgbClr val="FFBF09"/>
              </a:solidFill>
            </a:endParaRPr>
          </a:p>
          <a:p>
            <a:pPr eaLnBrk="1" hangingPunct="1">
              <a:lnSpc>
                <a:spcPct val="9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b="1" dirty="0"/>
              <a:t>浮点表示法中，小数点的位置</a:t>
            </a:r>
            <a:r>
              <a:rPr lang="zh-CN" altLang="en-US" sz="2800" b="1" u="sng" dirty="0">
                <a:solidFill>
                  <a:srgbClr val="FFFF00"/>
                </a:solidFill>
              </a:rPr>
              <a:t>可按需要浮动</a:t>
            </a:r>
            <a:r>
              <a:rPr lang="zh-CN" altLang="en-US" sz="2800" b="1" dirty="0"/>
              <a:t>。</a:t>
            </a:r>
            <a:endParaRPr lang="zh-CN" altLang="en-US" sz="2800" b="1" dirty="0"/>
          </a:p>
          <a:p>
            <a:pPr eaLnBrk="1" hangingPunct="1">
              <a:lnSpc>
                <a:spcPct val="9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b="1" dirty="0"/>
              <a:t>表示如下：</a:t>
            </a:r>
            <a:endParaRPr lang="zh-CN" altLang="en-US" sz="2800" b="1" dirty="0"/>
          </a:p>
        </p:txBody>
      </p:sp>
      <p:graphicFrame>
        <p:nvGraphicFramePr>
          <p:cNvPr id="198702" name="Group 46"/>
          <p:cNvGraphicFramePr>
            <a:graphicFrameLocks noGrp="1"/>
          </p:cNvGraphicFramePr>
          <p:nvPr>
            <p:ph sz="half" idx="4294967295"/>
          </p:nvPr>
        </p:nvGraphicFramePr>
        <p:xfrm>
          <a:off x="757238" y="2852738"/>
          <a:ext cx="7199313" cy="576263"/>
        </p:xfrm>
        <a:graphic>
          <a:graphicData uri="http://schemas.openxmlformats.org/drawingml/2006/table">
            <a:tbl>
              <a:tblPr/>
              <a:tblGrid>
                <a:gridCol w="957262"/>
                <a:gridCol w="2238375"/>
                <a:gridCol w="1555750"/>
                <a:gridCol w="2447925"/>
              </a:tblGrid>
              <a:tr h="57626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阶符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BF0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阶码位</a:t>
                      </a: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．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数符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．</a:t>
                      </a: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BF0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尾数位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BF0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98678" name="Text Box 22"/>
          <p:cNvSpPr txBox="1"/>
          <p:nvPr/>
        </p:nvSpPr>
        <p:spPr>
          <a:xfrm>
            <a:off x="612775" y="4592638"/>
            <a:ext cx="3529013" cy="1068387"/>
          </a:xfrm>
          <a:prstGeom prst="rect">
            <a:avLst/>
          </a:prstGeom>
          <a:noFill/>
          <a:ln w="9525">
            <a:noFill/>
          </a:ln>
        </p:spPr>
        <p:txBody>
          <a:bodyPr lIns="54000" tIns="10800" rIns="54000" bIns="10800" anchor="t"/>
          <a:p>
            <a:pPr algn="ctr"/>
            <a:r>
              <a:rPr lang="zh-CN" altLang="en-US" sz="2800" b="1" dirty="0">
                <a:solidFill>
                  <a:srgbClr val="FFBF09"/>
                </a:solidFill>
                <a:latin typeface="Times New Roman" panose="02020603050405020304" pitchFamily="18" charset="0"/>
              </a:rPr>
              <a:t>阶码</a:t>
            </a:r>
            <a:endParaRPr lang="zh-CN" altLang="en-US" sz="2800" b="1" dirty="0">
              <a:solidFill>
                <a:srgbClr val="FFBF09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zh-CN" altLang="en-US" sz="2800" b="1" dirty="0">
                <a:solidFill>
                  <a:srgbClr val="FFBF09"/>
                </a:solidFill>
                <a:latin typeface="Times New Roman" panose="02020603050405020304" pitchFamily="18" charset="0"/>
              </a:rPr>
              <a:t>（带符号的定点整数）</a:t>
            </a:r>
            <a:endParaRPr lang="zh-CN" altLang="en-US" sz="2800" b="1" dirty="0">
              <a:solidFill>
                <a:srgbClr val="FFBF09"/>
              </a:solidFill>
              <a:latin typeface="Arial" panose="020B0604020202020204" pitchFamily="34" charset="0"/>
            </a:endParaRPr>
          </a:p>
        </p:txBody>
      </p:sp>
      <p:sp>
        <p:nvSpPr>
          <p:cNvPr id="198680" name="AutoShape 24"/>
          <p:cNvSpPr/>
          <p:nvPr/>
        </p:nvSpPr>
        <p:spPr>
          <a:xfrm rot="-5400000">
            <a:off x="2251075" y="3016250"/>
            <a:ext cx="260350" cy="2924175"/>
          </a:xfrm>
          <a:prstGeom prst="leftBrace">
            <a:avLst>
              <a:gd name="adj1" fmla="val 93493"/>
              <a:gd name="adj2" fmla="val 50000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eaVert" anchor="t"/>
          <a:p>
            <a:endParaRPr lang="zh-CN" altLang="en-US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198681" name="AutoShape 25"/>
          <p:cNvSpPr/>
          <p:nvPr/>
        </p:nvSpPr>
        <p:spPr>
          <a:xfrm rot="-5400000">
            <a:off x="6370638" y="3016250"/>
            <a:ext cx="260350" cy="2924175"/>
          </a:xfrm>
          <a:prstGeom prst="leftBrace">
            <a:avLst>
              <a:gd name="adj1" fmla="val 93493"/>
              <a:gd name="adj2" fmla="val 50000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pPr algn="ctr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8682" name="Text Box 26"/>
          <p:cNvSpPr txBox="1"/>
          <p:nvPr/>
        </p:nvSpPr>
        <p:spPr>
          <a:xfrm>
            <a:off x="4845050" y="4592638"/>
            <a:ext cx="3313113" cy="1141412"/>
          </a:xfrm>
          <a:prstGeom prst="rect">
            <a:avLst/>
          </a:prstGeom>
          <a:noFill/>
          <a:ln w="9525">
            <a:noFill/>
          </a:ln>
        </p:spPr>
        <p:txBody>
          <a:bodyPr lIns="54000" tIns="10800" rIns="54000" bIns="10800" anchor="t"/>
          <a:p>
            <a:pPr algn="ctr"/>
            <a:r>
              <a:rPr lang="zh-CN" altLang="en-US" sz="2800" b="1" dirty="0">
                <a:solidFill>
                  <a:srgbClr val="FFBF09"/>
                </a:solidFill>
                <a:latin typeface="Times New Roman" panose="02020603050405020304" pitchFamily="18" charset="0"/>
              </a:rPr>
              <a:t>尾数</a:t>
            </a:r>
            <a:endParaRPr lang="zh-CN" altLang="en-US" sz="2800" b="1" dirty="0">
              <a:solidFill>
                <a:srgbClr val="FFBF09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zh-CN" altLang="en-US" sz="2800" b="1" dirty="0">
                <a:solidFill>
                  <a:srgbClr val="FFBF09"/>
                </a:solidFill>
                <a:latin typeface="Times New Roman" panose="02020603050405020304" pitchFamily="18" charset="0"/>
              </a:rPr>
              <a:t>（带符号的定点小数）</a:t>
            </a:r>
            <a:endParaRPr lang="zh-CN" altLang="en-US" sz="2800" b="1" dirty="0">
              <a:solidFill>
                <a:srgbClr val="FFBF09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Group 48"/>
          <p:cNvGrpSpPr/>
          <p:nvPr/>
        </p:nvGrpSpPr>
        <p:grpSpPr>
          <a:xfrm>
            <a:off x="2427288" y="3429000"/>
            <a:ext cx="1727200" cy="919163"/>
            <a:chOff x="1529" y="2160"/>
            <a:chExt cx="1088" cy="579"/>
          </a:xfrm>
        </p:grpSpPr>
        <p:sp>
          <p:nvSpPr>
            <p:cNvPr id="27667" name="Text Box 23"/>
            <p:cNvSpPr txBox="1"/>
            <p:nvPr/>
          </p:nvSpPr>
          <p:spPr>
            <a:xfrm>
              <a:off x="1529" y="2432"/>
              <a:ext cx="1088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54000" tIns="10800" rIns="54000" bIns="10800" anchor="t"/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隐含小数点</a:t>
              </a:r>
              <a:endParaRPr lang="zh-CN" altLang="en-US" b="1" dirty="0">
                <a:latin typeface="Arial" panose="020B0604020202020204" pitchFamily="34" charset="0"/>
              </a:endParaRPr>
            </a:p>
          </p:txBody>
        </p:sp>
        <p:sp>
          <p:nvSpPr>
            <p:cNvPr id="27668" name="Line 28"/>
            <p:cNvSpPr/>
            <p:nvPr/>
          </p:nvSpPr>
          <p:spPr>
            <a:xfrm flipV="1">
              <a:off x="2082" y="2160"/>
              <a:ext cx="0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3" name="Group 49"/>
          <p:cNvGrpSpPr/>
          <p:nvPr/>
        </p:nvGrpSpPr>
        <p:grpSpPr>
          <a:xfrm>
            <a:off x="4802188" y="3443288"/>
            <a:ext cx="1727200" cy="904875"/>
            <a:chOff x="3025" y="2169"/>
            <a:chExt cx="1088" cy="570"/>
          </a:xfrm>
        </p:grpSpPr>
        <p:sp>
          <p:nvSpPr>
            <p:cNvPr id="27670" name="Text Box 27"/>
            <p:cNvSpPr txBox="1"/>
            <p:nvPr/>
          </p:nvSpPr>
          <p:spPr>
            <a:xfrm>
              <a:off x="3025" y="2432"/>
              <a:ext cx="1088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54000" tIns="10800" rIns="54000" bIns="10800" anchor="t"/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隐含小数点</a:t>
              </a:r>
              <a:endParaRPr lang="zh-CN" altLang="en-US" b="1" dirty="0">
                <a:latin typeface="Arial" panose="020B0604020202020204" pitchFamily="34" charset="0"/>
              </a:endParaRPr>
            </a:p>
          </p:txBody>
        </p:sp>
        <p:sp>
          <p:nvSpPr>
            <p:cNvPr id="27671" name="Line 29"/>
            <p:cNvSpPr/>
            <p:nvPr/>
          </p:nvSpPr>
          <p:spPr>
            <a:xfrm flipV="1">
              <a:off x="3578" y="2169"/>
              <a:ext cx="0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15" name="AutoShape 4"/>
          <p:cNvSpPr/>
          <p:nvPr/>
        </p:nvSpPr>
        <p:spPr>
          <a:xfrm>
            <a:off x="76200" y="1700213"/>
            <a:ext cx="6019800" cy="2405062"/>
          </a:xfrm>
          <a:prstGeom prst="wedgeEllipseCallout">
            <a:avLst>
              <a:gd name="adj1" fmla="val -14176"/>
              <a:gd name="adj2" fmla="val 72644"/>
            </a:avLst>
          </a:prstGeom>
          <a:solidFill>
            <a:srgbClr val="CCFFFF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p>
            <a:pPr marL="342900" indent="-342900"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x-none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表达指数部分</a:t>
            </a:r>
            <a:endParaRPr lang="zh-CN" altLang="x-none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342900" indent="-342900"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x-none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用</a:t>
            </a:r>
            <a:r>
              <a:rPr lang="zh-CN" altLang="x-none" sz="2800" b="1" u="sng" dirty="0">
                <a:solidFill>
                  <a:schemeClr val="bg2"/>
                </a:solidFill>
                <a:latin typeface="Times New Roman" panose="02020603050405020304" pitchFamily="18" charset="0"/>
              </a:rPr>
              <a:t>整数形式</a:t>
            </a:r>
            <a:r>
              <a:rPr lang="zh-CN" altLang="x-none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表示，指明小数点在数据中的位置</a:t>
            </a:r>
            <a:r>
              <a:rPr lang="zh-CN" altLang="x-none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决定浮点数的表示范围</a:t>
            </a:r>
            <a:endParaRPr lang="zh-CN" altLang="x-none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AutoShape 3"/>
          <p:cNvSpPr/>
          <p:nvPr/>
        </p:nvSpPr>
        <p:spPr>
          <a:xfrm>
            <a:off x="3962400" y="457200"/>
            <a:ext cx="5029200" cy="2362200"/>
          </a:xfrm>
          <a:prstGeom prst="wedgeEllipseCallout">
            <a:avLst>
              <a:gd name="adj1" fmla="val 7690"/>
              <a:gd name="adj2" fmla="val 122417"/>
            </a:avLst>
          </a:prstGeom>
          <a:solidFill>
            <a:srgbClr val="CCFFFF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p>
            <a:pPr marL="342900" indent="-342900"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x-none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用定点小数表示，给出有效数字的位数</a:t>
            </a:r>
            <a:r>
              <a:rPr lang="zh-CN" altLang="x-none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决定了浮点数的表示精度</a:t>
            </a:r>
            <a:endParaRPr lang="zh-CN" altLang="x-none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8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8658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8">
                                            <p:txEl>
                                              <p:charRg st="14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8658">
                                            <p:txEl>
                                              <p:charRg st="14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8">
                                            <p:txEl>
                                              <p:charRg st="35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8658">
                                            <p:txEl>
                                              <p:charRg st="35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8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9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9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7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58" grpId="0" build="p"/>
      <p:bldP spid="198678" grpId="0"/>
      <p:bldP spid="198680" grpId="0" animBg="1"/>
      <p:bldP spid="198681" grpId="0" animBg="1"/>
      <p:bldP spid="198682" grpId="0"/>
      <p:bldP spid="15" grpId="0" animBg="1"/>
      <p:bldP spid="15" grpId="1" animBg="1"/>
      <p:bldP spid="16" grpId="0" animBg="1"/>
      <p:bldP spid="16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455613" y="115888"/>
            <a:ext cx="6324600" cy="808037"/>
            <a:chOff x="0" y="480"/>
            <a:chExt cx="3984" cy="509"/>
          </a:xfrm>
        </p:grpSpPr>
        <p:sp>
          <p:nvSpPr>
            <p:cNvPr id="28674" name="Text Box 3"/>
            <p:cNvSpPr txBox="1"/>
            <p:nvPr/>
          </p:nvSpPr>
          <p:spPr>
            <a:xfrm>
              <a:off x="2448" y="480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E</a:t>
              </a:r>
              <a:endParaRPr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28675" name="Group 4"/>
            <p:cNvGrpSpPr/>
            <p:nvPr/>
          </p:nvGrpSpPr>
          <p:grpSpPr>
            <a:xfrm>
              <a:off x="0" y="624"/>
              <a:ext cx="3984" cy="365"/>
              <a:chOff x="0" y="576"/>
              <a:chExt cx="3984" cy="365"/>
            </a:xfrm>
          </p:grpSpPr>
          <p:sp>
            <p:nvSpPr>
              <p:cNvPr id="28676" name="Text Box 5"/>
              <p:cNvSpPr txBox="1"/>
              <p:nvPr/>
            </p:nvSpPr>
            <p:spPr>
              <a:xfrm>
                <a:off x="0" y="576"/>
                <a:ext cx="3984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32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浮点数真值：</a:t>
                </a:r>
                <a:r>
                  <a:rPr lang="en-US" altLang="zh-CN" sz="32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N =  + R </a:t>
                </a:r>
                <a:r>
                  <a:rPr lang="en-US" altLang="zh-CN" sz="3200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×</a:t>
                </a:r>
                <a:r>
                  <a:rPr lang="en-US" altLang="zh-CN" sz="32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M </a:t>
                </a:r>
                <a:endParaRPr lang="en-US" altLang="zh-CN" sz="3200" b="1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28677" name="Line 6"/>
              <p:cNvSpPr/>
              <p:nvPr/>
            </p:nvSpPr>
            <p:spPr>
              <a:xfrm>
                <a:off x="2112" y="864"/>
                <a:ext cx="144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107527" name="Line 7"/>
          <p:cNvSpPr/>
          <p:nvPr/>
        </p:nvSpPr>
        <p:spPr>
          <a:xfrm flipH="1">
            <a:off x="4067175" y="1989138"/>
            <a:ext cx="381000" cy="304800"/>
          </a:xfrm>
          <a:prstGeom prst="line">
            <a:avLst/>
          </a:prstGeom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07528" name="Text Box 8"/>
          <p:cNvSpPr txBox="1"/>
          <p:nvPr/>
        </p:nvSpPr>
        <p:spPr>
          <a:xfrm>
            <a:off x="4510088" y="2201863"/>
            <a:ext cx="1371600" cy="5794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algn="ctr">
              <a:spcBef>
                <a:spcPct val="50000"/>
              </a:spcBef>
            </a:pPr>
            <a:r>
              <a:rPr lang="zh-CN" altLang="zh-CN" sz="3200" b="1" dirty="0">
                <a:solidFill>
                  <a:srgbClr val="FFBF0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阶码</a:t>
            </a:r>
            <a:endParaRPr lang="zh-CN" altLang="en-US" sz="3200" b="1" dirty="0">
              <a:solidFill>
                <a:srgbClr val="FFBF0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" name="Group 9"/>
          <p:cNvGrpSpPr/>
          <p:nvPr/>
        </p:nvGrpSpPr>
        <p:grpSpPr>
          <a:xfrm>
            <a:off x="395288" y="1268413"/>
            <a:ext cx="8569325" cy="685800"/>
            <a:chOff x="0" y="1056"/>
            <a:chExt cx="5136" cy="432"/>
          </a:xfrm>
        </p:grpSpPr>
        <p:sp>
          <p:nvSpPr>
            <p:cNvPr id="28681" name="Text Box 10"/>
            <p:cNvSpPr txBox="1"/>
            <p:nvPr/>
          </p:nvSpPr>
          <p:spPr>
            <a:xfrm>
              <a:off x="2208" y="1056"/>
              <a:ext cx="2928" cy="428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accent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</a:t>
              </a:r>
              <a:r>
                <a:rPr lang="en-US" altLang="zh-CN" sz="2800" dirty="0">
                  <a:solidFill>
                    <a:schemeClr val="accent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E</a:t>
              </a:r>
              <a:r>
                <a: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…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E</a:t>
              </a:r>
              <a:r>
                <a: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</a:rPr>
                <a:t>m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3600" b="1" dirty="0">
                  <a:solidFill>
                    <a:schemeClr val="accent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M</a:t>
              </a:r>
              <a:r>
                <a:rPr lang="en-US" altLang="zh-CN" sz="2800" dirty="0">
                  <a:solidFill>
                    <a:schemeClr val="accent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M</a:t>
              </a:r>
              <a:r>
                <a: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32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…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M</a:t>
              </a:r>
              <a:r>
                <a: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</a:rPr>
                <a:t>n</a:t>
              </a: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8682" name="Line 11"/>
            <p:cNvSpPr/>
            <p:nvPr/>
          </p:nvSpPr>
          <p:spPr>
            <a:xfrm>
              <a:off x="2592" y="1056"/>
              <a:ext cx="1" cy="43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83" name="Text Box 12"/>
            <p:cNvSpPr txBox="1"/>
            <p:nvPr/>
          </p:nvSpPr>
          <p:spPr>
            <a:xfrm>
              <a:off x="0" y="1056"/>
              <a:ext cx="2699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浮点数机器格式：</a:t>
              </a:r>
              <a:endParaRPr lang="zh-CN" altLang="en-US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684" name="Line 13"/>
            <p:cNvSpPr/>
            <p:nvPr/>
          </p:nvSpPr>
          <p:spPr>
            <a:xfrm>
              <a:off x="2928" y="1056"/>
              <a:ext cx="1" cy="43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85" name="Line 14"/>
            <p:cNvSpPr/>
            <p:nvPr/>
          </p:nvSpPr>
          <p:spPr>
            <a:xfrm>
              <a:off x="3312" y="1056"/>
              <a:ext cx="1" cy="43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86" name="Line 15"/>
            <p:cNvSpPr/>
            <p:nvPr/>
          </p:nvSpPr>
          <p:spPr>
            <a:xfrm>
              <a:off x="3648" y="1056"/>
              <a:ext cx="1" cy="43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87" name="Line 16"/>
            <p:cNvSpPr/>
            <p:nvPr/>
          </p:nvSpPr>
          <p:spPr>
            <a:xfrm>
              <a:off x="4032" y="1056"/>
              <a:ext cx="1" cy="43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88" name="Line 17"/>
            <p:cNvSpPr/>
            <p:nvPr/>
          </p:nvSpPr>
          <p:spPr>
            <a:xfrm>
              <a:off x="4416" y="1056"/>
              <a:ext cx="1" cy="43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89" name="Line 18"/>
            <p:cNvSpPr/>
            <p:nvPr/>
          </p:nvSpPr>
          <p:spPr>
            <a:xfrm>
              <a:off x="4752" y="1056"/>
              <a:ext cx="1" cy="43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07539" name="AutoShape 19"/>
          <p:cNvSpPr/>
          <p:nvPr/>
        </p:nvSpPr>
        <p:spPr>
          <a:xfrm rot="-5400000">
            <a:off x="5141913" y="1058863"/>
            <a:ext cx="228600" cy="2232025"/>
          </a:xfrm>
          <a:prstGeom prst="leftBrace">
            <a:avLst>
              <a:gd name="adj1" fmla="val 81275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p>
            <a:pPr algn="ctr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7540" name="AutoShape 20"/>
          <p:cNvSpPr/>
          <p:nvPr/>
        </p:nvSpPr>
        <p:spPr>
          <a:xfrm rot="-5400000">
            <a:off x="7539038" y="1038225"/>
            <a:ext cx="228600" cy="2273300"/>
          </a:xfrm>
          <a:prstGeom prst="leftBrace">
            <a:avLst>
              <a:gd name="adj1" fmla="val 82778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p>
            <a:pPr algn="ctr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7541" name="Text Box 21"/>
          <p:cNvSpPr txBox="1"/>
          <p:nvPr/>
        </p:nvSpPr>
        <p:spPr>
          <a:xfrm>
            <a:off x="7019925" y="2205038"/>
            <a:ext cx="1371600" cy="5794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algn="ctr">
              <a:spcBef>
                <a:spcPct val="50000"/>
              </a:spcBef>
            </a:pPr>
            <a:r>
              <a:rPr lang="zh-CN" altLang="zh-CN" sz="3200" b="1" dirty="0">
                <a:solidFill>
                  <a:srgbClr val="FFBF0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尾数</a:t>
            </a:r>
            <a:endParaRPr lang="zh-CN" altLang="en-US" sz="3200" b="1" dirty="0">
              <a:solidFill>
                <a:srgbClr val="FFBF0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7542" name="Text Box 22"/>
          <p:cNvSpPr txBox="1"/>
          <p:nvPr/>
        </p:nvSpPr>
        <p:spPr>
          <a:xfrm>
            <a:off x="3203575" y="2205038"/>
            <a:ext cx="1371600" cy="5794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algn="ctr">
              <a:spcBef>
                <a:spcPct val="50000"/>
              </a:spcBef>
            </a:pPr>
            <a:r>
              <a:rPr lang="zh-CN" altLang="zh-CN" sz="3200" b="1" dirty="0">
                <a:solidFill>
                  <a:srgbClr val="FFBF0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阶符</a:t>
            </a:r>
            <a:endParaRPr lang="zh-CN" altLang="en-US" sz="3200" b="1" dirty="0">
              <a:solidFill>
                <a:srgbClr val="FFBF0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7543" name="Text Box 23"/>
          <p:cNvSpPr txBox="1"/>
          <p:nvPr/>
        </p:nvSpPr>
        <p:spPr>
          <a:xfrm>
            <a:off x="5651500" y="2205038"/>
            <a:ext cx="1371600" cy="5794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algn="ctr">
              <a:spcBef>
                <a:spcPct val="50000"/>
              </a:spcBef>
            </a:pPr>
            <a:r>
              <a:rPr lang="zh-CN" altLang="zh-CN" sz="3200" b="1" dirty="0">
                <a:solidFill>
                  <a:srgbClr val="FFBF0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数符</a:t>
            </a:r>
            <a:endParaRPr lang="zh-CN" altLang="en-US" sz="3200" b="1" dirty="0">
              <a:solidFill>
                <a:srgbClr val="FFBF0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7544" name="Line 24"/>
          <p:cNvSpPr/>
          <p:nvPr/>
        </p:nvSpPr>
        <p:spPr>
          <a:xfrm flipH="1">
            <a:off x="6443663" y="1989138"/>
            <a:ext cx="381000" cy="304800"/>
          </a:xfrm>
          <a:prstGeom prst="line">
            <a:avLst/>
          </a:prstGeom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3" name="组合 2"/>
          <p:cNvGrpSpPr/>
          <p:nvPr/>
        </p:nvGrpSpPr>
        <p:grpSpPr>
          <a:xfrm>
            <a:off x="287655" y="3165475"/>
            <a:ext cx="8747760" cy="3216275"/>
            <a:chOff x="453" y="4985"/>
            <a:chExt cx="13776" cy="5065"/>
          </a:xfrm>
        </p:grpSpPr>
        <p:sp>
          <p:nvSpPr>
            <p:cNvPr id="107545" name="Text Box 25"/>
            <p:cNvSpPr txBox="1"/>
            <p:nvPr/>
          </p:nvSpPr>
          <p:spPr>
            <a:xfrm>
              <a:off x="500" y="4985"/>
              <a:ext cx="11350" cy="91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R</a:t>
              </a:r>
              <a:r>
                <a:rPr lang="en-US" altLang="zh-CN" sz="32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：</a:t>
              </a:r>
              <a:r>
                <a:rPr lang="zh-CN" altLang="en-US" sz="32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阶码底，隐含约定，一般为</a:t>
              </a:r>
              <a:r>
                <a:rPr lang="en-US" altLang="zh-CN" sz="32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2</a:t>
              </a:r>
              <a:r>
                <a:rPr lang="zh-CN" altLang="en-US" sz="32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。</a:t>
              </a:r>
              <a:endPara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07546" name="Text Box 26"/>
            <p:cNvSpPr txBox="1"/>
            <p:nvPr/>
          </p:nvSpPr>
          <p:spPr>
            <a:xfrm>
              <a:off x="498" y="6290"/>
              <a:ext cx="12982" cy="160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E</a:t>
              </a:r>
              <a:r>
                <a:rPr lang="en-US" altLang="zh-CN" sz="32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：</a:t>
              </a:r>
              <a:r>
                <a:rPr lang="zh-CN" altLang="en-US" sz="32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阶码，为定点整数，补码或移码表示。</a:t>
              </a:r>
              <a:endPara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zh-CN" altLang="en-US" sz="32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  其</a:t>
              </a:r>
              <a:r>
                <a:rPr lang="zh-CN" altLang="en-US" sz="3200" b="1" dirty="0">
                  <a:solidFill>
                    <a:srgbClr val="FFBF09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位数</a:t>
              </a:r>
              <a:r>
                <a:rPr lang="zh-CN" altLang="en-US" sz="32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决定</a:t>
              </a:r>
              <a:r>
                <a:rPr lang="zh-CN" altLang="en-US" sz="3200" b="1" dirty="0">
                  <a:solidFill>
                    <a:srgbClr val="FFBF09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数值范围</a:t>
              </a:r>
              <a:r>
                <a:rPr lang="zh-CN" altLang="en-US" sz="32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；</a:t>
              </a:r>
              <a:endPara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07547" name="Text Box 27"/>
            <p:cNvSpPr txBox="1"/>
            <p:nvPr/>
          </p:nvSpPr>
          <p:spPr>
            <a:xfrm>
              <a:off x="7303" y="6983"/>
              <a:ext cx="6360" cy="9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solidFill>
                    <a:schemeClr val="accent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阶符表示数的大小</a:t>
              </a:r>
              <a:r>
                <a:rPr lang="zh-CN" altLang="en-US" sz="3200" b="1" dirty="0">
                  <a:solidFill>
                    <a:srgbClr val="FF33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。</a:t>
              </a:r>
              <a:endParaRPr lang="zh-CN" altLang="en-US" sz="3200" b="1" dirty="0">
                <a:solidFill>
                  <a:srgbClr val="FF3399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7548" name="Text Box 28"/>
            <p:cNvSpPr txBox="1"/>
            <p:nvPr/>
          </p:nvSpPr>
          <p:spPr>
            <a:xfrm>
              <a:off x="453" y="8445"/>
              <a:ext cx="13777" cy="160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M</a:t>
              </a:r>
              <a:r>
                <a:rPr lang="en-US" altLang="zh-CN" sz="32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：</a:t>
              </a:r>
              <a:r>
                <a:rPr lang="zh-CN" altLang="en-US" sz="32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尾数，为定点小数，原码或补码表示。</a:t>
              </a:r>
              <a:endPara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zh-CN" altLang="en-US" sz="32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  其</a:t>
              </a:r>
              <a:r>
                <a:rPr lang="zh-CN" altLang="en-US" sz="3200" b="1" dirty="0">
                  <a:solidFill>
                    <a:srgbClr val="FFBF09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位数</a:t>
              </a:r>
              <a:r>
                <a:rPr lang="zh-CN" altLang="en-US" sz="32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决定</a:t>
              </a:r>
              <a:r>
                <a:rPr lang="zh-CN" altLang="en-US" sz="3200" b="1" dirty="0">
                  <a:solidFill>
                    <a:srgbClr val="FFBF09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数的精度</a:t>
              </a:r>
              <a:r>
                <a:rPr lang="zh-CN" altLang="en-US" sz="32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；</a:t>
              </a:r>
              <a:endPara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07549" name="Text Box 29"/>
            <p:cNvSpPr txBox="1"/>
            <p:nvPr/>
          </p:nvSpPr>
          <p:spPr>
            <a:xfrm>
              <a:off x="7313" y="9138"/>
              <a:ext cx="6360" cy="9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solidFill>
                    <a:schemeClr val="accent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数符表示数的正负</a:t>
              </a:r>
              <a:r>
                <a:rPr lang="zh-CN" altLang="en-US" sz="3200" b="1" dirty="0">
                  <a:solidFill>
                    <a:srgbClr val="FF33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。</a:t>
              </a:r>
              <a:endParaRPr lang="zh-CN" altLang="en-US" sz="3200" b="1" dirty="0">
                <a:solidFill>
                  <a:srgbClr val="FF3399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7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7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7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07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07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07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07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07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8" grpId="0"/>
      <p:bldP spid="107539" grpId="0" animBg="1"/>
      <p:bldP spid="107540" grpId="0" animBg="1"/>
      <p:bldP spid="107541" grpId="0"/>
      <p:bldP spid="107542" grpId="0"/>
      <p:bldP spid="10754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28600" y="228600"/>
            <a:ext cx="3505200" cy="5334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  <a:t>浮点数的规格化</a:t>
            </a:r>
            <a:endParaRPr kumimoji="1" lang="zh-C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  <a:sym typeface="+mn-ea"/>
            </a:endParaRPr>
          </a:p>
        </p:txBody>
      </p:sp>
      <p:sp>
        <p:nvSpPr>
          <p:cNvPr id="4" name="Rectangle 3"/>
          <p:cNvSpPr txBox="1"/>
          <p:nvPr/>
        </p:nvSpPr>
        <p:spPr>
          <a:xfrm>
            <a:off x="304800" y="914400"/>
            <a:ext cx="8915400" cy="19050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defTabSz="914400" eaLnBrk="0" hangingPunct="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tabLst>
                <a:tab pos="1790700" algn="l"/>
              </a:tabLst>
            </a:pPr>
            <a:r>
              <a:rPr lang="zh-CN" altLang="x-none" sz="2800" b="1" dirty="0">
                <a:latin typeface="Times New Roman" panose="02020603050405020304" pitchFamily="18" charset="0"/>
              </a:rPr>
              <a:t>例：</a:t>
            </a:r>
            <a:r>
              <a:rPr lang="zh-CN" altLang="zh-CN" sz="2800" b="1" dirty="0">
                <a:latin typeface="Times New Roman" panose="02020603050405020304" pitchFamily="18" charset="0"/>
              </a:rPr>
              <a:t>156.78	=15.678×10</a:t>
            </a:r>
            <a:r>
              <a:rPr lang="zh-CN" altLang="zh-CN" sz="2800" b="1" baseline="30000" dirty="0">
                <a:latin typeface="Times New Roman" panose="02020603050405020304" pitchFamily="18" charset="0"/>
              </a:rPr>
              <a:t>1	</a:t>
            </a:r>
            <a:endParaRPr lang="zh-CN" altLang="zh-CN" sz="2800" b="1" dirty="0">
              <a:latin typeface="Times New Roman" panose="02020603050405020304" pitchFamily="18" charset="0"/>
            </a:endParaRPr>
          </a:p>
          <a:p>
            <a:pPr defTabSz="914400" eaLnBrk="0" hangingPunct="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tabLst>
                <a:tab pos="1790700" algn="l"/>
              </a:tabLst>
            </a:pPr>
            <a:r>
              <a:rPr lang="zh-CN" altLang="zh-CN" sz="2800" b="1" dirty="0">
                <a:latin typeface="Times New Roman" panose="02020603050405020304" pitchFamily="18" charset="0"/>
              </a:rPr>
              <a:t>	=</a:t>
            </a:r>
            <a:r>
              <a:rPr lang="zh-CN" altLang="zh-CN" sz="2800" b="1" baseline="30000" dirty="0">
                <a:latin typeface="Times New Roman" panose="02020603050405020304" pitchFamily="18" charset="0"/>
              </a:rPr>
              <a:t> </a:t>
            </a:r>
            <a:r>
              <a:rPr lang="zh-CN" altLang="zh-CN" sz="2800" b="1" dirty="0">
                <a:latin typeface="Times New Roman" panose="02020603050405020304" pitchFamily="18" charset="0"/>
              </a:rPr>
              <a:t>1.5678×10</a:t>
            </a:r>
            <a:r>
              <a:rPr lang="zh-CN" altLang="zh-CN" sz="2800" b="1" baseline="30000" dirty="0">
                <a:latin typeface="Times New Roman" panose="02020603050405020304" pitchFamily="18" charset="0"/>
              </a:rPr>
              <a:t>2</a:t>
            </a:r>
            <a:endParaRPr lang="zh-CN" altLang="zh-CN" sz="2800" b="1" baseline="30000" dirty="0">
              <a:latin typeface="Times New Roman" panose="02020603050405020304" pitchFamily="18" charset="0"/>
            </a:endParaRPr>
          </a:p>
          <a:p>
            <a:pPr defTabSz="914400" eaLnBrk="0" hangingPunct="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tabLst>
                <a:tab pos="1790700" algn="l"/>
              </a:tabLst>
            </a:pPr>
            <a:r>
              <a:rPr lang="zh-CN" altLang="zh-CN" sz="2800" b="1" dirty="0">
                <a:latin typeface="Times New Roman" panose="02020603050405020304" pitchFamily="18" charset="0"/>
              </a:rPr>
              <a:t>	= 0.15678×10</a:t>
            </a:r>
            <a:r>
              <a:rPr lang="zh-CN" altLang="zh-CN" sz="2800" b="1" baseline="30000" dirty="0">
                <a:latin typeface="Times New Roman" panose="02020603050405020304" pitchFamily="18" charset="0"/>
              </a:rPr>
              <a:t>3</a:t>
            </a:r>
            <a:r>
              <a:rPr lang="zh-CN" altLang="zh-CN" sz="2800" b="1" dirty="0">
                <a:latin typeface="Times New Roman" panose="02020603050405020304" pitchFamily="18" charset="0"/>
              </a:rPr>
              <a:t>=R</a:t>
            </a:r>
            <a:r>
              <a:rPr lang="zh-CN" altLang="zh-CN" sz="2800" b="1" baseline="30000" dirty="0">
                <a:latin typeface="Times New Roman" panose="02020603050405020304" pitchFamily="18" charset="0"/>
              </a:rPr>
              <a:t>E</a:t>
            </a:r>
            <a:r>
              <a:rPr lang="zh-CN" altLang="zh-CN" sz="2800" b="1" dirty="0">
                <a:latin typeface="Times New Roman" panose="02020603050405020304" pitchFamily="18" charset="0"/>
              </a:rPr>
              <a:t>×M</a:t>
            </a:r>
            <a:endParaRPr lang="zh-CN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04800" y="2438400"/>
            <a:ext cx="8305800" cy="302006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defTabSz="914400"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tabLst>
                <a:tab pos="1790700" algn="l"/>
              </a:tabLst>
            </a:pPr>
            <a:r>
              <a:rPr lang="zh-CN" altLang="x-none" sz="2800" b="1" dirty="0">
                <a:latin typeface="Times New Roman" panose="02020603050405020304" pitchFamily="18" charset="0"/>
              </a:rPr>
              <a:t>对于二进制数</a:t>
            </a:r>
            <a:endParaRPr lang="zh-CN" altLang="x-none" sz="2800" b="1" dirty="0">
              <a:latin typeface="Times New Roman" panose="02020603050405020304" pitchFamily="18" charset="0"/>
            </a:endParaRPr>
          </a:p>
          <a:p>
            <a:pPr defTabSz="914400"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tabLst>
                <a:tab pos="1790700" algn="l"/>
              </a:tabLst>
            </a:pPr>
            <a:r>
              <a:rPr lang="en-US" altLang="zh-CN" sz="2800" b="1" dirty="0">
                <a:latin typeface="Times New Roman" panose="02020603050405020304" pitchFamily="18" charset="0"/>
              </a:rPr>
              <a:t>+</a:t>
            </a:r>
            <a:r>
              <a:rPr lang="zh-CN" altLang="zh-CN" sz="2800" b="1" dirty="0">
                <a:latin typeface="Times New Roman" panose="02020603050405020304" pitchFamily="18" charset="0"/>
              </a:rPr>
              <a:t>1011.1101	=</a:t>
            </a:r>
            <a:r>
              <a:rPr lang="zh-CN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zh-CN" sz="2800" b="1" dirty="0">
                <a:latin typeface="Times New Roman" panose="02020603050405020304" pitchFamily="18" charset="0"/>
              </a:rPr>
              <a:t>.10111101 ×2</a:t>
            </a:r>
            <a:r>
              <a:rPr lang="zh-CN" altLang="zh-CN" sz="2800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lang="zh-CN" altLang="zh-CN" sz="2800" b="1" baseline="30000" dirty="0">
                <a:latin typeface="Times New Roman" panose="02020603050405020304" pitchFamily="18" charset="0"/>
              </a:rPr>
              <a:t>4</a:t>
            </a:r>
            <a:endParaRPr lang="zh-CN" altLang="zh-CN" sz="2800" b="1" baseline="30000" dirty="0">
              <a:latin typeface="Times New Roman" panose="02020603050405020304" pitchFamily="18" charset="0"/>
            </a:endParaRPr>
          </a:p>
          <a:p>
            <a:pPr defTabSz="914400"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tabLst>
                <a:tab pos="1790700" algn="l"/>
              </a:tabLst>
            </a:pPr>
            <a:r>
              <a:rPr lang="zh-CN" altLang="zh-CN" sz="2800" b="1" dirty="0">
                <a:latin typeface="Times New Roman" panose="02020603050405020304" pitchFamily="18" charset="0"/>
              </a:rPr>
              <a:t>	= 10.111101 ×2</a:t>
            </a:r>
            <a:r>
              <a:rPr lang="zh-CN" altLang="zh-CN" sz="2800" b="1" baseline="30000" dirty="0">
                <a:latin typeface="Times New Roman" panose="02020603050405020304" pitchFamily="18" charset="0"/>
              </a:rPr>
              <a:t>+2 </a:t>
            </a:r>
            <a:endParaRPr lang="zh-CN" altLang="zh-CN" sz="2800" b="1" baseline="30000" dirty="0">
              <a:latin typeface="Times New Roman" panose="02020603050405020304" pitchFamily="18" charset="0"/>
            </a:endParaRPr>
          </a:p>
          <a:p>
            <a:pPr defTabSz="914400"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tabLst>
                <a:tab pos="1790700" algn="l"/>
              </a:tabLst>
            </a:pPr>
            <a:r>
              <a:rPr lang="zh-CN" altLang="zh-CN" sz="2800" b="1" dirty="0">
                <a:latin typeface="Times New Roman" panose="02020603050405020304" pitchFamily="18" charset="0"/>
              </a:rPr>
              <a:t>	= 1.0111101 ×2</a:t>
            </a:r>
            <a:r>
              <a:rPr lang="zh-CN" altLang="zh-CN" sz="2800" b="1" baseline="30000" dirty="0">
                <a:latin typeface="Times New Roman" panose="02020603050405020304" pitchFamily="18" charset="0"/>
              </a:rPr>
              <a:t>+3   </a:t>
            </a:r>
            <a:r>
              <a:rPr lang="zh-CN" altLang="x-none" sz="2800" b="1" dirty="0">
                <a:latin typeface="Tahoma" panose="020B0604030504040204" pitchFamily="34" charset="0"/>
              </a:rPr>
              <a:t>（</a:t>
            </a:r>
            <a:r>
              <a:rPr lang="zh-CN" altLang="x-none" sz="2800" b="1" dirty="0">
                <a:solidFill>
                  <a:schemeClr val="folHlink"/>
                </a:solidFill>
                <a:latin typeface="Tahoma" panose="020B0604030504040204" pitchFamily="34" charset="0"/>
              </a:rPr>
              <a:t>规格化表示法</a:t>
            </a:r>
            <a:r>
              <a:rPr lang="zh-CN" altLang="x-none" sz="2800" b="1" dirty="0">
                <a:latin typeface="Tahoma" panose="020B0604030504040204" pitchFamily="34" charset="0"/>
              </a:rPr>
              <a:t>）</a:t>
            </a:r>
            <a:r>
              <a:rPr lang="zh-CN" altLang="x-none" sz="2800" b="1" dirty="0">
                <a:latin typeface="Times New Roman" panose="02020603050405020304" pitchFamily="18" charset="0"/>
              </a:rPr>
              <a:t>	</a:t>
            </a:r>
            <a:r>
              <a:rPr lang="zh-CN" altLang="zh-CN" sz="2800" b="1" dirty="0">
                <a:latin typeface="Times New Roman" panose="02020603050405020304" pitchFamily="18" charset="0"/>
              </a:rPr>
              <a:t>= 1.0111101 ×2</a:t>
            </a:r>
            <a:r>
              <a:rPr lang="zh-CN" altLang="zh-CN" sz="2800" b="1" baseline="30000" dirty="0">
                <a:latin typeface="Times New Roman" panose="02020603050405020304" pitchFamily="18" charset="0"/>
              </a:rPr>
              <a:t>+11 </a:t>
            </a:r>
            <a:r>
              <a:rPr lang="zh-CN" altLang="x-none" sz="2800" b="1" dirty="0">
                <a:latin typeface="Tahoma" panose="020B0604030504040204" pitchFamily="34" charset="0"/>
              </a:rPr>
              <a:t>（</a:t>
            </a:r>
            <a:r>
              <a:rPr lang="zh-CN" altLang="x-none" sz="2800" b="1" dirty="0">
                <a:solidFill>
                  <a:schemeClr val="folHlink"/>
                </a:solidFill>
                <a:latin typeface="Tahoma" panose="020B0604030504040204" pitchFamily="34" charset="0"/>
              </a:rPr>
              <a:t>规格化表示法</a:t>
            </a:r>
            <a:r>
              <a:rPr lang="zh-CN" altLang="x-none" sz="2800" b="1" dirty="0">
                <a:latin typeface="Tahoma" panose="020B0604030504040204" pitchFamily="34" charset="0"/>
              </a:rPr>
              <a:t>）</a:t>
            </a:r>
            <a:endParaRPr lang="zh-CN" altLang="x-none" sz="3200" b="1" baseline="30000" dirty="0">
              <a:latin typeface="Times New Roman" panose="02020603050405020304" pitchFamily="18" charset="0"/>
            </a:endParaRPr>
          </a:p>
          <a:p>
            <a:pPr defTabSz="914400"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tabLst>
                <a:tab pos="1790700" algn="l"/>
              </a:tabLst>
            </a:pPr>
            <a:r>
              <a:rPr lang="zh-CN" altLang="x-none" sz="2800" b="1" baseline="30000" dirty="0">
                <a:latin typeface="Times New Roman" panose="02020603050405020304" pitchFamily="18" charset="0"/>
              </a:rPr>
              <a:t>	</a:t>
            </a:r>
            <a:r>
              <a:rPr lang="zh-CN" altLang="zh-CN" sz="2800" b="1" dirty="0">
                <a:latin typeface="Times New Roman" panose="02020603050405020304" pitchFamily="18" charset="0"/>
              </a:rPr>
              <a:t>=R</a:t>
            </a:r>
            <a:r>
              <a:rPr lang="zh-CN" altLang="zh-CN" sz="2800" b="1" baseline="30000" dirty="0">
                <a:latin typeface="Times New Roman" panose="02020603050405020304" pitchFamily="18" charset="0"/>
              </a:rPr>
              <a:t>E</a:t>
            </a:r>
            <a:r>
              <a:rPr lang="zh-CN" altLang="zh-CN" sz="2800" b="1" dirty="0">
                <a:latin typeface="Times New Roman" panose="02020603050405020304" pitchFamily="18" charset="0"/>
              </a:rPr>
              <a:t>×M</a:t>
            </a:r>
            <a:endParaRPr lang="zh-CN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6" name="AutoShape 5"/>
          <p:cNvSpPr/>
          <p:nvPr/>
        </p:nvSpPr>
        <p:spPr>
          <a:xfrm>
            <a:off x="5867400" y="1119188"/>
            <a:ext cx="381000" cy="990600"/>
          </a:xfrm>
          <a:prstGeom prst="rightBrace">
            <a:avLst>
              <a:gd name="adj1" fmla="val 21642"/>
              <a:gd name="adj2" fmla="val 50000"/>
            </a:avLst>
          </a:prstGeom>
          <a:noFill/>
          <a:ln w="508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p>
            <a:pPr algn="ctr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324600" y="1347788"/>
            <a:ext cx="25908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algn="ctr">
              <a:spcBef>
                <a:spcPct val="50000"/>
              </a:spcBef>
            </a:pPr>
            <a:r>
              <a:rPr lang="zh-CN" altLang="x-none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1" charset="-122"/>
              </a:rPr>
              <a:t>多种数据形式</a:t>
            </a:r>
            <a:endParaRPr lang="zh-CN" altLang="x-none" sz="2800" b="1" i="1" u="sng" dirty="0">
              <a:solidFill>
                <a:srgbClr val="FFFF00"/>
              </a:solidFill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 flipH="1" flipV="1">
            <a:off x="4876800" y="4724400"/>
            <a:ext cx="1143000" cy="762000"/>
          </a:xfrm>
          <a:prstGeom prst="line">
            <a:avLst/>
          </a:prstGeom>
          <a:ln>
            <a:tailEnd type="triangle" w="sm" len="sm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096000" y="5257800"/>
            <a:ext cx="1524000" cy="495300"/>
          </a:xfrm>
          <a:prstGeom prst="rect">
            <a:avLst/>
          </a:prstGeom>
          <a:solidFill>
            <a:srgbClr val="FFCC00"/>
          </a:solidFill>
          <a:ln w="381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p>
            <a:pPr algn="ctr">
              <a:spcBef>
                <a:spcPct val="50000"/>
              </a:spcBef>
            </a:pPr>
            <a:r>
              <a:rPr lang="zh-CN" altLang="x-none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二进制数</a:t>
            </a:r>
            <a:endParaRPr lang="zh-CN" altLang="x-none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228600" y="5867400"/>
            <a:ext cx="8915400" cy="6286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algn="ctr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</a:pPr>
            <a:r>
              <a:rPr lang="zh-CN" altLang="x-none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那么，计算机中究竟采用哪种数据形式？</a:t>
            </a:r>
            <a:endParaRPr lang="zh-CN" altLang="x-none" sz="3200" b="1" i="1" u="sng" dirty="0">
              <a:solidFill>
                <a:schemeClr val="folHlink"/>
              </a:solidFill>
              <a:latin typeface="Times New Roman" panose="02020603050405020304" pitchFamily="18" charset="0"/>
              <a:ea typeface="Arial Unicode MS" pitchFamily="3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9" grpId="0" animBg="1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27025" y="1443355"/>
            <a:ext cx="8574405" cy="80899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sz="3200" b="1" i="0" u="sng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尾数</a:t>
            </a:r>
            <a:r>
              <a:rPr kumimoji="1" lang="zh-CN" sz="3200" b="1" i="0" u="sng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最高</a:t>
            </a:r>
            <a:r>
              <a:rPr kumimoji="1" lang="zh-CN" sz="3200" b="1" i="0" u="sng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有效</a:t>
            </a:r>
            <a:r>
              <a:rPr kumimoji="1" lang="zh-CN" sz="3200" b="1" i="0" u="sng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位为</a:t>
            </a:r>
            <a:r>
              <a:rPr kumimoji="1" lang="zh-CN" altLang="zh-CN" sz="3200" b="1" i="0" u="sng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1</a:t>
            </a:r>
            <a:endParaRPr kumimoji="1" lang="zh-CN" sz="3200" b="1" i="1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250825" y="470535"/>
            <a:ext cx="3505200" cy="533400"/>
          </a:xfrm>
          <a:prstGeom prst="rect">
            <a:avLst/>
          </a:prstGeom>
          <a:noFill/>
        </p:spPr>
        <p:txBody>
          <a:bodyPr lIns="92075" tIns="46038" rIns="92075" bIns="46038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  <a:sym typeface="+mn-ea"/>
              </a:rPr>
              <a:t>规格化表示原则</a:t>
            </a:r>
            <a:endParaRPr kumimoji="1" lang="zh-CN" sz="3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+mj-cs"/>
              <a:sym typeface="+mn-ea"/>
            </a:endParaRPr>
          </a:p>
        </p:txBody>
      </p:sp>
      <p:sp>
        <p:nvSpPr>
          <p:cNvPr id="230423" name="Text Box 23"/>
          <p:cNvSpPr txBox="1"/>
          <p:nvPr/>
        </p:nvSpPr>
        <p:spPr>
          <a:xfrm>
            <a:off x="258763" y="4984750"/>
            <a:ext cx="8301037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对于正数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规格化的特征是</a:t>
            </a: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最高有效位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为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“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”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;</a:t>
            </a:r>
            <a:endParaRPr lang="en-US" altLang="zh-CN" sz="28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230424" name="Text Box 24"/>
          <p:cNvSpPr txBox="1"/>
          <p:nvPr/>
        </p:nvSpPr>
        <p:spPr>
          <a:xfrm>
            <a:off x="250825" y="5575300"/>
            <a:ext cx="83820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对于负数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规格化的特征是</a:t>
            </a: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最高有效位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为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“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0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”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;</a:t>
            </a:r>
            <a:endParaRPr lang="en-US" altLang="zh-CN" sz="28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230439" name="Text Box 39"/>
          <p:cNvSpPr txBox="1"/>
          <p:nvPr/>
        </p:nvSpPr>
        <p:spPr>
          <a:xfrm>
            <a:off x="250825" y="3744913"/>
            <a:ext cx="7215188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规格化的特征是尾数</a:t>
            </a: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最高有效位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为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“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800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”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;</a:t>
            </a:r>
            <a:endParaRPr lang="en-US" altLang="zh-CN" sz="28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230440" name="Text Box 40"/>
          <p:cNvSpPr txBox="1"/>
          <p:nvPr/>
        </p:nvSpPr>
        <p:spPr>
          <a:xfrm>
            <a:off x="252413" y="4378325"/>
            <a:ext cx="2590800" cy="5794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对于补码：</a:t>
            </a:r>
            <a:endParaRPr lang="en-US" altLang="zh-CN" sz="3200" b="1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30442" name="Text Box 42"/>
          <p:cNvSpPr txBox="1"/>
          <p:nvPr/>
        </p:nvSpPr>
        <p:spPr>
          <a:xfrm>
            <a:off x="250825" y="3138488"/>
            <a:ext cx="2590800" cy="5794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对于原码：</a:t>
            </a:r>
            <a:endParaRPr lang="en-US" altLang="zh-CN" sz="3200" b="1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30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8" dur="80"/>
                                        <p:tgtEl>
                                          <p:spTgt spid="2304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9" dur="80"/>
                                        <p:tgtEl>
                                          <p:spTgt spid="2304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80"/>
                                        <p:tgtEl>
                                          <p:spTgt spid="2304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30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0" dur="80"/>
                                        <p:tgtEl>
                                          <p:spTgt spid="2304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1" dur="80"/>
                                        <p:tgtEl>
                                          <p:spTgt spid="2304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80"/>
                                        <p:tgtEl>
                                          <p:spTgt spid="2304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7" dur="80"/>
                                        <p:tgtEl>
                                          <p:spTgt spid="2304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8" dur="80"/>
                                        <p:tgtEl>
                                          <p:spTgt spid="2304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80"/>
                                        <p:tgtEl>
                                          <p:spTgt spid="2304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30423" grpId="0"/>
      <p:bldP spid="230424" grpId="0"/>
      <p:bldP spid="230439" grpId="0"/>
      <p:bldP spid="230440" grpId="0"/>
      <p:bldP spid="23044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fontAlgn="base"/>
            <a:r>
              <a:rPr lang="zh-CN" altLang="en-US" strike="noStrike" noProof="1"/>
              <a:t>例题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1600" y="1417638"/>
            <a:ext cx="8702675" cy="4525963"/>
          </a:xfrm>
        </p:spPr>
        <p:txBody>
          <a:bodyPr/>
          <a:p>
            <a:pPr fontAlgn="base"/>
            <a:r>
              <a:rPr lang="en-US" altLang="zh-CN" sz="2800" b="1" strike="noStrike" noProof="1"/>
              <a:t>1</a:t>
            </a:r>
            <a:r>
              <a:rPr lang="zh-CN" altLang="en-US" sz="2800" b="1" strike="noStrike" noProof="1"/>
              <a:t>、在浮点机中，判断原码规格化的形式的原则是：（      ）</a:t>
            </a:r>
            <a:endParaRPr lang="zh-CN" altLang="en-US" sz="2800" b="1" strike="noStrike" noProof="1"/>
          </a:p>
          <a:p>
            <a:pPr fontAlgn="base"/>
            <a:r>
              <a:rPr lang="en-US" altLang="zh-CN" sz="2800" b="1" strike="noStrike" noProof="1"/>
              <a:t>A. </a:t>
            </a:r>
            <a:r>
              <a:rPr lang="zh-CN" altLang="en-US" sz="2800" b="1" strike="noStrike" noProof="1"/>
              <a:t>尾数的符号位与第一位不同</a:t>
            </a:r>
            <a:endParaRPr lang="zh-CN" altLang="en-US" sz="2800" b="1" strike="noStrike" noProof="1"/>
          </a:p>
          <a:p>
            <a:pPr fontAlgn="base"/>
            <a:r>
              <a:rPr lang="en-US" altLang="zh-CN" sz="2800" b="1" strike="noStrike" noProof="1"/>
              <a:t>B. </a:t>
            </a:r>
            <a:r>
              <a:rPr lang="zh-CN" altLang="en-US" sz="2800" b="1" strike="noStrike" noProof="1"/>
              <a:t>尾数的第一位为</a:t>
            </a:r>
            <a:r>
              <a:rPr lang="en-US" altLang="zh-CN" sz="2800" b="1" strike="noStrike" noProof="1"/>
              <a:t>1</a:t>
            </a:r>
            <a:r>
              <a:rPr lang="zh-CN" altLang="en-US" sz="2800" b="1" strike="noStrike" noProof="1"/>
              <a:t>，数符任意</a:t>
            </a:r>
            <a:endParaRPr lang="zh-CN" altLang="en-US" sz="2800" b="1" strike="noStrike" noProof="1"/>
          </a:p>
          <a:p>
            <a:pPr fontAlgn="base"/>
            <a:r>
              <a:rPr lang="en-US" altLang="zh-CN" sz="2800" b="1" strike="noStrike" noProof="1"/>
              <a:t>C. </a:t>
            </a:r>
            <a:r>
              <a:rPr lang="zh-CN" altLang="en-US" sz="2800" b="1" strike="noStrike" noProof="1"/>
              <a:t>尾数的符号位与第一位相同</a:t>
            </a:r>
            <a:endParaRPr lang="zh-CN" altLang="en-US" sz="2800" b="1" strike="noStrike" noProof="1"/>
          </a:p>
          <a:p>
            <a:pPr fontAlgn="base"/>
            <a:r>
              <a:rPr lang="en-US" altLang="zh-CN" sz="2800" b="1" strike="noStrike" noProof="1"/>
              <a:t>D. </a:t>
            </a:r>
            <a:r>
              <a:rPr lang="zh-CN" altLang="en-US" sz="2800" b="1" strike="noStrike" noProof="1"/>
              <a:t>阶符与数符不同</a:t>
            </a:r>
            <a:endParaRPr lang="zh-CN" altLang="en-US" sz="2800" b="1" strike="noStrike" noProof="1"/>
          </a:p>
          <a:p>
            <a:pPr fontAlgn="base"/>
            <a:r>
              <a:rPr lang="en-US" altLang="zh-CN" sz="2800" b="1" strike="noStrike" noProof="1"/>
              <a:t>2</a:t>
            </a:r>
            <a:r>
              <a:rPr lang="zh-CN" altLang="en-US" sz="2800" b="1" strike="noStrike" noProof="1"/>
              <a:t>、</a:t>
            </a:r>
            <a:r>
              <a:rPr lang="en-US" altLang="zh-CN" sz="2800" b="1" strike="noStrike" noProof="1"/>
              <a:t>************</a:t>
            </a:r>
            <a:r>
              <a:rPr lang="zh-CN" altLang="en-US" sz="2800" b="1" strike="noStrike" noProof="1"/>
              <a:t>，</a:t>
            </a:r>
            <a:r>
              <a:rPr lang="en-US" altLang="zh-CN" sz="2800" b="1" strike="noStrike" noProof="1"/>
              <a:t>*****</a:t>
            </a:r>
            <a:r>
              <a:rPr lang="zh-CN" altLang="en-US" sz="2800" b="1" strike="noStrike" noProof="1"/>
              <a:t>补码</a:t>
            </a:r>
            <a:r>
              <a:rPr lang="en-US" altLang="zh-CN" sz="2800" b="1" strike="noStrike" noProof="1"/>
              <a:t>***************</a:t>
            </a:r>
            <a:r>
              <a:rPr lang="zh-CN" altLang="en-US" sz="2800" b="1" strike="noStrike" noProof="1"/>
              <a:t>：（          ）</a:t>
            </a:r>
            <a:endParaRPr lang="zh-CN" altLang="en-US" sz="2800" b="1" strike="noStrike" noProof="1"/>
          </a:p>
          <a:p>
            <a:pPr marL="0" indent="0" fontAlgn="base">
              <a:buNone/>
            </a:pPr>
            <a:endParaRPr lang="zh-CN" altLang="en-US" sz="2800" b="1" strike="noStrike" noProof="1"/>
          </a:p>
        </p:txBody>
      </p:sp>
    </p:spTree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Rectangle 5"/>
          <p:cNvSpPr>
            <a:spLocks noGrp="1" noRot="1"/>
          </p:cNvSpPr>
          <p:nvPr>
            <p:ph idx="1"/>
          </p:nvPr>
        </p:nvSpPr>
        <p:spPr>
          <a:xfrm>
            <a:off x="-144462" y="44450"/>
            <a:ext cx="9288462" cy="1655763"/>
          </a:xfrm>
          <a:noFill/>
          <a:ln>
            <a:noFill/>
          </a:ln>
        </p:spPr>
        <p:txBody>
          <a:bodyPr anchor="t"/>
          <a:p>
            <a:pPr eaLnBrk="1" hangingPunct="1">
              <a:spcAft>
                <a:spcPct val="20000"/>
              </a:spcAft>
              <a:buNone/>
            </a:pPr>
            <a:r>
              <a:rPr lang="en-US" altLang="zh-CN" b="1" dirty="0">
                <a:solidFill>
                  <a:schemeClr val="folHlink"/>
                </a:solidFill>
              </a:rPr>
              <a:t>   </a:t>
            </a:r>
            <a:r>
              <a:rPr lang="en-US" altLang="zh-CN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IEEE754 </a:t>
            </a:r>
            <a:r>
              <a:rPr lang="zh-CN" altLang="en-US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的标准：</a:t>
            </a:r>
            <a:endParaRPr lang="zh-CN" altLang="en-US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None/>
            </a:pPr>
            <a:r>
              <a:rPr lang="en-US" altLang="zh-CN" sz="2800" b="1" dirty="0"/>
              <a:t>    32</a:t>
            </a:r>
            <a:r>
              <a:rPr lang="zh-CN" altLang="en-US" sz="2800" b="1" dirty="0"/>
              <a:t>位浮点数（短实数）和</a:t>
            </a:r>
            <a:r>
              <a:rPr lang="en-US" altLang="zh-CN" sz="2800" b="1" dirty="0"/>
              <a:t>64</a:t>
            </a:r>
            <a:r>
              <a:rPr lang="zh-CN" altLang="en-US" sz="2800" b="1" dirty="0"/>
              <a:t>位浮点数（长实数）的标准格式为：</a:t>
            </a:r>
            <a:endParaRPr lang="zh-CN" altLang="en-US" sz="2800" b="1" dirty="0"/>
          </a:p>
        </p:txBody>
      </p:sp>
      <p:pic>
        <p:nvPicPr>
          <p:cNvPr id="224263" name="Picture 7" descr="D:\组成原理电子教案\Chap02\Images\picture3.gif"/>
          <p:cNvPicPr>
            <a:picLocks noChangeAspect="1"/>
          </p:cNvPicPr>
          <p:nvPr/>
        </p:nvPicPr>
        <p:blipFill>
          <a:blip r:embed="rId1" r:link="rId2"/>
          <a:stretch>
            <a:fillRect/>
          </a:stretch>
        </p:blipFill>
        <p:spPr>
          <a:xfrm>
            <a:off x="323850" y="1989138"/>
            <a:ext cx="8424863" cy="1025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AutoShape 5"/>
          <p:cNvSpPr/>
          <p:nvPr/>
        </p:nvSpPr>
        <p:spPr>
          <a:xfrm>
            <a:off x="228600" y="4572000"/>
            <a:ext cx="3581400" cy="2057400"/>
          </a:xfrm>
          <a:prstGeom prst="wedgeEllipseCallout">
            <a:avLst>
              <a:gd name="adj1" fmla="val 28884"/>
              <a:gd name="adj2" fmla="val -137611"/>
            </a:avLst>
          </a:prstGeom>
          <a:solidFill>
            <a:srgbClr val="CCFFFF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p>
            <a:pPr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Ｓ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：1位符号位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0表示正数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1表示负数 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AutoShape 4"/>
          <p:cNvSpPr/>
          <p:nvPr/>
        </p:nvSpPr>
        <p:spPr>
          <a:xfrm>
            <a:off x="3419475" y="107950"/>
            <a:ext cx="5867400" cy="1881188"/>
          </a:xfrm>
          <a:prstGeom prst="wedgeEllipseCallout">
            <a:avLst>
              <a:gd name="adj1" fmla="val -36199"/>
              <a:gd name="adj2" fmla="val 89981"/>
            </a:avLst>
          </a:prstGeom>
          <a:solidFill>
            <a:srgbClr val="CCFFFF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p>
            <a:pPr algn="ctr">
              <a:lnSpc>
                <a:spcPct val="8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Ｅ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：含阶符的阶码，8 位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阶码采用</a:t>
            </a:r>
            <a:r>
              <a:rPr lang="zh-CN" altLang="en-US" sz="2800" b="1" u="sng" dirty="0">
                <a:solidFill>
                  <a:srgbClr val="7030A0"/>
                </a:solidFill>
                <a:latin typeface="Times New Roman" panose="02020603050405020304" pitchFamily="18" charset="0"/>
              </a:rPr>
              <a:t>移码方式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来表示正负指数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AutoShape 6"/>
          <p:cNvSpPr/>
          <p:nvPr/>
        </p:nvSpPr>
        <p:spPr>
          <a:xfrm>
            <a:off x="4343400" y="4648200"/>
            <a:ext cx="4572000" cy="1828800"/>
          </a:xfrm>
          <a:prstGeom prst="wedgeEllipseCallout">
            <a:avLst>
              <a:gd name="adj1" fmla="val 16495"/>
              <a:gd name="adj2" fmla="val -156981"/>
            </a:avLst>
          </a:prstGeom>
          <a:solidFill>
            <a:srgbClr val="CCFFFF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p>
            <a:pPr algn="ctr">
              <a:spcBef>
                <a:spcPct val="20000"/>
              </a:spcBef>
            </a:pPr>
            <a:r>
              <a:rPr lang="zh-CN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Ｍ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：尾数，23位小数表示，小数点放在尾数域最前面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4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4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 bldLvl="0" animBg="1"/>
      <p:bldP spid="8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5284" name="Picture 4" descr="D:\组成原理电子教案\Chap02\Images\picture4.gif"/>
          <p:cNvPicPr>
            <a:picLocks noChangeAspect="1"/>
          </p:cNvPicPr>
          <p:nvPr>
            <p:ph idx="1"/>
          </p:nvPr>
        </p:nvPicPr>
        <p:blipFill>
          <a:blip r:embed="rId1" r:link="rId2"/>
          <a:stretch>
            <a:fillRect/>
          </a:stretch>
        </p:blipFill>
        <p:spPr>
          <a:xfrm>
            <a:off x="179388" y="333375"/>
            <a:ext cx="8748712" cy="949325"/>
          </a:xfrm>
          <a:noFill/>
          <a:ln>
            <a:noFill/>
          </a:ln>
        </p:spPr>
      </p:pic>
      <p:sp>
        <p:nvSpPr>
          <p:cNvPr id="225285" name="Text Box 5"/>
          <p:cNvSpPr txBox="1"/>
          <p:nvPr/>
        </p:nvSpPr>
        <p:spPr>
          <a:xfrm>
            <a:off x="179388" y="1557338"/>
            <a:ext cx="8713787" cy="2727325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p>
            <a:pPr>
              <a:lnSpc>
                <a:spcPct val="12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其中：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  <a:buChar char="•"/>
            </a:pPr>
            <a:r>
              <a:rPr lang="zh-CN" altLang="en-US" sz="2800" b="1" i="1" dirty="0">
                <a:latin typeface="宋体" panose="02010600030101010101" pitchFamily="2" charset="-122"/>
              </a:rPr>
              <a:t> Ｓ</a:t>
            </a:r>
            <a:r>
              <a:rPr lang="en-US" altLang="zh-CN" sz="2800" b="1" dirty="0">
                <a:latin typeface="宋体" panose="02010600030101010101" pitchFamily="2" charset="-122"/>
              </a:rPr>
              <a:t>=</a:t>
            </a:r>
            <a:r>
              <a:rPr lang="zh-CN" altLang="en-US" sz="2800" b="1" dirty="0">
                <a:latin typeface="宋体" panose="02010600030101010101" pitchFamily="2" charset="-122"/>
              </a:rPr>
              <a:t>浮点数的符号位，</a:t>
            </a:r>
            <a:r>
              <a:rPr lang="en-US" altLang="zh-CN" sz="2800" b="1" dirty="0">
                <a:latin typeface="宋体" panose="02010600030101010101" pitchFamily="2" charset="-122"/>
              </a:rPr>
              <a:t>0</a:t>
            </a:r>
            <a:r>
              <a:rPr lang="zh-CN" altLang="en-US" sz="2800" b="1" dirty="0">
                <a:latin typeface="宋体" panose="02010600030101010101" pitchFamily="2" charset="-122"/>
              </a:rPr>
              <a:t>表示正数，</a:t>
            </a:r>
            <a:r>
              <a:rPr lang="en-US" altLang="zh-CN" sz="2800" b="1" dirty="0">
                <a:latin typeface="宋体" panose="02010600030101010101" pitchFamily="2" charset="-122"/>
              </a:rPr>
              <a:t>1</a:t>
            </a:r>
            <a:r>
              <a:rPr lang="zh-CN" altLang="en-US" sz="2800" b="1" dirty="0">
                <a:latin typeface="宋体" panose="02010600030101010101" pitchFamily="2" charset="-122"/>
              </a:rPr>
              <a:t>表示负数。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  <a:buChar char="•"/>
            </a:pPr>
            <a:r>
              <a:rPr lang="zh-CN" altLang="en-US" sz="2800" b="1" i="1" dirty="0">
                <a:latin typeface="宋体" panose="02010600030101010101" pitchFamily="2" charset="-122"/>
              </a:rPr>
              <a:t> Ｍ</a:t>
            </a:r>
            <a:r>
              <a:rPr lang="en-US" altLang="zh-CN" sz="2800" b="1" dirty="0">
                <a:latin typeface="宋体" panose="02010600030101010101" pitchFamily="2" charset="-122"/>
              </a:rPr>
              <a:t>=</a:t>
            </a:r>
            <a:r>
              <a:rPr lang="zh-CN" altLang="en-US" sz="2800" b="1" dirty="0">
                <a:latin typeface="宋体" panose="02010600030101010101" pitchFamily="2" charset="-122"/>
              </a:rPr>
              <a:t>尾数，</a:t>
            </a:r>
            <a:r>
              <a:rPr lang="en-US" altLang="zh-CN" sz="2800" b="1" dirty="0">
                <a:latin typeface="宋体" panose="02010600030101010101" pitchFamily="2" charset="-122"/>
              </a:rPr>
              <a:t>52</a:t>
            </a:r>
            <a:r>
              <a:rPr lang="zh-CN" altLang="en-US" sz="2800" b="1" dirty="0">
                <a:latin typeface="宋体" panose="02010600030101010101" pitchFamily="2" charset="-122"/>
              </a:rPr>
              <a:t>位，用纯小数表示。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  <a:buChar char="•"/>
            </a:pPr>
            <a:r>
              <a:rPr lang="zh-CN" altLang="en-US" sz="2800" b="1" i="1" dirty="0">
                <a:latin typeface="宋体" panose="02010600030101010101" pitchFamily="2" charset="-122"/>
              </a:rPr>
              <a:t> Ｅ</a:t>
            </a:r>
            <a:r>
              <a:rPr lang="en-US" altLang="zh-CN" sz="2800" b="1" dirty="0">
                <a:latin typeface="宋体" panose="02010600030101010101" pitchFamily="2" charset="-122"/>
              </a:rPr>
              <a:t>=</a:t>
            </a:r>
            <a:r>
              <a:rPr lang="zh-CN" altLang="en-US" sz="2800" b="1" dirty="0">
                <a:latin typeface="宋体" panose="02010600030101010101" pitchFamily="2" charset="-122"/>
              </a:rPr>
              <a:t>阶码，</a:t>
            </a:r>
            <a:r>
              <a:rPr lang="en-US" altLang="zh-CN" sz="2800" b="1" dirty="0">
                <a:latin typeface="宋体" panose="02010600030101010101" pitchFamily="2" charset="-122"/>
              </a:rPr>
              <a:t>11 </a:t>
            </a:r>
            <a:r>
              <a:rPr lang="zh-CN" altLang="en-US" sz="2800" b="1" dirty="0">
                <a:latin typeface="宋体" panose="02010600030101010101" pitchFamily="2" charset="-122"/>
              </a:rPr>
              <a:t>位，阶符采用隐含方式，即采用</a:t>
            </a:r>
            <a:r>
              <a:rPr lang="zh-CN" altLang="en-US" sz="2800" b="1" dirty="0">
                <a:solidFill>
                  <a:schemeClr val="folHlink"/>
                </a:solidFill>
                <a:latin typeface="宋体" panose="02010600030101010101" pitchFamily="2" charset="-122"/>
              </a:rPr>
              <a:t>移码</a:t>
            </a:r>
            <a:r>
              <a:rPr lang="zh-CN" altLang="en-US" sz="2800" b="1" dirty="0">
                <a:latin typeface="宋体" panose="02010600030101010101" pitchFamily="2" charset="-122"/>
              </a:rPr>
              <a:t>方式来表示正负指数，但只偏移</a:t>
            </a:r>
            <a:r>
              <a:rPr lang="en-US" altLang="zh-CN" sz="3200" b="1" dirty="0">
                <a:solidFill>
                  <a:srgbClr val="FFBF09"/>
                </a:solidFill>
                <a:latin typeface="宋体" panose="02010600030101010101" pitchFamily="2" charset="-122"/>
              </a:rPr>
              <a:t>2</a:t>
            </a:r>
            <a:r>
              <a:rPr lang="en-US" altLang="zh-CN" sz="3200" b="1" baseline="30000" dirty="0">
                <a:solidFill>
                  <a:srgbClr val="FFBF09"/>
                </a:solidFill>
                <a:latin typeface="宋体" panose="02010600030101010101" pitchFamily="2" charset="-122"/>
              </a:rPr>
              <a:t>n</a:t>
            </a:r>
            <a:r>
              <a:rPr lang="en-US" altLang="zh-CN" sz="3200" b="1" dirty="0">
                <a:solidFill>
                  <a:srgbClr val="FFBF09"/>
                </a:solidFill>
                <a:latin typeface="宋体" panose="02010600030101010101" pitchFamily="2" charset="-122"/>
              </a:rPr>
              <a:t>-1</a:t>
            </a:r>
            <a:r>
              <a:rPr lang="zh-CN" altLang="en-US" sz="2800" b="1" dirty="0">
                <a:latin typeface="宋体" panose="02010600030101010101" pitchFamily="2" charset="-122"/>
              </a:rPr>
              <a:t>。 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25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8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 2"/>
          <p:cNvSpPr txBox="1"/>
          <p:nvPr/>
        </p:nvSpPr>
        <p:spPr>
          <a:xfrm>
            <a:off x="381000" y="1066800"/>
            <a:ext cx="8574088" cy="4495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3200" b="1" u="sng" dirty="0">
                <a:solidFill>
                  <a:srgbClr val="FFFF00"/>
                </a:solidFill>
                <a:latin typeface="Times New Roman" panose="02020603050405020304" pitchFamily="18" charset="0"/>
              </a:rPr>
              <a:t>尾数</a:t>
            </a:r>
            <a:r>
              <a:rPr lang="zh-CN" altLang="en-US" sz="3200" b="1" u="sng" dirty="0">
                <a:solidFill>
                  <a:srgbClr val="FFC000"/>
                </a:solidFill>
                <a:latin typeface="Times New Roman" panose="02020603050405020304" pitchFamily="18" charset="0"/>
              </a:rPr>
              <a:t>最高有效位</a:t>
            </a:r>
            <a:r>
              <a:rPr lang="zh-CN" altLang="en-US" sz="3200" b="1" u="sng" dirty="0">
                <a:solidFill>
                  <a:srgbClr val="FFFF00"/>
                </a:solidFill>
                <a:latin typeface="Times New Roman" panose="02020603050405020304" pitchFamily="18" charset="0"/>
              </a:rPr>
              <a:t>为1，隐藏，并且隐藏在小数点的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左边</a:t>
            </a:r>
            <a:endParaRPr lang="zh-CN" altLang="en-US" sz="3200" b="1" i="1" u="sng" dirty="0">
              <a:solidFill>
                <a:srgbClr val="FFFF00"/>
              </a:solidFill>
              <a:latin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Times New Roman" panose="02020603050405020304" pitchFamily="18" charset="0"/>
              </a:rPr>
              <a:t>32位单精度浮点数规格化表示</a:t>
            </a:r>
            <a:endParaRPr lang="zh-CN" altLang="en-US" sz="3200" b="1" dirty="0">
              <a:latin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3200" b="1" i="1" dirty="0">
                <a:solidFill>
                  <a:srgbClr val="FFFF00"/>
                </a:solidFill>
                <a:latin typeface="Times New Roman" panose="02020603050405020304" pitchFamily="18" charset="0"/>
              </a:rPr>
              <a:t>	ｘ</a:t>
            </a:r>
            <a:r>
              <a:rPr lang="zh-CN" altLang="en-US" sz="32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＝ (-1)</a:t>
            </a:r>
            <a:r>
              <a:rPr lang="zh-CN" altLang="en-US" sz="3600" b="1" baseline="30000" dirty="0">
                <a:solidFill>
                  <a:srgbClr val="FFFF00"/>
                </a:solidFill>
                <a:latin typeface="Times New Roman" panose="02020603050405020304" pitchFamily="18" charset="0"/>
              </a:rPr>
              <a:t>s</a:t>
            </a:r>
            <a:r>
              <a:rPr lang="zh-CN" altLang="en-US" sz="32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×(1.</a:t>
            </a:r>
            <a:r>
              <a:rPr lang="zh-CN" altLang="en-US" sz="3200" b="1" i="1" dirty="0">
                <a:solidFill>
                  <a:srgbClr val="FFFF00"/>
                </a:solidFill>
                <a:latin typeface="Times New Roman" panose="02020603050405020304" pitchFamily="18" charset="0"/>
              </a:rPr>
              <a:t>Ｍ</a:t>
            </a:r>
            <a:r>
              <a:rPr lang="zh-CN" altLang="en-US" sz="32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)× 2</a:t>
            </a:r>
            <a:r>
              <a:rPr lang="zh-CN" altLang="en-US" sz="3200" b="1" baseline="30000" dirty="0">
                <a:solidFill>
                  <a:srgbClr val="FFFF00"/>
                </a:solidFill>
                <a:latin typeface="Times New Roman" panose="02020603050405020304" pitchFamily="18" charset="0"/>
              </a:rPr>
              <a:t>E-127</a:t>
            </a:r>
            <a:endParaRPr lang="zh-CN" altLang="en-US" sz="3200" b="1" i="1" dirty="0">
              <a:solidFill>
                <a:srgbClr val="FFFF00"/>
              </a:solidFill>
              <a:latin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3200" b="1" i="1" dirty="0">
                <a:solidFill>
                  <a:srgbClr val="FFFF00"/>
                </a:solidFill>
                <a:latin typeface="Times New Roman" panose="02020603050405020304" pitchFamily="18" charset="0"/>
              </a:rPr>
              <a:t>	e</a:t>
            </a:r>
            <a:r>
              <a:rPr lang="zh-CN" altLang="en-US" sz="32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＝</a:t>
            </a:r>
            <a:r>
              <a:rPr lang="zh-CN" altLang="en-US" sz="3200" b="1" i="1" dirty="0">
                <a:solidFill>
                  <a:srgbClr val="FFFF00"/>
                </a:solidFill>
                <a:latin typeface="Times New Roman" panose="02020603050405020304" pitchFamily="18" charset="0"/>
              </a:rPr>
              <a:t>Ｅ</a:t>
            </a:r>
            <a:r>
              <a:rPr lang="zh-CN" altLang="en-US" sz="32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－127</a:t>
            </a:r>
            <a:r>
              <a:rPr lang="zh-CN" altLang="en-US" sz="3200" b="1" dirty="0">
                <a:latin typeface="Times New Roman" panose="02020603050405020304" pitchFamily="18" charset="0"/>
              </a:rPr>
              <a:t>（</a:t>
            </a:r>
            <a:r>
              <a:rPr lang="zh-CN" altLang="en-US" sz="3200" b="1" i="1" dirty="0">
                <a:latin typeface="Times New Roman" panose="02020603050405020304" pitchFamily="18" charset="0"/>
              </a:rPr>
              <a:t>Ｅ＝e</a:t>
            </a:r>
            <a:r>
              <a:rPr lang="zh-CN" altLang="en-US" sz="3200" b="1" dirty="0">
                <a:latin typeface="Times New Roman" panose="02020603050405020304" pitchFamily="18" charset="0"/>
              </a:rPr>
              <a:t>＋127）</a:t>
            </a:r>
            <a:endParaRPr lang="zh-CN" altLang="en-US" sz="3200" b="1" dirty="0">
              <a:latin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Times New Roman" panose="02020603050405020304" pitchFamily="18" charset="0"/>
              </a:rPr>
              <a:t>64位双精度浮点数规格化表示</a:t>
            </a:r>
            <a:endParaRPr lang="zh-CN" altLang="en-US" sz="3200" b="1" i="1" dirty="0">
              <a:solidFill>
                <a:srgbClr val="5C4AFF"/>
              </a:solidFill>
              <a:latin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3200" b="1" i="1" dirty="0">
                <a:solidFill>
                  <a:srgbClr val="FFFF00"/>
                </a:solidFill>
                <a:latin typeface="Times New Roman" panose="02020603050405020304" pitchFamily="18" charset="0"/>
              </a:rPr>
              <a:t>	ｘ</a:t>
            </a:r>
            <a:r>
              <a:rPr lang="zh-CN" altLang="en-US" sz="32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＝ (-1)</a:t>
            </a:r>
            <a:r>
              <a:rPr lang="zh-CN" altLang="en-US" sz="3600" b="1" baseline="30000" dirty="0">
                <a:solidFill>
                  <a:srgbClr val="FFFF00"/>
                </a:solidFill>
                <a:latin typeface="Times New Roman" panose="02020603050405020304" pitchFamily="18" charset="0"/>
              </a:rPr>
              <a:t>s </a:t>
            </a:r>
            <a:r>
              <a:rPr lang="zh-CN" altLang="en-US" sz="32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×(1.</a:t>
            </a:r>
            <a:r>
              <a:rPr lang="zh-CN" altLang="en-US" sz="3200" b="1" i="1" dirty="0">
                <a:solidFill>
                  <a:srgbClr val="FFFF00"/>
                </a:solidFill>
                <a:latin typeface="Times New Roman" panose="02020603050405020304" pitchFamily="18" charset="0"/>
              </a:rPr>
              <a:t>Ｍ</a:t>
            </a:r>
            <a:r>
              <a:rPr lang="zh-CN" altLang="en-US" sz="32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)× 2</a:t>
            </a:r>
            <a:r>
              <a:rPr lang="zh-CN" altLang="en-US" sz="3200" b="1" baseline="30000" dirty="0">
                <a:solidFill>
                  <a:srgbClr val="FFFF00"/>
                </a:solidFill>
                <a:latin typeface="Times New Roman" panose="02020603050405020304" pitchFamily="18" charset="0"/>
              </a:rPr>
              <a:t>E-1023</a:t>
            </a:r>
            <a:endParaRPr lang="zh-CN" altLang="en-US" sz="3200" b="1" i="1" dirty="0">
              <a:solidFill>
                <a:srgbClr val="FFFF00"/>
              </a:solidFill>
              <a:latin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3200" b="1" i="1" dirty="0">
                <a:solidFill>
                  <a:srgbClr val="FFFF00"/>
                </a:solidFill>
                <a:latin typeface="Times New Roman" panose="02020603050405020304" pitchFamily="18" charset="0"/>
              </a:rPr>
              <a:t>	e</a:t>
            </a:r>
            <a:r>
              <a:rPr lang="zh-CN" altLang="en-US" sz="32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＝</a:t>
            </a:r>
            <a:r>
              <a:rPr lang="zh-CN" altLang="en-US" sz="3200" b="1" i="1" dirty="0">
                <a:solidFill>
                  <a:srgbClr val="FFFF00"/>
                </a:solidFill>
                <a:latin typeface="Times New Roman" panose="02020603050405020304" pitchFamily="18" charset="0"/>
              </a:rPr>
              <a:t>Ｅ</a:t>
            </a:r>
            <a:r>
              <a:rPr lang="zh-CN" altLang="en-US" sz="32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－1023</a:t>
            </a:r>
            <a:r>
              <a:rPr lang="zh-CN" altLang="en-US" sz="3200" b="1" dirty="0">
                <a:latin typeface="Times New Roman" panose="02020603050405020304" pitchFamily="18" charset="0"/>
              </a:rPr>
              <a:t>（</a:t>
            </a:r>
            <a:r>
              <a:rPr lang="zh-CN" altLang="en-US" sz="3200" b="1" i="1" dirty="0">
                <a:latin typeface="Times New Roman" panose="02020603050405020304" pitchFamily="18" charset="0"/>
              </a:rPr>
              <a:t>Ｅ＝e</a:t>
            </a:r>
            <a:r>
              <a:rPr lang="zh-CN" altLang="en-US" sz="3200" b="1" dirty="0">
                <a:latin typeface="Times New Roman" panose="02020603050405020304" pitchFamily="18" charset="0"/>
              </a:rPr>
              <a:t>＋1023）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6" name="Rectangle 3"/>
          <p:cNvSpPr/>
          <p:nvPr/>
        </p:nvSpPr>
        <p:spPr>
          <a:xfrm>
            <a:off x="1524000" y="5791200"/>
            <a:ext cx="7081838" cy="588963"/>
          </a:xfrm>
          <a:prstGeom prst="rect">
            <a:avLst/>
          </a:prstGeom>
          <a:noFill/>
          <a:ln w="9525" cap="flat" cmpd="sng">
            <a:solidFill>
              <a:srgbClr val="A45CA4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>
            <a:spAutoFit/>
          </a:bodyPr>
          <a:p>
            <a:pPr algn="ctr"/>
            <a:r>
              <a:rPr lang="zh-CN" altLang="en-US" sz="3200" b="1" dirty="0">
                <a:latin typeface="Times New Roman" panose="02020603050405020304" pitchFamily="18" charset="0"/>
              </a:rPr>
              <a:t>指数真值e 用偏移码形式表示为阶码Ｅ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7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228600"/>
            <a:ext cx="3505200" cy="533400"/>
          </a:xfrm>
          <a:prstGeom prst="rect">
            <a:avLst/>
          </a:prstGeom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规格化表示原则</a:t>
            </a:r>
            <a:endParaRPr kumimoji="1" lang="zh-CN" sz="32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39940" name="Rectangle 5"/>
          <p:cNvSpPr/>
          <p:nvPr/>
        </p:nvSpPr>
        <p:spPr>
          <a:xfrm>
            <a:off x="6248400" y="304800"/>
            <a:ext cx="2667000" cy="381000"/>
          </a:xfrm>
          <a:prstGeom prst="rect">
            <a:avLst/>
          </a:prstGeom>
          <a:solidFill>
            <a:srgbClr val="FF0000"/>
          </a:solidFill>
          <a:ln w="28575" cap="flat" cmpd="sng">
            <a:solidFill>
              <a:srgbClr val="A45CA4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 defTabSz="9144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tabLst>
                <a:tab pos="719455" algn="l"/>
              </a:tabLst>
            </a:pPr>
            <a:r>
              <a:rPr lang="zh-CN" altLang="en-US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IEEE 754标准</a:t>
            </a:r>
            <a:endParaRPr lang="zh-CN" altLang="en-US" b="1" i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34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49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73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91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106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132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 2"/>
          <p:cNvSpPr/>
          <p:nvPr/>
        </p:nvSpPr>
        <p:spPr>
          <a:xfrm>
            <a:off x="23813" y="5157788"/>
            <a:ext cx="7696200" cy="1031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algn="ctr" defTabSz="914400" eaLnBrk="0" hangingPunct="0">
              <a:spcBef>
                <a:spcPct val="20000"/>
              </a:spcBef>
              <a:tabLst>
                <a:tab pos="719455" algn="l"/>
              </a:tabLst>
            </a:pPr>
            <a:r>
              <a:rPr lang="zh-CN" altLang="zh-CN" sz="2800" b="1" dirty="0">
                <a:solidFill>
                  <a:srgbClr val="FFFF00"/>
                </a:solidFill>
                <a:latin typeface="宋体" panose="02010600030101010101" pitchFamily="2" charset="-122"/>
              </a:rPr>
              <a:t>④</a:t>
            </a:r>
            <a:r>
              <a:rPr lang="zh-CN" altLang="zh-CN" sz="28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 X</a:t>
            </a:r>
            <a:r>
              <a:rPr lang="zh-CN" altLang="x-none" sz="28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＝</a:t>
            </a:r>
            <a:r>
              <a:rPr lang="zh-CN" altLang="zh-CN" sz="28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(-1)</a:t>
            </a:r>
            <a:r>
              <a:rPr lang="zh-CN" altLang="zh-CN" sz="2800" b="1" baseline="30000" dirty="0">
                <a:solidFill>
                  <a:srgbClr val="FFFF00"/>
                </a:solidFill>
                <a:latin typeface="Times New Roman" panose="02020603050405020304" pitchFamily="18" charset="0"/>
              </a:rPr>
              <a:t>s</a:t>
            </a:r>
            <a:r>
              <a:rPr lang="zh-CN" altLang="zh-CN" sz="28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×1.</a:t>
            </a:r>
            <a:r>
              <a:rPr lang="zh-CN" altLang="zh-CN" sz="2800" b="1" i="1" dirty="0">
                <a:solidFill>
                  <a:srgbClr val="FFFF00"/>
                </a:solidFill>
                <a:latin typeface="Times New Roman" panose="02020603050405020304" pitchFamily="18" charset="0"/>
              </a:rPr>
              <a:t>M</a:t>
            </a:r>
            <a:r>
              <a:rPr lang="zh-CN" altLang="zh-CN" sz="28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×2</a:t>
            </a:r>
            <a:r>
              <a:rPr lang="zh-CN" altLang="zh-CN" sz="2800" b="1" baseline="30000" dirty="0">
                <a:solidFill>
                  <a:srgbClr val="FFFF00"/>
                </a:solidFill>
                <a:latin typeface="Times New Roman" panose="02020603050405020304" pitchFamily="18" charset="0"/>
              </a:rPr>
              <a:t>e</a:t>
            </a:r>
            <a:r>
              <a:rPr lang="zh-CN" altLang="zh-CN" b="1" baseline="30000" dirty="0">
                <a:solidFill>
                  <a:srgbClr val="FFFF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x-none" sz="28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＝＋</a:t>
            </a:r>
            <a:r>
              <a:rPr lang="zh-CN" altLang="zh-CN" sz="28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(1.011011)×2</a:t>
            </a:r>
            <a:r>
              <a:rPr lang="zh-CN" altLang="zh-CN" sz="2800" b="1" baseline="30000" dirty="0">
                <a:solidFill>
                  <a:srgbClr val="FFFF00"/>
                </a:solidFill>
                <a:latin typeface="Times New Roman" panose="02020603050405020304" pitchFamily="18" charset="0"/>
              </a:rPr>
              <a:t>3</a:t>
            </a:r>
            <a:endParaRPr lang="zh-CN" altLang="zh-CN" sz="2800" b="1" baseline="30000" dirty="0">
              <a:solidFill>
                <a:srgbClr val="FFFF00"/>
              </a:solidFill>
              <a:latin typeface="Times New Roman" panose="02020603050405020304" pitchFamily="18" charset="0"/>
            </a:endParaRPr>
          </a:p>
          <a:p>
            <a:pPr algn="ctr" defTabSz="914400">
              <a:spcBef>
                <a:spcPct val="20000"/>
              </a:spcBef>
              <a:tabLst>
                <a:tab pos="719455" algn="l"/>
              </a:tabLst>
            </a:pPr>
            <a:r>
              <a:rPr lang="zh-CN" altLang="zh-CN" sz="28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	</a:t>
            </a:r>
            <a:r>
              <a:rPr lang="zh-CN" altLang="x-none" sz="28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＝＋</a:t>
            </a:r>
            <a:r>
              <a:rPr lang="zh-CN" altLang="zh-CN" sz="28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1011.011</a:t>
            </a:r>
            <a:r>
              <a:rPr lang="zh-CN" altLang="x-none" sz="28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＝</a:t>
            </a:r>
            <a:r>
              <a:rPr lang="zh-CN" altLang="zh-CN" sz="28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(11.375)</a:t>
            </a:r>
            <a:r>
              <a:rPr lang="zh-CN" altLang="zh-CN" sz="2800" b="1" baseline="-30000" dirty="0">
                <a:solidFill>
                  <a:srgbClr val="FFFF00"/>
                </a:solidFill>
                <a:latin typeface="Times New Roman" panose="02020603050405020304" pitchFamily="18" charset="0"/>
              </a:rPr>
              <a:t>10</a:t>
            </a:r>
            <a:endParaRPr lang="zh-CN" altLang="zh-CN" sz="3600" b="1" baseline="30000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Text Box 3"/>
          <p:cNvSpPr txBox="1"/>
          <p:nvPr/>
        </p:nvSpPr>
        <p:spPr>
          <a:xfrm>
            <a:off x="457200" y="3159125"/>
            <a:ext cx="8382000" cy="1031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algn="ctr" defTabSz="914400">
              <a:spcBef>
                <a:spcPct val="50000"/>
              </a:spcBef>
              <a:tabLst>
                <a:tab pos="630555" algn="l"/>
              </a:tabLst>
            </a:pPr>
            <a:r>
              <a:rPr lang="zh-CN" altLang="zh-CN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② </a:t>
            </a:r>
            <a:r>
              <a:rPr lang="zh-CN" altLang="x-none" sz="2800" b="1" dirty="0">
                <a:solidFill>
                  <a:srgbClr val="FFFF00"/>
                </a:solidFill>
                <a:latin typeface="Tahoma" panose="020B0604030504040204" pitchFamily="34" charset="0"/>
              </a:rPr>
              <a:t>指数</a:t>
            </a:r>
            <a:r>
              <a:rPr lang="zh-CN" altLang="zh-CN" sz="2800" b="1" dirty="0">
                <a:solidFill>
                  <a:srgbClr val="FFFF00"/>
                </a:solidFill>
                <a:latin typeface="Tahoma" panose="020B0604030504040204" pitchFamily="34" charset="0"/>
              </a:rPr>
              <a:t>e</a:t>
            </a:r>
            <a:r>
              <a:rPr lang="zh-CN" altLang="x-none" sz="2800" b="1" dirty="0">
                <a:solidFill>
                  <a:srgbClr val="FFFF00"/>
                </a:solidFill>
                <a:latin typeface="Tahoma" panose="020B0604030504040204" pitchFamily="34" charset="0"/>
              </a:rPr>
              <a:t>＝阶码－</a:t>
            </a:r>
            <a:r>
              <a:rPr lang="zh-CN" altLang="zh-CN" sz="2800" b="1" dirty="0">
                <a:solidFill>
                  <a:srgbClr val="FFFF00"/>
                </a:solidFill>
                <a:latin typeface="Tahoma" panose="020B0604030504040204" pitchFamily="34" charset="0"/>
              </a:rPr>
              <a:t>127 </a:t>
            </a:r>
            <a:r>
              <a:rPr lang="zh-CN" altLang="x-none" sz="2800" b="1" dirty="0">
                <a:solidFill>
                  <a:srgbClr val="FFFF00"/>
                </a:solidFill>
                <a:latin typeface="Tahoma" panose="020B0604030504040204" pitchFamily="34" charset="0"/>
              </a:rPr>
              <a:t>＝</a:t>
            </a:r>
            <a:r>
              <a:rPr lang="zh-CN" altLang="zh-CN" sz="2800" b="1" dirty="0">
                <a:solidFill>
                  <a:srgbClr val="FFFF00"/>
                </a:solidFill>
                <a:latin typeface="Tahoma" panose="020B0604030504040204" pitchFamily="34" charset="0"/>
              </a:rPr>
              <a:t>1000 0010</a:t>
            </a:r>
            <a:r>
              <a:rPr lang="zh-CN" altLang="x-none" sz="2800" b="1" dirty="0">
                <a:solidFill>
                  <a:srgbClr val="FFFF00"/>
                </a:solidFill>
                <a:latin typeface="Tahoma" panose="020B0604030504040204" pitchFamily="34" charset="0"/>
              </a:rPr>
              <a:t>－</a:t>
            </a:r>
            <a:r>
              <a:rPr lang="zh-CN" altLang="zh-CN" sz="2800" b="1" dirty="0">
                <a:solidFill>
                  <a:srgbClr val="FFFF00"/>
                </a:solidFill>
                <a:latin typeface="Tahoma" panose="020B0604030504040204" pitchFamily="34" charset="0"/>
              </a:rPr>
              <a:t>01111111</a:t>
            </a:r>
            <a:endParaRPr lang="zh-CN" altLang="zh-CN" sz="2800" b="1" dirty="0">
              <a:solidFill>
                <a:srgbClr val="FFFF00"/>
              </a:solidFill>
              <a:latin typeface="Tahoma" panose="020B0604030504040204" pitchFamily="34" charset="0"/>
            </a:endParaRPr>
          </a:p>
          <a:p>
            <a:pPr algn="ctr" defTabSz="914400">
              <a:spcBef>
                <a:spcPct val="20000"/>
              </a:spcBef>
              <a:tabLst>
                <a:tab pos="630555" algn="l"/>
              </a:tabLst>
            </a:pPr>
            <a:r>
              <a:rPr lang="zh-CN" altLang="zh-CN" sz="2800" b="1" dirty="0">
                <a:solidFill>
                  <a:srgbClr val="FFFF00"/>
                </a:solidFill>
                <a:latin typeface="Tahoma" panose="020B0604030504040204" pitchFamily="34" charset="0"/>
              </a:rPr>
              <a:t>	</a:t>
            </a:r>
            <a:r>
              <a:rPr lang="zh-CN" altLang="x-none" sz="2800" b="1" dirty="0">
                <a:solidFill>
                  <a:srgbClr val="FFFF00"/>
                </a:solidFill>
                <a:latin typeface="Tahoma" panose="020B0604030504040204" pitchFamily="34" charset="0"/>
              </a:rPr>
              <a:t>＝</a:t>
            </a:r>
            <a:r>
              <a:rPr lang="zh-CN" altLang="zh-CN" sz="2800" b="1" dirty="0">
                <a:solidFill>
                  <a:srgbClr val="FFFF00"/>
                </a:solidFill>
                <a:latin typeface="Tahoma" panose="020B0604030504040204" pitchFamily="34" charset="0"/>
              </a:rPr>
              <a:t>00000011=(3)</a:t>
            </a:r>
            <a:r>
              <a:rPr lang="zh-CN" altLang="zh-CN" b="1" baseline="-30000" dirty="0">
                <a:solidFill>
                  <a:srgbClr val="FFFF00"/>
                </a:solidFill>
                <a:latin typeface="Tahoma" panose="020B0604030504040204" pitchFamily="34" charset="0"/>
              </a:rPr>
              <a:t>10</a:t>
            </a:r>
            <a:endParaRPr lang="zh-CN" altLang="zh-CN" b="1" baseline="-30000" dirty="0">
              <a:solidFill>
                <a:srgbClr val="FFFF00"/>
              </a:solidFill>
              <a:latin typeface="Tahoma" panose="020B0604030504040204" pitchFamily="34" charset="0"/>
            </a:endParaRPr>
          </a:p>
        </p:txBody>
      </p:sp>
      <p:sp>
        <p:nvSpPr>
          <p:cNvPr id="7" name="Rectangle 4"/>
          <p:cNvSpPr/>
          <p:nvPr/>
        </p:nvSpPr>
        <p:spPr>
          <a:xfrm>
            <a:off x="-36512" y="4438650"/>
            <a:ext cx="7010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zh-CN" altLang="zh-CN" sz="2800" b="1" i="0" u="none" strike="noStrike" kern="1200" cap="none" spc="0" normalizeH="0" baseline="0" noProof="1" dirty="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③ </a:t>
            </a:r>
            <a:r>
              <a:rPr kumimoji="0" lang="zh-CN" altLang="x-none" sz="2800" b="1" i="0" u="none" strike="noStrike" kern="1200" cap="none" spc="0" normalizeH="0" baseline="0" noProof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包括隐藏位</a:t>
            </a:r>
            <a:r>
              <a:rPr kumimoji="0" lang="zh-CN" altLang="zh-CN" sz="2800" b="1" i="0" u="none" strike="noStrike" kern="1200" cap="none" spc="0" normalizeH="0" baseline="0" noProof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1</a:t>
            </a:r>
            <a:r>
              <a:rPr kumimoji="0" lang="zh-CN" altLang="x-none" sz="2800" b="1" i="0" u="none" strike="noStrike" kern="1200" cap="none" spc="0" normalizeH="0" baseline="0" noProof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的尾数</a:t>
            </a:r>
            <a:r>
              <a:rPr kumimoji="0" lang="zh-CN" altLang="zh-CN" sz="2800" b="1" i="0" u="none" strike="noStrike" kern="1200" cap="none" spc="0" normalizeH="0" baseline="0" noProof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1</a:t>
            </a:r>
            <a:r>
              <a:rPr kumimoji="0" lang="zh-CN" altLang="zh-CN" sz="2800" b="1" i="0" u="none" strike="noStrike" kern="1200" cap="none" spc="0" normalizeH="0" baseline="0" noProof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.</a:t>
            </a:r>
            <a:r>
              <a:rPr kumimoji="0" lang="zh-CN" altLang="zh-CN" sz="2800" b="1" i="1" u="none" strike="noStrike" kern="1200" cap="none" spc="0" normalizeH="0" baseline="0" noProof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M </a:t>
            </a:r>
            <a:r>
              <a:rPr kumimoji="0" lang="zh-CN" altLang="x-none" sz="2800" b="1" i="0" u="none" strike="noStrike" kern="1200" cap="none" spc="0" normalizeH="0" baseline="0" noProof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＝</a:t>
            </a:r>
            <a:r>
              <a:rPr kumimoji="0" lang="zh-CN" altLang="zh-CN" sz="2800" b="1" i="0" u="none" strike="noStrike" kern="1200" cap="none" spc="0" normalizeH="0" baseline="0" noProof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1</a:t>
            </a:r>
            <a:r>
              <a:rPr kumimoji="0" lang="zh-CN" altLang="zh-CN" sz="2800" b="1" i="0" u="none" strike="noStrike" kern="1200" cap="none" spc="0" normalizeH="0" baseline="0" noProof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.011011</a:t>
            </a:r>
            <a:endParaRPr kumimoji="0" lang="zh-CN" altLang="zh-CN" sz="2800" b="1" i="0" u="none" strike="noStrike" kern="1200" cap="none" spc="0" normalizeH="0" baseline="0" noProof="1" dirty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40964" name="Rectangle 5"/>
          <p:cNvSpPr/>
          <p:nvPr/>
        </p:nvSpPr>
        <p:spPr>
          <a:xfrm>
            <a:off x="533400" y="152400"/>
            <a:ext cx="7793038" cy="7620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algn="ctr"/>
            <a:r>
              <a:rPr lang="zh-CN" altLang="x-none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zh-CN" altLang="zh-CN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x-none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：浮点机器数 </a:t>
            </a:r>
            <a:r>
              <a:rPr lang="zh-CN" altLang="zh-CN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(41360000)</a:t>
            </a:r>
            <a:r>
              <a:rPr lang="zh-CN" altLang="zh-CN" sz="3200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16</a:t>
            </a:r>
            <a:r>
              <a:rPr lang="zh-CN" altLang="x-none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，求真值</a:t>
            </a:r>
            <a:endParaRPr lang="zh-CN" altLang="x-none" sz="32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9" name="Rectangle 7"/>
          <p:cNvSpPr/>
          <p:nvPr/>
        </p:nvSpPr>
        <p:spPr>
          <a:xfrm>
            <a:off x="647700" y="1112838"/>
            <a:ext cx="8001000" cy="10556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zh-CN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① </a:t>
            </a:r>
            <a:r>
              <a:rPr lang="zh-CN" altLang="x-none" sz="28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十六进制数展开成二进制数</a:t>
            </a:r>
            <a:endParaRPr lang="zh-CN" altLang="x-none" b="1" dirty="0">
              <a:solidFill>
                <a:srgbClr val="FFFF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10000"/>
              </a:spcBef>
            </a:pPr>
            <a:r>
              <a:rPr lang="zh-CN" altLang="zh-CN" sz="3200" b="1" dirty="0">
                <a:latin typeface="Times New Roman" panose="02020603050405020304" pitchFamily="18" charset="0"/>
              </a:rPr>
              <a:t>0 100 0001 0011 0110 0000 0000 0000 0000</a:t>
            </a:r>
            <a:endParaRPr lang="zh-CN" altLang="zh-CN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组合 9"/>
          <p:cNvGrpSpPr/>
          <p:nvPr/>
        </p:nvGrpSpPr>
        <p:grpSpPr>
          <a:xfrm>
            <a:off x="922338" y="2060575"/>
            <a:ext cx="7321550" cy="835025"/>
            <a:chOff x="922065" y="2060847"/>
            <a:chExt cx="7322343" cy="834753"/>
          </a:xfrm>
        </p:grpSpPr>
        <p:sp>
          <p:nvSpPr>
            <p:cNvPr id="40967" name="AutoShape 8"/>
            <p:cNvSpPr/>
            <p:nvPr/>
          </p:nvSpPr>
          <p:spPr>
            <a:xfrm rot="5400000">
              <a:off x="5615508" y="-305593"/>
              <a:ext cx="228600" cy="5029200"/>
            </a:xfrm>
            <a:prstGeom prst="rightBrace">
              <a:avLst>
                <a:gd name="adj1" fmla="val 183129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0968" name="AutoShape 9"/>
            <p:cNvSpPr/>
            <p:nvPr/>
          </p:nvSpPr>
          <p:spPr>
            <a:xfrm rot="5400000">
              <a:off x="2105747" y="1286736"/>
              <a:ext cx="107917" cy="1656134"/>
            </a:xfrm>
            <a:prstGeom prst="rightBrace">
              <a:avLst>
                <a:gd name="adj1" fmla="val 83978"/>
                <a:gd name="adj2" fmla="val 49866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0969" name="Line 10"/>
            <p:cNvSpPr/>
            <p:nvPr/>
          </p:nvSpPr>
          <p:spPr>
            <a:xfrm flipV="1">
              <a:off x="1115616" y="2114550"/>
              <a:ext cx="0" cy="2286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0970" name="Rectangle 11"/>
            <p:cNvSpPr/>
            <p:nvPr/>
          </p:nvSpPr>
          <p:spPr>
            <a:xfrm>
              <a:off x="922065" y="2300288"/>
              <a:ext cx="409575" cy="5191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zh-CN" altLang="zh-CN" sz="2800" b="1" dirty="0">
                  <a:latin typeface="Times New Roman" panose="02020603050405020304" pitchFamily="18" charset="0"/>
                </a:rPr>
                <a:t>S</a:t>
              </a:r>
              <a:endParaRPr lang="zh-CN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971" name="Rectangle 12"/>
            <p:cNvSpPr/>
            <p:nvPr/>
          </p:nvSpPr>
          <p:spPr>
            <a:xfrm>
              <a:off x="1322214" y="2376488"/>
              <a:ext cx="2025650" cy="5191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zh-CN" altLang="x-none" sz="2800" b="1" dirty="0">
                  <a:latin typeface="Times New Roman" panose="02020603050405020304" pitchFamily="18" charset="0"/>
                </a:rPr>
                <a:t>阶码</a:t>
              </a:r>
              <a:r>
                <a:rPr lang="zh-CN" altLang="zh-CN" sz="2800" b="1" dirty="0">
                  <a:latin typeface="Times New Roman" panose="02020603050405020304" pitchFamily="18" charset="0"/>
                </a:rPr>
                <a:t>E(8</a:t>
              </a:r>
              <a:r>
                <a:rPr lang="zh-CN" altLang="x-none" sz="2800" b="1" dirty="0">
                  <a:latin typeface="Times New Roman" panose="02020603050405020304" pitchFamily="18" charset="0"/>
                </a:rPr>
                <a:t>位</a:t>
              </a:r>
              <a:r>
                <a:rPr lang="zh-CN" altLang="zh-CN" sz="2800" b="1" dirty="0">
                  <a:latin typeface="Times New Roman" panose="02020603050405020304" pitchFamily="18" charset="0"/>
                </a:rPr>
                <a:t>)</a:t>
              </a:r>
              <a:endParaRPr lang="zh-CN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972" name="Rectangle 13"/>
            <p:cNvSpPr/>
            <p:nvPr/>
          </p:nvSpPr>
          <p:spPr>
            <a:xfrm>
              <a:off x="4519613" y="2376488"/>
              <a:ext cx="2351088" cy="5191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zh-CN" altLang="x-none" sz="2800" b="1" dirty="0">
                  <a:latin typeface="Times New Roman" panose="02020603050405020304" pitchFamily="18" charset="0"/>
                </a:rPr>
                <a:t>尾数</a:t>
              </a:r>
              <a:r>
                <a:rPr lang="zh-CN" altLang="zh-CN" sz="2800" b="1" dirty="0">
                  <a:latin typeface="Times New Roman" panose="02020603050405020304" pitchFamily="18" charset="0"/>
                </a:rPr>
                <a:t>M(23</a:t>
              </a:r>
              <a:r>
                <a:rPr lang="zh-CN" altLang="x-none" sz="2800" b="1" dirty="0">
                  <a:latin typeface="Times New Roman" panose="02020603050405020304" pitchFamily="18" charset="0"/>
                </a:rPr>
                <a:t>位</a:t>
              </a:r>
              <a:r>
                <a:rPr lang="zh-CN" altLang="zh-CN" sz="2800" b="1" dirty="0">
                  <a:latin typeface="Times New Roman" panose="02020603050405020304" pitchFamily="18" charset="0"/>
                </a:rPr>
                <a:t>)</a:t>
              </a:r>
              <a:endParaRPr lang="zh-CN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0973" name="Rectangle 5"/>
          <p:cNvSpPr/>
          <p:nvPr/>
        </p:nvSpPr>
        <p:spPr>
          <a:xfrm>
            <a:off x="23813" y="0"/>
            <a:ext cx="2667000" cy="381000"/>
          </a:xfrm>
          <a:prstGeom prst="rect">
            <a:avLst/>
          </a:prstGeom>
          <a:solidFill>
            <a:srgbClr val="FF0000"/>
          </a:solidFill>
          <a:ln w="28575" cap="flat" cmpd="sng">
            <a:solidFill>
              <a:srgbClr val="A45CA4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 defTabSz="9144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tabLst>
                <a:tab pos="719455" algn="l"/>
              </a:tabLst>
            </a:pPr>
            <a:r>
              <a:rPr lang="zh-CN" altLang="en-US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IEEE 754标准</a:t>
            </a:r>
            <a:endParaRPr lang="zh-CN" altLang="en-US" b="1" i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 flipV="1">
            <a:off x="3131820" y="2060575"/>
            <a:ext cx="0" cy="288290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7332" name="Rectangle 4"/>
          <p:cNvSpPr>
            <a:spLocks noGrp="1" noRot="1"/>
          </p:cNvSpPr>
          <p:nvPr>
            <p:ph idx="1"/>
          </p:nvPr>
        </p:nvSpPr>
        <p:spPr>
          <a:xfrm>
            <a:off x="65088" y="1169988"/>
            <a:ext cx="8828087" cy="5715000"/>
          </a:xfrm>
          <a:noFill/>
          <a:ln>
            <a:noFill/>
          </a:ln>
        </p:spPr>
        <p:txBody>
          <a:bodyPr anchor="t"/>
          <a:p>
            <a:pPr eaLnBrk="1" hangingPunct="1"/>
            <a:r>
              <a:rPr lang="en-US" altLang="zh-CN" sz="2800" b="1" dirty="0"/>
              <a:t>[</a:t>
            </a:r>
            <a:r>
              <a:rPr lang="zh-CN" altLang="en-US" sz="2800" b="1" dirty="0"/>
              <a:t>解</a:t>
            </a:r>
            <a:r>
              <a:rPr lang="en-US" altLang="zh-CN" sz="2800" b="1" dirty="0"/>
              <a:t>] </a:t>
            </a:r>
            <a:endParaRPr lang="en-US" altLang="zh-CN" sz="2800" b="1" dirty="0"/>
          </a:p>
          <a:p>
            <a:pPr eaLnBrk="1" hangingPunct="1"/>
            <a:r>
              <a:rPr lang="zh-CN" altLang="en-US" sz="2800" b="1" dirty="0"/>
              <a:t>首先分别将整数和分数部分转换成二进制数：</a:t>
            </a:r>
            <a:endParaRPr lang="zh-CN" altLang="en-US" sz="2800" b="1" dirty="0"/>
          </a:p>
          <a:p>
            <a:pPr eaLnBrk="1" hangingPunct="1"/>
            <a:r>
              <a:rPr lang="en-US" altLang="zh-CN" sz="2800" b="1" dirty="0"/>
              <a:t>20.59375</a:t>
            </a:r>
            <a:r>
              <a:rPr lang="zh-CN" altLang="en-US" sz="2800" b="1" dirty="0"/>
              <a:t>＝</a:t>
            </a:r>
            <a:r>
              <a:rPr lang="en-US" altLang="zh-CN" sz="2800" b="1" dirty="0"/>
              <a:t>10100.10011</a:t>
            </a:r>
            <a:endParaRPr lang="en-US" altLang="zh-CN" sz="2800" b="1" dirty="0"/>
          </a:p>
          <a:p>
            <a:pPr eaLnBrk="1" hangingPunct="1"/>
            <a:r>
              <a:rPr lang="zh-CN" altLang="en-US" sz="2800" b="1" dirty="0"/>
              <a:t>然后移动小数点，使其在第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位之间</a:t>
            </a:r>
            <a:endParaRPr lang="zh-CN" altLang="en-US" sz="2800" b="1" dirty="0"/>
          </a:p>
          <a:p>
            <a:pPr eaLnBrk="1" hangingPunct="1"/>
            <a:r>
              <a:rPr lang="en-US" altLang="zh-CN" sz="2800" b="1" dirty="0"/>
              <a:t>10100.10011</a:t>
            </a:r>
            <a:r>
              <a:rPr lang="zh-CN" altLang="en-US" sz="2800" b="1" dirty="0"/>
              <a:t>＝</a:t>
            </a:r>
            <a:r>
              <a:rPr lang="en-US" altLang="zh-CN" sz="2800" b="1" dirty="0">
                <a:solidFill>
                  <a:srgbClr val="FFBF09"/>
                </a:solidFill>
              </a:rPr>
              <a:t>1</a:t>
            </a:r>
            <a:r>
              <a:rPr lang="en-US" altLang="zh-CN" sz="2800" b="1" dirty="0"/>
              <a:t>.</a:t>
            </a:r>
            <a:r>
              <a:rPr lang="en-US" altLang="zh-CN" sz="2800" b="1" u="sng" dirty="0"/>
              <a:t>010010011</a:t>
            </a:r>
            <a:r>
              <a:rPr lang="en-US" altLang="zh-CN" sz="2800" b="1" dirty="0"/>
              <a:t>×2</a:t>
            </a:r>
            <a:r>
              <a:rPr lang="en-US" altLang="zh-CN" sz="2800" b="1" baseline="30000" dirty="0"/>
              <a:t>4</a:t>
            </a:r>
            <a:r>
              <a:rPr lang="zh-CN" altLang="en-US" sz="2800" b="1" dirty="0"/>
              <a:t>　　　　</a:t>
            </a:r>
            <a:endParaRPr lang="zh-CN" altLang="en-US" sz="2800" b="1" dirty="0"/>
          </a:p>
          <a:p>
            <a:pPr eaLnBrk="1" hangingPunct="1"/>
            <a:r>
              <a:rPr lang="zh-CN" altLang="en-US" sz="2800" b="1" dirty="0"/>
              <a:t>小数点被左移了</a:t>
            </a:r>
            <a:r>
              <a:rPr lang="en-US" altLang="zh-CN" sz="2800" b="1" dirty="0"/>
              <a:t>4</a:t>
            </a:r>
            <a:r>
              <a:rPr lang="zh-CN" altLang="en-US" sz="2800" b="1" dirty="0"/>
              <a:t>位，于是得到：</a:t>
            </a:r>
            <a:r>
              <a:rPr lang="en-US" altLang="zh-CN" sz="2800" b="1" i="1" dirty="0"/>
              <a:t>e</a:t>
            </a:r>
            <a:r>
              <a:rPr lang="zh-CN" altLang="en-US" sz="2800" b="1" dirty="0"/>
              <a:t>＝</a:t>
            </a:r>
            <a:r>
              <a:rPr lang="en-US" altLang="zh-CN" sz="2800" b="1" dirty="0"/>
              <a:t>4</a:t>
            </a:r>
            <a:endParaRPr lang="en-US" altLang="zh-CN" sz="2800" b="1" dirty="0"/>
          </a:p>
          <a:p>
            <a:pPr eaLnBrk="1" hangingPunct="1"/>
            <a:r>
              <a:rPr lang="zh-CN" altLang="en-US" sz="2800" b="1" u="sng" dirty="0"/>
              <a:t>尾符</a:t>
            </a:r>
            <a:r>
              <a:rPr lang="zh-CN" altLang="en-US" sz="2800" b="1" dirty="0"/>
              <a:t> </a:t>
            </a:r>
            <a:r>
              <a:rPr lang="en-US" altLang="zh-CN" sz="2800" b="1" i="1" dirty="0"/>
              <a:t>S</a:t>
            </a:r>
            <a:r>
              <a:rPr lang="zh-CN" altLang="en-US" sz="2800" b="1" dirty="0"/>
              <a:t>＝</a:t>
            </a:r>
            <a:r>
              <a:rPr lang="en-US" altLang="zh-CN" sz="2800" b="1" dirty="0"/>
              <a:t>0</a:t>
            </a:r>
            <a:r>
              <a:rPr lang="zh-CN" altLang="en-US" sz="2800" b="1" dirty="0"/>
              <a:t>，</a:t>
            </a:r>
            <a:r>
              <a:rPr lang="zh-CN" altLang="en-US" sz="2800" b="1" u="sng" dirty="0"/>
              <a:t>阶码</a:t>
            </a:r>
            <a:r>
              <a:rPr lang="zh-CN" altLang="en-US" sz="2800" b="1" dirty="0"/>
              <a:t> </a:t>
            </a:r>
            <a:r>
              <a:rPr lang="en-US" altLang="zh-CN" sz="2800" b="1" i="1" dirty="0"/>
              <a:t>E</a:t>
            </a:r>
            <a:r>
              <a:rPr lang="zh-CN" altLang="en-US" sz="2800" b="1" dirty="0"/>
              <a:t>＝</a:t>
            </a:r>
            <a:r>
              <a:rPr lang="en-US" altLang="zh-CN" sz="2800" b="1" dirty="0"/>
              <a:t>4</a:t>
            </a:r>
            <a:r>
              <a:rPr lang="zh-CN" altLang="en-US" sz="2800" b="1" dirty="0"/>
              <a:t>＋</a:t>
            </a:r>
            <a:r>
              <a:rPr lang="en-US" altLang="zh-CN" sz="2800" b="1" dirty="0">
                <a:solidFill>
                  <a:srgbClr val="FFBF09"/>
                </a:solidFill>
              </a:rPr>
              <a:t>127</a:t>
            </a:r>
            <a:r>
              <a:rPr lang="zh-CN" altLang="en-US" sz="2800" b="1" dirty="0"/>
              <a:t>＝</a:t>
            </a:r>
            <a:r>
              <a:rPr lang="en-US" altLang="zh-CN" sz="2800" b="1" dirty="0"/>
              <a:t>131=</a:t>
            </a:r>
            <a:r>
              <a:rPr lang="en-US" altLang="zh-CN" sz="2800" b="1" dirty="0">
                <a:sym typeface="+mn-ea"/>
              </a:rPr>
              <a:t>10000011</a:t>
            </a:r>
            <a:endParaRPr lang="zh-CN" altLang="en-US" sz="2800" b="1" dirty="0"/>
          </a:p>
          <a:p>
            <a:pPr eaLnBrk="1" hangingPunct="1"/>
            <a:r>
              <a:rPr lang="zh-CN" altLang="en-US" sz="2800" b="1" u="sng" dirty="0"/>
              <a:t>尾数</a:t>
            </a:r>
            <a:r>
              <a:rPr lang="zh-CN" altLang="en-US" sz="2800" b="1" dirty="0"/>
              <a:t> </a:t>
            </a:r>
            <a:r>
              <a:rPr lang="en-US" altLang="zh-CN" sz="2800" b="1" i="1" dirty="0"/>
              <a:t>M</a:t>
            </a:r>
            <a:r>
              <a:rPr lang="zh-CN" altLang="en-US" sz="2800" b="1" dirty="0"/>
              <a:t>＝</a:t>
            </a:r>
            <a:r>
              <a:rPr lang="en-US" altLang="zh-CN" sz="2800" b="1" dirty="0"/>
              <a:t>010010011</a:t>
            </a:r>
            <a:endParaRPr lang="en-US" altLang="zh-CN" sz="2800" b="1" dirty="0"/>
          </a:p>
          <a:p>
            <a:pPr eaLnBrk="1" hangingPunct="1"/>
            <a:r>
              <a:rPr lang="zh-CN" altLang="en-US" sz="2800" b="1" dirty="0"/>
              <a:t>最后得到</a:t>
            </a:r>
            <a:r>
              <a:rPr lang="en-US" altLang="zh-CN" sz="2800" b="1" dirty="0"/>
              <a:t>32</a:t>
            </a:r>
            <a:r>
              <a:rPr lang="zh-CN" altLang="en-US" sz="2800" b="1" dirty="0"/>
              <a:t>位浮点数的二进制存储格式为：</a:t>
            </a:r>
            <a:endParaRPr lang="zh-CN" altLang="en-US" sz="2800" b="1" dirty="0"/>
          </a:p>
          <a:p>
            <a:pPr eaLnBrk="1" hangingPunct="1"/>
            <a:r>
              <a:rPr lang="en-US" altLang="zh-CN" sz="2800" b="1" dirty="0">
                <a:solidFill>
                  <a:schemeClr val="folHlink"/>
                </a:solidFill>
              </a:rPr>
              <a:t>0</a:t>
            </a:r>
            <a:r>
              <a:rPr lang="en-US" altLang="zh-CN" sz="2800" b="1" dirty="0"/>
              <a:t>100 0001 1010 0100 1100 0000 0000 0000</a:t>
            </a:r>
            <a:endParaRPr lang="en-US" altLang="zh-CN" sz="2800" b="1" dirty="0"/>
          </a:p>
          <a:p>
            <a:pPr eaLnBrk="1" hangingPunct="1"/>
            <a:r>
              <a:rPr lang="en-US" altLang="zh-CN" sz="2800" b="1" dirty="0"/>
              <a:t>              </a:t>
            </a:r>
            <a:r>
              <a:rPr lang="zh-CN" altLang="en-US" sz="2800" b="1" dirty="0"/>
              <a:t>＝</a:t>
            </a:r>
            <a:r>
              <a:rPr lang="en-US" altLang="zh-CN" sz="2800" b="1" dirty="0"/>
              <a:t>(41A4C000)16</a:t>
            </a:r>
            <a:endParaRPr lang="en-US" altLang="zh-CN" sz="2800" b="1" dirty="0"/>
          </a:p>
        </p:txBody>
      </p:sp>
      <p:sp>
        <p:nvSpPr>
          <p:cNvPr id="227333" name="Text Box 5"/>
          <p:cNvSpPr txBox="1"/>
          <p:nvPr/>
        </p:nvSpPr>
        <p:spPr>
          <a:xfrm>
            <a:off x="0" y="188913"/>
            <a:ext cx="8915400" cy="9461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chemeClr val="folHlink"/>
                </a:solidFill>
                <a:latin typeface="Arial Unicode MS" pitchFamily="34" charset="-122"/>
              </a:rPr>
              <a:t>[</a:t>
            </a:r>
            <a:r>
              <a:rPr lang="zh-CN" altLang="en-US" sz="2800" b="1" dirty="0">
                <a:solidFill>
                  <a:schemeClr val="folHlink"/>
                </a:solidFill>
                <a:latin typeface="Arial Unicode MS" pitchFamily="34" charset="-122"/>
              </a:rPr>
              <a:t>例</a:t>
            </a:r>
            <a:r>
              <a:rPr lang="en-US" altLang="zh-CN" sz="2800" b="1" dirty="0">
                <a:solidFill>
                  <a:schemeClr val="folHlink"/>
                </a:solidFill>
                <a:latin typeface="Arial Unicode MS" pitchFamily="34" charset="-122"/>
              </a:rPr>
              <a:t>2]</a:t>
            </a:r>
            <a:r>
              <a:rPr lang="zh-CN" altLang="en-US" sz="2800" b="1" dirty="0">
                <a:solidFill>
                  <a:schemeClr val="folHlink"/>
                </a:solidFill>
                <a:latin typeface="Arial Unicode MS" pitchFamily="34" charset="-122"/>
              </a:rPr>
              <a:t>：将十进制数</a:t>
            </a:r>
            <a:r>
              <a:rPr lang="en-US" altLang="zh-CN" sz="2800" b="1" dirty="0">
                <a:solidFill>
                  <a:schemeClr val="folHlink"/>
                </a:solidFill>
                <a:latin typeface="Arial Unicode MS" pitchFamily="34" charset="-122"/>
              </a:rPr>
              <a:t>20.59375</a:t>
            </a:r>
            <a:r>
              <a:rPr lang="zh-CN" altLang="en-US" sz="2800" b="1" dirty="0">
                <a:solidFill>
                  <a:schemeClr val="folHlink"/>
                </a:solidFill>
                <a:latin typeface="Arial Unicode MS" pitchFamily="34" charset="-122"/>
              </a:rPr>
              <a:t>转换成</a:t>
            </a:r>
            <a:r>
              <a:rPr lang="en-US" altLang="zh-CN" sz="2800" b="1" dirty="0">
                <a:latin typeface="Times New Roman" panose="02020603050405020304" pitchFamily="18" charset="0"/>
              </a:rPr>
              <a:t>IEEE754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en-US" altLang="zh-CN" sz="2800" b="1" dirty="0">
                <a:latin typeface="Times New Roman" panose="02020603050405020304" pitchFamily="18" charset="0"/>
              </a:rPr>
              <a:t>32</a:t>
            </a:r>
            <a:r>
              <a:rPr lang="zh-CN" altLang="en-US" sz="2800" b="1" dirty="0">
                <a:latin typeface="Times New Roman" panose="02020603050405020304" pitchFamily="18" charset="0"/>
              </a:rPr>
              <a:t>位标准</a:t>
            </a:r>
            <a:r>
              <a:rPr lang="zh-CN" altLang="en-US" sz="2800" b="1" dirty="0">
                <a:solidFill>
                  <a:schemeClr val="folHlink"/>
                </a:solidFill>
                <a:latin typeface="Arial Unicode MS" pitchFamily="34" charset="-122"/>
              </a:rPr>
              <a:t>浮点数的二进制格式来存储，并写出其</a:t>
            </a:r>
            <a:r>
              <a:rPr lang="en-US" altLang="zh-CN" sz="2800" b="1" dirty="0">
                <a:solidFill>
                  <a:schemeClr val="folHlink"/>
                </a:solidFill>
                <a:latin typeface="Arial Unicode MS" pitchFamily="34" charset="-122"/>
              </a:rPr>
              <a:t>16</a:t>
            </a:r>
            <a:r>
              <a:rPr lang="zh-CN" altLang="en-US" sz="2800" b="1" dirty="0">
                <a:solidFill>
                  <a:schemeClr val="folHlink"/>
                </a:solidFill>
                <a:latin typeface="Arial Unicode MS" pitchFamily="34" charset="-122"/>
              </a:rPr>
              <a:t>进制数。 </a:t>
            </a:r>
            <a:endParaRPr lang="zh-CN" altLang="en-US" sz="2800" b="1" dirty="0">
              <a:solidFill>
                <a:schemeClr val="folHlink"/>
              </a:solidFill>
              <a:latin typeface="Arial Unicode MS" pitchFamily="34" charset="-122"/>
            </a:endParaRPr>
          </a:p>
        </p:txBody>
      </p:sp>
      <p:sp>
        <p:nvSpPr>
          <p:cNvPr id="227334" name="Line 6"/>
          <p:cNvSpPr/>
          <p:nvPr/>
        </p:nvSpPr>
        <p:spPr>
          <a:xfrm>
            <a:off x="755650" y="6251575"/>
            <a:ext cx="1512888" cy="0"/>
          </a:xfrm>
          <a:prstGeom prst="line">
            <a:avLst/>
          </a:prstGeom>
          <a:ln w="41275" cap="flat" cmpd="sng">
            <a:solidFill>
              <a:srgbClr val="FFBF09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27335" name="Line 7"/>
          <p:cNvSpPr/>
          <p:nvPr/>
        </p:nvSpPr>
        <p:spPr>
          <a:xfrm flipV="1">
            <a:off x="2325688" y="6245225"/>
            <a:ext cx="4537075" cy="0"/>
          </a:xfrm>
          <a:prstGeom prst="line">
            <a:avLst/>
          </a:prstGeom>
          <a:ln w="412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27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2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7332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2">
                                            <p:txEl>
                                              <p:charRg st="5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27332">
                                            <p:txEl>
                                              <p:charRg st="5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2">
                                            <p:txEl>
                                              <p:charRg st="26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27332">
                                            <p:txEl>
                                              <p:charRg st="26" end="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2">
                                            <p:txEl>
                                              <p:charRg st="47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7" dur="80"/>
                                        <p:tgtEl>
                                          <p:spTgt spid="227332">
                                            <p:txEl>
                                              <p:charRg st="47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8" dur="80"/>
                                        <p:tgtEl>
                                          <p:spTgt spid="227332">
                                            <p:txEl>
                                              <p:charRg st="47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80"/>
                                        <p:tgtEl>
                                          <p:spTgt spid="227332">
                                            <p:txEl>
                                              <p:charRg st="47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2">
                                            <p:txEl>
                                              <p:charRg st="66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27332">
                                            <p:txEl>
                                              <p:charRg st="66" end="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2">
                                            <p:txEl>
                                              <p:charRg st="97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27332">
                                            <p:txEl>
                                              <p:charRg st="97" end="1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2">
                                            <p:txEl>
                                              <p:charRg st="116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27332">
                                            <p:txEl>
                                              <p:charRg st="116" end="1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2">
                                            <p:txEl>
                                              <p:charRg st="139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27332">
                                            <p:txEl>
                                              <p:charRg st="139" end="1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2">
                                            <p:txEl>
                                              <p:charRg st="154" end="1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4" dur="80"/>
                                        <p:tgtEl>
                                          <p:spTgt spid="227332">
                                            <p:txEl>
                                              <p:charRg st="154" end="1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5" dur="80"/>
                                        <p:tgtEl>
                                          <p:spTgt spid="227332">
                                            <p:txEl>
                                              <p:charRg st="154" end="17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80"/>
                                        <p:tgtEl>
                                          <p:spTgt spid="227332">
                                            <p:txEl>
                                              <p:charRg st="154" end="17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2">
                                            <p:txEl>
                                              <p:charRg st="175" end="2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1" dur="80"/>
                                        <p:tgtEl>
                                          <p:spTgt spid="227332">
                                            <p:txEl>
                                              <p:charRg st="175" end="2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2" dur="80"/>
                                        <p:tgtEl>
                                          <p:spTgt spid="227332">
                                            <p:txEl>
                                              <p:charRg st="175" end="21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80"/>
                                        <p:tgtEl>
                                          <p:spTgt spid="227332">
                                            <p:txEl>
                                              <p:charRg st="175" end="21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27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27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2">
                                            <p:txEl>
                                              <p:charRg st="215" end="2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27332">
                                            <p:txEl>
                                              <p:charRg st="215" end="2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3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小练习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457200" y="1600200"/>
            <a:ext cx="4044315" cy="4526280"/>
          </a:xfrm>
        </p:spPr>
        <p:txBody>
          <a:bodyPr/>
          <a:p>
            <a:r>
              <a:t>1.将（26.35)10转换成IEEE754短浮点数格式。</a:t>
            </a:r>
          </a:p>
        </p:txBody>
      </p:sp>
      <p:sp>
        <p:nvSpPr>
          <p:cNvPr id="6" name="内容占位符 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/>
              <a:t>2</a:t>
            </a:r>
            <a:r>
              <a:rPr lang="zh-CN" altLang="en-US"/>
              <a:t>、若IEEE754短浮点数的十六进制表示形式为（419C0000）16 ,求其真值。</a:t>
            </a:r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COMMONDATA" val="eyJoZGlkIjoiM2NmY2U0MjQxMjVhMzViM2U2NDc0NTI2ZDMwMzBmZGIifQ=="/>
</p:tagLst>
</file>

<file path=ppt/theme/theme1.xml><?xml version="1.0" encoding="utf-8"?>
<a:theme xmlns:a="http://schemas.openxmlformats.org/drawingml/2006/main" name="3计算机组成原理-3-1-概述">
  <a:themeElements>
    <a:clrScheme name="3计算机组成原理-3-1-概述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3计算机组成原理-3-1-概述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chemeClr val="folHlink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chemeClr val="folHlink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计算机组成原理-3-1-概述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计算机组成原理-3-1-概述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计算机组成原理-3-1-概述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计算机组成原理-3-1-概述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计算机组成原理-3-1-概述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C:\Users\JLP\Desktop\3计算机组成原理-3-1-概述.pot</Template>
  <TotalTime>0</TotalTime>
  <Words>2083</Words>
  <Application>WPS 演示</Application>
  <PresentationFormat>全屏显示(4:3)</PresentationFormat>
  <Paragraphs>221</Paragraphs>
  <Slides>15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2" baseType="lpstr">
      <vt:lpstr>Arial</vt:lpstr>
      <vt:lpstr>宋体</vt:lpstr>
      <vt:lpstr>Wingdings</vt:lpstr>
      <vt:lpstr>Times New Roman</vt:lpstr>
      <vt:lpstr>黑体</vt:lpstr>
      <vt:lpstr>Tahoma</vt:lpstr>
      <vt:lpstr>楷体_GB2312</vt:lpstr>
      <vt:lpstr>新宋体</vt:lpstr>
      <vt:lpstr>Arial Unicode MS</vt:lpstr>
      <vt:lpstr>华文中宋</vt:lpstr>
      <vt:lpstr>微软雅黑</vt:lpstr>
      <vt:lpstr>Arial Unicode MS</vt:lpstr>
      <vt:lpstr>Wingdings</vt:lpstr>
      <vt:lpstr>楷体_GB2312</vt:lpstr>
      <vt:lpstr>KSOF0A0B1BEB</vt:lpstr>
      <vt:lpstr>Segoe Print</vt:lpstr>
      <vt:lpstr>3计算机组成原理-3-1-概述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例题</vt:lpstr>
      <vt:lpstr>PowerPoint 演示文稿</vt:lpstr>
      <vt:lpstr>PowerPoint 演示文稿</vt:lpstr>
      <vt:lpstr>规格化表示原则</vt:lpstr>
      <vt:lpstr>PowerPoint 演示文稿</vt:lpstr>
      <vt:lpstr>PowerPoint 演示文稿</vt:lpstr>
      <vt:lpstr>小练习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001</dc:creator>
  <cp:lastModifiedBy>贝妈</cp:lastModifiedBy>
  <cp:revision>633</cp:revision>
  <dcterms:created xsi:type="dcterms:W3CDTF">2000-08-28T13:29:00Z</dcterms:created>
  <dcterms:modified xsi:type="dcterms:W3CDTF">2026-09-02T07:49:57Z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F33A337AB3474117AD6AB2831B7AAFAC</vt:lpwstr>
  </property>
</Properties>
</file>