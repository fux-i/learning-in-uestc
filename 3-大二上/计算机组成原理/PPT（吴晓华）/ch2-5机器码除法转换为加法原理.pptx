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47" r:id="rId3"/>
    <p:sldId id="348" r:id="rId4"/>
    <p:sldId id="349" r:id="rId5"/>
    <p:sldId id="350" r:id="rId6"/>
    <p:sldId id="389" r:id="rId7"/>
    <p:sldId id="390" r:id="rId8"/>
    <p:sldId id="391" r:id="rId9"/>
    <p:sldId id="392" r:id="rId10"/>
    <p:sldId id="393" r:id="rId11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66"/>
    <a:srgbClr val="FF3300"/>
    <a:srgbClr val="000099"/>
    <a:srgbClr val="FDFBFB"/>
    <a:srgbClr val="3333FF"/>
    <a:srgbClr val="F0DADA"/>
    <a:srgbClr val="F8AF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1"/>
    <p:restoredTop sz="94682"/>
  </p:normalViewPr>
  <p:slideViewPr>
    <p:cSldViewPr showGuides="1">
      <p:cViewPr>
        <p:scale>
          <a:sx n="66" d="100"/>
          <a:sy n="66" d="100"/>
        </p:scale>
        <p:origin x="-948" y="-114"/>
      </p:cViewPr>
      <p:guideLst>
        <p:guide orient="horz" pos="214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>
                <a:gd name="T0" fmla="*/ 1523 w 3699"/>
                <a:gd name="T1" fmla="*/ 2611 h 2613"/>
                <a:gd name="T2" fmla="*/ 3698 w 3699"/>
                <a:gd name="T3" fmla="*/ 2612 h 2613"/>
                <a:gd name="T4" fmla="*/ 3698 w 3699"/>
                <a:gd name="T5" fmla="*/ 2228 h 2613"/>
                <a:gd name="T6" fmla="*/ 0 w 3699"/>
                <a:gd name="T7" fmla="*/ 0 h 2613"/>
                <a:gd name="T8" fmla="*/ 160 w 3699"/>
                <a:gd name="T9" fmla="*/ 118 h 2613"/>
                <a:gd name="T10" fmla="*/ 292 w 3699"/>
                <a:gd name="T11" fmla="*/ 219 h 2613"/>
                <a:gd name="T12" fmla="*/ 441 w 3699"/>
                <a:gd name="T13" fmla="*/ 347 h 2613"/>
                <a:gd name="T14" fmla="*/ 585 w 3699"/>
                <a:gd name="T15" fmla="*/ 482 h 2613"/>
                <a:gd name="T16" fmla="*/ 796 w 3699"/>
                <a:gd name="T17" fmla="*/ 711 h 2613"/>
                <a:gd name="T18" fmla="*/ 983 w 3699"/>
                <a:gd name="T19" fmla="*/ 955 h 2613"/>
                <a:gd name="T20" fmla="*/ 1119 w 3699"/>
                <a:gd name="T21" fmla="*/ 1168 h 2613"/>
                <a:gd name="T22" fmla="*/ 1238 w 3699"/>
                <a:gd name="T23" fmla="*/ 1388 h 2613"/>
                <a:gd name="T24" fmla="*/ 1331 w 3699"/>
                <a:gd name="T25" fmla="*/ 1608 h 2613"/>
                <a:gd name="T26" fmla="*/ 1400 w 3699"/>
                <a:gd name="T27" fmla="*/ 1809 h 2613"/>
                <a:gd name="T28" fmla="*/ 1447 w 3699"/>
                <a:gd name="T29" fmla="*/ 1979 h 2613"/>
                <a:gd name="T30" fmla="*/ 1490 w 3699"/>
                <a:gd name="T31" fmla="*/ 2190 h 2613"/>
                <a:gd name="T32" fmla="*/ 1511 w 3699"/>
                <a:gd name="T33" fmla="*/ 2374 h 2613"/>
                <a:gd name="T34" fmla="*/ 1523 w 3699"/>
                <a:gd name="T35" fmla="*/ 2611 h 2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T0" fmla="*/ 1 w 21600"/>
                <a:gd name="T1" fmla="*/ 0 h 21231"/>
                <a:gd name="T2" fmla="*/ 6 w 21600"/>
                <a:gd name="T3" fmla="*/ 2 h 21231"/>
                <a:gd name="T4" fmla="*/ 0 w 21600"/>
                <a:gd name="T5" fmla="*/ 2 h 21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lnTo>
                    <a:pt x="3976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600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单击此处编辑母版标题样式</a:t>
            </a:r>
            <a:endParaRPr lang="zh-CN" altLang="en-US" strike="noStrike" noProof="0" smtClean="0"/>
          </a:p>
        </p:txBody>
      </p:sp>
      <p:sp>
        <p:nvSpPr>
          <p:cNvPr id="25600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 fontAlgn="base"/>
            <a:r>
              <a:rPr lang="zh-CN" altLang="en-US" strike="noStrike" noProof="0" smtClean="0"/>
              <a:t>单击此处编辑母版副标题样式</a:t>
            </a:r>
            <a:endParaRPr lang="zh-CN" altLang="en-US" strike="noStrike" noProof="0" smtClean="0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p>
            <a:pPr algn="r" fontAlgn="base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trike="noStrike" noProof="1" dirty="0"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254979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>
                <a:gd name="T0" fmla="*/ 1905 w 2359"/>
                <a:gd name="T1" fmla="*/ 3312 h 3314"/>
                <a:gd name="T2" fmla="*/ 2358 w 2359"/>
                <a:gd name="T3" fmla="*/ 3313 h 3314"/>
                <a:gd name="T4" fmla="*/ 2358 w 2359"/>
                <a:gd name="T5" fmla="*/ 1437 h 3314"/>
                <a:gd name="T6" fmla="*/ 0 w 2359"/>
                <a:gd name="T7" fmla="*/ 0 h 3314"/>
                <a:gd name="T8" fmla="*/ 201 w 2359"/>
                <a:gd name="T9" fmla="*/ 150 h 3314"/>
                <a:gd name="T10" fmla="*/ 366 w 2359"/>
                <a:gd name="T11" fmla="*/ 279 h 3314"/>
                <a:gd name="T12" fmla="*/ 552 w 2359"/>
                <a:gd name="T13" fmla="*/ 441 h 3314"/>
                <a:gd name="T14" fmla="*/ 732 w 2359"/>
                <a:gd name="T15" fmla="*/ 612 h 3314"/>
                <a:gd name="T16" fmla="*/ 996 w 2359"/>
                <a:gd name="T17" fmla="*/ 903 h 3314"/>
                <a:gd name="T18" fmla="*/ 1230 w 2359"/>
                <a:gd name="T19" fmla="*/ 1212 h 3314"/>
                <a:gd name="T20" fmla="*/ 1400 w 2359"/>
                <a:gd name="T21" fmla="*/ 1482 h 3314"/>
                <a:gd name="T22" fmla="*/ 1548 w 2359"/>
                <a:gd name="T23" fmla="*/ 1761 h 3314"/>
                <a:gd name="T24" fmla="*/ 1665 w 2359"/>
                <a:gd name="T25" fmla="*/ 2040 h 3314"/>
                <a:gd name="T26" fmla="*/ 1751 w 2359"/>
                <a:gd name="T27" fmla="*/ 2295 h 3314"/>
                <a:gd name="T28" fmla="*/ 1809 w 2359"/>
                <a:gd name="T29" fmla="*/ 2511 h 3314"/>
                <a:gd name="T30" fmla="*/ 1863 w 2359"/>
                <a:gd name="T31" fmla="*/ 2778 h 3314"/>
                <a:gd name="T32" fmla="*/ 1890 w 2359"/>
                <a:gd name="T33" fmla="*/ 3012 h 3314"/>
                <a:gd name="T34" fmla="*/ 1905 w 2359"/>
                <a:gd name="T35" fmla="*/ 3312 h 3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T0" fmla="*/ 0 w 21600"/>
                <a:gd name="T1" fmla="*/ 0 h 21600"/>
                <a:gd name="T2" fmla="*/ 19 w 21600"/>
                <a:gd name="T3" fmla="*/ 7 h 21600"/>
                <a:gd name="T4" fmla="*/ 0 w 21600"/>
                <a:gd name="T5" fmla="*/ 7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4981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 smtClean="0"/>
          </a:p>
        </p:txBody>
      </p:sp>
      <p:sp>
        <p:nvSpPr>
          <p:cNvPr id="25498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498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r">
              <a:defRPr sz="1400" b="1">
                <a:solidFill>
                  <a:schemeClr val="tx2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r>
              <a:rPr lang="en-US" altLang="zh-CN" sz="1400" b="1" strike="noStrike" noProof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/34</a:t>
            </a:r>
            <a:endParaRPr lang="en-US" altLang="zh-CN" sz="1400" b="1" strike="noStrike" noProof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9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random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audio2.wav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304800"/>
            <a:ext cx="5943600" cy="706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4000" b="1" dirty="0">
                <a:latin typeface="Times New Roman" panose="02020603050405020304" pitchFamily="18" charset="0"/>
              </a:rPr>
              <a:t>  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定点除法运算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20"/>
          <p:cNvGrpSpPr/>
          <p:nvPr/>
        </p:nvGrpSpPr>
        <p:grpSpPr>
          <a:xfrm>
            <a:off x="0" y="1143000"/>
            <a:ext cx="8153400" cy="641350"/>
            <a:chOff x="624" y="720"/>
            <a:chExt cx="5136" cy="404"/>
          </a:xfrm>
        </p:grpSpPr>
        <p:sp>
          <p:nvSpPr>
            <p:cNvPr id="5124" name="Text Box 5"/>
            <p:cNvSpPr txBox="1"/>
            <p:nvPr/>
          </p:nvSpPr>
          <p:spPr>
            <a:xfrm>
              <a:off x="624" y="720"/>
              <a:ext cx="513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6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除法    若干余数与除数加减、移位。</a:t>
              </a:r>
              <a:endPara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25" name="Line 6"/>
            <p:cNvSpPr/>
            <p:nvPr/>
          </p:nvSpPr>
          <p:spPr>
            <a:xfrm>
              <a:off x="1296" y="960"/>
              <a:ext cx="488" cy="1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7" name="Text Box 7"/>
          <p:cNvSpPr txBox="1"/>
          <p:nvPr/>
        </p:nvSpPr>
        <p:spPr>
          <a:xfrm>
            <a:off x="0" y="1905000"/>
            <a:ext cx="4953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. 0.10110÷0.11111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" name="Group 25"/>
          <p:cNvGrpSpPr/>
          <p:nvPr/>
        </p:nvGrpSpPr>
        <p:grpSpPr>
          <a:xfrm>
            <a:off x="1371600" y="2971800"/>
            <a:ext cx="3200400" cy="457200"/>
            <a:chOff x="624" y="1920"/>
            <a:chExt cx="2016" cy="288"/>
          </a:xfrm>
        </p:grpSpPr>
        <p:sp>
          <p:nvSpPr>
            <p:cNvPr id="5128" name="Line 21"/>
            <p:cNvSpPr/>
            <p:nvPr/>
          </p:nvSpPr>
          <p:spPr>
            <a:xfrm>
              <a:off x="912" y="1920"/>
              <a:ext cx="172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29" name="Arc 22"/>
            <p:cNvSpPr/>
            <p:nvPr/>
          </p:nvSpPr>
          <p:spPr>
            <a:xfrm flipV="1">
              <a:off x="624" y="1920"/>
              <a:ext cx="288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 fill="none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1" name="Text Box 23"/>
          <p:cNvSpPr txBox="1"/>
          <p:nvPr/>
        </p:nvSpPr>
        <p:spPr>
          <a:xfrm>
            <a:off x="1905000" y="2819400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0.10110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24"/>
          <p:cNvSpPr txBox="1"/>
          <p:nvPr/>
        </p:nvSpPr>
        <p:spPr>
          <a:xfrm>
            <a:off x="2133600" y="3581400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1101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26"/>
          <p:cNvSpPr txBox="1"/>
          <p:nvPr/>
        </p:nvSpPr>
        <p:spPr>
          <a:xfrm>
            <a:off x="3048000" y="24384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27"/>
          <p:cNvSpPr txBox="1"/>
          <p:nvPr/>
        </p:nvSpPr>
        <p:spPr>
          <a:xfrm>
            <a:off x="3352800" y="28194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 Box 28"/>
          <p:cNvSpPr txBox="1"/>
          <p:nvPr/>
        </p:nvSpPr>
        <p:spPr>
          <a:xfrm>
            <a:off x="3352800" y="24384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29"/>
          <p:cNvSpPr txBox="1"/>
          <p:nvPr/>
        </p:nvSpPr>
        <p:spPr>
          <a:xfrm>
            <a:off x="2362200" y="3200400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11111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Line 30"/>
          <p:cNvSpPr/>
          <p:nvPr/>
        </p:nvSpPr>
        <p:spPr>
          <a:xfrm>
            <a:off x="2362200" y="3581400"/>
            <a:ext cx="228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" name="Line 31"/>
          <p:cNvSpPr/>
          <p:nvPr/>
        </p:nvSpPr>
        <p:spPr>
          <a:xfrm>
            <a:off x="2362200" y="3733800"/>
            <a:ext cx="1752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" name="Text Box 32"/>
          <p:cNvSpPr txBox="1"/>
          <p:nvPr/>
        </p:nvSpPr>
        <p:spPr>
          <a:xfrm>
            <a:off x="0" y="2819400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0.11111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33"/>
          <p:cNvSpPr txBox="1"/>
          <p:nvPr/>
        </p:nvSpPr>
        <p:spPr>
          <a:xfrm>
            <a:off x="3505200" y="35814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Text Box 34"/>
          <p:cNvSpPr txBox="1"/>
          <p:nvPr/>
        </p:nvSpPr>
        <p:spPr>
          <a:xfrm>
            <a:off x="3581400" y="24384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 Box 35"/>
          <p:cNvSpPr txBox="1"/>
          <p:nvPr/>
        </p:nvSpPr>
        <p:spPr>
          <a:xfrm>
            <a:off x="3733800" y="35814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36"/>
          <p:cNvSpPr txBox="1"/>
          <p:nvPr/>
        </p:nvSpPr>
        <p:spPr>
          <a:xfrm>
            <a:off x="3810000" y="24384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37"/>
          <p:cNvSpPr txBox="1"/>
          <p:nvPr/>
        </p:nvSpPr>
        <p:spPr>
          <a:xfrm>
            <a:off x="2743200" y="3962400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11111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Line 38"/>
          <p:cNvSpPr/>
          <p:nvPr/>
        </p:nvSpPr>
        <p:spPr>
          <a:xfrm>
            <a:off x="2743200" y="4343400"/>
            <a:ext cx="228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6" name="Line 39"/>
          <p:cNvSpPr/>
          <p:nvPr/>
        </p:nvSpPr>
        <p:spPr>
          <a:xfrm>
            <a:off x="2819400" y="4495800"/>
            <a:ext cx="1752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7" name="Text Box 40"/>
          <p:cNvSpPr txBox="1"/>
          <p:nvPr/>
        </p:nvSpPr>
        <p:spPr>
          <a:xfrm>
            <a:off x="2743200" y="4343400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10101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 Box 41"/>
          <p:cNvSpPr txBox="1"/>
          <p:nvPr/>
        </p:nvSpPr>
        <p:spPr>
          <a:xfrm>
            <a:off x="3962400" y="43434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 Box 42"/>
          <p:cNvSpPr txBox="1"/>
          <p:nvPr/>
        </p:nvSpPr>
        <p:spPr>
          <a:xfrm>
            <a:off x="3962400" y="24384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Text Box 43"/>
          <p:cNvSpPr txBox="1"/>
          <p:nvPr/>
        </p:nvSpPr>
        <p:spPr>
          <a:xfrm>
            <a:off x="2971800" y="4648200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11111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Line 44"/>
          <p:cNvSpPr/>
          <p:nvPr/>
        </p:nvSpPr>
        <p:spPr>
          <a:xfrm>
            <a:off x="2971800" y="5029200"/>
            <a:ext cx="228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2" name="Line 45"/>
          <p:cNvSpPr/>
          <p:nvPr/>
        </p:nvSpPr>
        <p:spPr>
          <a:xfrm>
            <a:off x="3048000" y="5181600"/>
            <a:ext cx="17526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3" name="Text Box 46"/>
          <p:cNvSpPr txBox="1"/>
          <p:nvPr/>
        </p:nvSpPr>
        <p:spPr>
          <a:xfrm>
            <a:off x="3200400" y="5029200"/>
            <a:ext cx="1828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1011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47"/>
          <p:cNvSpPr txBox="1"/>
          <p:nvPr/>
        </p:nvSpPr>
        <p:spPr>
          <a:xfrm>
            <a:off x="4267200" y="50292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Box 48"/>
          <p:cNvSpPr txBox="1"/>
          <p:nvPr/>
        </p:nvSpPr>
        <p:spPr>
          <a:xfrm>
            <a:off x="4191000" y="24384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Text Box 49"/>
          <p:cNvSpPr txBox="1"/>
          <p:nvPr/>
        </p:nvSpPr>
        <p:spPr>
          <a:xfrm>
            <a:off x="3352800" y="5105400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Text Box 50"/>
          <p:cNvSpPr txBox="1"/>
          <p:nvPr/>
        </p:nvSpPr>
        <p:spPr>
          <a:xfrm>
            <a:off x="2362200" y="5029200"/>
            <a:ext cx="14478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</a:t>
            </a:r>
            <a:endParaRPr lang="en-US" altLang="zh-CN" sz="32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Text Box 51"/>
          <p:cNvSpPr txBox="1"/>
          <p:nvPr/>
        </p:nvSpPr>
        <p:spPr>
          <a:xfrm>
            <a:off x="3352800" y="5105400"/>
            <a:ext cx="5334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Text Box 52"/>
          <p:cNvSpPr txBox="1"/>
          <p:nvPr/>
        </p:nvSpPr>
        <p:spPr>
          <a:xfrm>
            <a:off x="1981200" y="50292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</a:t>
            </a:r>
            <a:endParaRPr lang="en-US" altLang="zh-CN" sz="32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Text Box 53"/>
          <p:cNvSpPr txBox="1"/>
          <p:nvPr/>
        </p:nvSpPr>
        <p:spPr>
          <a:xfrm>
            <a:off x="381000" y="5937250"/>
            <a:ext cx="3810000" cy="920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商：  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0.10110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余数：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0.10110×2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Group 56"/>
          <p:cNvGrpSpPr/>
          <p:nvPr/>
        </p:nvGrpSpPr>
        <p:grpSpPr>
          <a:xfrm>
            <a:off x="3810000" y="6248400"/>
            <a:ext cx="914400" cy="366713"/>
            <a:chOff x="3792" y="3744"/>
            <a:chExt cx="576" cy="231"/>
          </a:xfrm>
        </p:grpSpPr>
        <p:sp>
          <p:nvSpPr>
            <p:cNvPr id="5161" name="Line 54"/>
            <p:cNvSpPr/>
            <p:nvPr/>
          </p:nvSpPr>
          <p:spPr>
            <a:xfrm>
              <a:off x="3792" y="3840"/>
              <a:ext cx="14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62" name="Text Box 55"/>
            <p:cNvSpPr txBox="1"/>
            <p:nvPr/>
          </p:nvSpPr>
          <p:spPr>
            <a:xfrm>
              <a:off x="3840" y="3744"/>
              <a:ext cx="52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800" b="1" dirty="0">
                  <a:latin typeface="Times New Roman" panose="02020603050405020304" pitchFamily="18" charset="0"/>
                </a:rPr>
                <a:t>  5</a:t>
              </a:r>
              <a:endParaRPr lang="en-US" altLang="zh-CN" sz="1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4" name="Text Box 57"/>
          <p:cNvSpPr txBox="1"/>
          <p:nvPr/>
        </p:nvSpPr>
        <p:spPr>
          <a:xfrm>
            <a:off x="5638800" y="3276600"/>
            <a:ext cx="3505200" cy="196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实现除法的关键：</a:t>
            </a:r>
            <a:endParaRPr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比较“余数”、除数绝对值大小，以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决定上商。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79930" y="2996565"/>
            <a:ext cx="432435" cy="2882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7950" y="2971800"/>
            <a:ext cx="356870" cy="29781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8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500"/>
                            </p:stCondLst>
                            <p:childTnLst>
                              <p:par>
                                <p:cTn id="1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11" grpId="0"/>
      <p:bldP spid="12" grpId="0"/>
      <p:bldP spid="13" grpId="0"/>
      <p:bldP spid="14" grpId="0"/>
      <p:bldP spid="15" grpId="0"/>
      <p:bldP spid="16" grpId="0"/>
      <p:bldP spid="19" grpId="0"/>
      <p:bldP spid="20" grpId="0"/>
      <p:bldP spid="21" grpId="0"/>
      <p:bldP spid="22" grpId="0"/>
      <p:bldP spid="23" grpId="0"/>
      <p:bldP spid="24" grpId="0"/>
      <p:bldP spid="27" grpId="0"/>
      <p:bldP spid="28" grpId="0"/>
      <p:bldP spid="29" grpId="0"/>
      <p:bldP spid="30" grpId="0"/>
      <p:bldP spid="33" grpId="0"/>
      <p:bldP spid="34" grpId="0"/>
      <p:bldP spid="35" grpId="0"/>
      <p:bldP spid="36" grpId="0"/>
      <p:bldP spid="37" grpId="0"/>
      <p:bldP spid="38" grpId="0" build="p"/>
      <p:bldP spid="39" grpId="0"/>
      <p:bldP spid="40" grpId="0"/>
      <p:bldP spid="6" grpId="0" animBg="1"/>
      <p:bldP spid="6" grpId="1" animBg="1"/>
      <p:bldP spid="8" grpId="0" animBg="1"/>
      <p:bldP spid="8" grpId="1" animBg="1"/>
      <p:bldP spid="44" grpId="0" animBg="1"/>
      <p:bldP spid="4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07950"/>
            <a:ext cx="7924800" cy="18145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4000" b="1" dirty="0">
                <a:latin typeface="Times New Roman" panose="02020603050405020304" pitchFamily="18" charset="0"/>
              </a:rPr>
              <a:t>.1  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原码</a:t>
            </a:r>
            <a:r>
              <a:rPr lang="zh-CN" altLang="en-US" sz="4000" b="1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黑体" panose="02010609060101010101" pitchFamily="49" charset="-122"/>
              </a:rPr>
              <a:t>恢复余数法</a:t>
            </a:r>
            <a:endParaRPr lang="zh-CN" altLang="en-US" sz="40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lang="zh-CN" altLang="en-US" sz="4000" b="1" dirty="0">
              <a:latin typeface="宋体" panose="0201060003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4000" b="1" dirty="0">
                <a:latin typeface="宋体" panose="02010600030101010101" pitchFamily="2" charset="-122"/>
              </a:rPr>
              <a:t> 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比较两数大小可用减法试探。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2438400"/>
            <a:ext cx="51816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2×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余数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除数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新余数</a:t>
            </a:r>
            <a:endParaRPr lang="zh-CN" altLang="en-US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AutoShape 7"/>
          <p:cNvSpPr/>
          <p:nvPr/>
        </p:nvSpPr>
        <p:spPr>
          <a:xfrm>
            <a:off x="4648200" y="2286000"/>
            <a:ext cx="152400" cy="838200"/>
          </a:xfrm>
          <a:prstGeom prst="leftBrace">
            <a:avLst>
              <a:gd name="adj1" fmla="val 45629"/>
              <a:gd name="adj2" fmla="val 50000"/>
            </a:avLst>
          </a:prstGeom>
          <a:noFill/>
          <a:ln w="381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Text Box 8"/>
          <p:cNvSpPr txBox="1"/>
          <p:nvPr/>
        </p:nvSpPr>
        <p:spPr>
          <a:xfrm>
            <a:off x="4876800" y="1981200"/>
            <a:ext cx="4038600" cy="20145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为正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够减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商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为负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不够减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商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</a:t>
            </a:r>
            <a:r>
              <a:rPr lang="zh-CN" altLang="en-US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恢复原余数。</a:t>
            </a:r>
            <a:endParaRPr lang="zh-CN" altLang="en-US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9"/>
          <p:cNvSpPr txBox="1"/>
          <p:nvPr/>
        </p:nvSpPr>
        <p:spPr>
          <a:xfrm>
            <a:off x="0" y="3276600"/>
            <a:ext cx="3200400" cy="701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11"/>
          <p:cNvSpPr txBox="1"/>
          <p:nvPr/>
        </p:nvSpPr>
        <p:spPr>
          <a:xfrm>
            <a:off x="0" y="4038600"/>
            <a:ext cx="99060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X=-0.10110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Y=0.11111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，求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X/Y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，给出商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和余数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12"/>
          <p:cNvSpPr txBox="1"/>
          <p:nvPr/>
        </p:nvSpPr>
        <p:spPr>
          <a:xfrm>
            <a:off x="0" y="4724400"/>
            <a:ext cx="9144000" cy="433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设置：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：被除数、余数，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：除数，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：商</a:t>
            </a:r>
            <a:endParaRPr lang="zh-CN" altLang="en-US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13"/>
          <p:cNvSpPr txBox="1"/>
          <p:nvPr/>
        </p:nvSpPr>
        <p:spPr>
          <a:xfrm>
            <a:off x="0" y="5410200"/>
            <a:ext cx="74676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初值：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A= X = 00.10110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14"/>
          <p:cNvSpPr txBox="1"/>
          <p:nvPr/>
        </p:nvSpPr>
        <p:spPr>
          <a:xfrm>
            <a:off x="0" y="5943600"/>
            <a:ext cx="74676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B= Y = 00.11111  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15"/>
          <p:cNvSpPr txBox="1"/>
          <p:nvPr/>
        </p:nvSpPr>
        <p:spPr>
          <a:xfrm>
            <a:off x="0" y="6473825"/>
            <a:ext cx="74676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C= Q = 0.00000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Line 16"/>
          <p:cNvSpPr/>
          <p:nvPr/>
        </p:nvSpPr>
        <p:spPr>
          <a:xfrm>
            <a:off x="1828800" y="54102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" name="Line 17"/>
          <p:cNvSpPr/>
          <p:nvPr/>
        </p:nvSpPr>
        <p:spPr>
          <a:xfrm>
            <a:off x="2209800" y="54102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" name="Text Box 18"/>
          <p:cNvSpPr txBox="1"/>
          <p:nvPr/>
        </p:nvSpPr>
        <p:spPr>
          <a:xfrm>
            <a:off x="4495800" y="5943600"/>
            <a:ext cx="44196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-B= 11.00001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Line 19"/>
          <p:cNvSpPr/>
          <p:nvPr/>
        </p:nvSpPr>
        <p:spPr>
          <a:xfrm>
            <a:off x="1828800" y="5943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7" name="Line 20"/>
          <p:cNvSpPr/>
          <p:nvPr/>
        </p:nvSpPr>
        <p:spPr>
          <a:xfrm>
            <a:off x="2209800" y="5943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" name="Line 21"/>
          <p:cNvSpPr/>
          <p:nvPr/>
        </p:nvSpPr>
        <p:spPr>
          <a:xfrm>
            <a:off x="1828800" y="64770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" name="Line 22"/>
          <p:cNvSpPr/>
          <p:nvPr/>
        </p:nvSpPr>
        <p:spPr>
          <a:xfrm>
            <a:off x="2209800" y="64770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17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22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charRg st="10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char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animBg="1"/>
      <p:bldP spid="6" grpId="0" build="p"/>
      <p:bldP spid="7" grpId="0" build="p"/>
      <p:bldP spid="8" grpId="0"/>
      <p:bldP spid="9" grpId="0" build="p"/>
      <p:bldP spid="10" grpId="0"/>
      <p:bldP spid="11" grpId="0"/>
      <p:bldP spid="12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87630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步数  条件  操作    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A          C   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10000" y="533400"/>
            <a:ext cx="5334000" cy="422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00.10110     0.00000</a:t>
            </a:r>
            <a:r>
              <a:rPr lang="en-US" altLang="zh-CN" sz="3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8600" y="9144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524000" y="17526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743200" y="12954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8"/>
          <p:cNvSpPr txBox="1"/>
          <p:nvPr/>
        </p:nvSpPr>
        <p:spPr>
          <a:xfrm>
            <a:off x="3352800" y="838200"/>
            <a:ext cx="3048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01.01100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Line 9"/>
          <p:cNvSpPr/>
          <p:nvPr/>
        </p:nvSpPr>
        <p:spPr>
          <a:xfrm>
            <a:off x="3810000" y="18288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Text Box 10"/>
          <p:cNvSpPr txBox="1"/>
          <p:nvPr/>
        </p:nvSpPr>
        <p:spPr>
          <a:xfrm>
            <a:off x="3581400" y="1295400"/>
            <a:ext cx="2590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+11.00001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Line 11"/>
          <p:cNvSpPr/>
          <p:nvPr/>
        </p:nvSpPr>
        <p:spPr>
          <a:xfrm>
            <a:off x="2819400" y="12192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12" name="Text Box 12"/>
          <p:cNvSpPr txBox="1"/>
          <p:nvPr/>
        </p:nvSpPr>
        <p:spPr>
          <a:xfrm>
            <a:off x="3810000" y="17526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00.01101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13"/>
          <p:cNvSpPr txBox="1"/>
          <p:nvPr/>
        </p:nvSpPr>
        <p:spPr>
          <a:xfrm>
            <a:off x="6781800" y="1752600"/>
            <a:ext cx="1905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0.0000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14"/>
          <p:cNvSpPr txBox="1"/>
          <p:nvPr/>
        </p:nvSpPr>
        <p:spPr>
          <a:xfrm>
            <a:off x="228600" y="2209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 Box 15"/>
          <p:cNvSpPr txBox="1"/>
          <p:nvPr/>
        </p:nvSpPr>
        <p:spPr>
          <a:xfrm>
            <a:off x="1524000" y="3124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16"/>
          <p:cNvSpPr txBox="1"/>
          <p:nvPr/>
        </p:nvSpPr>
        <p:spPr>
          <a:xfrm>
            <a:off x="2743200" y="2667000"/>
            <a:ext cx="762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Box 17"/>
          <p:cNvSpPr txBox="1"/>
          <p:nvPr/>
        </p:nvSpPr>
        <p:spPr>
          <a:xfrm>
            <a:off x="3810000" y="22098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00.11010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Line 18"/>
          <p:cNvSpPr/>
          <p:nvPr/>
        </p:nvSpPr>
        <p:spPr>
          <a:xfrm>
            <a:off x="3810000" y="32004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" name="Text Box 19"/>
          <p:cNvSpPr txBox="1"/>
          <p:nvPr/>
        </p:nvSpPr>
        <p:spPr>
          <a:xfrm>
            <a:off x="3581400" y="26670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+11.00001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20"/>
          <p:cNvSpPr txBox="1"/>
          <p:nvPr/>
        </p:nvSpPr>
        <p:spPr>
          <a:xfrm>
            <a:off x="3810000" y="3124200"/>
            <a:ext cx="2209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11.11011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Line 21"/>
          <p:cNvSpPr/>
          <p:nvPr/>
        </p:nvSpPr>
        <p:spPr>
          <a:xfrm>
            <a:off x="2819400" y="25908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22" name="Text Box 22"/>
          <p:cNvSpPr txBox="1"/>
          <p:nvPr/>
        </p:nvSpPr>
        <p:spPr>
          <a:xfrm>
            <a:off x="6781800" y="31242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0.000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23"/>
          <p:cNvSpPr txBox="1"/>
          <p:nvPr/>
        </p:nvSpPr>
        <p:spPr>
          <a:xfrm>
            <a:off x="228600" y="35814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24"/>
          <p:cNvSpPr txBox="1"/>
          <p:nvPr/>
        </p:nvSpPr>
        <p:spPr>
          <a:xfrm>
            <a:off x="2057400" y="4114800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恢复余数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25"/>
          <p:cNvSpPr txBox="1"/>
          <p:nvPr/>
        </p:nvSpPr>
        <p:spPr>
          <a:xfrm>
            <a:off x="2743200" y="35814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 Box 26"/>
          <p:cNvSpPr txBox="1"/>
          <p:nvPr/>
        </p:nvSpPr>
        <p:spPr>
          <a:xfrm>
            <a:off x="3581400" y="3581400"/>
            <a:ext cx="31242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+00.11111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Line 27"/>
          <p:cNvSpPr/>
          <p:nvPr/>
        </p:nvSpPr>
        <p:spPr>
          <a:xfrm>
            <a:off x="3810000" y="41148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" name="Text Box 28"/>
          <p:cNvSpPr txBox="1"/>
          <p:nvPr/>
        </p:nvSpPr>
        <p:spPr>
          <a:xfrm>
            <a:off x="3810000" y="4038600"/>
            <a:ext cx="24384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00.11010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Line 29"/>
          <p:cNvSpPr/>
          <p:nvPr/>
        </p:nvSpPr>
        <p:spPr>
          <a:xfrm>
            <a:off x="2895600" y="48768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30" name="Text Box 30"/>
          <p:cNvSpPr txBox="1"/>
          <p:nvPr/>
        </p:nvSpPr>
        <p:spPr>
          <a:xfrm>
            <a:off x="3810000" y="44958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01.10100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31"/>
          <p:cNvSpPr txBox="1"/>
          <p:nvPr/>
        </p:nvSpPr>
        <p:spPr>
          <a:xfrm>
            <a:off x="6781800" y="5410200"/>
            <a:ext cx="19812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0.00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Text Box 32"/>
          <p:cNvSpPr txBox="1"/>
          <p:nvPr/>
        </p:nvSpPr>
        <p:spPr>
          <a:xfrm>
            <a:off x="228600" y="4495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Text Box 33"/>
          <p:cNvSpPr txBox="1"/>
          <p:nvPr/>
        </p:nvSpPr>
        <p:spPr>
          <a:xfrm>
            <a:off x="1600200" y="5440363"/>
            <a:ext cx="7620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34"/>
          <p:cNvSpPr txBox="1"/>
          <p:nvPr/>
        </p:nvSpPr>
        <p:spPr>
          <a:xfrm>
            <a:off x="2819400" y="49530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Box 35"/>
          <p:cNvSpPr txBox="1"/>
          <p:nvPr/>
        </p:nvSpPr>
        <p:spPr>
          <a:xfrm>
            <a:off x="3581400" y="4953000"/>
            <a:ext cx="27432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+11.00001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Line 36"/>
          <p:cNvSpPr/>
          <p:nvPr/>
        </p:nvSpPr>
        <p:spPr>
          <a:xfrm>
            <a:off x="3886200" y="5562600"/>
            <a:ext cx="2362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7" name="Text Box 37"/>
          <p:cNvSpPr txBox="1"/>
          <p:nvPr/>
        </p:nvSpPr>
        <p:spPr>
          <a:xfrm>
            <a:off x="3810000" y="54102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00.10101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Text Box 39"/>
          <p:cNvSpPr txBox="1"/>
          <p:nvPr/>
        </p:nvSpPr>
        <p:spPr>
          <a:xfrm>
            <a:off x="8077200" y="30163"/>
            <a:ext cx="838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Text Box 40"/>
          <p:cNvSpPr txBox="1"/>
          <p:nvPr/>
        </p:nvSpPr>
        <p:spPr>
          <a:xfrm>
            <a:off x="1524000" y="304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Text Box 42"/>
          <p:cNvSpPr txBox="1"/>
          <p:nvPr/>
        </p:nvSpPr>
        <p:spPr>
          <a:xfrm>
            <a:off x="8534400" y="1981200"/>
            <a:ext cx="11430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3200" b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Text Box 46"/>
          <p:cNvSpPr txBox="1"/>
          <p:nvPr/>
        </p:nvSpPr>
        <p:spPr>
          <a:xfrm>
            <a:off x="8534400" y="3352800"/>
            <a:ext cx="12192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3200" b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Text Box 47"/>
          <p:cNvSpPr txBox="1"/>
          <p:nvPr/>
        </p:nvSpPr>
        <p:spPr>
          <a:xfrm>
            <a:off x="8534400" y="5638800"/>
            <a:ext cx="12192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3200" b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Text Box 50"/>
          <p:cNvSpPr txBox="1"/>
          <p:nvPr/>
        </p:nvSpPr>
        <p:spPr>
          <a:xfrm>
            <a:off x="5867400" y="3810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 Box 51"/>
          <p:cNvSpPr txBox="1"/>
          <p:nvPr/>
        </p:nvSpPr>
        <p:spPr>
          <a:xfrm>
            <a:off x="5867400" y="838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Text Box 52"/>
          <p:cNvSpPr txBox="1"/>
          <p:nvPr/>
        </p:nvSpPr>
        <p:spPr>
          <a:xfrm>
            <a:off x="5867400" y="17526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Text Box 53"/>
          <p:cNvSpPr txBox="1"/>
          <p:nvPr/>
        </p:nvSpPr>
        <p:spPr>
          <a:xfrm>
            <a:off x="5867400" y="22860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Text Box 54"/>
          <p:cNvSpPr txBox="1"/>
          <p:nvPr/>
        </p:nvSpPr>
        <p:spPr>
          <a:xfrm>
            <a:off x="5867400" y="3124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’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Text Box 55"/>
          <p:cNvSpPr txBox="1"/>
          <p:nvPr/>
        </p:nvSpPr>
        <p:spPr>
          <a:xfrm>
            <a:off x="5867400" y="40386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" name="Text Box 56"/>
          <p:cNvSpPr txBox="1"/>
          <p:nvPr/>
        </p:nvSpPr>
        <p:spPr>
          <a:xfrm>
            <a:off x="5867400" y="4525963"/>
            <a:ext cx="838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Text Box 57"/>
          <p:cNvSpPr txBox="1"/>
          <p:nvPr/>
        </p:nvSpPr>
        <p:spPr>
          <a:xfrm>
            <a:off x="5867400" y="5410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500"/>
                            </p:stCondLst>
                            <p:childTnLst>
                              <p:par>
                                <p:cTn id="1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000"/>
                            </p:stCondLst>
                            <p:childTnLst>
                              <p:par>
                                <p:cTn id="1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32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3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500"/>
                            </p:stCondLst>
                            <p:childTnLst>
                              <p:par>
                                <p:cTn id="2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3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000"/>
                            </p:stCondLst>
                            <p:childTnLst>
                              <p:par>
                                <p:cTn id="2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1500"/>
                            </p:stCondLst>
                            <p:childTnLst>
                              <p:par>
                                <p:cTn id="2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33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6" grpId="0" build="p"/>
      <p:bldP spid="7" grpId="0" build="p"/>
      <p:bldP spid="8" grpId="0"/>
      <p:bldP spid="10" grpId="0"/>
      <p:bldP spid="12" grpId="0"/>
      <p:bldP spid="13" grpId="0"/>
      <p:bldP spid="14" grpId="0" build="p"/>
      <p:bldP spid="15" grpId="0" build="p"/>
      <p:bldP spid="16" grpId="0" build="p"/>
      <p:bldP spid="17" grpId="0"/>
      <p:bldP spid="19" grpId="0"/>
      <p:bldP spid="20" grpId="0"/>
      <p:bldP spid="22" grpId="0"/>
      <p:bldP spid="23" grpId="0" build="p"/>
      <p:bldP spid="24" grpId="0" advAuto="1000" build="p"/>
      <p:bldP spid="25" grpId="0" build="p"/>
      <p:bldP spid="26" grpId="0" advAuto="1000" build="p"/>
      <p:bldP spid="28" grpId="0"/>
      <p:bldP spid="30" grpId="0"/>
      <p:bldP spid="31" grpId="0"/>
      <p:bldP spid="32" grpId="0" build="p"/>
      <p:bldP spid="33" grpId="0" build="p"/>
      <p:bldP spid="34" grpId="0" build="p"/>
      <p:bldP spid="35" grpId="0" advAuto="1000" build="p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灯片编号占位符 1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 wrap="square" lIns="92075" tIns="46038" rIns="92075" bIns="46038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8194" name="Text Box 2"/>
          <p:cNvSpPr txBox="1"/>
          <p:nvPr/>
        </p:nvSpPr>
        <p:spPr>
          <a:xfrm>
            <a:off x="0" y="0"/>
            <a:ext cx="8763000" cy="4762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步数  条件  操作    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A          C   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Text Box 3"/>
          <p:cNvSpPr txBox="1"/>
          <p:nvPr/>
        </p:nvSpPr>
        <p:spPr>
          <a:xfrm>
            <a:off x="3810000" y="533400"/>
            <a:ext cx="5334000" cy="4222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00.10101     0.00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</a:t>
            </a:r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8600" y="9144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524000" y="1752600"/>
            <a:ext cx="6096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743200" y="12954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352800" y="838200"/>
            <a:ext cx="3048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01.01010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Line 8"/>
          <p:cNvSpPr/>
          <p:nvPr/>
        </p:nvSpPr>
        <p:spPr>
          <a:xfrm>
            <a:off x="3810000" y="18288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" name="Text Box 9"/>
          <p:cNvSpPr txBox="1"/>
          <p:nvPr/>
        </p:nvSpPr>
        <p:spPr>
          <a:xfrm>
            <a:off x="3581400" y="1295400"/>
            <a:ext cx="2590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+11.00001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Line 10"/>
          <p:cNvSpPr/>
          <p:nvPr/>
        </p:nvSpPr>
        <p:spPr>
          <a:xfrm>
            <a:off x="2819400" y="12192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12" name="Text Box 11"/>
          <p:cNvSpPr txBox="1"/>
          <p:nvPr/>
        </p:nvSpPr>
        <p:spPr>
          <a:xfrm>
            <a:off x="3810000" y="17526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00.01011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6781800" y="1752600"/>
            <a:ext cx="1905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228600" y="2209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524000" y="3124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743200" y="2667000"/>
            <a:ext cx="7620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810000" y="22098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00.10110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Line 17"/>
          <p:cNvSpPr/>
          <p:nvPr/>
        </p:nvSpPr>
        <p:spPr>
          <a:xfrm>
            <a:off x="3810000" y="32004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9" name="Text Box 18"/>
          <p:cNvSpPr txBox="1"/>
          <p:nvPr/>
        </p:nvSpPr>
        <p:spPr>
          <a:xfrm>
            <a:off x="3581400" y="26670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+11.00001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3810000" y="3124200"/>
            <a:ext cx="22098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11.10111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Line 20"/>
          <p:cNvSpPr/>
          <p:nvPr/>
        </p:nvSpPr>
        <p:spPr>
          <a:xfrm>
            <a:off x="2819400" y="25908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</p:spPr>
      </p:sp>
      <p:sp>
        <p:nvSpPr>
          <p:cNvPr id="22" name="Text Box 21"/>
          <p:cNvSpPr txBox="1"/>
          <p:nvPr/>
        </p:nvSpPr>
        <p:spPr>
          <a:xfrm>
            <a:off x="6781800" y="31242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10110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228600" y="35814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2057400" y="4114800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恢复余数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2743200" y="35814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581400" y="3581400"/>
            <a:ext cx="31242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+00.11111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Line 26"/>
          <p:cNvSpPr/>
          <p:nvPr/>
        </p:nvSpPr>
        <p:spPr>
          <a:xfrm>
            <a:off x="3810000" y="41148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8" name="Text Box 27"/>
          <p:cNvSpPr txBox="1"/>
          <p:nvPr/>
        </p:nvSpPr>
        <p:spPr>
          <a:xfrm>
            <a:off x="3810000" y="4038600"/>
            <a:ext cx="24384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00.10110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 Box 30"/>
          <p:cNvSpPr txBox="1"/>
          <p:nvPr/>
        </p:nvSpPr>
        <p:spPr>
          <a:xfrm>
            <a:off x="228600" y="4648200"/>
            <a:ext cx="3505200" cy="6413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Q= -0.10110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21" name="Text Box 37"/>
          <p:cNvSpPr txBox="1"/>
          <p:nvPr/>
        </p:nvSpPr>
        <p:spPr>
          <a:xfrm>
            <a:off x="8077200" y="30163"/>
            <a:ext cx="83820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39"/>
          <p:cNvSpPr txBox="1"/>
          <p:nvPr/>
        </p:nvSpPr>
        <p:spPr>
          <a:xfrm>
            <a:off x="8420100" y="1981200"/>
            <a:ext cx="14478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3200" b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Text Box 40"/>
          <p:cNvSpPr txBox="1"/>
          <p:nvPr/>
        </p:nvSpPr>
        <p:spPr>
          <a:xfrm>
            <a:off x="8458200" y="3352800"/>
            <a:ext cx="9906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3200" b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24" name="Text Box 41"/>
          <p:cNvSpPr txBox="1"/>
          <p:nvPr/>
        </p:nvSpPr>
        <p:spPr>
          <a:xfrm>
            <a:off x="8458200" y="533400"/>
            <a:ext cx="762000" cy="384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3200" b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225" name="Text Box 42"/>
          <p:cNvSpPr txBox="1"/>
          <p:nvPr/>
        </p:nvSpPr>
        <p:spPr>
          <a:xfrm>
            <a:off x="5867400" y="3810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5" name="Text Box 43"/>
          <p:cNvSpPr txBox="1"/>
          <p:nvPr/>
        </p:nvSpPr>
        <p:spPr>
          <a:xfrm>
            <a:off x="5867400" y="838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Text Box 44"/>
          <p:cNvSpPr txBox="1"/>
          <p:nvPr/>
        </p:nvSpPr>
        <p:spPr>
          <a:xfrm>
            <a:off x="5867400" y="17526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Text Box 45"/>
          <p:cNvSpPr txBox="1"/>
          <p:nvPr/>
        </p:nvSpPr>
        <p:spPr>
          <a:xfrm>
            <a:off x="5867400" y="22860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Text Box 46"/>
          <p:cNvSpPr txBox="1"/>
          <p:nvPr/>
        </p:nvSpPr>
        <p:spPr>
          <a:xfrm>
            <a:off x="5867400" y="3124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’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Text Box 47"/>
          <p:cNvSpPr txBox="1"/>
          <p:nvPr/>
        </p:nvSpPr>
        <p:spPr>
          <a:xfrm>
            <a:off x="5867400" y="40386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58"/>
          <p:cNvGrpSpPr/>
          <p:nvPr/>
        </p:nvGrpSpPr>
        <p:grpSpPr>
          <a:xfrm>
            <a:off x="228600" y="5105400"/>
            <a:ext cx="4114800" cy="717550"/>
            <a:chOff x="144" y="3216"/>
            <a:chExt cx="2592" cy="452"/>
          </a:xfrm>
        </p:grpSpPr>
        <p:sp>
          <p:nvSpPr>
            <p:cNvPr id="8232" name="Text Box 50"/>
            <p:cNvSpPr txBox="1"/>
            <p:nvPr/>
          </p:nvSpPr>
          <p:spPr>
            <a:xfrm>
              <a:off x="144" y="3264"/>
              <a:ext cx="259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R=  0.10110</a:t>
              </a:r>
              <a:r>
                <a:rPr lang="en-US" altLang="zh-CN" sz="36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×2</a:t>
              </a:r>
              <a:endParaRPr lang="en-US" altLang="zh-CN" sz="36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8233" name="Text Box 52"/>
            <p:cNvSpPr txBox="1"/>
            <p:nvPr/>
          </p:nvSpPr>
          <p:spPr>
            <a:xfrm>
              <a:off x="2208" y="321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-5</a:t>
              </a:r>
              <a:endParaRPr lang="en-US" altLang="zh-CN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3" name="Line 57"/>
          <p:cNvSpPr/>
          <p:nvPr/>
        </p:nvSpPr>
        <p:spPr>
          <a:xfrm>
            <a:off x="990600" y="5562600"/>
            <a:ext cx="228600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" name="Group 66"/>
          <p:cNvGrpSpPr/>
          <p:nvPr/>
        </p:nvGrpSpPr>
        <p:grpSpPr>
          <a:xfrm>
            <a:off x="228600" y="5715000"/>
            <a:ext cx="5715000" cy="1143000"/>
            <a:chOff x="144" y="3600"/>
            <a:chExt cx="3600" cy="720"/>
          </a:xfrm>
        </p:grpSpPr>
        <p:sp>
          <p:nvSpPr>
            <p:cNvPr id="8236" name="Text Box 59"/>
            <p:cNvSpPr txBox="1"/>
            <p:nvPr/>
          </p:nvSpPr>
          <p:spPr>
            <a:xfrm>
              <a:off x="144" y="3792"/>
              <a:ext cx="20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X/Y=-0.10110+</a:t>
              </a:r>
              <a:endPara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37" name="Line 60"/>
            <p:cNvSpPr/>
            <p:nvPr/>
          </p:nvSpPr>
          <p:spPr>
            <a:xfrm>
              <a:off x="1920" y="3984"/>
              <a:ext cx="18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8238" name="Text Box 63"/>
            <p:cNvSpPr txBox="1"/>
            <p:nvPr/>
          </p:nvSpPr>
          <p:spPr>
            <a:xfrm>
              <a:off x="1920" y="3648"/>
              <a:ext cx="168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-0.10110</a:t>
              </a:r>
              <a:r>
                <a:rPr lang="en-US" altLang="zh-CN" sz="3200" b="1" dirty="0">
                  <a:latin typeface="宋体" panose="02010600030101010101" pitchFamily="2" charset="-122"/>
                </a:rPr>
                <a:t>×2</a:t>
              </a:r>
              <a:endParaRPr lang="en-US" altLang="zh-CN" sz="3200" b="1" dirty="0">
                <a:latin typeface="宋体" panose="02010600030101010101" pitchFamily="2" charset="-122"/>
              </a:endParaRPr>
            </a:p>
          </p:txBody>
        </p:sp>
        <p:sp>
          <p:nvSpPr>
            <p:cNvPr id="8239" name="Text Box 64"/>
            <p:cNvSpPr txBox="1"/>
            <p:nvPr/>
          </p:nvSpPr>
          <p:spPr>
            <a:xfrm>
              <a:off x="3360" y="360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-5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40" name="Text Box 65"/>
            <p:cNvSpPr txBox="1"/>
            <p:nvPr/>
          </p:nvSpPr>
          <p:spPr>
            <a:xfrm>
              <a:off x="1920" y="3955"/>
              <a:ext cx="168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0.11111</a:t>
              </a:r>
              <a:endParaRPr lang="en-US" altLang="zh-CN" sz="32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charRg st="0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500"/>
                            </p:stCondLst>
                            <p:childTnLst>
                              <p:par>
                                <p:cTn id="9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4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6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500"/>
                            </p:stCondLst>
                            <p:childTnLst>
                              <p:par>
                                <p:cTn id="1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7" grpId="0" build="p"/>
      <p:bldP spid="8" grpId="0"/>
      <p:bldP spid="10" grpId="0"/>
      <p:bldP spid="12" grpId="0"/>
      <p:bldP spid="13" grpId="0"/>
      <p:bldP spid="14" grpId="0" build="p"/>
      <p:bldP spid="15" grpId="0" build="p"/>
      <p:bldP spid="16" grpId="0" build="p"/>
      <p:bldP spid="17" grpId="0"/>
      <p:bldP spid="19" grpId="0"/>
      <p:bldP spid="20" grpId="0"/>
      <p:bldP spid="22" grpId="0"/>
      <p:bldP spid="23" grpId="0" build="p"/>
      <p:bldP spid="24" grpId="0" advAuto="1000" build="p"/>
      <p:bldP spid="25" grpId="0" build="p"/>
      <p:bldP spid="26" grpId="0" advAuto="1000" build="p"/>
      <p:bldP spid="28" grpId="0"/>
      <p:bldP spid="29" grpId="0" build="p"/>
      <p:bldP spid="31" grpId="0"/>
      <p:bldP spid="32" grpId="0"/>
      <p:bldP spid="35" grpId="0"/>
      <p:bldP spid="36" grpId="0"/>
      <p:bldP spid="37" grpId="0"/>
      <p:bldP spid="38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7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088" y="115888"/>
            <a:ext cx="8251825" cy="6562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灯片编号占位符 1"/>
          <p:cNvSpPr txBox="1">
            <a:spLocks noGrp="1"/>
          </p:cNvSpPr>
          <p:nvPr>
            <p:ph type="sldNum" sz="quarter" idx="12"/>
          </p:nvPr>
        </p:nvSpPr>
        <p:spPr/>
        <p:txBody>
          <a:bodyPr lIns="92075" tIns="46038" rIns="92075" bIns="46038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79248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说明</a:t>
            </a:r>
            <a:r>
              <a:rPr lang="zh-CN" altLang="en-US" sz="4000" b="1" dirty="0">
                <a:highlight>
                  <a:srgbClr val="FF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（易错）</a:t>
            </a:r>
            <a:endParaRPr lang="zh-CN" altLang="en-US" sz="4000" b="1" dirty="0">
              <a:highlight>
                <a:srgbClr val="FF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0" y="609600"/>
            <a:ext cx="9144000" cy="1117600"/>
            <a:chOff x="-192" y="480"/>
            <a:chExt cx="5760" cy="704"/>
          </a:xfrm>
        </p:grpSpPr>
        <p:sp>
          <p:nvSpPr>
            <p:cNvPr id="41993" name="Text Box 3"/>
            <p:cNvSpPr txBox="1"/>
            <p:nvPr/>
          </p:nvSpPr>
          <p:spPr>
            <a:xfrm>
              <a:off x="-192" y="480"/>
              <a:ext cx="5760" cy="7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B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双符号位，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X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Y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绝对值</a:t>
              </a:r>
              <a:r>
                <a:rPr lang="zh-CN" altLang="en-US" sz="3200" b="1" dirty="0">
                  <a:solidFill>
                    <a:srgbClr val="FFFF00"/>
                  </a:solidFill>
                  <a:highlight>
                    <a:srgbClr val="FF0000"/>
                  </a:highlight>
                  <a:latin typeface="黑体" panose="02010609060101010101" pitchFamily="49" charset="-122"/>
                  <a:ea typeface="黑体" panose="02010609060101010101" pitchFamily="49" charset="-122"/>
                </a:rPr>
                <a:t>，</a:t>
              </a:r>
              <a:r>
                <a:rPr lang="en-US" altLang="zh-CN" sz="3200" b="1" dirty="0">
                  <a:solidFill>
                    <a:srgbClr val="FFFF00"/>
                  </a:solidFill>
                  <a:highlight>
                    <a:srgbClr val="FF0000"/>
                  </a:highlight>
                  <a:latin typeface="黑体" panose="02010609060101010101" pitchFamily="49" charset="-122"/>
                  <a:ea typeface="黑体" panose="02010609060101010101" pitchFamily="49" charset="-122"/>
                </a:rPr>
                <a:t>X </a:t>
              </a:r>
              <a:r>
                <a:rPr lang="zh-CN" altLang="en-US" sz="3200" b="1" dirty="0">
                  <a:solidFill>
                    <a:srgbClr val="FFFF00"/>
                  </a:solidFill>
                  <a:highlight>
                    <a:srgbClr val="FF0000"/>
                  </a:highlight>
                  <a:latin typeface="黑体" panose="02010609060101010101" pitchFamily="49" charset="-122"/>
                  <a:ea typeface="黑体" panose="02010609060101010101" pitchFamily="49" charset="-122"/>
                </a:rPr>
                <a:t>小于 </a:t>
              </a:r>
              <a:r>
                <a:rPr lang="en-US" altLang="zh-CN" sz="3200" b="1" dirty="0">
                  <a:solidFill>
                    <a:srgbClr val="FFFF00"/>
                  </a:solidFill>
                  <a:highlight>
                    <a:srgbClr val="FF0000"/>
                  </a:highlight>
                  <a:latin typeface="黑体" panose="02010609060101010101" pitchFamily="49" charset="-122"/>
                  <a:ea typeface="黑体" panose="02010609060101010101" pitchFamily="49" charset="-122"/>
                </a:rPr>
                <a:t>Y 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）运算结束后，</a:t>
              </a:r>
              <a:r>
                <a:rPr lang="zh-CN" altLang="en-US" sz="3200" b="1" dirty="0">
                  <a:solidFill>
                    <a:srgbClr val="FFFF00"/>
                  </a:solidFill>
                  <a:highlight>
                    <a:srgbClr val="FF0000"/>
                  </a:highlight>
                  <a:latin typeface="黑体" panose="02010609060101010101" pitchFamily="49" charset="-122"/>
                  <a:ea typeface="黑体" panose="02010609060101010101" pitchFamily="49" charset="-122"/>
                </a:rPr>
                <a:t>余数乘以</a:t>
              </a:r>
              <a:r>
                <a:rPr lang="en-US" altLang="zh-CN" sz="3200" b="1" dirty="0">
                  <a:solidFill>
                    <a:srgbClr val="FFFF00"/>
                  </a:solidFill>
                  <a:highlight>
                    <a:srgbClr val="FF0000"/>
                  </a:highlight>
                  <a:latin typeface="黑体" panose="02010609060101010101" pitchFamily="49" charset="-122"/>
                  <a:ea typeface="黑体" panose="02010609060101010101" pitchFamily="49" charset="-122"/>
                </a:rPr>
                <a:t>2 </a:t>
              </a:r>
              <a:r>
                <a:rPr lang="zh-CN" altLang="en-US" sz="3200" b="1" dirty="0">
                  <a:solidFill>
                    <a:srgbClr val="FFFF00"/>
                  </a:solidFill>
                  <a:highlight>
                    <a:srgbClr val="FF0000"/>
                  </a:highlight>
                  <a:latin typeface="黑体" panose="02010609060101010101" pitchFamily="49" charset="-122"/>
                  <a:ea typeface="黑体" panose="02010609060101010101" pitchFamily="49" charset="-122"/>
                </a:rPr>
                <a:t>，与被除数同号</a:t>
              </a:r>
              <a:r>
                <a:rPr lang="zh-CN" altLang="en-US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。</a:t>
              </a:r>
              <a:endPara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4" name="Line 9"/>
            <p:cNvSpPr/>
            <p:nvPr/>
          </p:nvSpPr>
          <p:spPr>
            <a:xfrm flipH="1">
              <a:off x="3744" y="528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5" name="Line 10"/>
            <p:cNvSpPr/>
            <p:nvPr/>
          </p:nvSpPr>
          <p:spPr>
            <a:xfrm flipH="1">
              <a:off x="3984" y="528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6" name="Line 11"/>
            <p:cNvSpPr/>
            <p:nvPr/>
          </p:nvSpPr>
          <p:spPr>
            <a:xfrm flipH="1">
              <a:off x="4656" y="528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7" name="Line 12"/>
            <p:cNvSpPr/>
            <p:nvPr/>
          </p:nvSpPr>
          <p:spPr>
            <a:xfrm flipH="1">
              <a:off x="4896" y="528"/>
              <a:ext cx="0" cy="24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8" name="Text Box 13"/>
            <p:cNvSpPr txBox="1"/>
            <p:nvPr/>
          </p:nvSpPr>
          <p:spPr>
            <a:xfrm>
              <a:off x="3168" y="720"/>
              <a:ext cx="4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en-US" sz="2800" b="1" dirty="0">
                  <a:latin typeface="Times New Roman" panose="02020603050405020304" pitchFamily="18" charset="0"/>
                </a:rPr>
                <a:t>-</a:t>
              </a:r>
              <a:r>
                <a:rPr lang="en-US" altLang="zh-CN" sz="2800" b="1" dirty="0">
                  <a:latin typeface="Times New Roman" panose="02020603050405020304" pitchFamily="18" charset="0"/>
                </a:rPr>
                <a:t>n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1" name="Text Box 15"/>
          <p:cNvSpPr txBox="1"/>
          <p:nvPr/>
        </p:nvSpPr>
        <p:spPr>
          <a:xfrm>
            <a:off x="0" y="2362200"/>
            <a:ext cx="9677400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4000" b="1" dirty="0">
                <a:latin typeface="Times New Roman" panose="02020603050405020304" pitchFamily="18" charset="0"/>
              </a:rPr>
              <a:t>2 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原码</a:t>
            </a:r>
            <a:r>
              <a:rPr lang="zh-CN" altLang="en-US" sz="4000" b="1" dirty="0">
                <a:solidFill>
                  <a:srgbClr val="FFFF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不恢复余数法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zh-CN" altLang="en-US" sz="4000" b="1" dirty="0">
                <a:solidFill>
                  <a:srgbClr val="FFFF00"/>
                </a:solidFill>
                <a:highlight>
                  <a:srgbClr val="FF0000"/>
                </a:highlight>
                <a:latin typeface="Times New Roman" panose="02020603050405020304" pitchFamily="18" charset="0"/>
                <a:ea typeface="黑体" panose="02010609060101010101" pitchFamily="49" charset="-122"/>
              </a:rPr>
              <a:t>加减交替法</a:t>
            </a:r>
            <a:r>
              <a:rPr lang="zh-CN" altLang="en-US" sz="40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  <a:endParaRPr lang="zh-CN" altLang="en-US" sz="40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算法分析</a:t>
            </a:r>
            <a:endParaRPr lang="zh-CN" altLang="en-US" sz="4000" b="1" dirty="0">
              <a:latin typeface="宋体" panose="0201060003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第二步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-B=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’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&lt;0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第三步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’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+B=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2(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恢复余数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第四步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-B=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16"/>
          <p:cNvSpPr txBox="1"/>
          <p:nvPr/>
        </p:nvSpPr>
        <p:spPr>
          <a:xfrm>
            <a:off x="1371600" y="5730875"/>
            <a:ext cx="4267200" cy="1127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-B=2(</a:t>
            </a: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’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+B)-B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=2</a:t>
            </a: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solidFill>
                  <a:schemeClr val="fol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’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+B=</a:t>
            </a: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AutoShape 18"/>
          <p:cNvSpPr/>
          <p:nvPr/>
        </p:nvSpPr>
        <p:spPr>
          <a:xfrm>
            <a:off x="5105400" y="3886200"/>
            <a:ext cx="152400" cy="2895600"/>
          </a:xfrm>
          <a:prstGeom prst="rightBrace">
            <a:avLst>
              <a:gd name="adj1" fmla="val 158333"/>
              <a:gd name="adj2" fmla="val 50000"/>
            </a:avLst>
          </a:prstGeom>
          <a:noFill/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" name="Text Box 19"/>
          <p:cNvSpPr txBox="1"/>
          <p:nvPr/>
        </p:nvSpPr>
        <p:spPr>
          <a:xfrm>
            <a:off x="5334000" y="3733800"/>
            <a:ext cx="4419600" cy="1597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第二步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-B=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&lt;0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第三步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:2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+B=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不恢复余数</a:t>
            </a:r>
            <a:r>
              <a:rPr lang="en-US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b="1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24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charRg st="24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31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charRg st="31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charRg st="47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17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>
                                            <p:txEl>
                                              <p:charRg st="17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>
                                            <p:txEl>
                                              <p:charRg st="17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>
                                            <p:txEl>
                                              <p:charRg st="17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>
                                            <p:txEl>
                                              <p:charRg st="17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15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4">
                                            <p:txEl>
                                              <p:charRg st="15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28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charRg st="28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 build="p"/>
      <p:bldP spid="12" grpId="0" build="p"/>
      <p:bldP spid="13" grpId="0" bldLvl="0" animBg="1"/>
      <p:bldP spid="1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灯片编号占位符 1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152400"/>
            <a:ext cx="7924800" cy="1127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</a:t>
            </a:r>
            <a:endParaRPr lang="zh-CN" altLang="en-US" sz="4000" b="1" dirty="0">
              <a:latin typeface="宋体" panose="02010600030101010101" pitchFamily="2" charset="-122"/>
            </a:endParaRPr>
          </a:p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4000" b="1" dirty="0">
                <a:latin typeface="宋体" panose="02010600030101010101" pitchFamily="2" charset="-122"/>
              </a:rPr>
              <a:t>  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=2</a:t>
            </a:r>
            <a:r>
              <a:rPr lang="en-US" altLang="zh-CN" sz="40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+(1-2Q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)Y</a:t>
            </a:r>
            <a:endParaRPr lang="en-US" altLang="zh-CN" sz="4000" b="1" dirty="0">
              <a:solidFill>
                <a:schemeClr val="folHlink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0" y="1371600"/>
            <a:ext cx="7620000" cy="11350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正，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i+1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步作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-Y</a:t>
            </a: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负，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zh-CN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0，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i+1</a:t>
            </a:r>
            <a:r>
              <a:rPr lang="zh-CN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步作</a:t>
            </a:r>
            <a:r>
              <a:rPr lang="zh-CN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+Y</a:t>
            </a:r>
            <a:r>
              <a:rPr lang="zh-CN" altLang="en-US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32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6"/>
          <p:cNvSpPr txBox="1"/>
          <p:nvPr/>
        </p:nvSpPr>
        <p:spPr>
          <a:xfrm>
            <a:off x="0" y="2743200"/>
            <a:ext cx="32004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实例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9"/>
          <p:cNvSpPr txBox="1"/>
          <p:nvPr/>
        </p:nvSpPr>
        <p:spPr>
          <a:xfrm>
            <a:off x="0" y="4419600"/>
            <a:ext cx="62484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初值：</a:t>
            </a: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A= X = 00.10110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10"/>
          <p:cNvSpPr txBox="1"/>
          <p:nvPr/>
        </p:nvSpPr>
        <p:spPr>
          <a:xfrm>
            <a:off x="0" y="5029200"/>
            <a:ext cx="54864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B= Y = 00.11111  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11"/>
          <p:cNvSpPr txBox="1"/>
          <p:nvPr/>
        </p:nvSpPr>
        <p:spPr>
          <a:xfrm>
            <a:off x="0" y="6172200"/>
            <a:ext cx="55626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C= Q = 0.00000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Line 12"/>
          <p:cNvSpPr/>
          <p:nvPr/>
        </p:nvSpPr>
        <p:spPr>
          <a:xfrm>
            <a:off x="1828800" y="4419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" name="Line 13"/>
          <p:cNvSpPr/>
          <p:nvPr/>
        </p:nvSpPr>
        <p:spPr>
          <a:xfrm>
            <a:off x="2209800" y="44196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" name="Text Box 14"/>
          <p:cNvSpPr txBox="1"/>
          <p:nvPr/>
        </p:nvSpPr>
        <p:spPr>
          <a:xfrm>
            <a:off x="838200" y="5562600"/>
            <a:ext cx="44196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 -B=11.00001</a:t>
            </a:r>
            <a:endParaRPr lang="en-US" altLang="zh-CN" sz="3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Line 15"/>
          <p:cNvSpPr/>
          <p:nvPr/>
        </p:nvSpPr>
        <p:spPr>
          <a:xfrm>
            <a:off x="1828800" y="50292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4" name="Line 16"/>
          <p:cNvSpPr/>
          <p:nvPr/>
        </p:nvSpPr>
        <p:spPr>
          <a:xfrm>
            <a:off x="2209800" y="50292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5" name="Line 17"/>
          <p:cNvSpPr/>
          <p:nvPr/>
        </p:nvSpPr>
        <p:spPr>
          <a:xfrm>
            <a:off x="1828800" y="61722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6" name="Line 18"/>
          <p:cNvSpPr/>
          <p:nvPr/>
        </p:nvSpPr>
        <p:spPr>
          <a:xfrm>
            <a:off x="2209800" y="6172200"/>
            <a:ext cx="0" cy="3048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5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7" grpId="0"/>
      <p:bldP spid="8" grpId="0"/>
      <p:bldP spid="9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1"/>
          <p:cNvSpPr txBox="1">
            <a:spLocks noGrp="1"/>
          </p:cNvSpPr>
          <p:nvPr/>
        </p:nvSpPr>
        <p:spPr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zh-CN" altLang="en-US" sz="1400" b="1" dirty="0">
                <a:solidFill>
                  <a:schemeClr val="tx2"/>
                </a:solidFill>
              </a:rPr>
            </a:fld>
            <a:r>
              <a:rPr lang="en-US" altLang="zh-CN" sz="1400" b="1" dirty="0">
                <a:solidFill>
                  <a:schemeClr val="tx2"/>
                </a:solidFill>
              </a:rPr>
              <a:t>/34</a:t>
            </a:r>
            <a:endParaRPr lang="en-US" altLang="zh-CN" sz="1400" b="1" dirty="0">
              <a:solidFill>
                <a:schemeClr val="tx2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8763000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步数  条件  操作    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A          C   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810000" y="533400"/>
            <a:ext cx="5334000" cy="42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00.10110     0.00000</a:t>
            </a:r>
            <a:r>
              <a:rPr lang="en-US" altLang="zh-CN" sz="36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28600" y="9144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524000" y="1752600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为正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2743200" y="12954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352800" y="838200"/>
            <a:ext cx="3048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01.01100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Line 8"/>
          <p:cNvSpPr/>
          <p:nvPr/>
        </p:nvSpPr>
        <p:spPr>
          <a:xfrm>
            <a:off x="3810000" y="18288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" name="Text Box 9"/>
          <p:cNvSpPr txBox="1"/>
          <p:nvPr/>
        </p:nvSpPr>
        <p:spPr>
          <a:xfrm>
            <a:off x="3581400" y="1295400"/>
            <a:ext cx="2590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+11.00001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Line 10"/>
          <p:cNvSpPr/>
          <p:nvPr/>
        </p:nvSpPr>
        <p:spPr>
          <a:xfrm>
            <a:off x="2819400" y="12192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2" name="Text Box 11"/>
          <p:cNvSpPr txBox="1"/>
          <p:nvPr/>
        </p:nvSpPr>
        <p:spPr>
          <a:xfrm>
            <a:off x="3810000" y="17526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00.01101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6781800" y="1752600"/>
            <a:ext cx="1905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0.0000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228600" y="2209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524000" y="3124200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为负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2743200" y="2667000"/>
            <a:ext cx="762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3810000" y="22098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00.11010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Line 17"/>
          <p:cNvSpPr/>
          <p:nvPr/>
        </p:nvSpPr>
        <p:spPr>
          <a:xfrm>
            <a:off x="3810000" y="32004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" name="Text Box 18"/>
          <p:cNvSpPr txBox="1"/>
          <p:nvPr/>
        </p:nvSpPr>
        <p:spPr>
          <a:xfrm>
            <a:off x="3581400" y="26670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+11.00001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Text Box 19"/>
          <p:cNvSpPr txBox="1"/>
          <p:nvPr/>
        </p:nvSpPr>
        <p:spPr>
          <a:xfrm>
            <a:off x="3810000" y="3124200"/>
            <a:ext cx="2209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11.11011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Line 20"/>
          <p:cNvSpPr/>
          <p:nvPr/>
        </p:nvSpPr>
        <p:spPr>
          <a:xfrm>
            <a:off x="2819400" y="25908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2" name="Text Box 21"/>
          <p:cNvSpPr txBox="1"/>
          <p:nvPr/>
        </p:nvSpPr>
        <p:spPr>
          <a:xfrm>
            <a:off x="6781800" y="3124200"/>
            <a:ext cx="2362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0.000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228600" y="35814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24"/>
          <p:cNvSpPr txBox="1"/>
          <p:nvPr/>
        </p:nvSpPr>
        <p:spPr>
          <a:xfrm>
            <a:off x="2743200" y="40386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" name="Text Box 25"/>
          <p:cNvSpPr txBox="1"/>
          <p:nvPr/>
        </p:nvSpPr>
        <p:spPr>
          <a:xfrm>
            <a:off x="3581400" y="4038600"/>
            <a:ext cx="3124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+00.11111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Line 26"/>
          <p:cNvSpPr/>
          <p:nvPr/>
        </p:nvSpPr>
        <p:spPr>
          <a:xfrm>
            <a:off x="3810000" y="45720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" name="Line 28"/>
          <p:cNvSpPr/>
          <p:nvPr/>
        </p:nvSpPr>
        <p:spPr>
          <a:xfrm>
            <a:off x="2819400" y="3962400"/>
            <a:ext cx="533400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8" name="Text Box 29"/>
          <p:cNvSpPr txBox="1"/>
          <p:nvPr/>
        </p:nvSpPr>
        <p:spPr>
          <a:xfrm>
            <a:off x="3810000" y="3581400"/>
            <a:ext cx="2514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11.10110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Text Box 30"/>
          <p:cNvSpPr txBox="1"/>
          <p:nvPr/>
        </p:nvSpPr>
        <p:spPr>
          <a:xfrm>
            <a:off x="6781800" y="4495800"/>
            <a:ext cx="1981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0.00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" name="Text Box 32"/>
          <p:cNvSpPr txBox="1"/>
          <p:nvPr/>
        </p:nvSpPr>
        <p:spPr>
          <a:xfrm>
            <a:off x="1600200" y="4572000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为正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" name="Text Box 36"/>
          <p:cNvSpPr txBox="1"/>
          <p:nvPr/>
        </p:nvSpPr>
        <p:spPr>
          <a:xfrm>
            <a:off x="3810000" y="44958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00.10101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Text Box 37"/>
          <p:cNvSpPr txBox="1"/>
          <p:nvPr/>
        </p:nvSpPr>
        <p:spPr>
          <a:xfrm>
            <a:off x="8077200" y="30163"/>
            <a:ext cx="838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" name="Text Box 38"/>
          <p:cNvSpPr txBox="1"/>
          <p:nvPr/>
        </p:nvSpPr>
        <p:spPr>
          <a:xfrm>
            <a:off x="1524000" y="304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r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" name="Text Box 39"/>
          <p:cNvSpPr txBox="1"/>
          <p:nvPr/>
        </p:nvSpPr>
        <p:spPr>
          <a:xfrm>
            <a:off x="8458200" y="1981200"/>
            <a:ext cx="11430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3200" b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" name="Text Box 41"/>
          <p:cNvSpPr txBox="1"/>
          <p:nvPr/>
        </p:nvSpPr>
        <p:spPr>
          <a:xfrm>
            <a:off x="8382000" y="4724400"/>
            <a:ext cx="12192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3200" b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" name="Text Box 42"/>
          <p:cNvSpPr txBox="1"/>
          <p:nvPr/>
        </p:nvSpPr>
        <p:spPr>
          <a:xfrm>
            <a:off x="5867400" y="3810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Text Box 43"/>
          <p:cNvSpPr txBox="1"/>
          <p:nvPr/>
        </p:nvSpPr>
        <p:spPr>
          <a:xfrm>
            <a:off x="5867400" y="838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Text Box 44"/>
          <p:cNvSpPr txBox="1"/>
          <p:nvPr/>
        </p:nvSpPr>
        <p:spPr>
          <a:xfrm>
            <a:off x="5867400" y="17526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Text Box 45"/>
          <p:cNvSpPr txBox="1"/>
          <p:nvPr/>
        </p:nvSpPr>
        <p:spPr>
          <a:xfrm>
            <a:off x="5867400" y="22860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" name="Text Box 46"/>
          <p:cNvSpPr txBox="1"/>
          <p:nvPr/>
        </p:nvSpPr>
        <p:spPr>
          <a:xfrm>
            <a:off x="5867400" y="3124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2" name="Text Box 48"/>
          <p:cNvSpPr txBox="1"/>
          <p:nvPr/>
        </p:nvSpPr>
        <p:spPr>
          <a:xfrm>
            <a:off x="5867400" y="36576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" name="Text Box 49"/>
          <p:cNvSpPr txBox="1"/>
          <p:nvPr/>
        </p:nvSpPr>
        <p:spPr>
          <a:xfrm>
            <a:off x="5867400" y="44958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4" name="Text Box 51"/>
          <p:cNvSpPr txBox="1"/>
          <p:nvPr/>
        </p:nvSpPr>
        <p:spPr>
          <a:xfrm>
            <a:off x="228600" y="50292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" name="Text Box 52"/>
          <p:cNvSpPr txBox="1"/>
          <p:nvPr/>
        </p:nvSpPr>
        <p:spPr>
          <a:xfrm>
            <a:off x="1524000" y="5867400"/>
            <a:ext cx="106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为正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6" name="Text Box 53"/>
          <p:cNvSpPr txBox="1"/>
          <p:nvPr/>
        </p:nvSpPr>
        <p:spPr>
          <a:xfrm>
            <a:off x="2743200" y="54102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Text Box 54"/>
          <p:cNvSpPr txBox="1"/>
          <p:nvPr/>
        </p:nvSpPr>
        <p:spPr>
          <a:xfrm>
            <a:off x="3352800" y="4953000"/>
            <a:ext cx="3048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01.01010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Line 55"/>
          <p:cNvSpPr/>
          <p:nvPr/>
        </p:nvSpPr>
        <p:spPr>
          <a:xfrm>
            <a:off x="3810000" y="59436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9" name="Text Box 56"/>
          <p:cNvSpPr txBox="1"/>
          <p:nvPr/>
        </p:nvSpPr>
        <p:spPr>
          <a:xfrm>
            <a:off x="3581400" y="5410200"/>
            <a:ext cx="2590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+11.00001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Line 57"/>
          <p:cNvSpPr/>
          <p:nvPr/>
        </p:nvSpPr>
        <p:spPr>
          <a:xfrm>
            <a:off x="2819400" y="53340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51" name="Text Box 58"/>
          <p:cNvSpPr txBox="1"/>
          <p:nvPr/>
        </p:nvSpPr>
        <p:spPr>
          <a:xfrm>
            <a:off x="3810000" y="58674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00.01011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" name="Text Box 59"/>
          <p:cNvSpPr txBox="1"/>
          <p:nvPr/>
        </p:nvSpPr>
        <p:spPr>
          <a:xfrm>
            <a:off x="6781800" y="5867400"/>
            <a:ext cx="1905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4" name="Text Box 61"/>
          <p:cNvSpPr txBox="1"/>
          <p:nvPr/>
        </p:nvSpPr>
        <p:spPr>
          <a:xfrm>
            <a:off x="5867400" y="49530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5" name="Text Box 62"/>
          <p:cNvSpPr txBox="1"/>
          <p:nvPr/>
        </p:nvSpPr>
        <p:spPr>
          <a:xfrm>
            <a:off x="5867400" y="58674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500"/>
                            </p:stCondLst>
                            <p:childTnLst>
                              <p:par>
                                <p:cTn id="1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3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5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00"/>
                            </p:stCondLst>
                            <p:childTnLst>
                              <p:par>
                                <p:cTn id="1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500"/>
                            </p:stCondLst>
                            <p:childTnLst>
                              <p:par>
                                <p:cTn id="1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0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44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00"/>
                            </p:stCondLst>
                            <p:childTnLst>
                              <p:par>
                                <p:cTn id="2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4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500"/>
                            </p:stCondLst>
                            <p:childTnLst>
                              <p:par>
                                <p:cTn id="2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4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6" grpId="0" build="p"/>
      <p:bldP spid="7" grpId="0" build="p"/>
      <p:bldP spid="8" grpId="0"/>
      <p:bldP spid="10" grpId="0"/>
      <p:bldP spid="12" grpId="0"/>
      <p:bldP spid="13" grpId="0"/>
      <p:bldP spid="14" grpId="0" build="p"/>
      <p:bldP spid="15" grpId="0" build="p"/>
      <p:bldP spid="16" grpId="0" build="p"/>
      <p:bldP spid="17" grpId="0"/>
      <p:bldP spid="19" grpId="0"/>
      <p:bldP spid="20" grpId="0"/>
      <p:bldP spid="22" grpId="0"/>
      <p:bldP spid="23" grpId="0" build="p"/>
      <p:bldP spid="24" grpId="0" build="p"/>
      <p:bldP spid="25" grpId="0" advAuto="1000" build="p"/>
      <p:bldP spid="28" grpId="0"/>
      <p:bldP spid="29" grpId="0"/>
      <p:bldP spid="30" grpId="0" build="p"/>
      <p:bldP spid="31" grpId="0"/>
      <p:bldP spid="32" grpId="0"/>
      <p:bldP spid="33" grpId="0"/>
      <p:bldP spid="34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 build="p"/>
      <p:bldP spid="45" grpId="0" build="p"/>
      <p:bldP spid="46" grpId="0" build="p"/>
      <p:bldP spid="47" grpId="0"/>
      <p:bldP spid="49" grpId="0"/>
      <p:bldP spid="51" grpId="0"/>
      <p:bldP spid="52" grpId="0"/>
      <p:bldP spid="54" grpId="0"/>
      <p:bldP spid="5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9" name="Text Box 2"/>
          <p:cNvSpPr txBox="1"/>
          <p:nvPr/>
        </p:nvSpPr>
        <p:spPr>
          <a:xfrm>
            <a:off x="0" y="0"/>
            <a:ext cx="8763000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步数  条件  操作    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A          C   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60" name="Text Box 3"/>
          <p:cNvSpPr txBox="1"/>
          <p:nvPr/>
        </p:nvSpPr>
        <p:spPr>
          <a:xfrm>
            <a:off x="3810000" y="533400"/>
            <a:ext cx="5334000" cy="422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00.01011     0.0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</a:t>
            </a:r>
            <a:r>
              <a:rPr lang="en-US" altLang="zh-CN" sz="3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 Box 13"/>
          <p:cNvSpPr txBox="1"/>
          <p:nvPr/>
        </p:nvSpPr>
        <p:spPr>
          <a:xfrm>
            <a:off x="228600" y="22098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 Box 14"/>
          <p:cNvSpPr txBox="1"/>
          <p:nvPr/>
        </p:nvSpPr>
        <p:spPr>
          <a:xfrm>
            <a:off x="1524000" y="1828800"/>
            <a:ext cx="99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为负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Line 17"/>
          <p:cNvSpPr/>
          <p:nvPr/>
        </p:nvSpPr>
        <p:spPr>
          <a:xfrm>
            <a:off x="3810000" y="27432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" name="Text Box 23"/>
          <p:cNvSpPr txBox="1"/>
          <p:nvPr/>
        </p:nvSpPr>
        <p:spPr>
          <a:xfrm>
            <a:off x="2057400" y="2743200"/>
            <a:ext cx="1752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恢复余数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24"/>
          <p:cNvSpPr txBox="1"/>
          <p:nvPr/>
        </p:nvSpPr>
        <p:spPr>
          <a:xfrm>
            <a:off x="2743200" y="2209800"/>
            <a:ext cx="914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25"/>
          <p:cNvSpPr txBox="1"/>
          <p:nvPr/>
        </p:nvSpPr>
        <p:spPr>
          <a:xfrm>
            <a:off x="3581400" y="2209800"/>
            <a:ext cx="3124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+00.11111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Text Box 27"/>
          <p:cNvSpPr txBox="1"/>
          <p:nvPr/>
        </p:nvSpPr>
        <p:spPr>
          <a:xfrm>
            <a:off x="3810000" y="2667000"/>
            <a:ext cx="24384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00.10110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28"/>
          <p:cNvSpPr txBox="1"/>
          <p:nvPr/>
        </p:nvSpPr>
        <p:spPr>
          <a:xfrm>
            <a:off x="838200" y="3429000"/>
            <a:ext cx="35052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Q= -0.10110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69" name="Text Box 29"/>
          <p:cNvSpPr txBox="1"/>
          <p:nvPr/>
        </p:nvSpPr>
        <p:spPr>
          <a:xfrm>
            <a:off x="8077200" y="30163"/>
            <a:ext cx="838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70" name="Text Box 32"/>
          <p:cNvSpPr txBox="1"/>
          <p:nvPr/>
        </p:nvSpPr>
        <p:spPr>
          <a:xfrm>
            <a:off x="8382000" y="533400"/>
            <a:ext cx="7620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6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Q</a:t>
            </a:r>
            <a:r>
              <a:rPr lang="en-US" altLang="zh-CN" sz="28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en-US" altLang="zh-CN" sz="3200" b="1" dirty="0">
                <a:solidFill>
                  <a:srgbClr val="FF99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en-US" altLang="zh-CN" sz="3200" b="1" dirty="0">
              <a:solidFill>
                <a:srgbClr val="FF99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71" name="Text Box 33"/>
          <p:cNvSpPr txBox="1"/>
          <p:nvPr/>
        </p:nvSpPr>
        <p:spPr>
          <a:xfrm>
            <a:off x="5867400" y="3810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" name="Text Box 4"/>
          <p:cNvSpPr txBox="1"/>
          <p:nvPr/>
        </p:nvSpPr>
        <p:spPr>
          <a:xfrm>
            <a:off x="228600" y="9144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5073" name="Text Box 5"/>
          <p:cNvSpPr txBox="1"/>
          <p:nvPr/>
        </p:nvSpPr>
        <p:spPr>
          <a:xfrm>
            <a:off x="1524000" y="395288"/>
            <a:ext cx="914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为正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Text Box 6"/>
          <p:cNvSpPr txBox="1"/>
          <p:nvPr/>
        </p:nvSpPr>
        <p:spPr>
          <a:xfrm>
            <a:off x="2743200" y="1295400"/>
            <a:ext cx="106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-B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" name="Text Box 7"/>
          <p:cNvSpPr txBox="1"/>
          <p:nvPr/>
        </p:nvSpPr>
        <p:spPr>
          <a:xfrm>
            <a:off x="3352800" y="838200"/>
            <a:ext cx="3048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  00.10110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Line 8"/>
          <p:cNvSpPr/>
          <p:nvPr/>
        </p:nvSpPr>
        <p:spPr>
          <a:xfrm>
            <a:off x="3810000" y="1828800"/>
            <a:ext cx="22860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1" name="Text Box 9"/>
          <p:cNvSpPr txBox="1"/>
          <p:nvPr/>
        </p:nvSpPr>
        <p:spPr>
          <a:xfrm>
            <a:off x="3581400" y="1295400"/>
            <a:ext cx="2590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+11.00001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Line 10"/>
          <p:cNvSpPr/>
          <p:nvPr/>
        </p:nvSpPr>
        <p:spPr>
          <a:xfrm>
            <a:off x="2819400" y="1219200"/>
            <a:ext cx="5334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3" name="Text Box 11"/>
          <p:cNvSpPr txBox="1"/>
          <p:nvPr/>
        </p:nvSpPr>
        <p:spPr>
          <a:xfrm>
            <a:off x="3810000" y="1752600"/>
            <a:ext cx="2286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11.10111</a:t>
            </a:r>
            <a:endParaRPr lang="en-US" altLang="zh-CN" sz="3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" name="Text Box 12"/>
          <p:cNvSpPr txBox="1"/>
          <p:nvPr/>
        </p:nvSpPr>
        <p:spPr>
          <a:xfrm>
            <a:off x="6781800" y="1752600"/>
            <a:ext cx="19050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0.</a:t>
            </a:r>
            <a:r>
              <a:rPr lang="en-US" altLang="zh-CN" sz="3600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10110</a:t>
            </a:r>
            <a:endParaRPr lang="en-US" altLang="zh-CN" sz="3600" b="1" dirty="0">
              <a:solidFill>
                <a:schemeClr val="fol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 Box 34"/>
          <p:cNvSpPr txBox="1"/>
          <p:nvPr/>
        </p:nvSpPr>
        <p:spPr>
          <a:xfrm>
            <a:off x="5867400" y="8382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Text Box 37"/>
          <p:cNvSpPr txBox="1"/>
          <p:nvPr/>
        </p:nvSpPr>
        <p:spPr>
          <a:xfrm>
            <a:off x="5867400" y="18288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en-US" altLang="zh-CN" sz="2800" b="1" dirty="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’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Text Box 38"/>
          <p:cNvSpPr txBox="1"/>
          <p:nvPr/>
        </p:nvSpPr>
        <p:spPr>
          <a:xfrm>
            <a:off x="5867400" y="2667000"/>
            <a:ext cx="838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2800" b="1" dirty="0">
                <a:solidFill>
                  <a:schemeClr val="accent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3600" b="1" dirty="0">
              <a:solidFill>
                <a:schemeClr val="accent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39"/>
          <p:cNvGrpSpPr/>
          <p:nvPr/>
        </p:nvGrpSpPr>
        <p:grpSpPr>
          <a:xfrm>
            <a:off x="838200" y="3962400"/>
            <a:ext cx="4114800" cy="717550"/>
            <a:chOff x="144" y="3216"/>
            <a:chExt cx="2592" cy="452"/>
          </a:xfrm>
        </p:grpSpPr>
        <p:sp>
          <p:nvSpPr>
            <p:cNvPr id="45092" name="Text Box 40"/>
            <p:cNvSpPr txBox="1"/>
            <p:nvPr/>
          </p:nvSpPr>
          <p:spPr>
            <a:xfrm>
              <a:off x="144" y="3264"/>
              <a:ext cx="259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600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R=  0.10110</a:t>
              </a:r>
              <a:r>
                <a:rPr lang="en-US" altLang="zh-CN" sz="3600" b="1" dirty="0">
                  <a:solidFill>
                    <a:schemeClr val="folHlink"/>
                  </a:solidFill>
                  <a:latin typeface="宋体" panose="02010600030101010101" pitchFamily="2" charset="-122"/>
                </a:rPr>
                <a:t>×2</a:t>
              </a:r>
              <a:endParaRPr lang="en-US" altLang="zh-CN" sz="3600" b="1" dirty="0">
                <a:solidFill>
                  <a:schemeClr val="folHlink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5093" name="Text Box 41"/>
            <p:cNvSpPr txBox="1"/>
            <p:nvPr/>
          </p:nvSpPr>
          <p:spPr>
            <a:xfrm>
              <a:off x="2208" y="3216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solidFill>
                    <a:schemeClr val="folHlin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-5</a:t>
              </a:r>
              <a:endParaRPr lang="en-US" altLang="zh-CN" b="1" dirty="0">
                <a:solidFill>
                  <a:schemeClr val="folHlin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" name="Group 44"/>
          <p:cNvGrpSpPr/>
          <p:nvPr/>
        </p:nvGrpSpPr>
        <p:grpSpPr>
          <a:xfrm>
            <a:off x="838200" y="4572000"/>
            <a:ext cx="5715000" cy="1143000"/>
            <a:chOff x="144" y="3600"/>
            <a:chExt cx="3600" cy="720"/>
          </a:xfrm>
        </p:grpSpPr>
        <p:sp>
          <p:nvSpPr>
            <p:cNvPr id="45087" name="Text Box 45"/>
            <p:cNvSpPr txBox="1"/>
            <p:nvPr/>
          </p:nvSpPr>
          <p:spPr>
            <a:xfrm>
              <a:off x="144" y="3792"/>
              <a:ext cx="2016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X/Y=-0.10110+</a:t>
              </a:r>
              <a:endParaRPr lang="en-US" altLang="zh-CN" sz="3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88" name="Line 46"/>
            <p:cNvSpPr/>
            <p:nvPr/>
          </p:nvSpPr>
          <p:spPr>
            <a:xfrm>
              <a:off x="1920" y="3984"/>
              <a:ext cx="182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9" name="Text Box 47"/>
            <p:cNvSpPr txBox="1"/>
            <p:nvPr/>
          </p:nvSpPr>
          <p:spPr>
            <a:xfrm>
              <a:off x="1920" y="3648"/>
              <a:ext cx="168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0.10110</a:t>
              </a:r>
              <a:r>
                <a:rPr lang="en-US" altLang="zh-CN" sz="3200" b="1" dirty="0">
                  <a:latin typeface="宋体" panose="02010600030101010101" pitchFamily="2" charset="-122"/>
                </a:rPr>
                <a:t>×2</a:t>
              </a:r>
              <a:endParaRPr lang="en-US" altLang="zh-CN" sz="3200" b="1" dirty="0">
                <a:latin typeface="宋体" panose="02010600030101010101" pitchFamily="2" charset="-122"/>
              </a:endParaRPr>
            </a:p>
          </p:txBody>
        </p:sp>
        <p:sp>
          <p:nvSpPr>
            <p:cNvPr id="45090" name="Text Box 48"/>
            <p:cNvSpPr txBox="1"/>
            <p:nvPr/>
          </p:nvSpPr>
          <p:spPr>
            <a:xfrm>
              <a:off x="3360" y="3600"/>
              <a:ext cx="38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-5</a:t>
              </a:r>
              <a:endParaRPr lang="en-US" altLang="zh-CN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5091" name="Text Box 49"/>
            <p:cNvSpPr txBox="1"/>
            <p:nvPr/>
          </p:nvSpPr>
          <p:spPr>
            <a:xfrm>
              <a:off x="1920" y="3955"/>
              <a:ext cx="1680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32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 -0.11111</a:t>
              </a:r>
              <a:endParaRPr lang="en-US" altLang="zh-CN" sz="32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>
                                            <p:txEl>
                                              <p:charRg st="0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000"/>
                            </p:stCondLst>
                            <p:childTnLst>
                              <p:par>
                                <p:cTn id="7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2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8" grpId="0" advAuto="1000" build="p"/>
      <p:bldP spid="9" grpId="0" build="p"/>
      <p:bldP spid="10" grpId="0" advAuto="1000" build="p"/>
      <p:bldP spid="11" grpId="0"/>
      <p:bldP spid="12" grpId="0" build="p"/>
      <p:bldP spid="16" grpId="0" build="p"/>
      <p:bldP spid="18" grpId="0" build="p"/>
      <p:bldP spid="19" grpId="0"/>
      <p:bldP spid="21" grpId="0"/>
      <p:bldP spid="23" grpId="0"/>
      <p:bldP spid="24" grpId="0"/>
      <p:bldP spid="26" grpId="0"/>
      <p:bldP spid="27" grpId="0"/>
      <p:bldP spid="28" grpId="0"/>
    </p:bldLst>
  </p:timing>
</p:sld>
</file>

<file path=ppt/tags/tag1.xml><?xml version="1.0" encoding="utf-8"?>
<p:tagLst xmlns:p="http://schemas.openxmlformats.org/presentationml/2006/main">
  <p:tag name="commondata" val="eyJoZGlkIjoiM2NmY2U0MjQxMjVhMzViM2U2NDc0NTI2ZDMwMzBmZGIifQ==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1679</Words>
  <Application>WPS 演示</Application>
  <PresentationFormat>全屏显示(4:3)</PresentationFormat>
  <Paragraphs>434</Paragraphs>
  <Slides>9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黑体</vt:lpstr>
      <vt:lpstr>楷体_GB2312</vt:lpstr>
      <vt:lpstr>新宋体</vt:lpstr>
      <vt:lpstr>微软雅黑</vt:lpstr>
      <vt:lpstr>Arial Unicode MS</vt:lpstr>
      <vt:lpstr>BatangChe</vt:lpstr>
      <vt:lpstr>Malgun Gothic</vt:lpstr>
      <vt:lpstr>Symbol</vt:lpstr>
      <vt:lpstr>Soaring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001</dc:creator>
  <cp:lastModifiedBy>贝妈</cp:lastModifiedBy>
  <cp:revision>623</cp:revision>
  <dcterms:created xsi:type="dcterms:W3CDTF">2000-08-28T13:29:22Z</dcterms:created>
  <dcterms:modified xsi:type="dcterms:W3CDTF">2026-09-16T10:24:43Z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8819681363DF4FDDA7F273A5EE3D85E2_13</vt:lpwstr>
  </property>
</Properties>
</file>