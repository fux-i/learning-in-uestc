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16" r:id="rId3"/>
    <p:sldId id="373" r:id="rId5"/>
    <p:sldId id="317" r:id="rId6"/>
    <p:sldId id="318" r:id="rId7"/>
    <p:sldId id="319" r:id="rId8"/>
    <p:sldId id="320" r:id="rId9"/>
    <p:sldId id="374" r:id="rId10"/>
    <p:sldId id="375" r:id="rId11"/>
    <p:sldId id="381" r:id="rId12"/>
    <p:sldId id="376" r:id="rId13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0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FF"/>
    <a:srgbClr val="3333FF"/>
    <a:srgbClr val="FF9900"/>
    <a:srgbClr val="66CCFF"/>
    <a:srgbClr val="CC0099"/>
    <a:srgbClr val="9900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56"/>
  </p:normalViewPr>
  <p:slideViewPr>
    <p:cSldViewPr showGuides="1">
      <p:cViewPr varScale="1">
        <p:scale>
          <a:sx n="75" d="100"/>
          <a:sy n="75" d="100"/>
        </p:scale>
        <p:origin x="-702" y="-84"/>
      </p:cViewPr>
      <p:guideLst>
        <p:guide orient="horz" pos="2940"/>
        <p:guide pos="21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3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endParaRPr lang="zh-CN" altLang="en-US" sz="1200" dirty="0"/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52" name="幻灯片图像占位符 2051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文本占位符 205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单击以编辑母版文本样式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endParaRPr lang="zh-CN" altLang="en-US" sz="1200" dirty="0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30050" name="幻灯片图像占位符 130049"/>
          <p:cNvSpPr/>
          <p:nvPr>
            <p:ph type="sldImg"/>
          </p:nvPr>
        </p:nvSpPr>
        <p:spPr/>
      </p:sp>
      <p:sp>
        <p:nvSpPr>
          <p:cNvPr id="130051" name="文本占位符 130050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32098" name="幻灯片图像占位符 132097"/>
          <p:cNvSpPr/>
          <p:nvPr>
            <p:ph type="sldImg"/>
          </p:nvPr>
        </p:nvSpPr>
        <p:spPr/>
      </p:sp>
      <p:sp>
        <p:nvSpPr>
          <p:cNvPr id="132099" name="文本占位符 132098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34146" name="幻灯片图像占位符 134145"/>
          <p:cNvSpPr/>
          <p:nvPr>
            <p:ph type="sldImg"/>
          </p:nvPr>
        </p:nvSpPr>
        <p:spPr/>
      </p:sp>
      <p:sp>
        <p:nvSpPr>
          <p:cNvPr id="134147" name="文本占位符 134146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36194" name="幻灯片图像占位符 136193"/>
          <p:cNvSpPr/>
          <p:nvPr>
            <p:ph type="sldImg"/>
          </p:nvPr>
        </p:nvSpPr>
        <p:spPr/>
      </p:sp>
      <p:sp>
        <p:nvSpPr>
          <p:cNvPr id="136195" name="文本占位符 136194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38242" name="幻灯片图像占位符 138241"/>
          <p:cNvSpPr/>
          <p:nvPr>
            <p:ph type="sldImg"/>
          </p:nvPr>
        </p:nvSpPr>
        <p:spPr/>
      </p:sp>
      <p:sp>
        <p:nvSpPr>
          <p:cNvPr id="138243" name="文本占位符 13824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242690" name="组合 242689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242691" name="任意多边形 242690"/>
            <p:cNvSpPr/>
            <p:nvPr/>
          </p:nvSpPr>
          <p:spPr>
            <a:xfrm>
              <a:off x="2061" y="1707"/>
              <a:ext cx="3699" cy="2613"/>
            </a:xfrm>
            <a:custGeom>
              <a:avLst/>
              <a:gdLst/>
              <a:ahLst/>
              <a:cxnLst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2692" name="任意多边形 242691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>
                <a:gd name="txL" fmla="*/ 0 w 21600"/>
                <a:gd name="txT" fmla="*/ 0 h 21231"/>
                <a:gd name="txR" fmla="*/ 21600 w 21600"/>
                <a:gd name="txB" fmla="*/ 21231 h 21231"/>
              </a:gdLst>
              <a:ahLst/>
              <a:cxnLst>
                <a:cxn ang="270">
                  <a:pos x="3977" y="0"/>
                </a:cxn>
                <a:cxn ang="0">
                  <a:pos x="21600" y="21231"/>
                </a:cxn>
                <a:cxn ang="180">
                  <a:pos x="0" y="21231"/>
                </a:cxn>
              </a:cxnLst>
              <a:rect l="txL" t="txT" r="txR" b="txB"/>
              <a:pathLst>
                <a:path w="21600" h="21231" fill="none">
                  <a:moveTo>
                    <a:pt x="3977" y="0"/>
                  </a:moveTo>
                  <a:arcTo wR="21600" hR="21600" stAng="-4763417" swAng="4763417"/>
                </a:path>
                <a:path w="21600" h="21231" stroke="0">
                  <a:moveTo>
                    <a:pt x="3977" y="0"/>
                  </a:moveTo>
                  <a:arcTo wR="21600" hR="21600" stAng="-4763417" swAng="4763417"/>
                  <a:lnTo>
                    <a:pt x="0" y="21231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2693" name="标题 242692"/>
          <p:cNvSpPr>
            <a:spLocks noGrp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2694" name="副标题 242693"/>
          <p:cNvSpPr>
            <a:spLocks noGrp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0" lvl="0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tx1"/>
              </a:buClr>
              <a:buSzPct val="90000"/>
              <a:buFontTx/>
              <a:buNone/>
              <a:defRPr/>
            </a:lvl2pPr>
            <a:lvl3pPr marL="914400" lvl="2" indent="0" algn="ctr"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tx1"/>
              </a:buClr>
              <a:buSzTx/>
              <a:buFontTx/>
              <a:buNone/>
              <a:defRPr/>
            </a:lvl4pPr>
            <a:lvl5pPr marL="1828800" lvl="4" indent="0" algn="ctr">
              <a:buClr>
                <a:schemeClr val="accent1"/>
              </a:buClr>
              <a:buSzTx/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2695" name="日期占位符 242694"/>
          <p:cNvSpPr>
            <a:spLocks noGrp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>
              <a:defRPr sz="1400"/>
            </a:lvl1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2696" name="页脚占位符 24269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algn="ctr">
              <a:defRPr sz="1400"/>
            </a:lvl1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2697" name="灯片编号占位符 24269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algn="r">
              <a:defRPr sz="1400"/>
            </a:lvl1pPr>
          </a:lstStyle>
          <a:p>
            <a:pPr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241666" name="组合 241665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41667" name="任意多边形 241666"/>
            <p:cNvSpPr/>
            <p:nvPr/>
          </p:nvSpPr>
          <p:spPr>
            <a:xfrm>
              <a:off x="3394" y="999"/>
              <a:ext cx="2359" cy="3314"/>
            </a:xfrm>
            <a:custGeom>
              <a:avLst/>
              <a:gdLst/>
              <a:ahLst/>
              <a:cxnLst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1668" name="任意多边形 241667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1669" name="标题 241668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1670" name="日期占位符 241669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>
              <a:defRPr sz="1400"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1671" name="页脚占位符 241670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algn="ctr">
              <a:defRPr sz="1400"/>
            </a:lvl1pPr>
          </a:lstStyle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1672" name="灯片编号占位符 241671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1673" name="文本占位符 24167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effectLst>
            <a:outerShdw blurRad="38100" dist="38100" dir="2700000">
              <a:srgbClr val="C0C0C0"/>
            </a:outerShdw>
          </a:effectLst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90000"/>
        <a:buFontTx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Tx/>
        <a:buFontTx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5"/>
          <p:cNvSpPr txBox="1"/>
          <p:nvPr/>
        </p:nvSpPr>
        <p:spPr>
          <a:xfrm>
            <a:off x="-69215" y="116205"/>
            <a:ext cx="9166860" cy="5539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0563C1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4000" b="1" dirty="0">
                <a:solidFill>
                  <a:srgbClr val="0563C1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、补码一位乘法</a:t>
            </a:r>
            <a:endParaRPr lang="en-US" altLang="zh-CN" sz="4000" b="1" dirty="0">
              <a:solidFill>
                <a:srgbClr val="0563C1"/>
              </a:solidFill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操作数与结果均以补码表示，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连同符号位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一起，按相应算法运算。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）运算方法及关系式：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比较法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[XY]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[A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(Y</a:t>
            </a:r>
            <a:r>
              <a:rPr lang="en-US" altLang="zh-CN" sz="2800" b="1" baseline="-250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-Y</a:t>
            </a:r>
            <a:r>
              <a:rPr lang="en-US" altLang="zh-CN" sz="2800" b="1" baseline="-250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)[X]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endParaRPr lang="zh-CN" altLang="en-US" sz="28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注意：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为低位，</a:t>
            </a:r>
            <a:r>
              <a:rPr lang="en-US" altLang="zh-CN" sz="2800" b="1" dirty="0" err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 err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为高位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7" name="文本框 129026"/>
          <p:cNvSpPr txBox="1"/>
          <p:nvPr/>
        </p:nvSpPr>
        <p:spPr>
          <a:xfrm>
            <a:off x="0" y="0"/>
            <a:ext cx="7924800" cy="19996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补码一位乘法</a:t>
            </a:r>
            <a:endParaRPr lang="zh-CN" altLang="en-US" sz="4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4000" b="1" dirty="0"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算法分析</a:t>
            </a:r>
            <a:endParaRPr lang="zh-CN" altLang="en-US" sz="4000" b="1" dirty="0">
              <a:latin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4000" b="1" dirty="0">
                <a:latin typeface="宋体" panose="02010600030101010101" pitchFamily="2" charset="-122"/>
              </a:rPr>
              <a:t> 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3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.X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9031" name="文本框 129030"/>
          <p:cNvSpPr txBox="1"/>
          <p:nvPr/>
        </p:nvSpPr>
        <p:spPr>
          <a:xfrm>
            <a:off x="0" y="2286000"/>
            <a:ext cx="10134600" cy="3770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为正：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= 0.Y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(XY)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X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(0.Y</a:t>
            </a: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为负：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= 1.Y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(XY)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X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(0.Y</a:t>
            </a: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)+(-X)</a:t>
            </a:r>
            <a:r>
              <a:rPr lang="zh-CN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符号任意：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(XY)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X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(0.Y</a:t>
            </a: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)+(-X)</a:t>
            </a:r>
            <a:r>
              <a:rPr lang="zh-CN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9046" name="文本框 129045"/>
          <p:cNvSpPr txBox="1"/>
          <p:nvPr/>
        </p:nvSpPr>
        <p:spPr>
          <a:xfrm>
            <a:off x="6858000" y="6278563"/>
            <a:ext cx="1981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符号位</a:t>
            </a:r>
            <a:endParaRPr lang="zh-CN" altLang="en-US" sz="3200" b="1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9047" name="直接连接符 129046"/>
          <p:cNvSpPr/>
          <p:nvPr/>
        </p:nvSpPr>
        <p:spPr>
          <a:xfrm flipH="1">
            <a:off x="8077200" y="6019800"/>
            <a:ext cx="609600" cy="3048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1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charRg st="16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903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903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charRg st="2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9031">
                                            <p:txEl>
                                              <p:charRg st="2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9031">
                                            <p:txEl>
                                              <p:charRg st="2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charRg st="5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9031">
                                            <p:txEl>
                                              <p:charRg st="5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9031">
                                            <p:txEl>
                                              <p:charRg st="5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charRg st="8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9031">
                                            <p:txEl>
                                              <p:charRg st="8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9031">
                                            <p:txEl>
                                              <p:charRg st="8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charRg st="117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9031">
                                            <p:txEl>
                                              <p:charRg st="117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9031">
                                            <p:txEl>
                                              <p:charRg st="117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charRg st="127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9031">
                                            <p:txEl>
                                              <p:charRg st="127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9031">
                                            <p:txEl>
                                              <p:charRg st="127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904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/>
      <p:bldP spid="129031" grpId="0" build="p"/>
      <p:bldP spid="129046" grpId="0" advAuto="100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5" name="文本框 131074"/>
          <p:cNvSpPr txBox="1"/>
          <p:nvPr/>
        </p:nvSpPr>
        <p:spPr>
          <a:xfrm>
            <a:off x="0" y="0"/>
            <a:ext cx="9144000" cy="1135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展开为部分积的累加和形式：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(XY)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= 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(0.Y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)+(-X)</a:t>
            </a:r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1078" name="文本框 131077"/>
          <p:cNvSpPr txBox="1"/>
          <p:nvPr/>
        </p:nvSpPr>
        <p:spPr>
          <a:xfrm>
            <a:off x="0" y="1295400"/>
            <a:ext cx="914400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= 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(0.Y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r>
              <a:rPr lang="en-US" altLang="zh-CN" sz="3600" b="1" err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)-X</a:t>
            </a:r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1081" name="组合 131080"/>
          <p:cNvGrpSpPr/>
          <p:nvPr/>
        </p:nvGrpSpPr>
        <p:grpSpPr>
          <a:xfrm>
            <a:off x="0" y="1676400"/>
            <a:ext cx="9144000" cy="781050"/>
            <a:chOff x="0" y="2352"/>
            <a:chExt cx="5760" cy="492"/>
          </a:xfrm>
        </p:grpSpPr>
        <p:sp>
          <p:nvSpPr>
            <p:cNvPr id="131079" name="文本框 131078"/>
            <p:cNvSpPr txBox="1"/>
            <p:nvPr/>
          </p:nvSpPr>
          <p:spPr>
            <a:xfrm>
              <a:off x="0" y="2544"/>
              <a:ext cx="57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= X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补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(-Y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3600" b="1">
                  <a:latin typeface="Times New Roman" panose="02020603050405020304" pitchFamily="18" charset="0"/>
                  <a:ea typeface="黑体" panose="02010609060101010101" pitchFamily="49" charset="-122"/>
                </a:rPr>
                <a:t>……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err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 err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1080" name="文本框 131079"/>
            <p:cNvSpPr txBox="1"/>
            <p:nvPr/>
          </p:nvSpPr>
          <p:spPr>
            <a:xfrm>
              <a:off x="1536" y="2352"/>
              <a:ext cx="31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-1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     </a:t>
              </a:r>
              <a:r>
                <a:rPr lang="en-US" altLang="zh-CN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-2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             </a:t>
              </a:r>
              <a:r>
                <a:rPr lang="en-US" altLang="zh-CN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-n</a:t>
              </a:r>
              <a:endParaRPr lang="en-US" altLang="zh-CN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1089" name="组合 131088"/>
          <p:cNvGrpSpPr/>
          <p:nvPr/>
        </p:nvGrpSpPr>
        <p:grpSpPr>
          <a:xfrm>
            <a:off x="-228600" y="2362200"/>
            <a:ext cx="9144000" cy="781050"/>
            <a:chOff x="-144" y="1488"/>
            <a:chExt cx="5760" cy="492"/>
          </a:xfrm>
        </p:grpSpPr>
        <p:sp>
          <p:nvSpPr>
            <p:cNvPr id="131082" name="文本框 131081"/>
            <p:cNvSpPr txBox="1"/>
            <p:nvPr/>
          </p:nvSpPr>
          <p:spPr>
            <a:xfrm>
              <a:off x="-144" y="1680"/>
              <a:ext cx="57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= X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补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+(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-2 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)+(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-2 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</a:t>
              </a:r>
              <a:r>
                <a:rPr lang="en-US" altLang="zh-CN" sz="3600" b="1">
                  <a:latin typeface="Times New Roman" panose="02020603050405020304" pitchFamily="18" charset="0"/>
                  <a:ea typeface="黑体" panose="02010609060101010101" pitchFamily="49" charset="-122"/>
                </a:rPr>
                <a:t>……</a:t>
              </a:r>
              <a:endPara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1084" name="左中括号 131083"/>
            <p:cNvSpPr/>
            <p:nvPr/>
          </p:nvSpPr>
          <p:spPr>
            <a:xfrm>
              <a:off x="864" y="1680"/>
              <a:ext cx="48" cy="288"/>
            </a:xfrm>
            <a:prstGeom prst="leftBracket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086" name="文本框 131085"/>
            <p:cNvSpPr txBox="1"/>
            <p:nvPr/>
          </p:nvSpPr>
          <p:spPr>
            <a:xfrm>
              <a:off x="2064" y="1488"/>
              <a:ext cx="23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-1        </a:t>
              </a:r>
              <a:r>
                <a:rPr lang="en-US" altLang="zh-CN" b="1" err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-1</a:t>
              </a:r>
              <a:r>
                <a:rPr lang="en-US" altLang="zh-CN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-2</a:t>
              </a:r>
              <a:endParaRPr lang="en-US" altLang="zh-CN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1090" name="组合 131089"/>
          <p:cNvGrpSpPr/>
          <p:nvPr/>
        </p:nvGrpSpPr>
        <p:grpSpPr>
          <a:xfrm>
            <a:off x="0" y="3124200"/>
            <a:ext cx="5638800" cy="781050"/>
            <a:chOff x="0" y="1968"/>
            <a:chExt cx="3552" cy="492"/>
          </a:xfrm>
        </p:grpSpPr>
        <p:sp>
          <p:nvSpPr>
            <p:cNvPr id="131085" name="左中括号 131084"/>
            <p:cNvSpPr/>
            <p:nvPr/>
          </p:nvSpPr>
          <p:spPr>
            <a:xfrm flipH="1">
              <a:off x="2304" y="2160"/>
              <a:ext cx="48" cy="288"/>
            </a:xfrm>
            <a:prstGeom prst="leftBracket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087" name="文本框 131086"/>
            <p:cNvSpPr txBox="1"/>
            <p:nvPr/>
          </p:nvSpPr>
          <p:spPr>
            <a:xfrm>
              <a:off x="720" y="1968"/>
              <a:ext cx="20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-(n-1)    -n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endParaRPr lang="en-US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1088" name="文本框 131087"/>
            <p:cNvSpPr txBox="1"/>
            <p:nvPr/>
          </p:nvSpPr>
          <p:spPr>
            <a:xfrm>
              <a:off x="0" y="2160"/>
              <a:ext cx="355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+(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  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-2 </a:t>
              </a:r>
              <a:r>
                <a:rPr lang="en-US" altLang="zh-CN" sz="3600" b="1" err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 err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1096" name="组合 131095"/>
          <p:cNvGrpSpPr/>
          <p:nvPr/>
        </p:nvGrpSpPr>
        <p:grpSpPr>
          <a:xfrm>
            <a:off x="0" y="3886200"/>
            <a:ext cx="9144000" cy="781050"/>
            <a:chOff x="0" y="2448"/>
            <a:chExt cx="5760" cy="492"/>
          </a:xfrm>
        </p:grpSpPr>
        <p:sp>
          <p:nvSpPr>
            <p:cNvPr id="131083" name="文本框 131082"/>
            <p:cNvSpPr txBox="1"/>
            <p:nvPr/>
          </p:nvSpPr>
          <p:spPr>
            <a:xfrm>
              <a:off x="0" y="2640"/>
              <a:ext cx="57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= X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补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(Y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)+2 (Y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)+2 (Y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</a:t>
              </a:r>
              <a:r>
                <a:rPr lang="en-US" altLang="zh-CN" sz="3600" b="1">
                  <a:latin typeface="Times New Roman" panose="02020603050405020304" pitchFamily="18" charset="0"/>
                  <a:ea typeface="黑体" panose="02010609060101010101" pitchFamily="49" charset="-122"/>
                </a:rPr>
                <a:t>……</a:t>
              </a:r>
              <a:endPara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1092" name="左中括号 131091"/>
            <p:cNvSpPr/>
            <p:nvPr/>
          </p:nvSpPr>
          <p:spPr>
            <a:xfrm>
              <a:off x="912" y="2592"/>
              <a:ext cx="48" cy="288"/>
            </a:xfrm>
            <a:prstGeom prst="leftBracket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095" name="文本框 131094"/>
            <p:cNvSpPr txBox="1"/>
            <p:nvPr/>
          </p:nvSpPr>
          <p:spPr>
            <a:xfrm>
              <a:off x="2064" y="2448"/>
              <a:ext cx="22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-1             -2</a:t>
              </a:r>
              <a:endParaRPr lang="en-US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1109" name="组合 131108"/>
          <p:cNvGrpSpPr/>
          <p:nvPr/>
        </p:nvGrpSpPr>
        <p:grpSpPr>
          <a:xfrm>
            <a:off x="304800" y="4572000"/>
            <a:ext cx="3962400" cy="781050"/>
            <a:chOff x="192" y="2880"/>
            <a:chExt cx="2496" cy="492"/>
          </a:xfrm>
        </p:grpSpPr>
        <p:grpSp>
          <p:nvGrpSpPr>
            <p:cNvPr id="131107" name="组合 131106"/>
            <p:cNvGrpSpPr/>
            <p:nvPr/>
          </p:nvGrpSpPr>
          <p:grpSpPr>
            <a:xfrm>
              <a:off x="192" y="2880"/>
              <a:ext cx="2496" cy="492"/>
              <a:chOff x="192" y="2880"/>
              <a:chExt cx="2496" cy="492"/>
            </a:xfrm>
          </p:grpSpPr>
          <p:sp>
            <p:nvSpPr>
              <p:cNvPr id="131093" name="文本框 131092"/>
              <p:cNvSpPr txBox="1"/>
              <p:nvPr/>
            </p:nvSpPr>
            <p:spPr>
              <a:xfrm>
                <a:off x="192" y="3072"/>
                <a:ext cx="249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zh-CN" altLang="zh-CN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36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+2 (0   -</a:t>
                </a:r>
                <a:r>
                  <a:rPr lang="en-US" altLang="zh-CN" sz="3600" b="1" err="1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2800" b="1" err="1"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  <a:r>
                  <a:rPr lang="en-US" altLang="zh-CN" sz="36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en-US" altLang="zh-CN" sz="2800"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31098" name="文本框 131097"/>
              <p:cNvSpPr txBox="1"/>
              <p:nvPr/>
            </p:nvSpPr>
            <p:spPr>
              <a:xfrm>
                <a:off x="576" y="2880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黑体" panose="02010609060101010101" pitchFamily="49" charset="-122"/>
                    <a:ea typeface="黑体" panose="02010609060101010101" pitchFamily="49" charset="-122"/>
                  </a:rPr>
                  <a:t>-n</a:t>
                </a:r>
                <a:endParaRPr lang="en-US" altLang="zh-CN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31108" name="右中括号 131107"/>
            <p:cNvSpPr/>
            <p:nvPr/>
          </p:nvSpPr>
          <p:spPr>
            <a:xfrm>
              <a:off x="2016" y="3072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31110" name="组合 131109"/>
          <p:cNvGrpSpPr/>
          <p:nvPr/>
        </p:nvGrpSpPr>
        <p:grpSpPr>
          <a:xfrm>
            <a:off x="304800" y="4572000"/>
            <a:ext cx="3962400" cy="781050"/>
            <a:chOff x="192" y="2880"/>
            <a:chExt cx="2496" cy="492"/>
          </a:xfrm>
        </p:grpSpPr>
        <p:grpSp>
          <p:nvGrpSpPr>
            <p:cNvPr id="131111" name="组合 131110"/>
            <p:cNvGrpSpPr/>
            <p:nvPr/>
          </p:nvGrpSpPr>
          <p:grpSpPr>
            <a:xfrm>
              <a:off x="192" y="2880"/>
              <a:ext cx="2496" cy="492"/>
              <a:chOff x="192" y="2880"/>
              <a:chExt cx="2496" cy="492"/>
            </a:xfrm>
          </p:grpSpPr>
          <p:sp>
            <p:nvSpPr>
              <p:cNvPr id="131112" name="文本框 131111"/>
              <p:cNvSpPr txBox="1"/>
              <p:nvPr/>
            </p:nvSpPr>
            <p:spPr>
              <a:xfrm>
                <a:off x="192" y="3072"/>
                <a:ext cx="249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zh-CN" altLang="zh-CN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36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+2 (</a:t>
                </a:r>
                <a:r>
                  <a:rPr lang="en-US" altLang="zh-CN" sz="3600" b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en-US" altLang="zh-CN" sz="36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  -</a:t>
                </a:r>
                <a:r>
                  <a:rPr lang="en-US" altLang="zh-CN" sz="3600" b="1" err="1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2800" b="1" err="1"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  <a:r>
                  <a:rPr lang="en-US" altLang="zh-CN" sz="36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en-US" altLang="zh-CN" sz="2800"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31113" name="文本框 131112"/>
              <p:cNvSpPr txBox="1"/>
              <p:nvPr/>
            </p:nvSpPr>
            <p:spPr>
              <a:xfrm>
                <a:off x="576" y="2880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黑体" panose="02010609060101010101" pitchFamily="49" charset="-122"/>
                    <a:ea typeface="黑体" panose="02010609060101010101" pitchFamily="49" charset="-122"/>
                  </a:rPr>
                  <a:t>-n</a:t>
                </a:r>
                <a:endParaRPr lang="en-US" altLang="zh-CN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31114" name="右中括号 131113"/>
            <p:cNvSpPr/>
            <p:nvPr/>
          </p:nvSpPr>
          <p:spPr>
            <a:xfrm>
              <a:off x="2016" y="3072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1116" name="文本框 131115"/>
          <p:cNvSpPr txBox="1"/>
          <p:nvPr/>
        </p:nvSpPr>
        <p:spPr>
          <a:xfrm>
            <a:off x="1447800" y="4724400"/>
            <a:ext cx="1371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1117" name="组合 131116"/>
          <p:cNvGrpSpPr/>
          <p:nvPr/>
        </p:nvGrpSpPr>
        <p:grpSpPr>
          <a:xfrm>
            <a:off x="0" y="3886200"/>
            <a:ext cx="9144000" cy="781050"/>
            <a:chOff x="0" y="2448"/>
            <a:chExt cx="5760" cy="492"/>
          </a:xfrm>
        </p:grpSpPr>
        <p:sp>
          <p:nvSpPr>
            <p:cNvPr id="131118" name="文本框 131117"/>
            <p:cNvSpPr txBox="1"/>
            <p:nvPr/>
          </p:nvSpPr>
          <p:spPr>
            <a:xfrm>
              <a:off x="0" y="2640"/>
              <a:ext cx="57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= X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补 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)+2 (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)+2 (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600" b="1">
                  <a:latin typeface="黑体" panose="02010609060101010101" pitchFamily="49" charset="-122"/>
                  <a:ea typeface="黑体" panose="02010609060101010101" pitchFamily="49" charset="-122"/>
                </a:rPr>
                <a:t>)+</a:t>
              </a:r>
              <a:r>
                <a:rPr lang="en-US" altLang="zh-CN" sz="3600" b="1">
                  <a:latin typeface="Times New Roman" panose="02020603050405020304" pitchFamily="18" charset="0"/>
                  <a:ea typeface="黑体" panose="02010609060101010101" pitchFamily="49" charset="-122"/>
                </a:rPr>
                <a:t>……</a:t>
              </a:r>
              <a:endPara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1119" name="左中括号 131118"/>
            <p:cNvSpPr/>
            <p:nvPr/>
          </p:nvSpPr>
          <p:spPr>
            <a:xfrm>
              <a:off x="912" y="2592"/>
              <a:ext cx="48" cy="288"/>
            </a:xfrm>
            <a:prstGeom prst="leftBracket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120" name="文本框 131119"/>
            <p:cNvSpPr txBox="1"/>
            <p:nvPr/>
          </p:nvSpPr>
          <p:spPr>
            <a:xfrm>
              <a:off x="2064" y="2448"/>
              <a:ext cx="22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-1             -2</a:t>
              </a:r>
              <a:endParaRPr lang="en-US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1129" name="组合 131128"/>
          <p:cNvGrpSpPr/>
          <p:nvPr/>
        </p:nvGrpSpPr>
        <p:grpSpPr>
          <a:xfrm>
            <a:off x="304800" y="4572000"/>
            <a:ext cx="3962400" cy="793750"/>
            <a:chOff x="2400" y="2880"/>
            <a:chExt cx="2496" cy="500"/>
          </a:xfrm>
        </p:grpSpPr>
        <p:grpSp>
          <p:nvGrpSpPr>
            <p:cNvPr id="131121" name="组合 131120"/>
            <p:cNvGrpSpPr/>
            <p:nvPr/>
          </p:nvGrpSpPr>
          <p:grpSpPr>
            <a:xfrm>
              <a:off x="2400" y="2880"/>
              <a:ext cx="2496" cy="492"/>
              <a:chOff x="192" y="2880"/>
              <a:chExt cx="2496" cy="492"/>
            </a:xfrm>
          </p:grpSpPr>
          <p:grpSp>
            <p:nvGrpSpPr>
              <p:cNvPr id="131122" name="组合 131121"/>
              <p:cNvGrpSpPr/>
              <p:nvPr/>
            </p:nvGrpSpPr>
            <p:grpSpPr>
              <a:xfrm>
                <a:off x="192" y="2880"/>
                <a:ext cx="2496" cy="492"/>
                <a:chOff x="192" y="2880"/>
                <a:chExt cx="2496" cy="492"/>
              </a:xfrm>
            </p:grpSpPr>
            <p:sp>
              <p:nvSpPr>
                <p:cNvPr id="131123" name="文本框 131122"/>
                <p:cNvSpPr txBox="1"/>
                <p:nvPr/>
              </p:nvSpPr>
              <p:spPr>
                <a:xfrm>
                  <a:off x="192" y="3072"/>
                  <a:ext cx="2496" cy="3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lnSpc>
                      <a:spcPct val="70000"/>
                    </a:lnSpc>
                    <a:spcBef>
                      <a:spcPct val="50000"/>
                    </a:spcBef>
                  </a:pPr>
                  <a:r>
                    <a:rPr lang="zh-CN" altLang="zh-CN" sz="28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36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+2 (</a:t>
                  </a:r>
                  <a:r>
                    <a:rPr lang="en-US" altLang="zh-CN" sz="36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</a:t>
                  </a:r>
                  <a:r>
                    <a:rPr lang="en-US" altLang="zh-CN" sz="36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  </a:t>
                  </a:r>
                  <a:r>
                    <a:rPr lang="en-US" altLang="zh-CN" sz="3600" b="1">
                      <a:solidFill>
                        <a:schemeClr val="folHlink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-</a:t>
                  </a:r>
                  <a:r>
                    <a:rPr lang="en-US" altLang="zh-CN" sz="3600" b="1" err="1">
                      <a:solidFill>
                        <a:schemeClr val="folHlink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Y</a:t>
                  </a:r>
                  <a:r>
                    <a:rPr lang="en-US" altLang="zh-CN" sz="2800" b="1" err="1">
                      <a:solidFill>
                        <a:schemeClr val="folHlink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n</a:t>
                  </a:r>
                  <a:r>
                    <a:rPr lang="en-US" altLang="zh-CN" sz="36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)</a:t>
                  </a:r>
                  <a:endParaRPr lang="en-US" altLang="zh-CN" sz="2800" b="1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1124" name="文本框 131123"/>
                <p:cNvSpPr txBox="1"/>
                <p:nvPr/>
              </p:nvSpPr>
              <p:spPr>
                <a:xfrm>
                  <a:off x="576" y="2880"/>
                  <a:ext cx="48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-n</a:t>
                  </a:r>
                  <a:endParaRPr lang="en-US" altLang="zh-CN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131125" name="右中括号 131124"/>
              <p:cNvSpPr/>
              <p:nvPr/>
            </p:nvSpPr>
            <p:spPr>
              <a:xfrm>
                <a:off x="2016" y="3072"/>
                <a:ext cx="48" cy="288"/>
              </a:xfrm>
              <a:prstGeom prst="rightBracket">
                <a:avLst>
                  <a:gd name="adj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31126" name="文本框 131125"/>
            <p:cNvSpPr txBox="1"/>
            <p:nvPr/>
          </p:nvSpPr>
          <p:spPr>
            <a:xfrm>
              <a:off x="3120" y="2976"/>
              <a:ext cx="86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n+1</a:t>
              </a:r>
              <a:endPara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1128" name="文本框 131127"/>
          <p:cNvSpPr txBox="1"/>
          <p:nvPr/>
        </p:nvSpPr>
        <p:spPr>
          <a:xfrm>
            <a:off x="0" y="5459413"/>
            <a:ext cx="9144000" cy="1246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</a:rPr>
              <a:t>比较法：用相邻两位乘数比较的结果决定</a:t>
            </a:r>
            <a:endParaRPr lang="zh-CN" altLang="en-US" sz="3600" b="1" i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3600" b="1" i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+X</a:t>
            </a:r>
            <a:r>
              <a:rPr lang="zh-CN" altLang="en-US" sz="28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</a:rPr>
              <a:t>补</a:t>
            </a:r>
            <a:r>
              <a:rPr lang="zh-CN" altLang="en-US" sz="36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3600" b="1" i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-X</a:t>
            </a:r>
            <a:r>
              <a:rPr lang="zh-CN" altLang="en-US" sz="2800" b="1" i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3600" b="1" i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600" b="1" i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+0</a:t>
            </a:r>
            <a:r>
              <a:rPr lang="zh-CN" altLang="en-US" sz="3600" b="1" i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600" b="1" i="1" dirty="0">
              <a:solidFill>
                <a:srgbClr val="FF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59205" y="4652645"/>
            <a:ext cx="2160270" cy="79248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107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0" fill="hold"/>
                                        <p:tgtEl>
                                          <p:spTgt spid="131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0" fill="hold"/>
                                        <p:tgtEl>
                                          <p:spTgt spid="131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/>
      <p:bldP spid="131078" grpId="0" build="p"/>
      <p:bldP spid="131116" grpId="0"/>
      <p:bldP spid="131128" grpId="0"/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文本框 133121"/>
          <p:cNvSpPr txBox="1"/>
          <p:nvPr/>
        </p:nvSpPr>
        <p:spPr>
          <a:xfrm>
            <a:off x="0" y="0"/>
            <a:ext cx="9906000" cy="1177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4000" b="1" dirty="0"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比较法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sz="4000" b="1" dirty="0">
              <a:latin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 err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高位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 Y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低位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)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操作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(A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为部分积累加和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133123" name="文本框 133122"/>
          <p:cNvSpPr txBox="1"/>
          <p:nvPr/>
        </p:nvSpPr>
        <p:spPr>
          <a:xfrm>
            <a:off x="228600" y="1371600"/>
            <a:ext cx="2590800" cy="2452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0       0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0       1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1       0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1       1       </a:t>
            </a:r>
            <a:endParaRPr lang="en-US" altLang="zh-CN" sz="28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26" name="直接连接符 133125"/>
          <p:cNvSpPr/>
          <p:nvPr/>
        </p:nvSpPr>
        <p:spPr>
          <a:xfrm>
            <a:off x="0" y="1219200"/>
            <a:ext cx="914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27" name="文本框 133126"/>
          <p:cNvSpPr txBox="1"/>
          <p:nvPr/>
        </p:nvSpPr>
        <p:spPr>
          <a:xfrm>
            <a:off x="5147945" y="1295400"/>
            <a:ext cx="3733800" cy="2452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1/2A</a:t>
            </a:r>
            <a:r>
              <a:rPr lang="zh-CN" altLang="en-US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1/2(A</a:t>
            </a:r>
            <a:r>
              <a:rPr lang="zh-CN" altLang="en-US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+X</a:t>
            </a:r>
            <a:r>
              <a:rPr lang="zh-CN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1/2(A</a:t>
            </a:r>
            <a:r>
              <a:rPr lang="zh-CN" altLang="en-US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-X</a:t>
            </a:r>
            <a:r>
              <a:rPr lang="zh-CN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1/2A</a:t>
            </a:r>
            <a:r>
              <a:rPr lang="zh-CN" altLang="en-US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28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28" name="直接连接符 133127"/>
          <p:cNvSpPr/>
          <p:nvPr/>
        </p:nvSpPr>
        <p:spPr>
          <a:xfrm flipH="1">
            <a:off x="4114800" y="685800"/>
            <a:ext cx="0" cy="3200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29" name="直接连接符 133128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34" name="直接连接符 133133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35" name="文本框 133134"/>
          <p:cNvSpPr txBox="1"/>
          <p:nvPr/>
        </p:nvSpPr>
        <p:spPr>
          <a:xfrm>
            <a:off x="0" y="4191000"/>
            <a:ext cx="9144000" cy="2495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4000" b="1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运算实例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X=-0.1101,Y=-0.1011,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(XY)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初值：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A=00.0000,B=X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=11.0011,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      -B=(-X)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=00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.1101,C =Y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.0101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7630" y="1988820"/>
            <a:ext cx="27114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执行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A+X</a:t>
            </a:r>
            <a:r>
              <a:rPr lang="zh-CN" altLang="en-US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补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，右移；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67000" y="1340485"/>
            <a:ext cx="2893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执行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A+0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，右移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3485" y="2637155"/>
            <a:ext cx="2931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执行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A+[-X</a:t>
            </a:r>
            <a:r>
              <a:rPr lang="zh-CN" altLang="en-US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补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]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，右移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27630" y="3285490"/>
            <a:ext cx="2893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执行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A+0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，右移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ea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2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312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charRg st="7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3127">
                                            <p:txEl>
                                              <p:charRg st="7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charRg st="1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3127">
                                            <p:txEl>
                                              <p:charRg st="19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charRg st="3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3127">
                                            <p:txEl>
                                              <p:charRg st="31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/>
      <p:bldP spid="133123" grpId="0"/>
      <p:bldP spid="133127" grpId="0" build="p"/>
      <p:bldP spid="3" grpId="0"/>
      <p:bldP spid="3" grpId="1"/>
      <p:bldP spid="2" grpId="0"/>
      <p:bldP spid="2" grpId="1"/>
      <p:bldP spid="4" grpId="0"/>
      <p:bldP spid="4" grpId="1"/>
      <p:bldP spid="5" grpId="0"/>
      <p:bldP spid="5" grpId="1"/>
      <p:bldP spid="133135" grpId="0"/>
      <p:bldP spid="13313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文本框 135169"/>
          <p:cNvSpPr txBox="1"/>
          <p:nvPr/>
        </p:nvSpPr>
        <p:spPr>
          <a:xfrm>
            <a:off x="0" y="0"/>
            <a:ext cx="876300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步数   条件   操作      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A      C   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1" name="文本框 135170"/>
          <p:cNvSpPr txBox="1"/>
          <p:nvPr/>
        </p:nvSpPr>
        <p:spPr>
          <a:xfrm>
            <a:off x="4800600" y="609600"/>
            <a:ext cx="4876800" cy="42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00.0000  1.010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2" name="文本框 135171"/>
          <p:cNvSpPr txBox="1"/>
          <p:nvPr/>
        </p:nvSpPr>
        <p:spPr>
          <a:xfrm>
            <a:off x="228600" y="838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3" name="文本框 135172"/>
          <p:cNvSpPr txBox="1"/>
          <p:nvPr/>
        </p:nvSpPr>
        <p:spPr>
          <a:xfrm>
            <a:off x="1676400" y="838200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1 0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4" name="文本框 135173"/>
          <p:cNvSpPr txBox="1"/>
          <p:nvPr/>
        </p:nvSpPr>
        <p:spPr>
          <a:xfrm>
            <a:off x="3429000" y="838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5" name="文本框 135174"/>
          <p:cNvSpPr txBox="1"/>
          <p:nvPr/>
        </p:nvSpPr>
        <p:spPr>
          <a:xfrm>
            <a:off x="8229600" y="44450"/>
            <a:ext cx="838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err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Cn</a:t>
            </a:r>
            <a:endParaRPr lang="en-US" altLang="zh-CN" sz="20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6" name="文本框 135175"/>
          <p:cNvSpPr txBox="1"/>
          <p:nvPr/>
        </p:nvSpPr>
        <p:spPr>
          <a:xfrm>
            <a:off x="4572000" y="8382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7" name="直接连接符 135176"/>
          <p:cNvSpPr/>
          <p:nvPr/>
        </p:nvSpPr>
        <p:spPr>
          <a:xfrm>
            <a:off x="4648200" y="1447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178" name="文本框 135177"/>
          <p:cNvSpPr txBox="1"/>
          <p:nvPr/>
        </p:nvSpPr>
        <p:spPr>
          <a:xfrm>
            <a:off x="5029200" y="12954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92" name="直接连接符 135191"/>
          <p:cNvSpPr/>
          <p:nvPr/>
        </p:nvSpPr>
        <p:spPr>
          <a:xfrm>
            <a:off x="3505200" y="21336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5193" name="文本框 135192"/>
          <p:cNvSpPr txBox="1"/>
          <p:nvPr/>
        </p:nvSpPr>
        <p:spPr>
          <a:xfrm>
            <a:off x="5029200" y="1752600"/>
            <a:ext cx="2057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 u="sng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94" name="文本框 135193"/>
          <p:cNvSpPr txBox="1"/>
          <p:nvPr/>
        </p:nvSpPr>
        <p:spPr>
          <a:xfrm>
            <a:off x="7086600" y="1752600"/>
            <a:ext cx="2057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1.01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97" name="文本框 135196"/>
          <p:cNvSpPr txBox="1"/>
          <p:nvPr/>
        </p:nvSpPr>
        <p:spPr>
          <a:xfrm>
            <a:off x="2286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98" name="文本框 135197"/>
          <p:cNvSpPr txBox="1"/>
          <p:nvPr/>
        </p:nvSpPr>
        <p:spPr>
          <a:xfrm>
            <a:off x="1676400" y="2209800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0 1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99" name="文本框 135198"/>
          <p:cNvSpPr txBox="1"/>
          <p:nvPr/>
        </p:nvSpPr>
        <p:spPr>
          <a:xfrm>
            <a:off x="34290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00" name="文本框 135199"/>
          <p:cNvSpPr txBox="1"/>
          <p:nvPr/>
        </p:nvSpPr>
        <p:spPr>
          <a:xfrm>
            <a:off x="4572000" y="2209800"/>
            <a:ext cx="2438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+ 11.0011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01" name="直接连接符 135200"/>
          <p:cNvSpPr/>
          <p:nvPr/>
        </p:nvSpPr>
        <p:spPr>
          <a:xfrm>
            <a:off x="4648200" y="28194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202" name="文本框 135201"/>
          <p:cNvSpPr txBox="1"/>
          <p:nvPr/>
        </p:nvSpPr>
        <p:spPr>
          <a:xfrm>
            <a:off x="5029200" y="2667000"/>
            <a:ext cx="2209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endParaRPr lang="en-US" altLang="zh-CN" sz="3600" b="1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03" name="文本框 135202"/>
          <p:cNvSpPr txBox="1"/>
          <p:nvPr/>
        </p:nvSpPr>
        <p:spPr>
          <a:xfrm>
            <a:off x="5029200" y="3124200"/>
            <a:ext cx="2133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u="sng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04" name="直接连接符 135203"/>
          <p:cNvSpPr/>
          <p:nvPr/>
        </p:nvSpPr>
        <p:spPr>
          <a:xfrm>
            <a:off x="3505200" y="3505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5205" name="文本框 135204"/>
          <p:cNvSpPr txBox="1"/>
          <p:nvPr/>
        </p:nvSpPr>
        <p:spPr>
          <a:xfrm>
            <a:off x="7086600" y="31242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1.0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19" name="文本框 135218"/>
          <p:cNvSpPr txBox="1"/>
          <p:nvPr/>
        </p:nvSpPr>
        <p:spPr>
          <a:xfrm>
            <a:off x="2286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0" name="文本框 135219"/>
          <p:cNvSpPr txBox="1"/>
          <p:nvPr/>
        </p:nvSpPr>
        <p:spPr>
          <a:xfrm>
            <a:off x="1676400" y="3581400"/>
            <a:ext cx="1371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1 0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1" name="文本框 135220"/>
          <p:cNvSpPr txBox="1"/>
          <p:nvPr/>
        </p:nvSpPr>
        <p:spPr>
          <a:xfrm>
            <a:off x="34290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2" name="文本框 135221"/>
          <p:cNvSpPr txBox="1"/>
          <p:nvPr/>
        </p:nvSpPr>
        <p:spPr>
          <a:xfrm>
            <a:off x="4572000" y="3581400"/>
            <a:ext cx="2667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3" name="直接连接符 135222"/>
          <p:cNvSpPr/>
          <p:nvPr/>
        </p:nvSpPr>
        <p:spPr>
          <a:xfrm>
            <a:off x="4648200" y="41910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224" name="文本框 135223"/>
          <p:cNvSpPr txBox="1"/>
          <p:nvPr/>
        </p:nvSpPr>
        <p:spPr>
          <a:xfrm>
            <a:off x="5029200" y="40386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5" name="直接连接符 135224"/>
          <p:cNvSpPr/>
          <p:nvPr/>
        </p:nvSpPr>
        <p:spPr>
          <a:xfrm>
            <a:off x="3505200" y="48768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5226" name="文本框 135225"/>
          <p:cNvSpPr txBox="1"/>
          <p:nvPr/>
        </p:nvSpPr>
        <p:spPr>
          <a:xfrm>
            <a:off x="5029200" y="4495800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0100</a:t>
            </a:r>
            <a:endParaRPr lang="en-US" altLang="zh-CN" sz="3600" b="1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7" name="文本框 135226"/>
          <p:cNvSpPr txBox="1"/>
          <p:nvPr/>
        </p:nvSpPr>
        <p:spPr>
          <a:xfrm>
            <a:off x="7086600" y="4495800"/>
            <a:ext cx="1828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8" name="文本框 135227"/>
          <p:cNvSpPr txBox="1"/>
          <p:nvPr/>
        </p:nvSpPr>
        <p:spPr>
          <a:xfrm>
            <a:off x="228600" y="4953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29" name="文本框 135228"/>
          <p:cNvSpPr txBox="1"/>
          <p:nvPr/>
        </p:nvSpPr>
        <p:spPr>
          <a:xfrm>
            <a:off x="1752600" y="4953000"/>
            <a:ext cx="1524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0 1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30" name="文本框 135229"/>
          <p:cNvSpPr txBox="1"/>
          <p:nvPr/>
        </p:nvSpPr>
        <p:spPr>
          <a:xfrm>
            <a:off x="3429000" y="4953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31" name="文本框 135230"/>
          <p:cNvSpPr txBox="1"/>
          <p:nvPr/>
        </p:nvSpPr>
        <p:spPr>
          <a:xfrm>
            <a:off x="4572000" y="49530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+ 11.0011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32" name="直接连接符 135231"/>
          <p:cNvSpPr/>
          <p:nvPr/>
        </p:nvSpPr>
        <p:spPr>
          <a:xfrm>
            <a:off x="4648200" y="5562600"/>
            <a:ext cx="2362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5233" name="文本框 135232"/>
          <p:cNvSpPr txBox="1"/>
          <p:nvPr/>
        </p:nvSpPr>
        <p:spPr>
          <a:xfrm>
            <a:off x="5029200" y="54102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11.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34" name="直接连接符 135233"/>
          <p:cNvSpPr/>
          <p:nvPr/>
        </p:nvSpPr>
        <p:spPr>
          <a:xfrm>
            <a:off x="3505200" y="60960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5235" name="文本框 135234"/>
          <p:cNvSpPr txBox="1"/>
          <p:nvPr/>
        </p:nvSpPr>
        <p:spPr>
          <a:xfrm>
            <a:off x="5029200" y="5791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11.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36" name="文本框 135235"/>
          <p:cNvSpPr txBox="1"/>
          <p:nvPr/>
        </p:nvSpPr>
        <p:spPr>
          <a:xfrm>
            <a:off x="7086600" y="5791200"/>
            <a:ext cx="2057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39" name="文本框 135238"/>
          <p:cNvSpPr txBox="1"/>
          <p:nvPr/>
        </p:nvSpPr>
        <p:spPr>
          <a:xfrm>
            <a:off x="8458200" y="609600"/>
            <a:ext cx="685800" cy="42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</a:t>
            </a:r>
            <a:endParaRPr lang="en-US" altLang="zh-CN" sz="3600" b="1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40" name="文本框 135239"/>
          <p:cNvSpPr txBox="1"/>
          <p:nvPr/>
        </p:nvSpPr>
        <p:spPr>
          <a:xfrm>
            <a:off x="8531860" y="44450"/>
            <a:ext cx="7550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0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endParaRPr lang="en-US" altLang="zh-CN" sz="2000" b="1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41" name="文本框 135240"/>
          <p:cNvSpPr txBox="1"/>
          <p:nvPr/>
        </p:nvSpPr>
        <p:spPr>
          <a:xfrm>
            <a:off x="1600200" y="304800"/>
            <a:ext cx="1752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42" name="文本框 135241"/>
          <p:cNvSpPr txBox="1"/>
          <p:nvPr/>
        </p:nvSpPr>
        <p:spPr>
          <a:xfrm>
            <a:off x="228600" y="621665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43" name="文本框 135242"/>
          <p:cNvSpPr txBox="1"/>
          <p:nvPr/>
        </p:nvSpPr>
        <p:spPr>
          <a:xfrm>
            <a:off x="1752600" y="6216650"/>
            <a:ext cx="1371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1 0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44" name="文本框 135243"/>
          <p:cNvSpPr txBox="1"/>
          <p:nvPr/>
        </p:nvSpPr>
        <p:spPr>
          <a:xfrm>
            <a:off x="3429000" y="621665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245" name="文本框 135244"/>
          <p:cNvSpPr txBox="1"/>
          <p:nvPr/>
        </p:nvSpPr>
        <p:spPr>
          <a:xfrm>
            <a:off x="4572000" y="6216650"/>
            <a:ext cx="2667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517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517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517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517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519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519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519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519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519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520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3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3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520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3520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3521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52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3522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522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13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3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352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3522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3522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3522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3523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35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3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500"/>
                                        <p:tgtEl>
                                          <p:spTgt spid="13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3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3523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3523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13524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3524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13524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3524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 build="p"/>
      <p:bldP spid="135171" grpId="0" build="p"/>
      <p:bldP spid="135172" grpId="0" build="p"/>
      <p:bldP spid="135173" grpId="0" build="p"/>
      <p:bldP spid="135174" grpId="0" build="p"/>
      <p:bldP spid="135175" grpId="0"/>
      <p:bldP spid="135176" grpId="0" build="p"/>
      <p:bldP spid="135178" grpId="0"/>
      <p:bldP spid="135193" grpId="0" advAuto="1000" build="p"/>
      <p:bldP spid="135194" grpId="0" advAuto="1000" build="p"/>
      <p:bldP spid="135197" grpId="0" build="p"/>
      <p:bldP spid="135198" grpId="0" build="p"/>
      <p:bldP spid="135199" grpId="0" build="p"/>
      <p:bldP spid="135200" grpId="0" build="p"/>
      <p:bldP spid="135202" grpId="0"/>
      <p:bldP spid="135203" grpId="0" advAuto="1000" build="p"/>
      <p:bldP spid="135205" grpId="0" advAuto="1000" build="p"/>
      <p:bldP spid="135219" grpId="0" build="p"/>
      <p:bldP spid="135220" grpId="0" build="p"/>
      <p:bldP spid="135221" grpId="0" build="p"/>
      <p:bldP spid="135222" grpId="0" build="p"/>
      <p:bldP spid="135224" grpId="0"/>
      <p:bldP spid="135226" grpId="0" advAuto="1000" build="p"/>
      <p:bldP spid="135227" grpId="0" advAuto="1000" build="p"/>
      <p:bldP spid="135228" grpId="0" build="p"/>
      <p:bldP spid="135229" grpId="0" build="p"/>
      <p:bldP spid="135230" grpId="0" build="p"/>
      <p:bldP spid="135231" grpId="0" build="p"/>
      <p:bldP spid="135233" grpId="0"/>
      <p:bldP spid="135235" grpId="0" advAuto="1000" build="p"/>
      <p:bldP spid="135236" grpId="0" advAuto="1000" build="p"/>
      <p:bldP spid="135239" grpId="0"/>
      <p:bldP spid="135240" grpId="0"/>
      <p:bldP spid="135241" grpId="0"/>
      <p:bldP spid="135242" grpId="0" build="p"/>
      <p:bldP spid="135243" grpId="0" build="p"/>
      <p:bldP spid="135244" grpId="0" build="p"/>
      <p:bldP spid="13524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57" name="文本框 137256"/>
          <p:cNvSpPr txBox="1"/>
          <p:nvPr/>
        </p:nvSpPr>
        <p:spPr>
          <a:xfrm>
            <a:off x="1752600" y="2286000"/>
            <a:ext cx="5334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(XY)</a:t>
            </a:r>
            <a:r>
              <a:rPr lang="zh-CN" altLang="zh-CN" sz="28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0.10001111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48" name="文本框 137247"/>
          <p:cNvSpPr txBox="1"/>
          <p:nvPr/>
        </p:nvSpPr>
        <p:spPr>
          <a:xfrm>
            <a:off x="228600" y="76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49" name="文本框 137248"/>
          <p:cNvSpPr txBox="1"/>
          <p:nvPr/>
        </p:nvSpPr>
        <p:spPr>
          <a:xfrm>
            <a:off x="1752600" y="76200"/>
            <a:ext cx="1524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0 1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50" name="文本框 137249"/>
          <p:cNvSpPr txBox="1"/>
          <p:nvPr/>
        </p:nvSpPr>
        <p:spPr>
          <a:xfrm>
            <a:off x="3429000" y="76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51" name="文本框 137250"/>
          <p:cNvSpPr txBox="1"/>
          <p:nvPr/>
        </p:nvSpPr>
        <p:spPr>
          <a:xfrm>
            <a:off x="4572000" y="762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+ 11.0011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52" name="直接连接符 137251"/>
          <p:cNvSpPr/>
          <p:nvPr/>
        </p:nvSpPr>
        <p:spPr>
          <a:xfrm>
            <a:off x="4648200" y="685800"/>
            <a:ext cx="2362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7253" name="文本框 137252"/>
          <p:cNvSpPr txBox="1"/>
          <p:nvPr/>
        </p:nvSpPr>
        <p:spPr>
          <a:xfrm>
            <a:off x="5029200" y="5334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11.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54" name="直接连接符 137253"/>
          <p:cNvSpPr/>
          <p:nvPr/>
        </p:nvSpPr>
        <p:spPr>
          <a:xfrm>
            <a:off x="3505200" y="1219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7255" name="文本框 137254"/>
          <p:cNvSpPr txBox="1"/>
          <p:nvPr/>
        </p:nvSpPr>
        <p:spPr>
          <a:xfrm>
            <a:off x="5029200" y="9144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11.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56" name="文本框 137255"/>
          <p:cNvSpPr txBox="1"/>
          <p:nvPr/>
        </p:nvSpPr>
        <p:spPr>
          <a:xfrm>
            <a:off x="7086600" y="914400"/>
            <a:ext cx="2057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</a:t>
            </a:r>
            <a:r>
              <a:rPr lang="en-US" altLang="zh-CN" sz="3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</a:t>
            </a:r>
            <a:endParaRPr lang="en-US" altLang="zh-CN" sz="36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61" name="文本框 137260"/>
          <p:cNvSpPr txBox="1"/>
          <p:nvPr/>
        </p:nvSpPr>
        <p:spPr>
          <a:xfrm>
            <a:off x="228600" y="133985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62" name="文本框 137261"/>
          <p:cNvSpPr txBox="1"/>
          <p:nvPr/>
        </p:nvSpPr>
        <p:spPr>
          <a:xfrm>
            <a:off x="1752600" y="1339850"/>
            <a:ext cx="1371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1 0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63" name="文本框 137262"/>
          <p:cNvSpPr txBox="1"/>
          <p:nvPr/>
        </p:nvSpPr>
        <p:spPr>
          <a:xfrm>
            <a:off x="3429000" y="133985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64" name="文本框 137263"/>
          <p:cNvSpPr txBox="1"/>
          <p:nvPr/>
        </p:nvSpPr>
        <p:spPr>
          <a:xfrm>
            <a:off x="4572000" y="1339850"/>
            <a:ext cx="2667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67" name="直接连接符 137266"/>
          <p:cNvSpPr/>
          <p:nvPr/>
        </p:nvSpPr>
        <p:spPr>
          <a:xfrm>
            <a:off x="4648200" y="1905000"/>
            <a:ext cx="2362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7268" name="文本框 137267"/>
          <p:cNvSpPr txBox="1"/>
          <p:nvPr/>
        </p:nvSpPr>
        <p:spPr>
          <a:xfrm>
            <a:off x="5029200" y="17526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69" name="文本框 137268"/>
          <p:cNvSpPr txBox="1"/>
          <p:nvPr/>
        </p:nvSpPr>
        <p:spPr>
          <a:xfrm>
            <a:off x="7086600" y="1752600"/>
            <a:ext cx="2057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</a:t>
            </a:r>
            <a:endParaRPr lang="en-US" altLang="zh-CN" sz="3600" b="1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70" name="文本框 137269"/>
          <p:cNvSpPr txBox="1"/>
          <p:nvPr/>
        </p:nvSpPr>
        <p:spPr>
          <a:xfrm>
            <a:off x="3429000" y="1905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修正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37273" name="文本框 137272"/>
          <p:cNvSpPr txBox="1"/>
          <p:nvPr/>
        </p:nvSpPr>
        <p:spPr>
          <a:xfrm>
            <a:off x="7010400" y="2514600"/>
            <a:ext cx="1905000" cy="1408113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1.0 :  -B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修正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0.1 : +B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修正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0.0 :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不修正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1.1 :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不修正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6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3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7" grpId="0"/>
      <p:bldP spid="137268" grpId="0"/>
      <p:bldP spid="137269" grpId="0" advAuto="1000" build="p"/>
      <p:bldP spid="137270" grpId="0"/>
      <p:bldP spid="13727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315" y="44450"/>
            <a:ext cx="8500745" cy="278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lnSpc>
                <a:spcPct val="150000"/>
              </a:lnSpc>
            </a:pPr>
            <a:r>
              <a:rPr lang="zh-CN" altLang="en-US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（</a:t>
            </a:r>
            <a:r>
              <a:rPr lang="en-US" altLang="zh-CN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3</a:t>
            </a:r>
            <a:r>
              <a:rPr lang="zh-CN" altLang="en-US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）运算规则</a:t>
            </a:r>
            <a:endParaRPr lang="en-US" altLang="zh-CN" sz="24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defTabSz="457200"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 ① 寄存器分配、初始值及符号位</a:t>
            </a:r>
            <a:r>
              <a:rPr lang="zh-CN" altLang="en-US" b="1" dirty="0">
                <a:solidFill>
                  <a:srgbClr val="70AD47">
                    <a:lumMod val="7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：</a:t>
            </a:r>
            <a:endParaRPr lang="en-US" altLang="zh-CN" sz="2400" b="1" dirty="0">
              <a:solidFill>
                <a:srgbClr val="70AD47">
                  <a:lumMod val="7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defTabSz="457200">
              <a:lnSpc>
                <a:spcPct val="150000"/>
              </a:lnSpc>
            </a:pPr>
            <a:r>
              <a:rPr lang="en-US" altLang="zh-CN" b="1" dirty="0">
                <a:solidFill>
                  <a:srgbClr val="70AD47">
                    <a:lumMod val="7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  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  A,B,C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ea"/>
              </a:rPr>
              <a:t>三个寄存器</a:t>
            </a:r>
            <a:endParaRPr lang="zh-CN" altLang="en-US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34906" y="1700437"/>
            <a:ext cx="8867447" cy="50840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存放部分积累加和，初始值为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0(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双符号位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b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存放被乘数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，（双符号位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、或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表示）；</a:t>
            </a:r>
            <a:b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C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存放乘数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，单符号位（符号位参与运算），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b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B05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末位添</a:t>
            </a:r>
            <a:r>
              <a:rPr lang="en-US" altLang="zh-CN" sz="2400" b="1" dirty="0">
                <a:solidFill>
                  <a:srgbClr val="00B05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，称为附加位</a:t>
            </a:r>
            <a:r>
              <a:rPr lang="en-US" altLang="zh-CN" sz="2400" b="1" dirty="0">
                <a:solidFill>
                  <a:srgbClr val="00B05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400" b="1" baseline="-25000" dirty="0">
                <a:solidFill>
                  <a:srgbClr val="00B05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基本操作：</a:t>
            </a:r>
            <a:endParaRPr lang="zh-CN" altLang="en-US" sz="2400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寄存器最末两位（含增加的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）作判断位，即</a:t>
            </a:r>
            <a:b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(Y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,Y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为判断位。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400" b="1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A+0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，右移，实际上可直</a:t>
            </a:r>
            <a:b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接让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右移一位；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ext Box 5"/>
          <p:cNvSpPr txBox="1"/>
          <p:nvPr/>
        </p:nvSpPr>
        <p:spPr>
          <a:xfrm>
            <a:off x="137142" y="722537"/>
            <a:ext cx="8241708" cy="4892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若Y</a:t>
            </a:r>
            <a:r>
              <a:rPr lang="zh-CN" altLang="en-US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为01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A+X</a:t>
            </a:r>
            <a:r>
              <a:rPr lang="zh-CN" altLang="en-US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，右移；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若Y</a:t>
            </a:r>
            <a:r>
              <a:rPr lang="zh-CN" altLang="en-US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为10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A+[-X</a:t>
            </a:r>
            <a:r>
              <a:rPr lang="zh-CN" altLang="en-US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，右移。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在右移时，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寄存器中的第二符号位值移入尾数的最高数位（有效位的最高位），第一符号位值移入第二符号位，第一符号位本身不变，而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寄存器末位移入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操作步数：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为有效位位数的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作</a:t>
            </a:r>
            <a:r>
              <a:rPr lang="en-US" altLang="zh-CN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步循环</a:t>
            </a:r>
            <a:r>
              <a:rPr lang="en-US" altLang="zh-CN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若需作第</a:t>
            </a:r>
            <a:r>
              <a:rPr lang="en-US" altLang="zh-CN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n+1</a:t>
            </a:r>
            <a:r>
              <a:rPr lang="zh-CN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步,则不移位,仅修正（易错</a:t>
            </a:r>
            <a:r>
              <a:rPr lang="zh-CN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处）。</a:t>
            </a:r>
            <a:endParaRPr lang="zh-CN" altLang="en-US" sz="2800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44450"/>
            <a:ext cx="7637145" cy="676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026" name="Text Box 2"/>
          <p:cNvSpPr txBox="1"/>
          <p:nvPr/>
        </p:nvSpPr>
        <p:spPr>
          <a:xfrm>
            <a:off x="107950" y="116840"/>
            <a:ext cx="5562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逻辑实现</a:t>
            </a:r>
            <a:endParaRPr lang="zh-CN" altLang="en-US" sz="36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" y="845185"/>
            <a:ext cx="8395335" cy="5561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70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build="p"/>
    </p:bldLst>
  </p:timing>
</p:sld>
</file>

<file path=ppt/tags/tag1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Soaring">
  <a:themeElements>
    <a:clrScheme name="">
      <a:dk1>
        <a:srgbClr val="FFFFFF"/>
      </a:dk1>
      <a:lt1>
        <a:srgbClr val="0000FF"/>
      </a:lt1>
      <a:dk2>
        <a:srgbClr val="FFCC66"/>
      </a:dk2>
      <a:lt2>
        <a:srgbClr val="000000"/>
      </a:lt2>
      <a:accent1>
        <a:srgbClr val="00FFFF"/>
      </a:accent1>
      <a:accent2>
        <a:srgbClr val="3366FF"/>
      </a:accent2>
      <a:accent3>
        <a:srgbClr val="AAAAFF"/>
      </a:accent3>
      <a:accent4>
        <a:srgbClr val="DCDCDC"/>
      </a:accent4>
      <a:accent5>
        <a:srgbClr val="AAFFFF"/>
      </a:accent5>
      <a:accent6>
        <a:srgbClr val="2D5BE5"/>
      </a:accent6>
      <a:hlink>
        <a:srgbClr val="FF0033"/>
      </a:hlink>
      <a:folHlink>
        <a:srgbClr val="FFFF00"/>
      </a:folHlink>
    </a:clrScheme>
    <a:fontScheme name="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CC66"/>
        </a:dk2>
        <a:lt2>
          <a:srgbClr val="000000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CDCDC"/>
        </a:accent4>
        <a:accent5>
          <a:srgbClr val="AAFFFF"/>
        </a:accent5>
        <a:accent6>
          <a:srgbClr val="2D5BE5"/>
        </a:accent6>
        <a:hlink>
          <a:srgbClr val="FF0033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9CAFF"/>
        </a:accent5>
        <a:accent6>
          <a:srgbClr val="5BB7E5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D2D2D2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CC66"/>
        </a:dk2>
        <a:lt2>
          <a:srgbClr val="000000"/>
        </a:lt2>
        <a:accent1>
          <a:srgbClr val="0099CC"/>
        </a:accent1>
        <a:accent2>
          <a:srgbClr val="009999"/>
        </a:accent2>
        <a:accent3>
          <a:srgbClr val="AAC1C1"/>
        </a:accent3>
        <a:accent4>
          <a:srgbClr val="DCDCDC"/>
        </a:accent4>
        <a:accent5>
          <a:srgbClr val="AACAE2"/>
        </a:accent5>
        <a:accent6>
          <a:srgbClr val="008989"/>
        </a:accent6>
        <a:hlink>
          <a:srgbClr val="6600CC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993300"/>
        </a:lt1>
        <a:dk2>
          <a:srgbClr val="FFCC66"/>
        </a:dk2>
        <a:lt2>
          <a:srgbClr val="000000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CDCDC"/>
        </a:accent4>
        <a:accent5>
          <a:srgbClr val="FFB9AD"/>
        </a:accent5>
        <a:accent6>
          <a:srgbClr val="B75B00"/>
        </a:accent6>
        <a:hlink>
          <a:srgbClr val="CC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1741</Words>
  <Application>WPS 演示</Application>
  <PresentationFormat>在屏幕上显示</PresentationFormat>
  <Paragraphs>219</Paragraphs>
  <Slides>10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楷体</vt:lpstr>
      <vt:lpstr>黑体</vt:lpstr>
      <vt:lpstr>微软雅黑</vt:lpstr>
      <vt:lpstr>Arial Unicode MS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贝妈</cp:lastModifiedBy>
  <cp:revision>385</cp:revision>
  <dcterms:created xsi:type="dcterms:W3CDTF">2000-09-01T23:45:00Z</dcterms:created>
  <dcterms:modified xsi:type="dcterms:W3CDTF">2026-09-16T09:59:16Z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3247C28463684D8F9EB4C98F8E271DB8_13</vt:lpwstr>
  </property>
  <property fmtid="{D5CDD505-2E9C-101B-9397-08002B2CF9AE}" pid="3" name="KSOProductBuildVer">
    <vt:lpwstr>2052-12.1.0.28505</vt:lpwstr>
  </property>
</Properties>
</file>