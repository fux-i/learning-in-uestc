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417" r:id="rId3"/>
    <p:sldId id="396" r:id="rId4"/>
    <p:sldId id="280" r:id="rId5"/>
    <p:sldId id="281" r:id="rId6"/>
    <p:sldId id="299" r:id="rId7"/>
    <p:sldId id="283" r:id="rId8"/>
    <p:sldId id="416" r:id="rId9"/>
    <p:sldId id="426" r:id="rId10"/>
    <p:sldId id="408" r:id="rId11"/>
    <p:sldId id="425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66"/>
    <a:srgbClr val="FF3300"/>
    <a:srgbClr val="000099"/>
    <a:srgbClr val="FDFBFB"/>
    <a:srgbClr val="3333FF"/>
    <a:srgbClr val="F0DADA"/>
    <a:srgbClr val="F8A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2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256"/>
        <p:guide pos="2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  <p:sp>
        <p:nvSpPr>
          <p:cNvPr id="88067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  <p:sp>
        <p:nvSpPr>
          <p:cNvPr id="8909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  <p:sp>
        <p:nvSpPr>
          <p:cNvPr id="90115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6</a:t>
            </a:fld>
            <a:endParaRPr lang="zh-CN" altLang="en-US" sz="1200" dirty="0"/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7</a:t>
            </a:fld>
            <a:endParaRPr lang="zh-CN" altLang="en-US" sz="1200" dirty="0"/>
          </a:p>
        </p:txBody>
      </p:sp>
      <p:sp>
        <p:nvSpPr>
          <p:cNvPr id="92163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Arc 4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2" y="13"/>
                </a:cxn>
                <a:cxn ang="0">
                  <a:pos x="0" y="13"/>
                </a:cxn>
              </a:cxnLst>
              <a:rect l="0" t="0" r="0" b="0"/>
              <a:pathLst>
                <a:path w="21600" h="21231" fill="none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0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5600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5497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8" y="34"/>
                </a:cxn>
                <a:cxn ang="0">
                  <a:pos x="0" y="34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>
                  <a:alpha val="10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49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  <a:t>‹#›</a:t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1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221615"/>
            <a:ext cx="984821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定点数（二进制码）的乘法运算</a:t>
            </a:r>
          </a:p>
        </p:txBody>
      </p:sp>
    </p:spTree>
    <p:custDataLst>
      <p:tags r:id="rId1"/>
    </p:custDataLst>
  </p:cSld>
  <p:clrMapOvr>
    <a:masterClrMapping/>
  </p:clrMapOvr>
  <p:transition spd="slow" advTm="100219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/>
          <p:nvPr/>
        </p:nvSpPr>
        <p:spPr>
          <a:xfrm>
            <a:off x="0" y="1533525"/>
            <a:ext cx="9144000" cy="3688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引子：</a:t>
            </a:r>
          </a:p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如何以加法器为基础，实现乘法运算处理。</a:t>
            </a:r>
          </a:p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eaLnBrk="1" hangingPunct="1">
              <a:lnSpc>
                <a:spcPct val="70000"/>
              </a:lnSpc>
              <a:spcBef>
                <a:spcPct val="50000"/>
              </a:spcBef>
            </a:pP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0" eaLnBrk="1" hangingPunct="1">
              <a:lnSpc>
                <a:spcPct val="70000"/>
              </a:lnSpc>
              <a:spcBef>
                <a:spcPct val="100000"/>
              </a:spcBef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4020" name="Group 4"/>
          <p:cNvGrpSpPr/>
          <p:nvPr/>
        </p:nvGrpSpPr>
        <p:grpSpPr>
          <a:xfrm>
            <a:off x="653098" y="4580573"/>
            <a:ext cx="6705600" cy="641350"/>
            <a:chOff x="624" y="720"/>
            <a:chExt cx="4224" cy="404"/>
          </a:xfrm>
        </p:grpSpPr>
        <p:sp>
          <p:nvSpPr>
            <p:cNvPr id="25619" name="Text Box 5"/>
            <p:cNvSpPr txBox="1"/>
            <p:nvPr/>
          </p:nvSpPr>
          <p:spPr>
            <a:xfrm>
              <a:off x="624" y="720"/>
              <a:ext cx="422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乘法    部分积累</a:t>
              </a:r>
              <a:r>
                <a:rPr lang="zh-CN" altLang="en-US" sz="36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加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zh-CN" altLang="en-US" sz="36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移位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</a:p>
          </p:txBody>
        </p:sp>
        <p:sp>
          <p:nvSpPr>
            <p:cNvPr id="25620" name="Line 6"/>
            <p:cNvSpPr/>
            <p:nvPr/>
          </p:nvSpPr>
          <p:spPr>
            <a:xfrm>
              <a:off x="1344" y="96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" name="文本框 3"/>
          <p:cNvSpPr txBox="1"/>
          <p:nvPr/>
        </p:nvSpPr>
        <p:spPr>
          <a:xfrm>
            <a:off x="182880" y="3665855"/>
            <a:ext cx="2224405" cy="5791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 dirty="0">
                <a:solidFill>
                  <a:schemeClr val="folHlink"/>
                </a:solidFill>
                <a:ea typeface="黑体" panose="02010609060101010101" pitchFamily="49" charset="-122"/>
                <a:cs typeface="+mn-cs"/>
                <a:sym typeface="+mn-ea"/>
              </a:rPr>
              <a:t>解决思路：</a:t>
            </a:r>
            <a:endParaRPr lang="zh-CN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221615"/>
            <a:ext cx="984821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定点数（二进制码）的乘法运算</a:t>
            </a:r>
          </a:p>
        </p:txBody>
      </p: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2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31453">
        <p:fade thruBlk="1"/>
      </p:transition>
    </mc:Choice>
    <mc:Fallback xmlns="">
      <p:transition spd="slow" advTm="31453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Text Box 2"/>
          <p:cNvSpPr txBox="1"/>
          <p:nvPr/>
        </p:nvSpPr>
        <p:spPr>
          <a:xfrm>
            <a:off x="1322388" y="221298"/>
            <a:ext cx="62484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 </a:t>
            </a:r>
            <a:r>
              <a:rPr lang="zh-CN" altLang="en-US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定点数的乘法</a:t>
            </a:r>
          </a:p>
        </p:txBody>
      </p:sp>
      <p:grpSp>
        <p:nvGrpSpPr>
          <p:cNvPr id="214020" name="Group 4"/>
          <p:cNvGrpSpPr/>
          <p:nvPr/>
        </p:nvGrpSpPr>
        <p:grpSpPr>
          <a:xfrm>
            <a:off x="179388" y="1779588"/>
            <a:ext cx="6705600" cy="641350"/>
            <a:chOff x="624" y="720"/>
            <a:chExt cx="4224" cy="404"/>
          </a:xfrm>
        </p:grpSpPr>
        <p:sp>
          <p:nvSpPr>
            <p:cNvPr id="25619" name="Text Box 5"/>
            <p:cNvSpPr txBox="1"/>
            <p:nvPr/>
          </p:nvSpPr>
          <p:spPr>
            <a:xfrm>
              <a:off x="624" y="720"/>
              <a:ext cx="422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乘法    部分积累</a:t>
              </a:r>
              <a:r>
                <a:rPr lang="zh-CN" altLang="en-US" sz="36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加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zh-CN" altLang="en-US" sz="36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移位</a:t>
              </a: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</a:p>
          </p:txBody>
        </p:sp>
        <p:sp>
          <p:nvSpPr>
            <p:cNvPr id="25620" name="Line 6"/>
            <p:cNvSpPr/>
            <p:nvPr/>
          </p:nvSpPr>
          <p:spPr>
            <a:xfrm>
              <a:off x="1344" y="96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14023" name="Text Box 7"/>
          <p:cNvSpPr txBox="1"/>
          <p:nvPr/>
        </p:nvSpPr>
        <p:spPr>
          <a:xfrm>
            <a:off x="304800" y="4314825"/>
            <a:ext cx="4953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例.  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.1101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×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.1011</a:t>
            </a:r>
          </a:p>
        </p:txBody>
      </p:sp>
      <p:grpSp>
        <p:nvGrpSpPr>
          <p:cNvPr id="214042" name="Group 26"/>
          <p:cNvGrpSpPr/>
          <p:nvPr/>
        </p:nvGrpSpPr>
        <p:grpSpPr>
          <a:xfrm>
            <a:off x="990600" y="5068570"/>
            <a:ext cx="4419600" cy="641350"/>
            <a:chOff x="606" y="3196"/>
            <a:chExt cx="2784" cy="404"/>
          </a:xfrm>
        </p:grpSpPr>
        <p:sp>
          <p:nvSpPr>
            <p:cNvPr id="25614" name="Text Box 9"/>
            <p:cNvSpPr txBox="1"/>
            <p:nvPr/>
          </p:nvSpPr>
          <p:spPr>
            <a:xfrm>
              <a:off x="606" y="3196"/>
              <a:ext cx="278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乘积 </a:t>
              </a:r>
              <a:r>
                <a:rPr lang="en-US" altLang="zh-CN" sz="3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P = </a:t>
              </a:r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3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× </a:t>
              </a:r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5615" name="Line 10"/>
            <p:cNvSpPr/>
            <p:nvPr/>
          </p:nvSpPr>
          <p:spPr>
            <a:xfrm>
              <a:off x="1902" y="329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6" name="Line 11"/>
            <p:cNvSpPr/>
            <p:nvPr/>
          </p:nvSpPr>
          <p:spPr>
            <a:xfrm>
              <a:off x="2238" y="329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Line 12"/>
            <p:cNvSpPr/>
            <p:nvPr/>
          </p:nvSpPr>
          <p:spPr>
            <a:xfrm>
              <a:off x="2688" y="329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8" name="Line 13"/>
            <p:cNvSpPr/>
            <p:nvPr/>
          </p:nvSpPr>
          <p:spPr>
            <a:xfrm>
              <a:off x="3015" y="3292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14036" name="Line 20"/>
          <p:cNvSpPr/>
          <p:nvPr/>
        </p:nvSpPr>
        <p:spPr>
          <a:xfrm flipH="1" flipV="1">
            <a:off x="2268538" y="3773488"/>
            <a:ext cx="17462" cy="617537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stealth" w="lg" len="lg"/>
            <a:tailEnd type="none" w="med" len="med"/>
          </a:ln>
        </p:spPr>
      </p:sp>
      <p:sp>
        <p:nvSpPr>
          <p:cNvPr id="214037" name="Text Box 21"/>
          <p:cNvSpPr txBox="1"/>
          <p:nvPr/>
        </p:nvSpPr>
        <p:spPr>
          <a:xfrm>
            <a:off x="1763713" y="2981325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 eaLnBrk="0" hangingPunct="0">
              <a:spcBef>
                <a:spcPct val="50000"/>
              </a:spcBef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</a:t>
            </a:r>
          </a:p>
        </p:txBody>
      </p:sp>
      <p:sp>
        <p:nvSpPr>
          <p:cNvPr id="214038" name="Line 22"/>
          <p:cNvSpPr/>
          <p:nvPr/>
        </p:nvSpPr>
        <p:spPr>
          <a:xfrm flipV="1">
            <a:off x="3492500" y="3727450"/>
            <a:ext cx="20638" cy="693738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stealth" w="lg" len="lg"/>
            <a:tailEnd type="none" w="med" len="med"/>
          </a:ln>
        </p:spPr>
      </p:sp>
      <p:sp>
        <p:nvSpPr>
          <p:cNvPr id="214039" name="Text Box 23"/>
          <p:cNvSpPr txBox="1"/>
          <p:nvPr/>
        </p:nvSpPr>
        <p:spPr>
          <a:xfrm>
            <a:off x="3059113" y="2981325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0" hangingPunct="0">
              <a:spcBef>
                <a:spcPct val="50000"/>
              </a:spcBef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</a:t>
            </a:r>
          </a:p>
        </p:txBody>
      </p:sp>
      <p:grpSp>
        <p:nvGrpSpPr>
          <p:cNvPr id="214043" name="Group 27"/>
          <p:cNvGrpSpPr/>
          <p:nvPr/>
        </p:nvGrpSpPr>
        <p:grpSpPr>
          <a:xfrm>
            <a:off x="990600" y="5822950"/>
            <a:ext cx="4953000" cy="701675"/>
            <a:chOff x="624" y="3686"/>
            <a:chExt cx="3120" cy="442"/>
          </a:xfrm>
        </p:grpSpPr>
        <p:sp>
          <p:nvSpPr>
            <p:cNvPr id="25612" name="Text Box 15"/>
            <p:cNvSpPr txBox="1"/>
            <p:nvPr/>
          </p:nvSpPr>
          <p:spPr>
            <a:xfrm>
              <a:off x="624" y="3686"/>
              <a:ext cx="312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4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积符 </a:t>
              </a:r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4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S</a:t>
              </a:r>
              <a:r>
                <a:rPr lang="en-US" altLang="zh-CN" sz="4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4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S</a:t>
              </a:r>
              <a:r>
                <a:rPr lang="en-US" altLang="zh-CN" sz="4000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5613" name="Oval 24"/>
            <p:cNvSpPr/>
            <p:nvPr/>
          </p:nvSpPr>
          <p:spPr>
            <a:xfrm>
              <a:off x="2352" y="3801"/>
              <a:ext cx="240" cy="24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0" hangingPunct="0"/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</a:p>
          </p:txBody>
        </p:sp>
      </p:grp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3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p:transition spd="slow" advTm="54844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3" grpId="0"/>
      <p:bldP spid="214037" grpId="0"/>
      <p:bldP spid="2140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84" name="Oval 20"/>
          <p:cNvSpPr/>
          <p:nvPr/>
        </p:nvSpPr>
        <p:spPr>
          <a:xfrm>
            <a:off x="4052888" y="692150"/>
            <a:ext cx="1152525" cy="4318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149225" y="6350"/>
            <a:ext cx="52863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手工运算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0.1101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    ×0.1011</a:t>
            </a:r>
          </a:p>
        </p:txBody>
      </p:sp>
      <p:sp>
        <p:nvSpPr>
          <p:cNvPr id="216067" name="Text Box 3"/>
          <p:cNvSpPr txBox="1"/>
          <p:nvPr/>
        </p:nvSpPr>
        <p:spPr>
          <a:xfrm>
            <a:off x="1066800" y="1370013"/>
            <a:ext cx="4419600" cy="2014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1101</a:t>
            </a:r>
          </a:p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1101</a:t>
            </a:r>
          </a:p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0000</a:t>
            </a:r>
          </a:p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1101</a:t>
            </a:r>
          </a:p>
        </p:txBody>
      </p:sp>
      <p:sp>
        <p:nvSpPr>
          <p:cNvPr id="216068" name="Line 4"/>
          <p:cNvSpPr/>
          <p:nvPr/>
        </p:nvSpPr>
        <p:spPr>
          <a:xfrm>
            <a:off x="3124200" y="1217613"/>
            <a:ext cx="2057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6069" name="Line 5"/>
          <p:cNvSpPr/>
          <p:nvPr/>
        </p:nvSpPr>
        <p:spPr>
          <a:xfrm>
            <a:off x="2895600" y="3124200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6070" name="Line 6"/>
          <p:cNvSpPr/>
          <p:nvPr/>
        </p:nvSpPr>
        <p:spPr>
          <a:xfrm flipH="1">
            <a:off x="3048000" y="29718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6071" name="Line 7"/>
          <p:cNvSpPr/>
          <p:nvPr/>
        </p:nvSpPr>
        <p:spPr>
          <a:xfrm>
            <a:off x="2743200" y="337185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6072" name="Text Box 8"/>
          <p:cNvSpPr txBox="1"/>
          <p:nvPr/>
        </p:nvSpPr>
        <p:spPr>
          <a:xfrm>
            <a:off x="157163" y="3328988"/>
            <a:ext cx="5364162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zh-CN" altLang="en-US" sz="36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.10001111</a:t>
            </a:r>
          </a:p>
          <a:p>
            <a:pPr lvl="0" eaLnBrk="1" hangingPunct="1"/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添加符号： </a:t>
            </a:r>
            <a:r>
              <a:rPr lang="zh-CN" altLang="en-US" sz="3600" b="1" u="sng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.10001111</a:t>
            </a:r>
          </a:p>
        </p:txBody>
      </p:sp>
      <p:sp>
        <p:nvSpPr>
          <p:cNvPr id="216073" name="Line 9"/>
          <p:cNvSpPr/>
          <p:nvPr/>
        </p:nvSpPr>
        <p:spPr>
          <a:xfrm>
            <a:off x="5334000" y="1446213"/>
            <a:ext cx="838200" cy="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16074" name="Text Box 10"/>
          <p:cNvSpPr txBox="1"/>
          <p:nvPr/>
        </p:nvSpPr>
        <p:spPr>
          <a:xfrm>
            <a:off x="6248400" y="1065530"/>
            <a:ext cx="2146935" cy="640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部分积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16075" name="Text Box 11"/>
          <p:cNvSpPr txBox="1"/>
          <p:nvPr/>
        </p:nvSpPr>
        <p:spPr>
          <a:xfrm>
            <a:off x="144463" y="4878388"/>
            <a:ext cx="6804025" cy="1617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困难：</a:t>
            </a:r>
            <a:r>
              <a:rPr lang="zh-CN" altLang="en-US" sz="32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1）加数增多情况</a:t>
            </a:r>
          </a:p>
          <a:p>
            <a:pPr lvl="0"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FDFBF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2）加数的位数增多的情况</a:t>
            </a:r>
          </a:p>
          <a:p>
            <a:pPr lvl="0" algn="just" eaLnBrk="1" hangingPunct="1">
              <a:spcBef>
                <a:spcPct val="20000"/>
              </a:spcBef>
            </a:pP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改进：</a:t>
            </a:r>
          </a:p>
        </p:txBody>
      </p:sp>
      <p:sp>
        <p:nvSpPr>
          <p:cNvPr id="216076" name="Rectangle 12"/>
          <p:cNvSpPr>
            <a:spLocks noChangeArrowheads="1"/>
          </p:cNvSpPr>
          <p:nvPr/>
        </p:nvSpPr>
        <p:spPr bwMode="auto">
          <a:xfrm>
            <a:off x="1376363" y="5849938"/>
            <a:ext cx="6607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将一次相加改为分步移位累加。</a:t>
            </a:r>
          </a:p>
        </p:txBody>
      </p:sp>
      <p:sp>
        <p:nvSpPr>
          <p:cNvPr id="216077" name="AutoShape 13"/>
          <p:cNvSpPr/>
          <p:nvPr/>
        </p:nvSpPr>
        <p:spPr>
          <a:xfrm>
            <a:off x="5191125" y="1484313"/>
            <a:ext cx="288925" cy="1728787"/>
          </a:xfrm>
          <a:prstGeom prst="rightBrace">
            <a:avLst>
              <a:gd name="adj1" fmla="val 49862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6078" name="Freeform 14"/>
          <p:cNvSpPr/>
          <p:nvPr/>
        </p:nvSpPr>
        <p:spPr>
          <a:xfrm>
            <a:off x="4932363" y="2349500"/>
            <a:ext cx="1774825" cy="28194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0" t="0" r="0" b="0"/>
            <a:pathLst>
              <a:path w="1118" h="1776">
                <a:moveTo>
                  <a:pt x="0" y="1723"/>
                </a:moveTo>
                <a:cubicBezTo>
                  <a:pt x="128" y="1749"/>
                  <a:pt x="257" y="1776"/>
                  <a:pt x="363" y="1723"/>
                </a:cubicBezTo>
                <a:cubicBezTo>
                  <a:pt x="469" y="1670"/>
                  <a:pt x="514" y="1587"/>
                  <a:pt x="635" y="1406"/>
                </a:cubicBezTo>
                <a:cubicBezTo>
                  <a:pt x="756" y="1225"/>
                  <a:pt x="1058" y="839"/>
                  <a:pt x="1088" y="635"/>
                </a:cubicBezTo>
                <a:cubicBezTo>
                  <a:pt x="1118" y="431"/>
                  <a:pt x="922" y="287"/>
                  <a:pt x="816" y="181"/>
                </a:cubicBezTo>
                <a:cubicBezTo>
                  <a:pt x="710" y="75"/>
                  <a:pt x="581" y="37"/>
                  <a:pt x="453" y="0"/>
                </a:cubicBez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oval" w="lg" len="lg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079" name="Text Box 15"/>
          <p:cNvSpPr txBox="1"/>
          <p:nvPr/>
        </p:nvSpPr>
        <p:spPr>
          <a:xfrm>
            <a:off x="4845050" y="692150"/>
            <a:ext cx="288925" cy="406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endParaRPr lang="en-US" altLang="zh-CN" sz="2000" b="1" u="sng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6081" name="Text Box 17"/>
          <p:cNvSpPr txBox="1"/>
          <p:nvPr/>
        </p:nvSpPr>
        <p:spPr>
          <a:xfrm>
            <a:off x="4643438" y="677863"/>
            <a:ext cx="215900" cy="406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endParaRPr lang="en-US" altLang="zh-CN" sz="2000" b="1" u="sng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6082" name="Text Box 18"/>
          <p:cNvSpPr txBox="1"/>
          <p:nvPr/>
        </p:nvSpPr>
        <p:spPr>
          <a:xfrm>
            <a:off x="4356100" y="692150"/>
            <a:ext cx="287338" cy="406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endParaRPr lang="en-US" altLang="zh-CN" sz="2000" b="1" u="sng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6083" name="Text Box 19"/>
          <p:cNvSpPr txBox="1"/>
          <p:nvPr/>
        </p:nvSpPr>
        <p:spPr>
          <a:xfrm>
            <a:off x="4154488" y="692150"/>
            <a:ext cx="215900" cy="406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lvl="0" algn="ctr" eaLnBrk="1" hangingPunct="1">
              <a:spcBef>
                <a:spcPct val="50000"/>
              </a:spcBef>
            </a:pPr>
            <a:endParaRPr lang="en-US" altLang="zh-CN" sz="2000" b="1" u="sng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6085" name="Oval 21"/>
          <p:cNvSpPr/>
          <p:nvPr/>
        </p:nvSpPr>
        <p:spPr>
          <a:xfrm>
            <a:off x="4081463" y="144463"/>
            <a:ext cx="1152525" cy="4318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199380" y="1674495"/>
            <a:ext cx="3114040" cy="640080"/>
            <a:chOff x="7696" y="2556"/>
            <a:chExt cx="4200" cy="1008"/>
          </a:xfrm>
        </p:grpSpPr>
        <p:sp>
          <p:nvSpPr>
            <p:cNvPr id="3" name="Line 9"/>
            <p:cNvSpPr/>
            <p:nvPr/>
          </p:nvSpPr>
          <p:spPr>
            <a:xfrm>
              <a:off x="7696" y="3156"/>
              <a:ext cx="132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4" name="Text Box 10"/>
            <p:cNvSpPr txBox="1"/>
            <p:nvPr/>
          </p:nvSpPr>
          <p:spPr>
            <a:xfrm>
              <a:off x="9136" y="2556"/>
              <a:ext cx="2760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部分积</a:t>
              </a:r>
              <a:r>
                <a:rPr lang="en-US" altLang="zh-CN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182870" y="2232025"/>
            <a:ext cx="3114040" cy="640080"/>
            <a:chOff x="7696" y="2556"/>
            <a:chExt cx="4200" cy="1008"/>
          </a:xfrm>
        </p:grpSpPr>
        <p:sp>
          <p:nvSpPr>
            <p:cNvPr id="9" name="Line 9"/>
            <p:cNvSpPr/>
            <p:nvPr/>
          </p:nvSpPr>
          <p:spPr>
            <a:xfrm>
              <a:off x="7696" y="3156"/>
              <a:ext cx="132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" name="Text Box 10"/>
            <p:cNvSpPr txBox="1"/>
            <p:nvPr/>
          </p:nvSpPr>
          <p:spPr>
            <a:xfrm>
              <a:off x="9136" y="2556"/>
              <a:ext cx="2760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部分积</a:t>
              </a:r>
              <a:r>
                <a:rPr lang="en-US" altLang="zh-CN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182870" y="2806065"/>
            <a:ext cx="3114040" cy="640080"/>
            <a:chOff x="7696" y="2556"/>
            <a:chExt cx="4200" cy="1008"/>
          </a:xfrm>
        </p:grpSpPr>
        <p:sp>
          <p:nvSpPr>
            <p:cNvPr id="12" name="Line 9"/>
            <p:cNvSpPr/>
            <p:nvPr/>
          </p:nvSpPr>
          <p:spPr>
            <a:xfrm>
              <a:off x="7696" y="3156"/>
              <a:ext cx="1320" cy="0"/>
            </a:xfrm>
            <a:prstGeom prst="line">
              <a:avLst/>
            </a:prstGeom>
            <a:ln w="38100" cap="flat" cmpd="sng">
              <a:solidFill>
                <a:schemeClr val="accent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3" name="Text Box 10"/>
            <p:cNvSpPr txBox="1"/>
            <p:nvPr/>
          </p:nvSpPr>
          <p:spPr>
            <a:xfrm>
              <a:off x="9136" y="2556"/>
              <a:ext cx="2760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部分积</a:t>
              </a:r>
              <a:r>
                <a:rPr lang="en-US" altLang="zh-CN" sz="36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14" name="Oval 21"/>
          <p:cNvSpPr/>
          <p:nvPr/>
        </p:nvSpPr>
        <p:spPr>
          <a:xfrm>
            <a:off x="3564255" y="1196975"/>
            <a:ext cx="1797050" cy="1035050"/>
          </a:xfrm>
          <a:prstGeom prst="ellipse">
            <a:avLst/>
          </a:prstGeom>
          <a:noFill/>
          <a:ln w="28575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4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76680" y="1268730"/>
            <a:ext cx="972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step1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76680" y="1800860"/>
            <a:ext cx="972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step2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03985" y="2232025"/>
            <a:ext cx="972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step3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76680" y="2816225"/>
            <a:ext cx="972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FF00"/>
                </a:solidFill>
              </a:rPr>
              <a:t>step4</a:t>
            </a:r>
          </a:p>
        </p:txBody>
      </p:sp>
    </p:spTree>
    <p:custDataLst>
      <p:tags r:id="rId1"/>
    </p:custDataLst>
  </p:cSld>
  <p:clrMapOvr>
    <a:masterClrMapping/>
  </p:clrMapOvr>
  <p:transition spd="slow" advTm="20339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2160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6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10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16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216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21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3" dur="2000"/>
                                        <p:tgtEl>
                                          <p:spTgt spid="2160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6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1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1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6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16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4" grpId="0" animBg="1"/>
      <p:bldP spid="216066" grpId="0" uiExpand="1" build="p"/>
      <p:bldP spid="216067" grpId="0" uiExpand="1" build="p"/>
      <p:bldP spid="216072" grpId="0" build="p"/>
      <p:bldP spid="216074" grpId="0" build="p" advAuto="1000"/>
      <p:bldP spid="216075" grpId="0" uiExpand="1" build="p"/>
      <p:bldP spid="216076" grpId="0"/>
      <p:bldP spid="216077" grpId="0" animBg="1"/>
      <p:bldP spid="216079" grpId="0" animBg="1"/>
      <p:bldP spid="216081" grpId="0" animBg="1"/>
      <p:bldP spid="216082" grpId="0" animBg="1"/>
      <p:bldP spid="216083" grpId="0" animBg="1"/>
      <p:bldP spid="216085" grpId="0" animBg="1"/>
      <p:bldP spid="14" grpId="0" bldLvl="0" animBg="1"/>
      <p:bldP spid="2" grpId="0"/>
      <p:bldP spid="2" grpId="1"/>
      <p:bldP spid="6" grpId="0"/>
      <p:bldP spid="6" grpId="1"/>
      <p:bldP spid="7" grpId="0"/>
      <p:bldP spid="7" grpId="1"/>
      <p:bldP spid="15" grpId="0"/>
      <p:bldP spid="1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Text Box 2"/>
          <p:cNvSpPr txBox="1">
            <a:spLocks noChangeArrowheads="1"/>
          </p:cNvSpPr>
          <p:nvPr/>
        </p:nvSpPr>
        <p:spPr bwMode="auto">
          <a:xfrm>
            <a:off x="49213" y="15875"/>
            <a:ext cx="39608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原码一位乘法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8115" name="Text Box 3"/>
          <p:cNvSpPr txBox="1"/>
          <p:nvPr/>
        </p:nvSpPr>
        <p:spPr>
          <a:xfrm>
            <a:off x="76200" y="725488"/>
            <a:ext cx="8686800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en-US" altLang="zh-CN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每次将一位乘数所对应的部分积与原部分积的累加和相加，并移位。</a:t>
            </a:r>
          </a:p>
        </p:txBody>
      </p:sp>
      <p:sp>
        <p:nvSpPr>
          <p:cNvPr id="218116" name="Text Box 4"/>
          <p:cNvSpPr txBox="1"/>
          <p:nvPr/>
        </p:nvSpPr>
        <p:spPr>
          <a:xfrm>
            <a:off x="0" y="2133600"/>
            <a:ext cx="8893175" cy="2374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设置寄存器：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存放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部分积累加和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存放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被乘数</a:t>
            </a:r>
          </a:p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存放</a:t>
            </a:r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乘数、乘积低位</a:t>
            </a:r>
            <a:r>
              <a:rPr lang="zh-CN" altLang="en-US" sz="3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grpSp>
        <p:nvGrpSpPr>
          <p:cNvPr id="218123" name="Group 11"/>
          <p:cNvGrpSpPr/>
          <p:nvPr/>
        </p:nvGrpSpPr>
        <p:grpSpPr>
          <a:xfrm>
            <a:off x="65088" y="4521200"/>
            <a:ext cx="7315200" cy="2292350"/>
            <a:chOff x="0" y="2911"/>
            <a:chExt cx="4608" cy="1357"/>
          </a:xfrm>
        </p:grpSpPr>
        <p:sp>
          <p:nvSpPr>
            <p:cNvPr id="27655" name="Text Box 6"/>
            <p:cNvSpPr txBox="1"/>
            <p:nvPr/>
          </p:nvSpPr>
          <p:spPr>
            <a:xfrm>
              <a:off x="0" y="2911"/>
              <a:ext cx="4608" cy="132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设置初值：</a:t>
              </a:r>
            </a:p>
            <a:p>
              <a:pPr lvl="0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</a:t>
              </a:r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A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= 00.0000</a:t>
              </a:r>
              <a:endParaRPr lang="en-US" altLang="zh-CN" sz="3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lvl="0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</a:t>
              </a:r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B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= </a:t>
              </a:r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= 00.1101</a:t>
              </a:r>
            </a:p>
            <a:p>
              <a:pPr lvl="0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</a:t>
              </a:r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C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= </a:t>
              </a:r>
              <a:r>
                <a:rPr lang="en-US" altLang="zh-CN" sz="36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=   .1011</a:t>
              </a:r>
              <a:r>
                <a:rPr lang="en-US" altLang="zh-CN" sz="3600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</a:p>
          </p:txBody>
        </p:sp>
        <p:sp>
          <p:nvSpPr>
            <p:cNvPr id="27656" name="Line 7"/>
            <p:cNvSpPr/>
            <p:nvPr/>
          </p:nvSpPr>
          <p:spPr>
            <a:xfrm>
              <a:off x="1793" y="3683"/>
              <a:ext cx="0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7" name="Line 8"/>
            <p:cNvSpPr/>
            <p:nvPr/>
          </p:nvSpPr>
          <p:spPr>
            <a:xfrm>
              <a:off x="2124" y="3683"/>
              <a:ext cx="0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8" name="Line 9"/>
            <p:cNvSpPr/>
            <p:nvPr/>
          </p:nvSpPr>
          <p:spPr>
            <a:xfrm flipH="1">
              <a:off x="1806" y="4041"/>
              <a:ext cx="0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59" name="Line 10"/>
            <p:cNvSpPr/>
            <p:nvPr/>
          </p:nvSpPr>
          <p:spPr>
            <a:xfrm flipH="1">
              <a:off x="2111" y="4041"/>
              <a:ext cx="0" cy="2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5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p:transition spd="slow" advTm="186843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8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build="p"/>
      <p:bldP spid="218115" grpId="0"/>
      <p:bldP spid="21811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Text Box 2"/>
          <p:cNvSpPr txBox="1"/>
          <p:nvPr/>
        </p:nvSpPr>
        <p:spPr>
          <a:xfrm>
            <a:off x="0" y="-26987"/>
            <a:ext cx="8763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  条件    操作       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         </a:t>
            </a:r>
            <a:r>
              <a:rPr lang="en-US" altLang="zh-CN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260099" name="Text Box 3"/>
          <p:cNvSpPr txBox="1"/>
          <p:nvPr/>
        </p:nvSpPr>
        <p:spPr>
          <a:xfrm>
            <a:off x="4800600" y="609600"/>
            <a:ext cx="4343400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00.0000   .101</a:t>
            </a:r>
            <a:r>
              <a:rPr lang="en-US" altLang="zh-CN" sz="3600" b="1" u="sng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  <p:sp>
        <p:nvSpPr>
          <p:cNvPr id="260100" name="Text Box 4"/>
          <p:cNvSpPr txBox="1"/>
          <p:nvPr/>
        </p:nvSpPr>
        <p:spPr>
          <a:xfrm>
            <a:off x="228600" y="838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60101" name="Text Box 5"/>
          <p:cNvSpPr txBox="1"/>
          <p:nvPr/>
        </p:nvSpPr>
        <p:spPr>
          <a:xfrm>
            <a:off x="1676400" y="8382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260102" name="Text Box 6"/>
          <p:cNvSpPr txBox="1"/>
          <p:nvPr/>
        </p:nvSpPr>
        <p:spPr>
          <a:xfrm>
            <a:off x="3429000" y="838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</a:p>
        </p:txBody>
      </p:sp>
      <p:sp>
        <p:nvSpPr>
          <p:cNvPr id="260103" name="Text Box 7"/>
          <p:cNvSpPr txBox="1"/>
          <p:nvPr/>
        </p:nvSpPr>
        <p:spPr>
          <a:xfrm>
            <a:off x="8148638" y="-42862"/>
            <a:ext cx="7731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endParaRPr lang="en-US" altLang="zh-CN" sz="36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0104" name="Text Box 8"/>
          <p:cNvSpPr txBox="1"/>
          <p:nvPr/>
        </p:nvSpPr>
        <p:spPr>
          <a:xfrm>
            <a:off x="4572000" y="8382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</a:p>
        </p:txBody>
      </p:sp>
      <p:sp>
        <p:nvSpPr>
          <p:cNvPr id="260105" name="Line 9"/>
          <p:cNvSpPr/>
          <p:nvPr/>
        </p:nvSpPr>
        <p:spPr>
          <a:xfrm>
            <a:off x="4648200" y="1447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0106" name="Text Box 10"/>
          <p:cNvSpPr txBox="1"/>
          <p:nvPr/>
        </p:nvSpPr>
        <p:spPr>
          <a:xfrm>
            <a:off x="5029200" y="12954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0107" name="Group 11"/>
          <p:cNvGrpSpPr/>
          <p:nvPr/>
        </p:nvGrpSpPr>
        <p:grpSpPr>
          <a:xfrm>
            <a:off x="-304800" y="3505200"/>
            <a:ext cx="3581400" cy="3352800"/>
            <a:chOff x="-192" y="2208"/>
            <a:chExt cx="2256" cy="2112"/>
          </a:xfrm>
        </p:grpSpPr>
        <p:sp>
          <p:nvSpPr>
            <p:cNvPr id="28732" name="Text Box 12"/>
            <p:cNvSpPr txBox="1"/>
            <p:nvPr/>
          </p:nvSpPr>
          <p:spPr>
            <a:xfrm>
              <a:off x="-192" y="2256"/>
              <a:ext cx="2208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0.1101</a:t>
              </a:r>
            </a:p>
            <a:p>
              <a:pPr lvl="0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×0.101</a:t>
              </a:r>
              <a:r>
                <a:rPr lang="en-US" altLang="zh-CN" sz="32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733" name="Text Box 13"/>
            <p:cNvSpPr txBox="1"/>
            <p:nvPr/>
          </p:nvSpPr>
          <p:spPr>
            <a:xfrm>
              <a:off x="-192" y="2928"/>
              <a:ext cx="2256" cy="10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1101        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 1101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 0000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  1101</a:t>
              </a:r>
            </a:p>
          </p:txBody>
        </p:sp>
        <p:sp>
          <p:nvSpPr>
            <p:cNvPr id="28734" name="Line 14"/>
            <p:cNvSpPr/>
            <p:nvPr/>
          </p:nvSpPr>
          <p:spPr>
            <a:xfrm>
              <a:off x="432" y="2832"/>
              <a:ext cx="1296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5" name="Line 15"/>
            <p:cNvSpPr/>
            <p:nvPr/>
          </p:nvSpPr>
          <p:spPr>
            <a:xfrm>
              <a:off x="288" y="3822"/>
              <a:ext cx="19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6" name="Line 16"/>
            <p:cNvSpPr/>
            <p:nvPr/>
          </p:nvSpPr>
          <p:spPr>
            <a:xfrm flipH="1">
              <a:off x="384" y="3693"/>
              <a:ext cx="1" cy="2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7" name="Line 17"/>
            <p:cNvSpPr/>
            <p:nvPr/>
          </p:nvSpPr>
          <p:spPr>
            <a:xfrm>
              <a:off x="192" y="3984"/>
              <a:ext cx="148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8" name="Text Box 18"/>
            <p:cNvSpPr txBox="1"/>
            <p:nvPr/>
          </p:nvSpPr>
          <p:spPr>
            <a:xfrm>
              <a:off x="-48" y="4062"/>
              <a:ext cx="2064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0.10001111</a:t>
              </a:r>
            </a:p>
          </p:txBody>
        </p:sp>
        <p:sp>
          <p:nvSpPr>
            <p:cNvPr id="28739" name="Text Box 19"/>
            <p:cNvSpPr txBox="1"/>
            <p:nvPr/>
          </p:nvSpPr>
          <p:spPr>
            <a:xfrm>
              <a:off x="1680" y="220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8740" name="Text Box 20"/>
            <p:cNvSpPr txBox="1"/>
            <p:nvPr/>
          </p:nvSpPr>
          <p:spPr>
            <a:xfrm>
              <a:off x="1680" y="249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28741" name="Line 21"/>
            <p:cNvSpPr/>
            <p:nvPr/>
          </p:nvSpPr>
          <p:spPr>
            <a:xfrm>
              <a:off x="1488" y="2352"/>
              <a:ext cx="24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2" name="Line 22"/>
            <p:cNvSpPr/>
            <p:nvPr/>
          </p:nvSpPr>
          <p:spPr>
            <a:xfrm>
              <a:off x="1488" y="2640"/>
              <a:ext cx="24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0119" name="Text Box 23"/>
          <p:cNvSpPr txBox="1"/>
          <p:nvPr/>
        </p:nvSpPr>
        <p:spPr>
          <a:xfrm>
            <a:off x="-304800" y="4648200"/>
            <a:ext cx="3581400" cy="72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4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        </a:t>
            </a:r>
          </a:p>
          <a:p>
            <a:pPr lvl="0"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</a:p>
        </p:txBody>
      </p:sp>
      <p:sp>
        <p:nvSpPr>
          <p:cNvPr id="260120" name="Line 24"/>
          <p:cNvSpPr/>
          <p:nvPr/>
        </p:nvSpPr>
        <p:spPr>
          <a:xfrm>
            <a:off x="3505200" y="21336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0121" name="Text Box 25"/>
          <p:cNvSpPr txBox="1"/>
          <p:nvPr/>
        </p:nvSpPr>
        <p:spPr>
          <a:xfrm>
            <a:off x="5029200" y="1752600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22" name="Text Box 26"/>
          <p:cNvSpPr txBox="1"/>
          <p:nvPr/>
        </p:nvSpPr>
        <p:spPr>
          <a:xfrm>
            <a:off x="7391400" y="1752600"/>
            <a:ext cx="1676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.10</a:t>
            </a:r>
            <a:r>
              <a:rPr lang="en-US" altLang="zh-CN" sz="3600" b="1" u="sng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60123" name="Line 27"/>
          <p:cNvSpPr/>
          <p:nvPr/>
        </p:nvSpPr>
        <p:spPr>
          <a:xfrm>
            <a:off x="6858000" y="1676400"/>
            <a:ext cx="53340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0124" name="Text Box 28"/>
          <p:cNvSpPr txBox="1"/>
          <p:nvPr/>
        </p:nvSpPr>
        <p:spPr>
          <a:xfrm>
            <a:off x="-304800" y="3581400"/>
            <a:ext cx="3505200" cy="82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0.1101</a:t>
            </a:r>
          </a:p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×0.10</a:t>
            </a: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60125" name="Text Box 29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60126" name="Text Box 30"/>
          <p:cNvSpPr txBox="1"/>
          <p:nvPr/>
        </p:nvSpPr>
        <p:spPr>
          <a:xfrm>
            <a:off x="1676400" y="2209800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260127" name="Text Box 31"/>
          <p:cNvSpPr txBox="1"/>
          <p:nvPr/>
        </p:nvSpPr>
        <p:spPr>
          <a:xfrm>
            <a:off x="34290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</a:p>
        </p:txBody>
      </p:sp>
      <p:sp>
        <p:nvSpPr>
          <p:cNvPr id="260128" name="Text Box 32"/>
          <p:cNvSpPr txBox="1"/>
          <p:nvPr/>
        </p:nvSpPr>
        <p:spPr>
          <a:xfrm>
            <a:off x="4572000" y="2209800"/>
            <a:ext cx="2438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</a:p>
        </p:txBody>
      </p:sp>
      <p:sp>
        <p:nvSpPr>
          <p:cNvPr id="260129" name="Line 33"/>
          <p:cNvSpPr/>
          <p:nvPr/>
        </p:nvSpPr>
        <p:spPr>
          <a:xfrm>
            <a:off x="4648200" y="28194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0130" name="Text Box 34"/>
          <p:cNvSpPr txBox="1"/>
          <p:nvPr/>
        </p:nvSpPr>
        <p:spPr>
          <a:xfrm>
            <a:off x="5029200" y="26670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</a:p>
        </p:txBody>
      </p:sp>
      <p:sp>
        <p:nvSpPr>
          <p:cNvPr id="260131" name="Text Box 35"/>
          <p:cNvSpPr txBox="1"/>
          <p:nvPr/>
        </p:nvSpPr>
        <p:spPr>
          <a:xfrm>
            <a:off x="5029200" y="3124200"/>
            <a:ext cx="2133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32" name="Line 36"/>
          <p:cNvSpPr/>
          <p:nvPr/>
        </p:nvSpPr>
        <p:spPr>
          <a:xfrm>
            <a:off x="3505200" y="3505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0133" name="Text Box 37"/>
          <p:cNvSpPr txBox="1"/>
          <p:nvPr/>
        </p:nvSpPr>
        <p:spPr>
          <a:xfrm>
            <a:off x="7391400" y="3124200"/>
            <a:ext cx="1676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.1</a:t>
            </a:r>
            <a:r>
              <a:rPr lang="en-US" altLang="zh-CN" sz="3600" b="1" u="sng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260134" name="Text Box 38"/>
          <p:cNvSpPr txBox="1"/>
          <p:nvPr/>
        </p:nvSpPr>
        <p:spPr>
          <a:xfrm>
            <a:off x="-304800" y="3581400"/>
            <a:ext cx="3505200" cy="825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0.1101</a:t>
            </a:r>
          </a:p>
          <a:p>
            <a:pPr lvl="0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×0.1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</a:p>
        </p:txBody>
      </p:sp>
      <p:grpSp>
        <p:nvGrpSpPr>
          <p:cNvPr id="260135" name="Group 39"/>
          <p:cNvGrpSpPr/>
          <p:nvPr/>
        </p:nvGrpSpPr>
        <p:grpSpPr>
          <a:xfrm>
            <a:off x="-309562" y="3502025"/>
            <a:ext cx="3581400" cy="3352800"/>
            <a:chOff x="2784" y="768"/>
            <a:chExt cx="2256" cy="2112"/>
          </a:xfrm>
        </p:grpSpPr>
        <p:sp>
          <p:nvSpPr>
            <p:cNvPr id="28721" name="Text Box 40"/>
            <p:cNvSpPr txBox="1"/>
            <p:nvPr/>
          </p:nvSpPr>
          <p:spPr>
            <a:xfrm>
              <a:off x="2784" y="816"/>
              <a:ext cx="2208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</a:t>
              </a: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0.1101</a:t>
              </a:r>
            </a:p>
            <a:p>
              <a:pPr lvl="0"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×0.1011</a:t>
              </a:r>
            </a:p>
          </p:txBody>
        </p:sp>
        <p:sp>
          <p:nvSpPr>
            <p:cNvPr id="28722" name="Text Box 41"/>
            <p:cNvSpPr txBox="1"/>
            <p:nvPr/>
          </p:nvSpPr>
          <p:spPr>
            <a:xfrm>
              <a:off x="2784" y="1488"/>
              <a:ext cx="2256" cy="10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</a:t>
              </a: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1101        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1101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0000</a:t>
              </a:r>
            </a:p>
            <a:p>
              <a:pPr lvl="0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1101</a:t>
              </a:r>
            </a:p>
          </p:txBody>
        </p:sp>
        <p:sp>
          <p:nvSpPr>
            <p:cNvPr id="28723" name="Line 42"/>
            <p:cNvSpPr/>
            <p:nvPr/>
          </p:nvSpPr>
          <p:spPr>
            <a:xfrm>
              <a:off x="3408" y="1392"/>
              <a:ext cx="1296" cy="1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4" name="Line 43"/>
            <p:cNvSpPr/>
            <p:nvPr/>
          </p:nvSpPr>
          <p:spPr>
            <a:xfrm>
              <a:off x="3264" y="2382"/>
              <a:ext cx="192" cy="1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5" name="Line 44"/>
            <p:cNvSpPr/>
            <p:nvPr/>
          </p:nvSpPr>
          <p:spPr>
            <a:xfrm flipH="1">
              <a:off x="3360" y="2253"/>
              <a:ext cx="1" cy="225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6" name="Line 45"/>
            <p:cNvSpPr/>
            <p:nvPr/>
          </p:nvSpPr>
          <p:spPr>
            <a:xfrm>
              <a:off x="3168" y="2544"/>
              <a:ext cx="1488" cy="1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27" name="Text Box 46"/>
            <p:cNvSpPr txBox="1"/>
            <p:nvPr/>
          </p:nvSpPr>
          <p:spPr>
            <a:xfrm>
              <a:off x="2928" y="2622"/>
              <a:ext cx="2064" cy="2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0.10001111</a:t>
              </a:r>
            </a:p>
          </p:txBody>
        </p:sp>
        <p:sp>
          <p:nvSpPr>
            <p:cNvPr id="28728" name="Text Box 47"/>
            <p:cNvSpPr txBox="1"/>
            <p:nvPr/>
          </p:nvSpPr>
          <p:spPr>
            <a:xfrm>
              <a:off x="4656" y="76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8729" name="Text Box 48"/>
            <p:cNvSpPr txBox="1"/>
            <p:nvPr/>
          </p:nvSpPr>
          <p:spPr>
            <a:xfrm>
              <a:off x="4656" y="105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28730" name="Line 49"/>
            <p:cNvSpPr/>
            <p:nvPr/>
          </p:nvSpPr>
          <p:spPr>
            <a:xfrm>
              <a:off x="4464" y="912"/>
              <a:ext cx="24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31" name="Line 50"/>
            <p:cNvSpPr/>
            <p:nvPr/>
          </p:nvSpPr>
          <p:spPr>
            <a:xfrm>
              <a:off x="4464" y="1200"/>
              <a:ext cx="240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0147" name="Text Box 51"/>
          <p:cNvSpPr txBox="1"/>
          <p:nvPr/>
        </p:nvSpPr>
        <p:spPr>
          <a:xfrm>
            <a:off x="2286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60148" name="Text Box 52"/>
          <p:cNvSpPr txBox="1"/>
          <p:nvPr/>
        </p:nvSpPr>
        <p:spPr>
          <a:xfrm>
            <a:off x="1676400" y="3581400"/>
            <a:ext cx="1371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</a:p>
        </p:txBody>
      </p:sp>
      <p:sp>
        <p:nvSpPr>
          <p:cNvPr id="260149" name="Text Box 53"/>
          <p:cNvSpPr txBox="1"/>
          <p:nvPr/>
        </p:nvSpPr>
        <p:spPr>
          <a:xfrm>
            <a:off x="34290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+0</a:t>
            </a:r>
          </a:p>
        </p:txBody>
      </p:sp>
      <p:sp>
        <p:nvSpPr>
          <p:cNvPr id="260150" name="Text Box 54"/>
          <p:cNvSpPr txBox="1"/>
          <p:nvPr/>
        </p:nvSpPr>
        <p:spPr>
          <a:xfrm>
            <a:off x="4572000" y="3581400"/>
            <a:ext cx="2667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+ 00.0000</a:t>
            </a:r>
          </a:p>
        </p:txBody>
      </p:sp>
      <p:sp>
        <p:nvSpPr>
          <p:cNvPr id="260151" name="Line 55"/>
          <p:cNvSpPr/>
          <p:nvPr/>
        </p:nvSpPr>
        <p:spPr>
          <a:xfrm>
            <a:off x="4648200" y="41910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0152" name="Text Box 56"/>
          <p:cNvSpPr txBox="1"/>
          <p:nvPr/>
        </p:nvSpPr>
        <p:spPr>
          <a:xfrm>
            <a:off x="5029200" y="4038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53" name="Line 57"/>
          <p:cNvSpPr/>
          <p:nvPr/>
        </p:nvSpPr>
        <p:spPr>
          <a:xfrm>
            <a:off x="3505200" y="4876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0154" name="Text Box 58"/>
          <p:cNvSpPr txBox="1"/>
          <p:nvPr/>
        </p:nvSpPr>
        <p:spPr>
          <a:xfrm>
            <a:off x="5029200" y="44958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0100</a:t>
            </a:r>
          </a:p>
        </p:txBody>
      </p:sp>
      <p:sp>
        <p:nvSpPr>
          <p:cNvPr id="260155" name="Text Box 59"/>
          <p:cNvSpPr txBox="1"/>
          <p:nvPr/>
        </p:nvSpPr>
        <p:spPr>
          <a:xfrm>
            <a:off x="7391400" y="449580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 u="sng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60156" name="Text Box 60"/>
          <p:cNvSpPr txBox="1"/>
          <p:nvPr/>
        </p:nvSpPr>
        <p:spPr>
          <a:xfrm>
            <a:off x="228600" y="4953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60157" name="Text Box 61"/>
          <p:cNvSpPr txBox="1"/>
          <p:nvPr/>
        </p:nvSpPr>
        <p:spPr>
          <a:xfrm>
            <a:off x="1752600" y="495300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260158" name="Text Box 62"/>
          <p:cNvSpPr txBox="1"/>
          <p:nvPr/>
        </p:nvSpPr>
        <p:spPr>
          <a:xfrm>
            <a:off x="3429000" y="4953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</a:p>
        </p:txBody>
      </p:sp>
      <p:sp>
        <p:nvSpPr>
          <p:cNvPr id="260159" name="Text Box 63"/>
          <p:cNvSpPr txBox="1"/>
          <p:nvPr/>
        </p:nvSpPr>
        <p:spPr>
          <a:xfrm>
            <a:off x="4572000" y="49530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+ 00.1101</a:t>
            </a:r>
          </a:p>
        </p:txBody>
      </p:sp>
      <p:sp>
        <p:nvSpPr>
          <p:cNvPr id="260160" name="Line 64"/>
          <p:cNvSpPr/>
          <p:nvPr/>
        </p:nvSpPr>
        <p:spPr>
          <a:xfrm>
            <a:off x="4648200" y="556260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0161" name="Text Box 65"/>
          <p:cNvSpPr txBox="1"/>
          <p:nvPr/>
        </p:nvSpPr>
        <p:spPr>
          <a:xfrm>
            <a:off x="5029200" y="54102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0162" name="Line 66"/>
          <p:cNvSpPr/>
          <p:nvPr/>
        </p:nvSpPr>
        <p:spPr>
          <a:xfrm>
            <a:off x="3505200" y="60960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0163" name="Text Box 67"/>
          <p:cNvSpPr txBox="1"/>
          <p:nvPr/>
        </p:nvSpPr>
        <p:spPr>
          <a:xfrm>
            <a:off x="5029200" y="5791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</a:t>
            </a:r>
          </a:p>
        </p:txBody>
      </p:sp>
      <p:sp>
        <p:nvSpPr>
          <p:cNvPr id="260164" name="Text Box 68"/>
          <p:cNvSpPr txBox="1"/>
          <p:nvPr/>
        </p:nvSpPr>
        <p:spPr>
          <a:xfrm>
            <a:off x="7391400" y="5791200"/>
            <a:ext cx="1371600" cy="6400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</a:t>
            </a:r>
            <a:r>
              <a:rPr lang="en-US" altLang="zh-CN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60165" name="Text Box 69"/>
          <p:cNvSpPr txBox="1">
            <a:spLocks noChangeArrowheads="1"/>
          </p:cNvSpPr>
          <p:nvPr/>
        </p:nvSpPr>
        <p:spPr bwMode="auto">
          <a:xfrm>
            <a:off x="3917950" y="6243638"/>
            <a:ext cx="48307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×Y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</a:t>
            </a:r>
            <a:r>
              <a:rPr kumimoji="1" lang="en-US" altLang="zh-CN" sz="36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.1000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1111</a:t>
            </a:r>
          </a:p>
        </p:txBody>
      </p: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6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p:transition spd="slow" advTm="130406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0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0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0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6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60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6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0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0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6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60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60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6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6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6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60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0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60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6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000"/>
                            </p:stCondLst>
                            <p:childTnLst>
                              <p:par>
                                <p:cTn id="1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2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6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60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60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6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6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60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60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6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26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6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6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1000"/>
                            </p:stCondLst>
                            <p:childTnLst>
                              <p:par>
                                <p:cTn id="2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260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5" dur="500"/>
                                        <p:tgtEl>
                                          <p:spTgt spid="260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8" grpId="0" build="p"/>
      <p:bldP spid="260099" grpId="0" build="p"/>
      <p:bldP spid="260100" grpId="0" build="p"/>
      <p:bldP spid="260101" grpId="0" build="p"/>
      <p:bldP spid="260102" grpId="0" build="p"/>
      <p:bldP spid="260103" grpId="0"/>
      <p:bldP spid="260104" grpId="0" build="p"/>
      <p:bldP spid="260106" grpId="0"/>
      <p:bldP spid="260119" grpId="0"/>
      <p:bldP spid="260121" grpId="0" build="p" advAuto="1000"/>
      <p:bldP spid="260122" grpId="0" build="p" advAuto="1000"/>
      <p:bldP spid="260124" grpId="0"/>
      <p:bldP spid="260125" grpId="0" build="p"/>
      <p:bldP spid="260126" grpId="0" build="p"/>
      <p:bldP spid="260127" grpId="0" build="p"/>
      <p:bldP spid="260128" grpId="0" build="p"/>
      <p:bldP spid="260130" grpId="0"/>
      <p:bldP spid="260131" grpId="0" build="p" advAuto="1000"/>
      <p:bldP spid="260133" grpId="0" build="p" advAuto="1000"/>
      <p:bldP spid="260134" grpId="0"/>
      <p:bldP spid="260147" grpId="0" build="p" advAuto="1000"/>
      <p:bldP spid="260148" grpId="0" build="p"/>
      <p:bldP spid="260149" grpId="0" build="p"/>
      <p:bldP spid="260150" grpId="0" build="p"/>
      <p:bldP spid="260152" grpId="0"/>
      <p:bldP spid="260154" grpId="0" build="p" advAuto="1000"/>
      <p:bldP spid="260155" grpId="0" build="p" advAuto="1000"/>
      <p:bldP spid="260156" grpId="0" build="p"/>
      <p:bldP spid="260157" grpId="0" build="p"/>
      <p:bldP spid="260158" grpId="0" build="p"/>
      <p:bldP spid="260159" grpId="0" build="p"/>
      <p:bldP spid="260161" grpId="0"/>
      <p:bldP spid="260163" grpId="0" build="p" advAuto="1000"/>
      <p:bldP spid="260164" grpId="0" build="p" advAuto="1000"/>
      <p:bldP spid="2601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144463" y="112713"/>
            <a:ext cx="2771775" cy="63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算法流程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90600" y="762000"/>
            <a:ext cx="7924800" cy="5943600"/>
            <a:chOff x="1560" y="1200"/>
            <a:chExt cx="12480" cy="9360"/>
          </a:xfrm>
        </p:grpSpPr>
        <p:grpSp>
          <p:nvGrpSpPr>
            <p:cNvPr id="222211" name="Group 3"/>
            <p:cNvGrpSpPr/>
            <p:nvPr/>
          </p:nvGrpSpPr>
          <p:grpSpPr>
            <a:xfrm>
              <a:off x="1800" y="1200"/>
              <a:ext cx="9840" cy="973"/>
              <a:chOff x="720" y="672"/>
              <a:chExt cx="3936" cy="389"/>
            </a:xfrm>
          </p:grpSpPr>
          <p:sp>
            <p:nvSpPr>
              <p:cNvPr id="29739" name="Text Box 4"/>
              <p:cNvSpPr txBox="1"/>
              <p:nvPr/>
            </p:nvSpPr>
            <p:spPr>
              <a:xfrm>
                <a:off x="720" y="672"/>
                <a:ext cx="3936" cy="3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   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A、X   B、Y   C、0   CR</a:t>
                </a:r>
              </a:p>
            </p:txBody>
          </p:sp>
          <p:sp>
            <p:nvSpPr>
              <p:cNvPr id="29740" name="Line 5"/>
              <p:cNvSpPr/>
              <p:nvPr/>
            </p:nvSpPr>
            <p:spPr>
              <a:xfrm>
                <a:off x="1632" y="76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1" name="Line 6"/>
              <p:cNvSpPr/>
              <p:nvPr/>
            </p:nvSpPr>
            <p:spPr>
              <a:xfrm>
                <a:off x="1872" y="76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2" name="Line 7"/>
              <p:cNvSpPr/>
              <p:nvPr/>
            </p:nvSpPr>
            <p:spPr>
              <a:xfrm>
                <a:off x="2544" y="76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3" name="Line 8"/>
              <p:cNvSpPr/>
              <p:nvPr/>
            </p:nvSpPr>
            <p:spPr>
              <a:xfrm>
                <a:off x="2784" y="76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4" name="Line 9"/>
              <p:cNvSpPr/>
              <p:nvPr/>
            </p:nvSpPr>
            <p:spPr>
              <a:xfrm>
                <a:off x="1008" y="912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45" name="Line 10"/>
              <p:cNvSpPr/>
              <p:nvPr/>
            </p:nvSpPr>
            <p:spPr>
              <a:xfrm>
                <a:off x="1920" y="912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46" name="Line 11"/>
              <p:cNvSpPr/>
              <p:nvPr/>
            </p:nvSpPr>
            <p:spPr>
              <a:xfrm>
                <a:off x="2832" y="912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47" name="Line 12"/>
              <p:cNvSpPr/>
              <p:nvPr/>
            </p:nvSpPr>
            <p:spPr>
              <a:xfrm>
                <a:off x="3696" y="912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22221" name="Group 13"/>
            <p:cNvGrpSpPr/>
            <p:nvPr/>
          </p:nvGrpSpPr>
          <p:grpSpPr>
            <a:xfrm>
              <a:off x="3960" y="2520"/>
              <a:ext cx="5280" cy="1200"/>
              <a:chOff x="1584" y="1152"/>
              <a:chExt cx="2112" cy="480"/>
            </a:xfrm>
          </p:grpSpPr>
          <p:sp>
            <p:nvSpPr>
              <p:cNvPr id="29737" name="AutoShape 14"/>
              <p:cNvSpPr/>
              <p:nvPr/>
            </p:nvSpPr>
            <p:spPr>
              <a:xfrm>
                <a:off x="1584" y="1152"/>
                <a:ext cx="2112" cy="480"/>
              </a:xfrm>
              <a:prstGeom prst="flowChartDecision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8" name="Text Box 15"/>
              <p:cNvSpPr txBox="1"/>
              <p:nvPr/>
            </p:nvSpPr>
            <p:spPr>
              <a:xfrm>
                <a:off x="2064" y="1200"/>
                <a:ext cx="13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chemeClr val="accent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2800" b="1" dirty="0">
                    <a:solidFill>
                      <a:schemeClr val="accent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  <a:r>
                  <a:rPr lang="en-US" altLang="zh-CN" sz="3200" b="1" dirty="0">
                    <a:solidFill>
                      <a:schemeClr val="accent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= 1？</a:t>
                </a:r>
              </a:p>
            </p:txBody>
          </p:sp>
        </p:grpSp>
        <p:grpSp>
          <p:nvGrpSpPr>
            <p:cNvPr id="222224" name="Group 16"/>
            <p:cNvGrpSpPr/>
            <p:nvPr/>
          </p:nvGrpSpPr>
          <p:grpSpPr>
            <a:xfrm>
              <a:off x="3840" y="7800"/>
              <a:ext cx="5280" cy="1200"/>
              <a:chOff x="1584" y="1152"/>
              <a:chExt cx="2112" cy="480"/>
            </a:xfrm>
          </p:grpSpPr>
          <p:sp>
            <p:nvSpPr>
              <p:cNvPr id="29735" name="AutoShape 17"/>
              <p:cNvSpPr/>
              <p:nvPr/>
            </p:nvSpPr>
            <p:spPr>
              <a:xfrm>
                <a:off x="1584" y="1152"/>
                <a:ext cx="2112" cy="480"/>
              </a:xfrm>
              <a:prstGeom prst="flowChartDecision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6" name="Text Box 18"/>
              <p:cNvSpPr txBox="1"/>
              <p:nvPr/>
            </p:nvSpPr>
            <p:spPr>
              <a:xfrm>
                <a:off x="2064" y="1200"/>
                <a:ext cx="13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CR = n ？</a:t>
                </a:r>
              </a:p>
            </p:txBody>
          </p:sp>
        </p:grpSp>
        <p:grpSp>
          <p:nvGrpSpPr>
            <p:cNvPr id="222227" name="Group 19"/>
            <p:cNvGrpSpPr/>
            <p:nvPr/>
          </p:nvGrpSpPr>
          <p:grpSpPr>
            <a:xfrm>
              <a:off x="3600" y="4800"/>
              <a:ext cx="5880" cy="973"/>
              <a:chOff x="864" y="2544"/>
              <a:chExt cx="2352" cy="394"/>
            </a:xfrm>
          </p:grpSpPr>
          <p:sp>
            <p:nvSpPr>
              <p:cNvPr id="29732" name="Text Box 20"/>
              <p:cNvSpPr txBox="1"/>
              <p:nvPr/>
            </p:nvSpPr>
            <p:spPr>
              <a:xfrm>
                <a:off x="864" y="2544"/>
                <a:ext cx="2352" cy="39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1/2（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A+B）  A，C</a:t>
                </a:r>
              </a:p>
            </p:txBody>
          </p:sp>
          <p:sp>
            <p:nvSpPr>
              <p:cNvPr id="29733" name="Line 21"/>
              <p:cNvSpPr/>
              <p:nvPr/>
            </p:nvSpPr>
            <p:spPr>
              <a:xfrm>
                <a:off x="2112" y="273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34" name="Line 22"/>
              <p:cNvSpPr/>
              <p:nvPr/>
            </p:nvSpPr>
            <p:spPr>
              <a:xfrm>
                <a:off x="2832" y="264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22231" name="Group 23"/>
            <p:cNvGrpSpPr/>
            <p:nvPr/>
          </p:nvGrpSpPr>
          <p:grpSpPr>
            <a:xfrm>
              <a:off x="8160" y="3600"/>
              <a:ext cx="5880" cy="973"/>
              <a:chOff x="864" y="2544"/>
              <a:chExt cx="2352" cy="389"/>
            </a:xfrm>
          </p:grpSpPr>
          <p:sp>
            <p:nvSpPr>
              <p:cNvPr id="29729" name="Text Box 24"/>
              <p:cNvSpPr txBox="1"/>
              <p:nvPr/>
            </p:nvSpPr>
            <p:spPr>
              <a:xfrm>
                <a:off x="864" y="2544"/>
                <a:ext cx="2352" cy="3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1/2（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A+0）  A，C</a:t>
                </a:r>
              </a:p>
            </p:txBody>
          </p:sp>
          <p:sp>
            <p:nvSpPr>
              <p:cNvPr id="29730" name="Line 25"/>
              <p:cNvSpPr/>
              <p:nvPr/>
            </p:nvSpPr>
            <p:spPr>
              <a:xfrm>
                <a:off x="2112" y="273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9731" name="Line 26"/>
              <p:cNvSpPr/>
              <p:nvPr/>
            </p:nvSpPr>
            <p:spPr>
              <a:xfrm>
                <a:off x="2832" y="264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222235" name="Group 27"/>
            <p:cNvGrpSpPr/>
            <p:nvPr/>
          </p:nvGrpSpPr>
          <p:grpSpPr>
            <a:xfrm>
              <a:off x="3600" y="6360"/>
              <a:ext cx="5880" cy="973"/>
              <a:chOff x="1440" y="2544"/>
              <a:chExt cx="2352" cy="389"/>
            </a:xfrm>
          </p:grpSpPr>
          <p:sp>
            <p:nvSpPr>
              <p:cNvPr id="29727" name="Text Box 28"/>
              <p:cNvSpPr txBox="1"/>
              <p:nvPr/>
            </p:nvSpPr>
            <p:spPr>
              <a:xfrm>
                <a:off x="1440" y="2544"/>
                <a:ext cx="2352" cy="3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CR + 1   CR</a:t>
                </a:r>
              </a:p>
            </p:txBody>
          </p:sp>
          <p:sp>
            <p:nvSpPr>
              <p:cNvPr id="29728" name="Line 29"/>
              <p:cNvSpPr/>
              <p:nvPr/>
            </p:nvSpPr>
            <p:spPr>
              <a:xfrm>
                <a:off x="2688" y="273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22238" name="Line 30"/>
            <p:cNvSpPr/>
            <p:nvPr/>
          </p:nvSpPr>
          <p:spPr>
            <a:xfrm>
              <a:off x="6600" y="2160"/>
              <a:ext cx="0" cy="3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39" name="Line 31"/>
            <p:cNvSpPr/>
            <p:nvPr/>
          </p:nvSpPr>
          <p:spPr>
            <a:xfrm>
              <a:off x="6600" y="3720"/>
              <a:ext cx="0" cy="10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40" name="Text Box 32"/>
            <p:cNvSpPr txBox="1"/>
            <p:nvPr/>
          </p:nvSpPr>
          <p:spPr>
            <a:xfrm>
              <a:off x="5640" y="3960"/>
              <a:ext cx="1080" cy="9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22241" name="Text Box 33"/>
            <p:cNvSpPr txBox="1"/>
            <p:nvPr/>
          </p:nvSpPr>
          <p:spPr>
            <a:xfrm>
              <a:off x="5160" y="8640"/>
              <a:ext cx="1080" cy="9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22242" name="Text Box 34"/>
            <p:cNvSpPr txBox="1"/>
            <p:nvPr/>
          </p:nvSpPr>
          <p:spPr>
            <a:xfrm>
              <a:off x="9120" y="2280"/>
              <a:ext cx="1080" cy="9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22243" name="Text Box 35"/>
            <p:cNvSpPr txBox="1"/>
            <p:nvPr/>
          </p:nvSpPr>
          <p:spPr>
            <a:xfrm>
              <a:off x="3240" y="7560"/>
              <a:ext cx="1080" cy="9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22244" name="Line 36"/>
            <p:cNvSpPr/>
            <p:nvPr/>
          </p:nvSpPr>
          <p:spPr>
            <a:xfrm>
              <a:off x="9240" y="3120"/>
              <a:ext cx="22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2245" name="Line 37"/>
            <p:cNvSpPr/>
            <p:nvPr/>
          </p:nvSpPr>
          <p:spPr>
            <a:xfrm>
              <a:off x="11520" y="3120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46" name="Line 38"/>
            <p:cNvSpPr/>
            <p:nvPr/>
          </p:nvSpPr>
          <p:spPr>
            <a:xfrm>
              <a:off x="6600" y="5760"/>
              <a:ext cx="0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47" name="Line 39"/>
            <p:cNvSpPr/>
            <p:nvPr/>
          </p:nvSpPr>
          <p:spPr>
            <a:xfrm>
              <a:off x="11520" y="4560"/>
              <a:ext cx="0" cy="14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2248" name="Line 40"/>
            <p:cNvSpPr/>
            <p:nvPr/>
          </p:nvSpPr>
          <p:spPr>
            <a:xfrm>
              <a:off x="6600" y="6000"/>
              <a:ext cx="49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22249" name="Line 41"/>
            <p:cNvSpPr/>
            <p:nvPr/>
          </p:nvSpPr>
          <p:spPr>
            <a:xfrm>
              <a:off x="6480" y="7320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50" name="Line 42"/>
            <p:cNvSpPr/>
            <p:nvPr/>
          </p:nvSpPr>
          <p:spPr>
            <a:xfrm>
              <a:off x="6480" y="9000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22251" name="Line 43"/>
            <p:cNvSpPr/>
            <p:nvPr/>
          </p:nvSpPr>
          <p:spPr>
            <a:xfrm>
              <a:off x="1560" y="8400"/>
              <a:ext cx="22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2252" name="Line 44"/>
            <p:cNvSpPr/>
            <p:nvPr/>
          </p:nvSpPr>
          <p:spPr>
            <a:xfrm flipV="1">
              <a:off x="1560" y="2400"/>
              <a:ext cx="0" cy="60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2253" name="Line 45"/>
            <p:cNvSpPr/>
            <p:nvPr/>
          </p:nvSpPr>
          <p:spPr>
            <a:xfrm>
              <a:off x="1560" y="2400"/>
              <a:ext cx="50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22262" name="Group 54"/>
            <p:cNvGrpSpPr/>
            <p:nvPr/>
          </p:nvGrpSpPr>
          <p:grpSpPr>
            <a:xfrm>
              <a:off x="2828" y="9490"/>
              <a:ext cx="7320" cy="1070"/>
              <a:chOff x="1344" y="3796"/>
              <a:chExt cx="2928" cy="452"/>
            </a:xfrm>
          </p:grpSpPr>
          <p:grpSp>
            <p:nvGrpSpPr>
              <p:cNvPr id="29723" name="Group 53"/>
              <p:cNvGrpSpPr/>
              <p:nvPr/>
            </p:nvGrpSpPr>
            <p:grpSpPr>
              <a:xfrm>
                <a:off x="1344" y="3796"/>
                <a:ext cx="2928" cy="452"/>
                <a:chOff x="1344" y="3796"/>
                <a:chExt cx="2928" cy="452"/>
              </a:xfrm>
            </p:grpSpPr>
            <p:sp>
              <p:nvSpPr>
                <p:cNvPr id="29725" name="Text Box 47"/>
                <p:cNvSpPr txBox="1"/>
                <p:nvPr/>
              </p:nvSpPr>
              <p:spPr>
                <a:xfrm>
                  <a:off x="1344" y="3796"/>
                  <a:ext cx="2928" cy="45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lstStyle/>
                <a:p>
                  <a:pPr lvl="0" eaLnBrk="1" hangingPunct="1">
                    <a:spcBef>
                      <a:spcPct val="50000"/>
                    </a:spcBef>
                  </a:pPr>
                  <a:r>
                    <a:rPr lang="zh-CN" altLang="en-US" sz="36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   </a:t>
                  </a:r>
                  <a:r>
                    <a:rPr lang="en-US" altLang="zh-CN" sz="36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S</a:t>
                  </a:r>
                  <a:r>
                    <a:rPr lang="en-US" altLang="zh-CN" sz="3600" b="1" baseline="-250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X</a:t>
                  </a:r>
                  <a:r>
                    <a:rPr lang="en-US" altLang="zh-CN" sz="36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       S</a:t>
                  </a:r>
                  <a:r>
                    <a:rPr lang="en-US" altLang="zh-CN" sz="3600" b="1" baseline="-250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Y</a:t>
                  </a:r>
                  <a:r>
                    <a:rPr lang="en-US" altLang="zh-CN" sz="3600" b="1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        S</a:t>
                  </a:r>
                  <a:r>
                    <a:rPr lang="en-US" altLang="zh-CN" sz="3600" b="1" baseline="-250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A</a:t>
                  </a:r>
                </a:p>
              </p:txBody>
            </p:sp>
            <p:sp>
              <p:nvSpPr>
                <p:cNvPr id="29726" name="Oval 52"/>
                <p:cNvSpPr/>
                <p:nvPr/>
              </p:nvSpPr>
              <p:spPr>
                <a:xfrm>
                  <a:off x="2064" y="3918"/>
                  <a:ext cx="240" cy="240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ctr" eaLnBrk="0" hangingPunct="0"/>
                  <a:r>
                    <a:rPr lang="zh-CN" altLang="en-US" sz="3200" b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+</a:t>
                  </a:r>
                </a:p>
              </p:txBody>
            </p:sp>
          </p:grpSp>
          <p:sp>
            <p:nvSpPr>
              <p:cNvPr id="29724" name="Line 48"/>
              <p:cNvSpPr/>
              <p:nvPr/>
            </p:nvSpPr>
            <p:spPr>
              <a:xfrm>
                <a:off x="2802" y="4043"/>
                <a:ext cx="432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3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7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p:transition spd="slow" advTm="74203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6213" y="973773"/>
            <a:ext cx="7924800" cy="638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.运算规则</a:t>
            </a:r>
          </a:p>
        </p:txBody>
      </p:sp>
      <p:sp>
        <p:nvSpPr>
          <p:cNvPr id="3" name="Text Box 3"/>
          <p:cNvSpPr txBox="1"/>
          <p:nvPr/>
        </p:nvSpPr>
        <p:spPr>
          <a:xfrm>
            <a:off x="-107950" y="1985010"/>
            <a:ext cx="8820150" cy="628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（1）操作数、结果用原码表示；</a:t>
            </a:r>
          </a:p>
        </p:txBody>
      </p:sp>
      <p:sp>
        <p:nvSpPr>
          <p:cNvPr id="4" name="Rectangle 9"/>
          <p:cNvSpPr/>
          <p:nvPr/>
        </p:nvSpPr>
        <p:spPr>
          <a:xfrm>
            <a:off x="-107950" y="2704148"/>
            <a:ext cx="86407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（2）绝对值运算，符号单独处理；</a:t>
            </a:r>
          </a:p>
        </p:txBody>
      </p:sp>
      <p:sp>
        <p:nvSpPr>
          <p:cNvPr id="5" name="Rectangle 10"/>
          <p:cNvSpPr/>
          <p:nvPr/>
        </p:nvSpPr>
        <p:spPr>
          <a:xfrm>
            <a:off x="-107950" y="3277235"/>
            <a:ext cx="85693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（3）被乘数(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B)、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累加和(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A)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取双符号位；</a:t>
            </a:r>
          </a:p>
        </p:txBody>
      </p:sp>
      <p:sp>
        <p:nvSpPr>
          <p:cNvPr id="6" name="Rectangle 11"/>
          <p:cNvSpPr/>
          <p:nvPr/>
        </p:nvSpPr>
        <p:spPr>
          <a:xfrm>
            <a:off x="-107950" y="3928110"/>
            <a:ext cx="92519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（4）乘数末位(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Cn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为判断位，其决定下步操作；</a:t>
            </a:r>
          </a:p>
        </p:txBody>
      </p:sp>
      <p:sp>
        <p:nvSpPr>
          <p:cNvPr id="7" name="Rectangle 12"/>
          <p:cNvSpPr/>
          <p:nvPr/>
        </p:nvSpPr>
        <p:spPr>
          <a:xfrm>
            <a:off x="-107950" y="4501198"/>
            <a:ext cx="63055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 eaLnBrk="1" hangingPunct="1"/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（5）作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次循环（累加、右移）。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8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6125">
        <p:fade thruBlk="1"/>
      </p:transition>
    </mc:Choice>
    <mc:Fallback xmlns="">
      <p:transition spd="slow" advTm="16125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/>
          <p:cNvSpPr txBox="1"/>
          <p:nvPr/>
        </p:nvSpPr>
        <p:spPr>
          <a:xfrm>
            <a:off x="137142" y="758929"/>
            <a:ext cx="8241708" cy="443775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Cn=1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，则部分积为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操作，然后将累加和右移一  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位，用“→”表示。（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Cn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位去掉）；执行部分积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累加和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+B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操作，然后将新部分积累加和右移一位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若C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，则部分积为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A+0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操作，然后右移。或直接让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右移一位。（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Cn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位去掉）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右移时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的末位移入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的高位，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的第二符号位移入尾数最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高位，第一符号位移入第二符号位，而第一符号位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本身则补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20" name="Group 4"/>
          <p:cNvGrpSpPr/>
          <p:nvPr/>
        </p:nvGrpSpPr>
        <p:grpSpPr>
          <a:xfrm>
            <a:off x="118428" y="1792923"/>
            <a:ext cx="6705600" cy="641350"/>
            <a:chOff x="624" y="720"/>
            <a:chExt cx="4224" cy="404"/>
          </a:xfrm>
        </p:grpSpPr>
        <p:sp>
          <p:nvSpPr>
            <p:cNvPr id="25619" name="Text Box 5"/>
            <p:cNvSpPr txBox="1"/>
            <p:nvPr/>
          </p:nvSpPr>
          <p:spPr>
            <a:xfrm>
              <a:off x="624" y="720"/>
              <a:ext cx="422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乘法    部分积累加、移位。</a:t>
              </a:r>
            </a:p>
          </p:txBody>
        </p:sp>
        <p:sp>
          <p:nvSpPr>
            <p:cNvPr id="25620" name="Line 6"/>
            <p:cNvSpPr/>
            <p:nvPr/>
          </p:nvSpPr>
          <p:spPr>
            <a:xfrm>
              <a:off x="1344" y="96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813435" y="2522855"/>
            <a:ext cx="8037830" cy="1188720"/>
          </a:xfrm>
          <a:prstGeom prst="rect">
            <a:avLst/>
          </a:prstGeom>
          <a:noFill/>
          <a:ln w="9525">
            <a:noFill/>
          </a:ln>
        </p:spPr>
        <p:txBody>
          <a:bodyPr wrap="square" rtlCol="0" anchor="t">
            <a:spAutoFit/>
          </a:bodyPr>
          <a:lstStyle/>
          <a:p>
            <a:pPr lvl="0" algn="l"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   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可以加法器为基础，实现乘法运算处理。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33400" y="4201160"/>
            <a:ext cx="8076565" cy="11887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    </a:t>
            </a: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运算器内部没有乘法器，用加法器</a:t>
            </a:r>
            <a:r>
              <a:rPr lang="en-US" altLang="zh-CN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+</a:t>
            </a:r>
            <a:r>
              <a:rPr lang="zh-CN" altLang="en-US" sz="36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ea"/>
              </a:rPr>
              <a:t>移位实现乘法运算！</a:t>
            </a: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6877050" y="6400800"/>
            <a:ext cx="2266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fld id="{9A0DB2DC-4C9A-4742-B13C-FB6460FD3503}" type="slidenum">
              <a:rPr lang="zh-CN" altLang="en-US" sz="1600" b="1" dirty="0">
                <a:solidFill>
                  <a:schemeClr val="tx2"/>
                </a:solidFill>
              </a:rPr>
              <a:t>10</a:t>
            </a:fld>
            <a:r>
              <a:rPr lang="en-US" altLang="zh-CN" sz="1600" b="1" dirty="0">
                <a:solidFill>
                  <a:schemeClr val="tx2"/>
                </a:solidFill>
              </a:rPr>
              <a:t>/12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6094">
        <p:fade thruBlk="1"/>
      </p:transition>
    </mc:Choice>
    <mc:Fallback xmlns="">
      <p:transition spd="slow" advTm="6094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Text Box 2"/>
          <p:cNvSpPr txBox="1"/>
          <p:nvPr/>
        </p:nvSpPr>
        <p:spPr>
          <a:xfrm>
            <a:off x="107950" y="116840"/>
            <a:ext cx="5562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逻辑实现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845185"/>
            <a:ext cx="8395335" cy="55613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NmY2U0MjQxMjVhMzViM2U2NDc0NTI2ZDMwMzBmZGIifQ=="/>
  <p:tag name="LOCALPRESID" val="178936708705161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66035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68421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6816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6946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69799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0930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080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0677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1694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2748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93670870722780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80</TotalTime>
  <Words>648</Words>
  <Application>Microsoft Office PowerPoint</Application>
  <PresentationFormat>全屏显示(4:3)</PresentationFormat>
  <Paragraphs>147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黑体</vt:lpstr>
      <vt:lpstr>楷体</vt:lpstr>
      <vt:lpstr>宋体</vt:lpstr>
      <vt:lpstr>Arial</vt:lpstr>
      <vt:lpstr>Times New Roman</vt:lpstr>
      <vt:lpstr>Wingdings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电子科大</cp:lastModifiedBy>
  <cp:revision>647</cp:revision>
  <dcterms:created xsi:type="dcterms:W3CDTF">2000-08-28T13:29:00Z</dcterms:created>
  <dcterms:modified xsi:type="dcterms:W3CDTF">2026-09-14T07:44:50Z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2ACEFE9DC3134B9A8F8B55DFBAAB6D79</vt:lpwstr>
  </property>
</Properties>
</file>