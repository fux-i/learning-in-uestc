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92" r:id="rId3"/>
    <p:sldId id="337" r:id="rId5"/>
    <p:sldId id="298" r:id="rId6"/>
    <p:sldId id="293" r:id="rId7"/>
    <p:sldId id="294" r:id="rId8"/>
    <p:sldId id="390" r:id="rId9"/>
    <p:sldId id="391" r:id="rId10"/>
    <p:sldId id="392" r:id="rId11"/>
    <p:sldId id="316" r:id="rId12"/>
    <p:sldId id="393" r:id="rId13"/>
    <p:sldId id="394" r:id="rId14"/>
    <p:sldId id="317" r:id="rId15"/>
    <p:sldId id="364" r:id="rId16"/>
    <p:sldId id="388" r:id="rId17"/>
    <p:sldId id="389" r:id="rId18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66"/>
    <a:srgbClr val="FF3300"/>
    <a:srgbClr val="000099"/>
    <a:srgbClr val="FDFBFB"/>
    <a:srgbClr val="3333FF"/>
    <a:srgbClr val="F0DADA"/>
    <a:srgbClr val="F8AF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82"/>
  </p:normalViewPr>
  <p:slideViewPr>
    <p:cSldViewPr showGuides="1">
      <p:cViewPr>
        <p:scale>
          <a:sx n="66" d="100"/>
          <a:sy n="66" d="100"/>
        </p:scale>
        <p:origin x="-948" y="-114"/>
      </p:cViewPr>
      <p:guideLst>
        <p:guide orient="horz" pos="2160"/>
        <p:guide pos="2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86018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86019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90114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90115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92162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92163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942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421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962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625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1 w 21600"/>
                <a:gd name="T1" fmla="*/ 0 h 21231"/>
                <a:gd name="T2" fmla="*/ 6 w 21600"/>
                <a:gd name="T3" fmla="*/ 2 h 21231"/>
                <a:gd name="T4" fmla="*/ 0 w 21600"/>
                <a:gd name="T5" fmla="*/ 2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600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25600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p>
            <a:pPr algn="r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trike="noStrike" noProof="1" dirty="0"/>
          </a:p>
        </p:txBody>
      </p:sp>
    </p:spTree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254979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19 w 21600"/>
                <a:gd name="T3" fmla="*/ 7 h 21600"/>
                <a:gd name="T4" fmla="*/ 0 w 21600"/>
                <a:gd name="T5" fmla="*/ 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498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 smtClean="0"/>
          </a:p>
        </p:txBody>
      </p:sp>
      <p:sp>
        <p:nvSpPr>
          <p:cNvPr id="25498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8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8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9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  <a:endParaRPr lang="en-US" altLang="zh-CN" sz="1400" b="1" dirty="0">
              <a:solidFill>
                <a:schemeClr val="tx2"/>
              </a:solidFill>
            </a:endParaRPr>
          </a:p>
        </p:txBody>
      </p:sp>
      <p:sp>
        <p:nvSpPr>
          <p:cNvPr id="240670" name="Text Box 30"/>
          <p:cNvSpPr txBox="1">
            <a:spLocks noChangeArrowheads="1"/>
          </p:cNvSpPr>
          <p:nvPr/>
        </p:nvSpPr>
        <p:spPr bwMode="auto">
          <a:xfrm>
            <a:off x="215900" y="134938"/>
            <a:ext cx="8893175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40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2.3.4</a:t>
            </a:r>
            <a:r>
              <a:rPr kumimoji="1" lang="en-US" altLang="zh-CN" sz="40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40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浮点四则运算</a:t>
            </a:r>
            <a:endParaRPr kumimoji="1" lang="zh-CN" altLang="en-US" sz="4000" b="1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0671" name="Text Box 31"/>
          <p:cNvSpPr txBox="1"/>
          <p:nvPr/>
        </p:nvSpPr>
        <p:spPr>
          <a:xfrm>
            <a:off x="179388" y="1039813"/>
            <a:ext cx="38544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浮点运算的实现：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40672" name="Text Box 32"/>
          <p:cNvSpPr txBox="1"/>
          <p:nvPr/>
        </p:nvSpPr>
        <p:spPr>
          <a:xfrm>
            <a:off x="179388" y="1851025"/>
            <a:ext cx="6264275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低档微机，通过子程序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0673" name="Text Box 33"/>
          <p:cNvSpPr txBox="1"/>
          <p:nvPr/>
        </p:nvSpPr>
        <p:spPr>
          <a:xfrm>
            <a:off x="179388" y="2571750"/>
            <a:ext cx="9001125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中档微机，通过浮点处理器（协处理器）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0674" name="Text Box 34"/>
          <p:cNvSpPr txBox="1"/>
          <p:nvPr/>
        </p:nvSpPr>
        <p:spPr>
          <a:xfrm>
            <a:off x="179388" y="3292475"/>
            <a:ext cx="9001125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高档微机，通过专门的浮点运算部件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7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067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24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70" grpId="0" build="p"/>
      <p:bldP spid="240671" grpId="0"/>
      <p:bldP spid="240672" grpId="0"/>
      <p:bldP spid="240673" grpId="0"/>
      <p:bldP spid="2406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  <a:endParaRPr lang="en-US" altLang="zh-CN" sz="1400" b="1" dirty="0">
              <a:solidFill>
                <a:schemeClr val="tx2"/>
              </a:solidFill>
            </a:endParaRPr>
          </a:p>
        </p:txBody>
      </p:sp>
      <p:sp>
        <p:nvSpPr>
          <p:cNvPr id="3" name="Rectangle 3"/>
          <p:cNvSpPr txBox="1"/>
          <p:nvPr/>
        </p:nvSpPr>
        <p:spPr>
          <a:xfrm>
            <a:off x="215900" y="1125538"/>
            <a:ext cx="8686800" cy="3540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在浮点算术运算中，</a:t>
            </a: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阶码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尾数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都是</a:t>
            </a: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定点数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sz="3200" dirty="0">
                <a:solidFill>
                  <a:srgbClr val="FFC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阶码是定点整数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sz="3200" dirty="0">
                <a:solidFill>
                  <a:srgbClr val="FFC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尾数是定点纯小数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，浮点运算的规则可以归结为定点运算规则。</a:t>
            </a:r>
            <a:endParaRPr lang="en-US" altLang="zh-CN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需要增加一个阶码的</a:t>
            </a:r>
            <a:r>
              <a:rPr lang="zh-CN" altLang="en-US" sz="3200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定点运算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及</a:t>
            </a: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运算结果的规格化操作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Text Box 30"/>
          <p:cNvSpPr txBox="1">
            <a:spLocks noChangeArrowheads="1"/>
          </p:cNvSpPr>
          <p:nvPr/>
        </p:nvSpPr>
        <p:spPr bwMode="auto">
          <a:xfrm>
            <a:off x="215900" y="134938"/>
            <a:ext cx="8893175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40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2.3.4</a:t>
            </a:r>
            <a:r>
              <a:rPr kumimoji="1" lang="en-US" altLang="zh-CN" sz="40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40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浮点四则运算</a:t>
            </a:r>
            <a:endParaRPr kumimoji="1" lang="zh-CN" altLang="en-US" sz="4000" b="1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143" name="矩形 4142"/>
          <p:cNvSpPr/>
          <p:nvPr/>
        </p:nvSpPr>
        <p:spPr>
          <a:xfrm>
            <a:off x="679450" y="4497388"/>
            <a:ext cx="4440238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000" b="1" u="sng" dirty="0">
                <a:solidFill>
                  <a:srgbClr val="FFC000"/>
                </a:solidFill>
                <a:latin typeface="Times New Roman" panose="02020603050405020304" pitchFamily="18" charset="0"/>
              </a:rPr>
              <a:t>注: 关于尾数规格化</a:t>
            </a:r>
            <a:endParaRPr lang="zh-CN" altLang="en-US" sz="3000" b="1" u="sng" dirty="0">
              <a:solidFill>
                <a:srgbClr val="FFC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4" name="矩形 4143"/>
          <p:cNvSpPr/>
          <p:nvPr/>
        </p:nvSpPr>
        <p:spPr>
          <a:xfrm>
            <a:off x="663575" y="4983163"/>
            <a:ext cx="8391525" cy="10588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05000"/>
              </a:lnSpc>
            </a:pPr>
            <a:r>
              <a:rPr lang="zh-CN" altLang="en-US" sz="30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使尾数成为规格化数, 以便充分利用尾数的有效位数。规格化尾数的含义是使尾数</a:t>
            </a:r>
            <a:r>
              <a:rPr lang="en-US" altLang="zh-CN" sz="30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W</a:t>
            </a:r>
            <a:r>
              <a:rPr lang="zh-CN" altLang="en-US" sz="30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满足:</a:t>
            </a:r>
            <a:endParaRPr lang="zh-CN" altLang="en-US" sz="3000" b="1" dirty="0">
              <a:solidFill>
                <a:srgbClr val="FFC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51" name="组合 4150"/>
          <p:cNvGrpSpPr/>
          <p:nvPr/>
        </p:nvGrpSpPr>
        <p:grpSpPr>
          <a:xfrm>
            <a:off x="1492250" y="6022975"/>
            <a:ext cx="6713538" cy="581025"/>
            <a:chOff x="796" y="3422"/>
            <a:chExt cx="4229" cy="366"/>
          </a:xfrm>
        </p:grpSpPr>
        <p:sp>
          <p:nvSpPr>
            <p:cNvPr id="87047" name="文本框 4145"/>
            <p:cNvSpPr txBox="1"/>
            <p:nvPr/>
          </p:nvSpPr>
          <p:spPr>
            <a:xfrm>
              <a:off x="796" y="3430"/>
              <a:ext cx="1951" cy="35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1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1/2</a:t>
              </a:r>
              <a:r>
                <a:rPr lang="zh-CN" altLang="en-US" sz="14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≤</a:t>
              </a:r>
              <a:r>
                <a:rPr lang="zh-CN" alt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</a:t>
              </a:r>
              <a:r>
                <a:rPr lang="zh-CN" altLang="en-US" sz="1200" b="1" dirty="0">
                  <a:solidFill>
                    <a:srgbClr val="FFC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31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W</a:t>
              </a:r>
              <a:r>
                <a:rPr lang="zh-CN" altLang="en-US" sz="2800" b="1" dirty="0">
                  <a:solidFill>
                    <a:srgbClr val="FFC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</a:t>
              </a:r>
              <a:r>
                <a:rPr lang="zh-CN" altLang="en-US" sz="2000" b="1" dirty="0">
                  <a:solidFill>
                    <a:srgbClr val="FFC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31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&lt;</a:t>
              </a:r>
              <a:r>
                <a:rPr lang="en-US" altLang="zh-CN" sz="12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31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3100" b="1" dirty="0">
                <a:solidFill>
                  <a:srgbClr val="FFC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48" name="文本框 4146"/>
            <p:cNvSpPr txBox="1"/>
            <p:nvPr/>
          </p:nvSpPr>
          <p:spPr>
            <a:xfrm>
              <a:off x="2276" y="3422"/>
              <a:ext cx="2749" cy="3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30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(</a:t>
              </a:r>
              <a:r>
                <a:rPr lang="zh-CN" altLang="en-US" sz="30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最高有效位绝对值为1</a:t>
              </a:r>
              <a:r>
                <a:rPr lang="zh-CN" altLang="en-US" sz="3000" b="1" dirty="0">
                  <a:solidFill>
                    <a:srgbClr val="FFC000"/>
                  </a:solidFill>
                  <a:latin typeface="Times New Roman" panose="02020603050405020304" pitchFamily="18" charset="0"/>
                </a:rPr>
                <a:t>)</a:t>
              </a:r>
              <a:endParaRPr lang="zh-CN" altLang="en-US" sz="3000" b="1" dirty="0">
                <a:solidFill>
                  <a:srgbClr val="FFC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8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143" grpId="0"/>
      <p:bldP spid="41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076" name="Text Box 4"/>
          <p:cNvSpPr txBox="1">
            <a:spLocks noChangeArrowheads="1"/>
          </p:cNvSpPr>
          <p:nvPr/>
        </p:nvSpPr>
        <p:spPr bwMode="auto">
          <a:xfrm>
            <a:off x="107950" y="50800"/>
            <a:ext cx="792480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</a:t>
            </a:r>
            <a:r>
              <a:rPr kumimoji="1" lang="zh-CN" altLang="en-US" sz="36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浮点</a:t>
            </a: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加减</a:t>
            </a:r>
            <a:r>
              <a:rPr kumimoji="1" lang="zh-CN" altLang="en-US" sz="36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运算</a:t>
            </a:r>
            <a:endParaRPr kumimoji="1" lang="zh-CN" altLang="en-US" sz="3600" b="1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9077" name="Rectangle 5"/>
          <p:cNvSpPr/>
          <p:nvPr/>
        </p:nvSpPr>
        <p:spPr>
          <a:xfrm>
            <a:off x="42863" y="833438"/>
            <a:ext cx="4572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检测能否简化操作。</a:t>
            </a:r>
            <a:endParaRPr lang="zh-CN" altLang="en-US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9080" name="Text Box 8"/>
          <p:cNvSpPr txBox="1"/>
          <p:nvPr/>
        </p:nvSpPr>
        <p:spPr>
          <a:xfrm>
            <a:off x="63500" y="2636838"/>
            <a:ext cx="1981200" cy="48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对阶</a:t>
            </a:r>
            <a:endParaRPr lang="zh-CN" altLang="en-US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9081" name="Text Box 9"/>
          <p:cNvSpPr txBox="1"/>
          <p:nvPr/>
        </p:nvSpPr>
        <p:spPr>
          <a:xfrm>
            <a:off x="2982913" y="3522663"/>
            <a:ext cx="16764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10.0 1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9082" name="Text Box 10"/>
          <p:cNvSpPr txBox="1"/>
          <p:nvPr/>
        </p:nvSpPr>
        <p:spPr>
          <a:xfrm>
            <a:off x="215900" y="4724400"/>
            <a:ext cx="8748713" cy="1165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0000"/>
              </a:lnSpc>
            </a:pP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对阶：使两数阶码相等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小数点实际位置对齐，尾数对应权值相同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)。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9083" name="Text Box 11"/>
          <p:cNvSpPr txBox="1"/>
          <p:nvPr/>
        </p:nvSpPr>
        <p:spPr>
          <a:xfrm>
            <a:off x="179388" y="6021388"/>
            <a:ext cx="158432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规则：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68313" y="3141663"/>
            <a:ext cx="2209800" cy="1519237"/>
            <a:chOff x="576" y="2112"/>
            <a:chExt cx="1392" cy="957"/>
          </a:xfrm>
        </p:grpSpPr>
        <p:sp>
          <p:nvSpPr>
            <p:cNvPr id="88072" name="Text Box 16"/>
            <p:cNvSpPr txBox="1"/>
            <p:nvPr/>
          </p:nvSpPr>
          <p:spPr>
            <a:xfrm>
              <a:off x="576" y="2304"/>
              <a:ext cx="1392" cy="7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0.1001</a:t>
              </a:r>
              <a:endPara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×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0.1101</a:t>
              </a:r>
              <a:endPara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8073" name="Text Box 17"/>
            <p:cNvSpPr txBox="1"/>
            <p:nvPr/>
          </p:nvSpPr>
          <p:spPr>
            <a:xfrm>
              <a:off x="720" y="211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8074" name="Text Box 18"/>
            <p:cNvSpPr txBox="1"/>
            <p:nvPr/>
          </p:nvSpPr>
          <p:spPr>
            <a:xfrm>
              <a:off x="720" y="259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59091" name="Line 19"/>
          <p:cNvSpPr/>
          <p:nvPr/>
        </p:nvSpPr>
        <p:spPr>
          <a:xfrm>
            <a:off x="2601913" y="3675063"/>
            <a:ext cx="381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092" name="Line 20"/>
          <p:cNvSpPr/>
          <p:nvPr/>
        </p:nvSpPr>
        <p:spPr>
          <a:xfrm>
            <a:off x="2601913" y="4360863"/>
            <a:ext cx="381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093" name="Text Box 21"/>
          <p:cNvSpPr txBox="1"/>
          <p:nvPr/>
        </p:nvSpPr>
        <p:spPr>
          <a:xfrm>
            <a:off x="2982913" y="4208463"/>
            <a:ext cx="16764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11 0.1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9094" name="Line 22"/>
          <p:cNvSpPr/>
          <p:nvPr/>
        </p:nvSpPr>
        <p:spPr>
          <a:xfrm>
            <a:off x="4354513" y="3675063"/>
            <a:ext cx="381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095" name="Line 23"/>
          <p:cNvSpPr/>
          <p:nvPr/>
        </p:nvSpPr>
        <p:spPr>
          <a:xfrm>
            <a:off x="4354513" y="4360863"/>
            <a:ext cx="381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096" name="Line 24"/>
          <p:cNvSpPr/>
          <p:nvPr/>
        </p:nvSpPr>
        <p:spPr>
          <a:xfrm>
            <a:off x="6107113" y="3675063"/>
            <a:ext cx="381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097" name="Line 25"/>
          <p:cNvSpPr/>
          <p:nvPr/>
        </p:nvSpPr>
        <p:spPr>
          <a:xfrm>
            <a:off x="6107113" y="4360863"/>
            <a:ext cx="381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098" name="Text Box 26"/>
          <p:cNvSpPr txBox="1"/>
          <p:nvPr/>
        </p:nvSpPr>
        <p:spPr>
          <a:xfrm>
            <a:off x="4735513" y="3522663"/>
            <a:ext cx="16764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010.01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9099" name="Text Box 27"/>
          <p:cNvSpPr txBox="1"/>
          <p:nvPr/>
        </p:nvSpPr>
        <p:spPr>
          <a:xfrm>
            <a:off x="4735513" y="4208463"/>
            <a:ext cx="16764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110.1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6488113" y="3141663"/>
            <a:ext cx="2590800" cy="765175"/>
            <a:chOff x="4368" y="2112"/>
            <a:chExt cx="1632" cy="482"/>
          </a:xfrm>
        </p:grpSpPr>
        <p:sp>
          <p:nvSpPr>
            <p:cNvPr id="88085" name="Text Box 29"/>
            <p:cNvSpPr txBox="1"/>
            <p:nvPr/>
          </p:nvSpPr>
          <p:spPr>
            <a:xfrm>
              <a:off x="4368" y="2352"/>
              <a:ext cx="1632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0.0101</a:t>
              </a:r>
              <a:endPara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8086" name="Text Box 30"/>
            <p:cNvSpPr txBox="1"/>
            <p:nvPr/>
          </p:nvSpPr>
          <p:spPr>
            <a:xfrm>
              <a:off x="4512" y="211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31"/>
          <p:cNvGrpSpPr/>
          <p:nvPr/>
        </p:nvGrpSpPr>
        <p:grpSpPr>
          <a:xfrm>
            <a:off x="6488113" y="3827463"/>
            <a:ext cx="2590800" cy="765175"/>
            <a:chOff x="4368" y="2544"/>
            <a:chExt cx="1632" cy="482"/>
          </a:xfrm>
        </p:grpSpPr>
        <p:sp>
          <p:nvSpPr>
            <p:cNvPr id="88088" name="Text Box 32"/>
            <p:cNvSpPr txBox="1"/>
            <p:nvPr/>
          </p:nvSpPr>
          <p:spPr>
            <a:xfrm>
              <a:off x="4368" y="2784"/>
              <a:ext cx="1632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0.1101</a:t>
              </a:r>
              <a:endPara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8089" name="Text Box 33"/>
            <p:cNvSpPr txBox="1"/>
            <p:nvPr/>
          </p:nvSpPr>
          <p:spPr>
            <a:xfrm>
              <a:off x="4512" y="2544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59108" name="Rectangle 36"/>
          <p:cNvSpPr/>
          <p:nvPr/>
        </p:nvSpPr>
        <p:spPr>
          <a:xfrm>
            <a:off x="1274763" y="6016625"/>
            <a:ext cx="34480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小阶向大阶对齐。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6" name="Text Box 3"/>
          <p:cNvSpPr txBox="1"/>
          <p:nvPr/>
        </p:nvSpPr>
        <p:spPr>
          <a:xfrm>
            <a:off x="254000" y="1412875"/>
            <a:ext cx="8494713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      当两个操作数中只要有一个为0，不需要运算，就可以得出结果，可以节省运算时间。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3132138" y="3933825"/>
            <a:ext cx="4318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直接连接符 30"/>
          <p:cNvCxnSpPr/>
          <p:nvPr/>
        </p:nvCxnSpPr>
        <p:spPr>
          <a:xfrm>
            <a:off x="3132138" y="4508500"/>
            <a:ext cx="792162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" name="组合 4"/>
          <p:cNvGrpSpPr/>
          <p:nvPr/>
        </p:nvGrpSpPr>
        <p:grpSpPr>
          <a:xfrm>
            <a:off x="7824788" y="2622550"/>
            <a:ext cx="1765300" cy="739775"/>
            <a:chOff x="12322" y="4130"/>
            <a:chExt cx="2780" cy="1166"/>
          </a:xfrm>
        </p:grpSpPr>
        <p:sp>
          <p:nvSpPr>
            <p:cNvPr id="88095" name="直接连接符 7205"/>
            <p:cNvSpPr/>
            <p:nvPr/>
          </p:nvSpPr>
          <p:spPr>
            <a:xfrm flipH="1" flipV="1">
              <a:off x="13404" y="4822"/>
              <a:ext cx="5" cy="475"/>
            </a:xfrm>
            <a:prstGeom prst="line">
              <a:avLst/>
            </a:prstGeom>
            <a:ln w="22225" cap="flat" cmpd="sng">
              <a:solidFill>
                <a:srgbClr val="CCFF66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8096" name="文本框 7206"/>
            <p:cNvSpPr txBox="1"/>
            <p:nvPr/>
          </p:nvSpPr>
          <p:spPr>
            <a:xfrm>
              <a:off x="12322" y="4129"/>
              <a:ext cx="278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FF99"/>
                  </a:solidFill>
                  <a:latin typeface="Times New Roman" panose="02020603050405020304" pitchFamily="18" charset="0"/>
                </a:rPr>
                <a:t>末位置1</a:t>
              </a:r>
              <a:endParaRPr lang="zh-CN" altLang="en-US" sz="2800" b="1" dirty="0">
                <a:solidFill>
                  <a:srgbClr val="CCFF99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907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908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9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9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9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9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9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9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9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59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59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59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5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2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59082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9082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9082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59082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5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 build="p"/>
      <p:bldP spid="259077" grpId="0"/>
      <p:bldP spid="259080" grpId="0" build="p"/>
      <p:bldP spid="259081" grpId="0"/>
      <p:bldP spid="259082" grpId="0" build="p"/>
      <p:bldP spid="259083" grpId="0"/>
      <p:bldP spid="259093" grpId="0"/>
      <p:bldP spid="259098" grpId="0"/>
      <p:bldP spid="259099" grpId="0"/>
      <p:bldP spid="259108" grpId="0"/>
      <p:bldP spid="36" grpId="0" bldLvl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2690" name="Text Box 2"/>
          <p:cNvSpPr txBox="1"/>
          <p:nvPr/>
        </p:nvSpPr>
        <p:spPr>
          <a:xfrm>
            <a:off x="100013" y="1919288"/>
            <a:ext cx="3733800" cy="5318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3.尾数加减.</a:t>
            </a:r>
            <a:endParaRPr lang="zh-CN" altLang="en-US" sz="36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2691" name="Text Box 3"/>
          <p:cNvSpPr txBox="1"/>
          <p:nvPr/>
        </p:nvSpPr>
        <p:spPr>
          <a:xfrm>
            <a:off x="57150" y="4038600"/>
            <a:ext cx="3124200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(1)  1.0001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+0.1001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2692" name="Text Box 4"/>
          <p:cNvSpPr txBox="1"/>
          <p:nvPr/>
        </p:nvSpPr>
        <p:spPr>
          <a:xfrm>
            <a:off x="0" y="1368425"/>
            <a:ext cx="73914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zh-CN" sz="32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阶码比较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：比较线路或减法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>
            <a:off x="0" y="9525"/>
            <a:ext cx="9144000" cy="11160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3200" b="1" u="sng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对阶操作：</a:t>
            </a:r>
            <a:r>
              <a:rPr kumimoji="1" lang="zh-CN" altLang="en-US" sz="32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小阶阶码增大，尾数右移</a:t>
            </a:r>
            <a:r>
              <a:rPr kumimoji="1" lang="zh-CN" altLang="en-US" sz="3200" b="1" kern="1200" cap="none" spc="0" normalizeH="0" baseline="0" noProof="0" dirty="0">
                <a:solidFill>
                  <a:srgbClr val="FFFF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  <a:endParaRPr kumimoji="1" lang="zh-CN" altLang="en-US" sz="3200" b="1" kern="1200" cap="none" spc="0" normalizeH="0" baseline="0" noProof="0" dirty="0">
              <a:solidFill>
                <a:srgbClr val="FFFF66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例.</a:t>
            </a:r>
            <a:r>
              <a:rPr kumimoji="1" lang="en-US" altLang="zh-CN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J</a:t>
            </a:r>
            <a:r>
              <a:rPr kumimoji="1" lang="en-US" altLang="zh-CN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&gt;B</a:t>
            </a:r>
            <a:r>
              <a:rPr kumimoji="1" lang="en-US" altLang="zh-CN" sz="2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J</a:t>
            </a:r>
            <a:r>
              <a:rPr kumimoji="1" lang="en-US" altLang="zh-CN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1" lang="zh-CN" altLang="en-US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则</a:t>
            </a:r>
            <a:r>
              <a:rPr kumimoji="1" lang="en-US" altLang="zh-CN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</a:t>
            </a:r>
            <a:r>
              <a:rPr kumimoji="1" lang="en-US" altLang="zh-CN" sz="2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J</a:t>
            </a:r>
            <a:r>
              <a:rPr kumimoji="1" lang="en-US" altLang="zh-CN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  B</a:t>
            </a:r>
            <a:r>
              <a:rPr kumimoji="1" lang="en-US" altLang="zh-CN" sz="2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J</a:t>
            </a:r>
            <a:r>
              <a:rPr kumimoji="1" lang="en-US" altLang="zh-CN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，B</a:t>
            </a:r>
            <a:r>
              <a:rPr kumimoji="1" lang="en-US" altLang="zh-CN" sz="2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W</a:t>
            </a:r>
            <a:r>
              <a:rPr kumimoji="1" lang="en-US" altLang="zh-CN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1" lang="zh-CN" altLang="en-US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直到</a:t>
            </a:r>
            <a:r>
              <a:rPr kumimoji="1" lang="en-US" altLang="zh-CN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</a:t>
            </a:r>
            <a:r>
              <a:rPr kumimoji="1" lang="en-US" altLang="zh-CN" sz="2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J</a:t>
            </a:r>
            <a:r>
              <a:rPr kumimoji="1" lang="en-US" altLang="zh-CN" sz="32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=A</a:t>
            </a:r>
            <a:r>
              <a:rPr kumimoji="1" lang="en-US" altLang="zh-CN" sz="2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J</a:t>
            </a:r>
            <a:endParaRPr kumimoji="1" lang="en-US" altLang="zh-CN" sz="3200" b="1" kern="120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2694" name="Text Box 6"/>
          <p:cNvSpPr txBox="1">
            <a:spLocks noChangeArrowheads="1"/>
          </p:cNvSpPr>
          <p:nvPr/>
        </p:nvSpPr>
        <p:spPr bwMode="auto">
          <a:xfrm>
            <a:off x="1047750" y="5029200"/>
            <a:ext cx="1676400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</a:t>
            </a:r>
            <a:r>
              <a:rPr kumimoji="1" lang="zh-CN" altLang="en-US" sz="3200" b="1" u="sng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010</a:t>
            </a:r>
            <a:endParaRPr kumimoji="1" lang="zh-CN" altLang="en-US" sz="3200" b="1" kern="1200" cap="none" spc="0" normalizeH="0" baseline="0" noProof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2695" name="Text Box 7"/>
          <p:cNvSpPr txBox="1"/>
          <p:nvPr/>
        </p:nvSpPr>
        <p:spPr>
          <a:xfrm>
            <a:off x="3895725" y="4038600"/>
            <a:ext cx="3657600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(2)  0.0101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+0.1101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2696" name="Line 8"/>
          <p:cNvSpPr/>
          <p:nvPr/>
        </p:nvSpPr>
        <p:spPr>
          <a:xfrm>
            <a:off x="3276600" y="914400"/>
            <a:ext cx="381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2697" name="Line 9"/>
          <p:cNvSpPr/>
          <p:nvPr/>
        </p:nvSpPr>
        <p:spPr>
          <a:xfrm>
            <a:off x="4419600" y="685800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" name="Group 10"/>
          <p:cNvGrpSpPr/>
          <p:nvPr/>
        </p:nvGrpSpPr>
        <p:grpSpPr>
          <a:xfrm>
            <a:off x="685800" y="2667000"/>
            <a:ext cx="3810000" cy="384175"/>
            <a:chOff x="432" y="1680"/>
            <a:chExt cx="2400" cy="242"/>
          </a:xfrm>
        </p:grpSpPr>
        <p:sp>
          <p:nvSpPr>
            <p:cNvPr id="89098" name="Text Box 11"/>
            <p:cNvSpPr txBox="1"/>
            <p:nvPr/>
          </p:nvSpPr>
          <p:spPr>
            <a:xfrm>
              <a:off x="432" y="1680"/>
              <a:ext cx="2400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+ B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A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endPara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9099" name="Line 12"/>
            <p:cNvSpPr/>
            <p:nvPr/>
          </p:nvSpPr>
          <p:spPr>
            <a:xfrm>
              <a:off x="1488" y="1776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00" name="Line 13"/>
            <p:cNvSpPr/>
            <p:nvPr/>
          </p:nvSpPr>
          <p:spPr>
            <a:xfrm>
              <a:off x="816" y="18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42702" name="Text Box 14"/>
          <p:cNvSpPr txBox="1"/>
          <p:nvPr/>
        </p:nvSpPr>
        <p:spPr>
          <a:xfrm>
            <a:off x="114300" y="3200400"/>
            <a:ext cx="3733800" cy="5318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4.结果规格化</a:t>
            </a:r>
            <a:endParaRPr lang="zh-CN" altLang="en-US" sz="36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2703" name="Line 15"/>
          <p:cNvSpPr/>
          <p:nvPr/>
        </p:nvSpPr>
        <p:spPr>
          <a:xfrm>
            <a:off x="971550" y="4953000"/>
            <a:ext cx="1524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" name="Group 16"/>
          <p:cNvGrpSpPr/>
          <p:nvPr/>
        </p:nvGrpSpPr>
        <p:grpSpPr>
          <a:xfrm>
            <a:off x="590550" y="5638800"/>
            <a:ext cx="2438400" cy="384175"/>
            <a:chOff x="336" y="3552"/>
            <a:chExt cx="1536" cy="242"/>
          </a:xfrm>
        </p:grpSpPr>
        <p:sp>
          <p:nvSpPr>
            <p:cNvPr id="89104" name="Text Box 17"/>
            <p:cNvSpPr txBox="1"/>
            <p:nvPr/>
          </p:nvSpPr>
          <p:spPr>
            <a:xfrm>
              <a:off x="336" y="3552"/>
              <a:ext cx="153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 &lt;1/2</a:t>
              </a:r>
              <a:endPara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9105" name="Line 18"/>
            <p:cNvSpPr/>
            <p:nvPr/>
          </p:nvSpPr>
          <p:spPr>
            <a:xfrm>
              <a:off x="480" y="3552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06" name="Line 19"/>
            <p:cNvSpPr/>
            <p:nvPr/>
          </p:nvSpPr>
          <p:spPr>
            <a:xfrm>
              <a:off x="720" y="3552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42708" name="Line 20"/>
          <p:cNvSpPr/>
          <p:nvPr/>
        </p:nvSpPr>
        <p:spPr>
          <a:xfrm>
            <a:off x="4810125" y="4953000"/>
            <a:ext cx="1524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2709" name="Text Box 21"/>
          <p:cNvSpPr txBox="1">
            <a:spLocks noChangeArrowheads="1"/>
          </p:cNvSpPr>
          <p:nvPr/>
        </p:nvSpPr>
        <p:spPr bwMode="auto">
          <a:xfrm>
            <a:off x="4886325" y="5029200"/>
            <a:ext cx="1676400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</a:t>
            </a:r>
            <a:r>
              <a:rPr kumimoji="1" lang="zh-CN" altLang="en-US" sz="3200" u="sng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zh-CN" altLang="en-US" sz="3200" b="1" kern="1200" cap="none" spc="0" normalizeH="0" baseline="0" noProof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010</a:t>
            </a:r>
            <a:endParaRPr kumimoji="1" lang="zh-CN" altLang="en-US" sz="3200" b="1" kern="1200" cap="none" spc="0" normalizeH="0" baseline="0" noProof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4" name="Group 22"/>
          <p:cNvGrpSpPr/>
          <p:nvPr/>
        </p:nvGrpSpPr>
        <p:grpSpPr>
          <a:xfrm>
            <a:off x="4505325" y="5638800"/>
            <a:ext cx="2667000" cy="384175"/>
            <a:chOff x="3696" y="3552"/>
            <a:chExt cx="1680" cy="242"/>
          </a:xfrm>
        </p:grpSpPr>
        <p:sp>
          <p:nvSpPr>
            <p:cNvPr id="89110" name="Text Box 23"/>
            <p:cNvSpPr txBox="1"/>
            <p:nvPr/>
          </p:nvSpPr>
          <p:spPr>
            <a:xfrm>
              <a:off x="3696" y="3552"/>
              <a:ext cx="1680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 &gt;1</a:t>
              </a:r>
              <a:endPara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9111" name="Line 24"/>
            <p:cNvSpPr/>
            <p:nvPr/>
          </p:nvSpPr>
          <p:spPr>
            <a:xfrm>
              <a:off x="3840" y="3552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12" name="Line 25"/>
            <p:cNvSpPr/>
            <p:nvPr/>
          </p:nvSpPr>
          <p:spPr>
            <a:xfrm>
              <a:off x="4080" y="3552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42714" name="Text Box 26"/>
          <p:cNvSpPr txBox="1"/>
          <p:nvPr/>
        </p:nvSpPr>
        <p:spPr>
          <a:xfrm>
            <a:off x="666750" y="6172200"/>
            <a:ext cx="33528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应</a:t>
            </a:r>
            <a:r>
              <a:rPr lang="zh-CN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左移规格化</a:t>
            </a:r>
            <a:endParaRPr lang="zh-CN" altLang="en-US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2715" name="Text Box 27"/>
          <p:cNvSpPr txBox="1"/>
          <p:nvPr/>
        </p:nvSpPr>
        <p:spPr>
          <a:xfrm>
            <a:off x="4581525" y="6172200"/>
            <a:ext cx="32766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应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右移规格化</a:t>
            </a:r>
            <a:endParaRPr lang="zh-CN" altLang="en-US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2716" name="Text Box 28"/>
          <p:cNvSpPr txBox="1"/>
          <p:nvPr/>
        </p:nvSpPr>
        <p:spPr>
          <a:xfrm>
            <a:off x="6172200" y="1905000"/>
            <a:ext cx="2514600" cy="1201738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2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正数：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=1;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0" hangingPunct="0">
              <a:spcBef>
                <a:spcPct val="2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负数：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=0;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AutoShape 4"/>
          <p:cNvSpPr/>
          <p:nvPr/>
        </p:nvSpPr>
        <p:spPr>
          <a:xfrm>
            <a:off x="590550" y="1700213"/>
            <a:ext cx="3914775" cy="2032000"/>
          </a:xfrm>
          <a:prstGeom prst="wedgeEllipseCallout">
            <a:avLst>
              <a:gd name="adj1" fmla="val -24630"/>
              <a:gd name="adj2" fmla="val 86917"/>
            </a:avLst>
          </a:prstGeom>
          <a:solidFill>
            <a:srgbClr val="CCFF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异号数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相加或同号数相减，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使得|M|&lt;1/2</a:t>
            </a:r>
            <a:endParaRPr lang="zh-CN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AutoShape 4"/>
          <p:cNvSpPr/>
          <p:nvPr/>
        </p:nvSpPr>
        <p:spPr>
          <a:xfrm>
            <a:off x="4895850" y="1435100"/>
            <a:ext cx="3914775" cy="2032000"/>
          </a:xfrm>
          <a:prstGeom prst="wedgeEllipseCallout">
            <a:avLst>
              <a:gd name="adj1" fmla="val -37236"/>
              <a:gd name="adj2" fmla="val 119060"/>
            </a:avLst>
          </a:prstGeom>
          <a:solidFill>
            <a:srgbClr val="CCFF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如果同符号数相加，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尾数进位到符号位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，即：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|M|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≥1</a:t>
            </a:r>
            <a:endParaRPr lang="zh-CN" altLang="zh-C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269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269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269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269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2693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2693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2693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2693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269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269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269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269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269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270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242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242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4269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2691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4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24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4269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42695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4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24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2" dur="500"/>
                                        <p:tgtEl>
                                          <p:spTgt spid="24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0" grpId="0" build="p"/>
      <p:bldP spid="242691" grpId="0" build="p"/>
      <p:bldP spid="242692" grpId="0" build="p"/>
      <p:bldP spid="242693" grpId="0" build="p"/>
      <p:bldP spid="242694" grpId="0"/>
      <p:bldP spid="242695" grpId="0" build="p"/>
      <p:bldP spid="242702" grpId="0" build="p"/>
      <p:bldP spid="242709" grpId="0"/>
      <p:bldP spid="242714" grpId="0"/>
      <p:bldP spid="242715" grpId="0"/>
      <p:bldP spid="242716" grpId="0" animBg="1"/>
      <p:bldP spid="29" grpId="0" animBg="1"/>
      <p:bldP spid="29" grpId="1" animBg="1"/>
      <p:bldP spid="30" grpId="0" animBg="1"/>
      <p:bldP spid="3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0"/>
          <p:cNvGrpSpPr/>
          <p:nvPr/>
        </p:nvGrpSpPr>
        <p:grpSpPr>
          <a:xfrm>
            <a:off x="6472238" y="2895600"/>
            <a:ext cx="2209800" cy="422275"/>
            <a:chOff x="4608" y="1680"/>
            <a:chExt cx="1392" cy="266"/>
          </a:xfrm>
        </p:grpSpPr>
        <p:sp>
          <p:nvSpPr>
            <p:cNvPr id="91138" name="Text Box 3"/>
            <p:cNvSpPr txBox="1"/>
            <p:nvPr/>
          </p:nvSpPr>
          <p:spPr>
            <a:xfrm>
              <a:off x="4608" y="1680"/>
              <a:ext cx="1392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r>
                <a:rPr lang="en-US" altLang="zh-CN" sz="32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+1  A</a:t>
              </a:r>
              <a:r>
                <a:rPr lang="en-US" altLang="zh-CN" sz="28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endPara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39" name="Line 4"/>
            <p:cNvSpPr/>
            <p:nvPr/>
          </p:nvSpPr>
          <p:spPr>
            <a:xfrm>
              <a:off x="5184" y="1776"/>
              <a:ext cx="240" cy="0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44741" name="Text Box 5"/>
          <p:cNvSpPr txBox="1"/>
          <p:nvPr/>
        </p:nvSpPr>
        <p:spPr>
          <a:xfrm>
            <a:off x="0" y="5686425"/>
            <a:ext cx="5334000" cy="422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若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f1</a:t>
            </a:r>
            <a:r>
              <a:rPr lang="en-US" altLang="zh-CN" sz="3600" b="1" dirty="0">
                <a:latin typeface="宋体" panose="02010600030101010101" pitchFamily="2" charset="-122"/>
              </a:rPr>
              <a:t>⊕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f2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=1,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规：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4742" name="Text Box 6"/>
          <p:cNvSpPr txBox="1"/>
          <p:nvPr/>
        </p:nvSpPr>
        <p:spPr>
          <a:xfrm>
            <a:off x="304800" y="228600"/>
            <a:ext cx="3124200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(1)  11.0001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+00.1001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4743" name="Text Box 7"/>
          <p:cNvSpPr txBox="1"/>
          <p:nvPr/>
        </p:nvSpPr>
        <p:spPr>
          <a:xfrm>
            <a:off x="1295400" y="1219200"/>
            <a:ext cx="23622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11.1010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4744" name="Line 8"/>
          <p:cNvSpPr/>
          <p:nvPr/>
        </p:nvSpPr>
        <p:spPr>
          <a:xfrm>
            <a:off x="1295400" y="1143000"/>
            <a:ext cx="1524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4745" name="Text Box 9"/>
          <p:cNvSpPr txBox="1"/>
          <p:nvPr/>
        </p:nvSpPr>
        <p:spPr>
          <a:xfrm>
            <a:off x="304800" y="3629025"/>
            <a:ext cx="3124200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(2)  00.0101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+00.1101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4746" name="Line 10"/>
          <p:cNvSpPr/>
          <p:nvPr/>
        </p:nvSpPr>
        <p:spPr>
          <a:xfrm>
            <a:off x="1295400" y="4543425"/>
            <a:ext cx="1524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4747" name="Text Box 11"/>
          <p:cNvSpPr txBox="1"/>
          <p:nvPr/>
        </p:nvSpPr>
        <p:spPr>
          <a:xfrm>
            <a:off x="1295400" y="4619625"/>
            <a:ext cx="16764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01.0010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4749" name="Text Box 13"/>
          <p:cNvSpPr txBox="1"/>
          <p:nvPr/>
        </p:nvSpPr>
        <p:spPr>
          <a:xfrm>
            <a:off x="990600" y="1676400"/>
            <a:ext cx="22860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f1</a:t>
            </a: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f2 </a:t>
            </a: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Group 39"/>
          <p:cNvGrpSpPr/>
          <p:nvPr/>
        </p:nvGrpSpPr>
        <p:grpSpPr>
          <a:xfrm>
            <a:off x="6853238" y="2286000"/>
            <a:ext cx="762000" cy="577850"/>
            <a:chOff x="4848" y="1296"/>
            <a:chExt cx="480" cy="364"/>
          </a:xfrm>
        </p:grpSpPr>
        <p:sp>
          <p:nvSpPr>
            <p:cNvPr id="91149" name="Line 15"/>
            <p:cNvSpPr/>
            <p:nvPr/>
          </p:nvSpPr>
          <p:spPr>
            <a:xfrm>
              <a:off x="4896" y="1296"/>
              <a:ext cx="240" cy="0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91150" name="Text Box 16"/>
            <p:cNvSpPr txBox="1"/>
            <p:nvPr/>
          </p:nvSpPr>
          <p:spPr>
            <a:xfrm>
              <a:off x="4848" y="1392"/>
              <a:ext cx="480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endPara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44753" name="Text Box 17"/>
          <p:cNvSpPr txBox="1"/>
          <p:nvPr/>
        </p:nvSpPr>
        <p:spPr>
          <a:xfrm>
            <a:off x="1295400" y="1219200"/>
            <a:ext cx="23622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010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4754" name="Line 18"/>
          <p:cNvSpPr/>
          <p:nvPr/>
        </p:nvSpPr>
        <p:spPr>
          <a:xfrm flipH="1">
            <a:off x="1219200" y="1524000"/>
            <a:ext cx="152400" cy="1524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4755" name="Line 19"/>
          <p:cNvSpPr/>
          <p:nvPr/>
        </p:nvSpPr>
        <p:spPr>
          <a:xfrm>
            <a:off x="1676400" y="1524000"/>
            <a:ext cx="0" cy="1524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4756" name="Line 20"/>
          <p:cNvSpPr/>
          <p:nvPr/>
        </p:nvSpPr>
        <p:spPr>
          <a:xfrm>
            <a:off x="2133600" y="1524000"/>
            <a:ext cx="152400" cy="1524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4" name="Group 37"/>
          <p:cNvGrpSpPr/>
          <p:nvPr/>
        </p:nvGrpSpPr>
        <p:grpSpPr>
          <a:xfrm>
            <a:off x="-36512" y="2376488"/>
            <a:ext cx="6911975" cy="465137"/>
            <a:chOff x="-23" y="1323"/>
            <a:chExt cx="4354" cy="293"/>
          </a:xfrm>
        </p:grpSpPr>
        <p:sp>
          <p:nvSpPr>
            <p:cNvPr id="91156" name="Text Box 22"/>
            <p:cNvSpPr txBox="1"/>
            <p:nvPr/>
          </p:nvSpPr>
          <p:spPr>
            <a:xfrm>
              <a:off x="-23" y="1350"/>
              <a:ext cx="4354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若 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f1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f2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+A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f1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f2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=1,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  <a:r>
                <a:rPr lang="zh-CN" altLang="en-US" sz="36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左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规：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57" name="Line 23"/>
            <p:cNvSpPr/>
            <p:nvPr/>
          </p:nvSpPr>
          <p:spPr>
            <a:xfrm>
              <a:off x="483" y="1332"/>
              <a:ext cx="1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58" name="Line 24"/>
            <p:cNvSpPr/>
            <p:nvPr/>
          </p:nvSpPr>
          <p:spPr>
            <a:xfrm>
              <a:off x="852" y="1332"/>
              <a:ext cx="1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59" name="Line 25"/>
            <p:cNvSpPr/>
            <p:nvPr/>
          </p:nvSpPr>
          <p:spPr>
            <a:xfrm>
              <a:off x="1230" y="1323"/>
              <a:ext cx="1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44762" name="Text Box 26"/>
          <p:cNvSpPr txBox="1"/>
          <p:nvPr/>
        </p:nvSpPr>
        <p:spPr>
          <a:xfrm>
            <a:off x="1295400" y="4619625"/>
            <a:ext cx="16764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.0010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4763" name="Text Box 27"/>
          <p:cNvSpPr txBox="1"/>
          <p:nvPr/>
        </p:nvSpPr>
        <p:spPr>
          <a:xfrm>
            <a:off x="990600" y="5153025"/>
            <a:ext cx="18288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f1</a:t>
            </a: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f2 </a:t>
            </a:r>
            <a:endParaRPr lang="en-US" altLang="zh-CN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4764" name="Line 28"/>
          <p:cNvSpPr/>
          <p:nvPr/>
        </p:nvSpPr>
        <p:spPr>
          <a:xfrm flipH="1">
            <a:off x="1295400" y="4924425"/>
            <a:ext cx="152400" cy="2286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4765" name="Line 29"/>
          <p:cNvSpPr/>
          <p:nvPr/>
        </p:nvSpPr>
        <p:spPr>
          <a:xfrm>
            <a:off x="1752600" y="4924425"/>
            <a:ext cx="0" cy="2286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5" name="Group 38"/>
          <p:cNvGrpSpPr/>
          <p:nvPr/>
        </p:nvGrpSpPr>
        <p:grpSpPr>
          <a:xfrm>
            <a:off x="4800600" y="5610225"/>
            <a:ext cx="762000" cy="498475"/>
            <a:chOff x="3024" y="3360"/>
            <a:chExt cx="480" cy="314"/>
          </a:xfrm>
        </p:grpSpPr>
        <p:sp>
          <p:nvSpPr>
            <p:cNvPr id="91165" name="Line 31"/>
            <p:cNvSpPr/>
            <p:nvPr/>
          </p:nvSpPr>
          <p:spPr>
            <a:xfrm>
              <a:off x="3072" y="3360"/>
              <a:ext cx="240" cy="0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1166" name="Text Box 32"/>
            <p:cNvSpPr txBox="1"/>
            <p:nvPr/>
          </p:nvSpPr>
          <p:spPr>
            <a:xfrm>
              <a:off x="3024" y="3408"/>
              <a:ext cx="480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endPara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Group 41"/>
          <p:cNvGrpSpPr/>
          <p:nvPr/>
        </p:nvGrpSpPr>
        <p:grpSpPr>
          <a:xfrm>
            <a:off x="4800600" y="6219825"/>
            <a:ext cx="2209800" cy="422275"/>
            <a:chOff x="3024" y="3744"/>
            <a:chExt cx="1392" cy="266"/>
          </a:xfrm>
        </p:grpSpPr>
        <p:sp>
          <p:nvSpPr>
            <p:cNvPr id="91168" name="Text Box 34"/>
            <p:cNvSpPr txBox="1"/>
            <p:nvPr/>
          </p:nvSpPr>
          <p:spPr>
            <a:xfrm>
              <a:off x="3024" y="3744"/>
              <a:ext cx="1392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E-</a:t>
              </a:r>
              <a:r>
                <a:rPr lang="en-US" altLang="zh-CN" sz="32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 A</a:t>
              </a:r>
              <a:r>
                <a:rPr lang="en-US" altLang="zh-CN" sz="28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endPara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9" name="Line 35"/>
            <p:cNvSpPr/>
            <p:nvPr/>
          </p:nvSpPr>
          <p:spPr>
            <a:xfrm>
              <a:off x="3600" y="3840"/>
              <a:ext cx="240" cy="0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44772" name="Text Box 36"/>
          <p:cNvSpPr txBox="1"/>
          <p:nvPr/>
        </p:nvSpPr>
        <p:spPr>
          <a:xfrm>
            <a:off x="6172200" y="152400"/>
            <a:ext cx="2895600" cy="1503363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正数：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M1=1;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负数：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M1=0;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474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4742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4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4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24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4474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4745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4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4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4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4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4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4" dur="500"/>
                                        <p:tgtEl>
                                          <p:spTgt spid="24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474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474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474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4474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44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44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1" grpId="0" build="p"/>
      <p:bldP spid="244742" grpId="0" build="p"/>
      <p:bldP spid="244743" grpId="0"/>
      <p:bldP spid="244745" grpId="0" build="p"/>
      <p:bldP spid="244747" grpId="0"/>
      <p:bldP spid="244749" grpId="0"/>
      <p:bldP spid="244753" grpId="0"/>
      <p:bldP spid="244762" grpId="0"/>
      <p:bldP spid="244763" grpId="0"/>
      <p:bldP spid="24477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3"/>
          <p:cNvSpPr txBox="1"/>
          <p:nvPr/>
        </p:nvSpPr>
        <p:spPr>
          <a:xfrm>
            <a:off x="228600" y="230188"/>
            <a:ext cx="8763000" cy="6477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fontAlgn="b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3200" b="1" dirty="0">
                <a:solidFill>
                  <a:srgbClr val="FFFF66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lang="zh-CN" altLang="en-US" sz="3200" b="1" dirty="0">
                <a:solidFill>
                  <a:srgbClr val="FFFF66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. 浮点数的溢出判断</a:t>
            </a:r>
            <a:endParaRPr lang="zh-CN" altLang="en-US" sz="3200" b="1" dirty="0">
              <a:solidFill>
                <a:srgbClr val="FFFF66"/>
              </a:solidFill>
              <a:latin typeface="Times New Roman" panose="02020603050405020304" pitchFamily="18" charset="0"/>
              <a:sym typeface="Arial" panose="020B0604020202020204" pitchFamily="34" charset="0"/>
            </a:endParaRPr>
          </a:p>
          <a:p>
            <a:pPr marL="342900" indent="-342900" fontAlgn="b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浮点数的溢出由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阶码</a:t>
            </a:r>
            <a:r>
              <a:rPr lang="zh-CN" altLang="en-US" sz="2800" b="1" dirty="0">
                <a:latin typeface="Times New Roman" panose="02020603050405020304" pitchFamily="18" charset="0"/>
              </a:rPr>
              <a:t>来判断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例如，设阶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码数值</a:t>
            </a:r>
            <a:r>
              <a:rPr lang="zh-CN" altLang="en-US" sz="2800" b="1" dirty="0">
                <a:latin typeface="Times New Roman" panose="02020603050405020304" pitchFamily="18" charset="0"/>
              </a:rPr>
              <a:t>部分取7位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（1）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小于-128，称为下溢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它发生在左规时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这种情况不作为溢出处理，它表示数的绝对值很小，用机器零表示（阶码、尾数全0）。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（2）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大于+127时，称为上溢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，这是浮点数的</a:t>
            </a:r>
            <a:r>
              <a:rPr lang="zh-CN" altLang="en-US" sz="2800" b="1" u="sng" dirty="0">
                <a:solidFill>
                  <a:srgbClr val="FFC000"/>
                </a:solidFill>
                <a:latin typeface="Times New Roman" panose="02020603050405020304" pitchFamily="18" charset="0"/>
              </a:rPr>
              <a:t>真正</a:t>
            </a:r>
            <a:r>
              <a:rPr lang="zh-CN" altLang="en-US" sz="28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溢出</a:t>
            </a:r>
            <a:r>
              <a:rPr lang="zh-CN" altLang="en-US" sz="2800" b="1" dirty="0">
                <a:latin typeface="Times New Roman" panose="02020603050405020304" pitchFamily="18" charset="0"/>
              </a:rPr>
              <a:t>。置位溢出标志，作中断处理。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3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7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9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3"/>
          <p:cNvSpPr txBox="1"/>
          <p:nvPr/>
        </p:nvSpPr>
        <p:spPr>
          <a:xfrm>
            <a:off x="76200" y="76200"/>
            <a:ext cx="8878888" cy="6629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例  x = 0.1101×10</a:t>
            </a:r>
            <a:r>
              <a:rPr lang="zh-CN" altLang="en-US" sz="2800" b="1" baseline="30000" dirty="0">
                <a:latin typeface="Times New Roman" panose="02020603050405020304" pitchFamily="18" charset="0"/>
              </a:rPr>
              <a:t>01</a:t>
            </a:r>
            <a:r>
              <a:rPr lang="zh-CN" altLang="en-US" sz="2800" b="1" dirty="0">
                <a:latin typeface="Times New Roman" panose="02020603050405020304" pitchFamily="18" charset="0"/>
              </a:rPr>
              <a:t>，y=- (0.1010)×10</a:t>
            </a:r>
            <a:r>
              <a:rPr lang="zh-CN" altLang="en-US" sz="2800" b="1" baseline="30000" dirty="0">
                <a:latin typeface="Times New Roman" panose="02020603050405020304" pitchFamily="18" charset="0"/>
              </a:rPr>
              <a:t>11</a:t>
            </a:r>
            <a:r>
              <a:rPr lang="zh-CN" altLang="en-US" sz="2800" b="1" dirty="0">
                <a:latin typeface="Times New Roman" panose="02020603050405020304" pitchFamily="18" charset="0"/>
              </a:rPr>
              <a:t>，求x+y=?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（1）对阶：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	假定两数在计算机中采用补码制，双符号位，则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[x]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=0001,00.1101    E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=0001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[y]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=0011,11.0110    E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=0011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	求阶差：△E =E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-E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=0001+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1101</a:t>
            </a:r>
            <a:r>
              <a:rPr lang="zh-CN" altLang="en-US" sz="2800" b="1" dirty="0">
                <a:latin typeface="Times New Roman" panose="02020603050405020304" pitchFamily="18" charset="0"/>
              </a:rPr>
              <a:t>=1110，即△E =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-2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，表示x的阶码E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小于y的阶码E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所以应使x的尾数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右移2位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阶码加2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，则[x]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=0011, 00.0011，这时△E =0，对阶完毕。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4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7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7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2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8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06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3"/>
          <p:cNvSpPr txBox="1"/>
          <p:nvPr/>
        </p:nvSpPr>
        <p:spPr>
          <a:xfrm>
            <a:off x="76200" y="228600"/>
            <a:ext cx="8878888" cy="6477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（2）  尾数相加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x和y对阶后的尾数分别为：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[Mx]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=00.0011，[My]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=11.0110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则 [Mx]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+[My]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=00.0011+11.0110=11.1001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∴   [x+y]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=0011,11.1001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（3） 规格化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	和的尾数的两符号位相等，但小数点后的第一位也与符号位相等,不是规格化数，需要进行左规。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尾数左移一位，阶码减１，就可得到规格化的浮点数结果。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[x+y]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=0010,11.0010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2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4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2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0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5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5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62" name="Text Box 2"/>
          <p:cNvSpPr txBox="1">
            <a:spLocks noChangeArrowheads="1"/>
          </p:cNvSpPr>
          <p:nvPr/>
        </p:nvSpPr>
        <p:spPr bwMode="auto">
          <a:xfrm>
            <a:off x="71438" y="100013"/>
            <a:ext cx="5791200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40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sz="36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浮点</a:t>
            </a:r>
            <a:r>
              <a:rPr kumimoji="1" lang="zh-CN" altLang="en-US" sz="40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乘法</a:t>
            </a:r>
            <a:r>
              <a:rPr kumimoji="1" lang="zh-CN" altLang="en-US" sz="40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运算</a:t>
            </a:r>
            <a:endParaRPr kumimoji="1" lang="zh-CN" altLang="en-US" sz="4000" b="1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457200" y="1828800"/>
            <a:ext cx="6172200" cy="579438"/>
            <a:chOff x="288" y="1152"/>
            <a:chExt cx="3888" cy="365"/>
          </a:xfrm>
        </p:grpSpPr>
        <p:sp>
          <p:nvSpPr>
            <p:cNvPr id="93187" name="Text Box 6"/>
            <p:cNvSpPr txBox="1"/>
            <p:nvPr/>
          </p:nvSpPr>
          <p:spPr>
            <a:xfrm>
              <a:off x="288" y="1152"/>
              <a:ext cx="38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32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浮点乘    定点加、定点乘</a:t>
              </a:r>
              <a:endPara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188" name="Line 7"/>
            <p:cNvSpPr/>
            <p:nvPr/>
          </p:nvSpPr>
          <p:spPr>
            <a:xfrm>
              <a:off x="1152" y="1338"/>
              <a:ext cx="480" cy="0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" name="Group 10"/>
          <p:cNvGrpSpPr/>
          <p:nvPr/>
        </p:nvGrpSpPr>
        <p:grpSpPr>
          <a:xfrm>
            <a:off x="0" y="838200"/>
            <a:ext cx="4953000" cy="781050"/>
            <a:chOff x="0" y="528"/>
            <a:chExt cx="3120" cy="492"/>
          </a:xfrm>
        </p:grpSpPr>
        <p:sp>
          <p:nvSpPr>
            <p:cNvPr id="93190" name="Text Box 11"/>
            <p:cNvSpPr txBox="1"/>
            <p:nvPr/>
          </p:nvSpPr>
          <p:spPr>
            <a:xfrm>
              <a:off x="0" y="720"/>
              <a:ext cx="312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A=2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×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B=2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 </a:t>
              </a:r>
              <a:endPara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191" name="Text Box 12"/>
            <p:cNvSpPr txBox="1"/>
            <p:nvPr/>
          </p:nvSpPr>
          <p:spPr>
            <a:xfrm>
              <a:off x="720" y="528"/>
              <a:ext cx="672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192" name="Text Box 13"/>
            <p:cNvSpPr txBox="1"/>
            <p:nvPr/>
          </p:nvSpPr>
          <p:spPr>
            <a:xfrm>
              <a:off x="2016" y="528"/>
              <a:ext cx="672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14"/>
          <p:cNvGrpSpPr/>
          <p:nvPr/>
        </p:nvGrpSpPr>
        <p:grpSpPr>
          <a:xfrm>
            <a:off x="4724400" y="838200"/>
            <a:ext cx="4953000" cy="781050"/>
            <a:chOff x="2976" y="528"/>
            <a:chExt cx="3120" cy="492"/>
          </a:xfrm>
        </p:grpSpPr>
        <p:sp>
          <p:nvSpPr>
            <p:cNvPr id="93194" name="Text Box 15"/>
            <p:cNvSpPr txBox="1"/>
            <p:nvPr/>
          </p:nvSpPr>
          <p:spPr>
            <a:xfrm>
              <a:off x="3840" y="528"/>
              <a:ext cx="768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lang="en-US" altLang="zh-CN" sz="28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+B</a:t>
              </a:r>
              <a:r>
                <a:rPr lang="en-US" altLang="zh-CN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195" name="Text Box 16"/>
            <p:cNvSpPr txBox="1"/>
            <p:nvPr/>
          </p:nvSpPr>
          <p:spPr>
            <a:xfrm>
              <a:off x="2976" y="720"/>
              <a:ext cx="312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B=2</a:t>
              </a:r>
              <a:r>
                <a:rPr lang="en-US" altLang="zh-CN" sz="3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en-US" altLang="zh-CN" sz="36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en-US" altLang="zh-CN" sz="32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  <a:r>
                <a:rPr lang="en-US" altLang="zh-CN" sz="36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28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7" name="Text Box 3"/>
          <p:cNvSpPr txBox="1"/>
          <p:nvPr/>
        </p:nvSpPr>
        <p:spPr>
          <a:xfrm>
            <a:off x="0" y="2590800"/>
            <a:ext cx="1981200" cy="5318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步骤：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Box 4"/>
          <p:cNvSpPr txBox="1"/>
          <p:nvPr/>
        </p:nvSpPr>
        <p:spPr>
          <a:xfrm>
            <a:off x="0" y="3276600"/>
            <a:ext cx="6858000" cy="1555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检测操作数是否为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阶码相加。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若阶码用移码表示，相加后要修正。</a:t>
            </a:r>
            <a:endParaRPr lang="zh-CN" altLang="en-US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Box 8"/>
          <p:cNvSpPr txBox="1"/>
          <p:nvPr/>
        </p:nvSpPr>
        <p:spPr>
          <a:xfrm>
            <a:off x="0" y="5029200"/>
            <a:ext cx="30480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尾数相乘。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9"/>
          <p:cNvSpPr txBox="1"/>
          <p:nvPr/>
        </p:nvSpPr>
        <p:spPr>
          <a:xfrm>
            <a:off x="2590800" y="5029200"/>
            <a:ext cx="41148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相乘前</a:t>
            </a: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不需对阶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 Box 17"/>
          <p:cNvSpPr txBox="1"/>
          <p:nvPr/>
        </p:nvSpPr>
        <p:spPr>
          <a:xfrm>
            <a:off x="0" y="5638800"/>
            <a:ext cx="32004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结果规格化。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 Box 18"/>
          <p:cNvSpPr txBox="1"/>
          <p:nvPr/>
        </p:nvSpPr>
        <p:spPr>
          <a:xfrm>
            <a:off x="2819400" y="5638800"/>
            <a:ext cx="30480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一般</a:t>
            </a: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6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charRg st="13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>
                                            <p:txEl>
                                              <p:charRg st="13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charRg st="13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charRg st="13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>
                                            <p:txEl>
                                              <p:charRg st="13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2" grpId="0" build="p"/>
      <p:bldP spid="17" grpId="0" build="p"/>
      <p:bldP spid="18" grpId="0" build="p"/>
      <p:bldP spid="19" grpId="0"/>
      <p:bldP spid="20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3"/>
          <p:cNvSpPr txBox="1"/>
          <p:nvPr/>
        </p:nvSpPr>
        <p:spPr>
          <a:xfrm>
            <a:off x="76200" y="304800"/>
            <a:ext cx="9031288" cy="5829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fontAlgn="b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例  已知 x=0.110000×10</a:t>
            </a:r>
            <a:r>
              <a:rPr lang="zh-CN" altLang="en-US" sz="2800" b="1" baseline="30000" dirty="0">
                <a:latin typeface="Times New Roman" panose="02020603050405020304" pitchFamily="18" charset="0"/>
              </a:rPr>
              <a:t>101</a:t>
            </a:r>
            <a:r>
              <a:rPr lang="zh-CN" altLang="en-US" sz="2800" b="1" dirty="0">
                <a:latin typeface="Times New Roman" panose="02020603050405020304" pitchFamily="18" charset="0"/>
              </a:rPr>
              <a:t>，y=-0.111000×10</a:t>
            </a:r>
            <a:r>
              <a:rPr lang="zh-CN" altLang="en-US" sz="2800" b="1" baseline="30000" dirty="0">
                <a:latin typeface="Times New Roman" panose="02020603050405020304" pitchFamily="18" charset="0"/>
              </a:rPr>
              <a:t>100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，设阶码数值部分各取5位，阶符2位；尾数数值部分各取6位，尾符2位，按机器浮点数运算步骤，求x×y。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解 ：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(1) 求阶和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 [E</a:t>
            </a:r>
            <a:r>
              <a:rPr lang="zh-CN" altLang="en-US" sz="2800" b="1" baseline="-25000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=00 00101     [E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=00 00100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 [△E]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=[E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+ [E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= 00 01001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(2) 尾数相乘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可利用原码或补码定点数乘法求尾数之乘积，可得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   [M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·M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原</a:t>
            </a:r>
            <a:r>
              <a:rPr lang="zh-CN" altLang="en-US" sz="2800" b="1" dirty="0">
                <a:latin typeface="Times New Roman" panose="02020603050405020304" pitchFamily="18" charset="0"/>
              </a:rPr>
              <a:t> = 1.101010000000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或    [M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·M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 = 1.010110000000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1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6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4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3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9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90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7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54" end="2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3"/>
          <p:cNvSpPr txBox="1"/>
          <p:nvPr/>
        </p:nvSpPr>
        <p:spPr>
          <a:xfrm>
            <a:off x="304800" y="457200"/>
            <a:ext cx="8650288" cy="56753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(3) 规格化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已是规格化形式，勿需规格化。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(4) 舍入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若取单字长乘积，可得[M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×M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原</a:t>
            </a:r>
            <a:r>
              <a:rPr lang="zh-CN" altLang="en-US" sz="2800" b="1" dirty="0">
                <a:latin typeface="Times New Roman" panose="02020603050405020304" pitchFamily="18" charset="0"/>
              </a:rPr>
              <a:t>=1.101010或[M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×M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=1.010110，所以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[x×y]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原</a:t>
            </a:r>
            <a:r>
              <a:rPr lang="zh-CN" altLang="en-US" sz="2800" b="1" dirty="0">
                <a:latin typeface="Times New Roman" panose="02020603050405020304" pitchFamily="18" charset="0"/>
              </a:rPr>
              <a:t>=1.101010×10</a:t>
            </a:r>
            <a:r>
              <a:rPr lang="zh-CN" altLang="en-US" sz="2800" b="1" baseline="30000" dirty="0">
                <a:latin typeface="Times New Roman" panose="02020603050405020304" pitchFamily="18" charset="0"/>
              </a:rPr>
              <a:t>0001001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  [x×y]</a:t>
            </a:r>
            <a:r>
              <a:rPr lang="zh-CN" altLang="en-US" sz="2800" b="1" baseline="-30000" dirty="0">
                <a:latin typeface="Times New Roman" panose="02020603050405020304" pitchFamily="18" charset="0"/>
              </a:rPr>
              <a:t>补</a:t>
            </a:r>
            <a:r>
              <a:rPr lang="zh-CN" altLang="en-US" sz="2800" b="1" dirty="0">
                <a:latin typeface="Times New Roman" panose="02020603050405020304" pitchFamily="18" charset="0"/>
              </a:rPr>
              <a:t>=1.010110×10</a:t>
            </a:r>
            <a:r>
              <a:rPr lang="zh-CN" altLang="en-US" sz="2800" b="1" baseline="30000" dirty="0">
                <a:latin typeface="Times New Roman" panose="02020603050405020304" pitchFamily="18" charset="0"/>
              </a:rPr>
              <a:t>0001001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 fontAlgn="b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     得  x×y = -0.101010×10</a:t>
            </a:r>
            <a:r>
              <a:rPr lang="zh-CN" altLang="en-US" sz="2800" b="1" baseline="30000" dirty="0">
                <a:latin typeface="Times New Roman" panose="02020603050405020304" pitchFamily="18" charset="0"/>
              </a:rPr>
              <a:t>1001</a:t>
            </a:r>
            <a:r>
              <a:rPr lang="zh-CN" altLang="en-US" sz="2800" b="1" dirty="0">
                <a:latin typeface="Times New Roman" panose="02020603050405020304" pitchFamily="18" charset="0"/>
              </a:rPr>
              <a:t>= -101010000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7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4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7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9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1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9010" name="Text Box 2"/>
          <p:cNvSpPr txBox="1">
            <a:spLocks noChangeArrowheads="1"/>
          </p:cNvSpPr>
          <p:nvPr/>
        </p:nvSpPr>
        <p:spPr bwMode="auto">
          <a:xfrm>
            <a:off x="111125" y="222250"/>
            <a:ext cx="64770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</a:t>
            </a:r>
            <a:r>
              <a:rPr kumimoji="1" lang="zh-CN" altLang="en-US" sz="36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浮点</a:t>
            </a: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除法</a:t>
            </a:r>
            <a:r>
              <a:rPr kumimoji="1" lang="zh-CN" altLang="en-US" sz="3600" b="1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运算</a:t>
            </a:r>
            <a:endParaRPr kumimoji="1" lang="zh-CN" altLang="en-US" sz="3600" b="1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9011" name="Text Box 3"/>
          <p:cNvSpPr txBox="1"/>
          <p:nvPr/>
        </p:nvSpPr>
        <p:spPr>
          <a:xfrm>
            <a:off x="0" y="2438400"/>
            <a:ext cx="1981200" cy="5318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步骤：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9012" name="Text Box 4"/>
          <p:cNvSpPr txBox="1"/>
          <p:nvPr/>
        </p:nvSpPr>
        <p:spPr>
          <a:xfrm>
            <a:off x="0" y="3124200"/>
            <a:ext cx="9036050" cy="1403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检测操作数是否为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2. A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W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&lt; B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W ?(</a:t>
            </a:r>
            <a:r>
              <a:rPr lang="zh-CN" altLang="en-US" sz="2800" b="1" dirty="0">
                <a:latin typeface="Times New Roman" panose="02020603050405020304" pitchFamily="18" charset="0"/>
              </a:rPr>
              <a:t>使被除数绝对值小于除数，保证商为纯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小数。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381000" y="1633538"/>
            <a:ext cx="6172200" cy="579437"/>
            <a:chOff x="240" y="1029"/>
            <a:chExt cx="3888" cy="365"/>
          </a:xfrm>
        </p:grpSpPr>
        <p:sp>
          <p:nvSpPr>
            <p:cNvPr id="95237" name="Text Box 6"/>
            <p:cNvSpPr txBox="1"/>
            <p:nvPr/>
          </p:nvSpPr>
          <p:spPr>
            <a:xfrm>
              <a:off x="240" y="1029"/>
              <a:ext cx="38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32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浮点除    定点减、定点除</a:t>
              </a:r>
              <a:endPara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5238" name="Line 7"/>
            <p:cNvSpPr/>
            <p:nvPr/>
          </p:nvSpPr>
          <p:spPr>
            <a:xfrm>
              <a:off x="1104" y="1233"/>
              <a:ext cx="480" cy="0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stealth" w="lg" len="lg"/>
            </a:ln>
          </p:spPr>
        </p:sp>
      </p:grpSp>
      <p:grpSp>
        <p:nvGrpSpPr>
          <p:cNvPr id="3" name="Group 10"/>
          <p:cNvGrpSpPr/>
          <p:nvPr/>
        </p:nvGrpSpPr>
        <p:grpSpPr>
          <a:xfrm>
            <a:off x="0" y="762000"/>
            <a:ext cx="4953000" cy="781050"/>
            <a:chOff x="0" y="528"/>
            <a:chExt cx="3120" cy="492"/>
          </a:xfrm>
        </p:grpSpPr>
        <p:sp>
          <p:nvSpPr>
            <p:cNvPr id="95240" name="Text Box 11"/>
            <p:cNvSpPr txBox="1"/>
            <p:nvPr/>
          </p:nvSpPr>
          <p:spPr>
            <a:xfrm>
              <a:off x="0" y="720"/>
              <a:ext cx="312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A=2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×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B=2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 </a:t>
              </a:r>
              <a:endPara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5241" name="Text Box 12"/>
            <p:cNvSpPr txBox="1"/>
            <p:nvPr/>
          </p:nvSpPr>
          <p:spPr>
            <a:xfrm>
              <a:off x="720" y="528"/>
              <a:ext cx="672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5242" name="Text Box 13"/>
            <p:cNvSpPr txBox="1"/>
            <p:nvPr/>
          </p:nvSpPr>
          <p:spPr>
            <a:xfrm>
              <a:off x="2016" y="528"/>
              <a:ext cx="672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4724400" y="762000"/>
            <a:ext cx="4953000" cy="784225"/>
            <a:chOff x="2976" y="528"/>
            <a:chExt cx="3120" cy="494"/>
          </a:xfrm>
        </p:grpSpPr>
        <p:sp>
          <p:nvSpPr>
            <p:cNvPr id="95244" name="Text Box 16"/>
            <p:cNvSpPr txBox="1"/>
            <p:nvPr/>
          </p:nvSpPr>
          <p:spPr>
            <a:xfrm>
              <a:off x="3840" y="528"/>
              <a:ext cx="768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J-</a:t>
              </a:r>
              <a:r>
                <a:rPr lang="en-US" altLang="zh-CN" sz="28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5245" name="Text Box 17"/>
            <p:cNvSpPr txBox="1"/>
            <p:nvPr/>
          </p:nvSpPr>
          <p:spPr>
            <a:xfrm>
              <a:off x="2976" y="720"/>
              <a:ext cx="312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÷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B=2</a:t>
              </a:r>
              <a:r>
                <a:rPr lang="en-US" altLang="zh-CN" sz="3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×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en-US" altLang="zh-CN" sz="36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28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endPara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5246" name="Rectangle 18"/>
            <p:cNvSpPr/>
            <p:nvPr/>
          </p:nvSpPr>
          <p:spPr>
            <a:xfrm>
              <a:off x="4938" y="720"/>
              <a:ext cx="897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÷</a:t>
              </a:r>
              <a:r>
                <a:rPr lang="en-US" altLang="zh-CN" sz="36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28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99028" name="Line 20"/>
          <p:cNvSpPr/>
          <p:nvPr/>
        </p:nvSpPr>
        <p:spPr>
          <a:xfrm>
            <a:off x="652463" y="3657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9029" name="Line 21"/>
          <p:cNvSpPr/>
          <p:nvPr/>
        </p:nvSpPr>
        <p:spPr>
          <a:xfrm>
            <a:off x="1157288" y="3657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9030" name="Line 22"/>
          <p:cNvSpPr/>
          <p:nvPr/>
        </p:nvSpPr>
        <p:spPr>
          <a:xfrm>
            <a:off x="1657350" y="3657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9031" name="Line 23"/>
          <p:cNvSpPr/>
          <p:nvPr/>
        </p:nvSpPr>
        <p:spPr>
          <a:xfrm>
            <a:off x="2147888" y="3657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" name="Text Box 8"/>
          <p:cNvSpPr txBox="1"/>
          <p:nvPr/>
        </p:nvSpPr>
        <p:spPr>
          <a:xfrm>
            <a:off x="0" y="5821363"/>
            <a:ext cx="30480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尾数相除。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9"/>
          <p:cNvSpPr txBox="1"/>
          <p:nvPr/>
        </p:nvSpPr>
        <p:spPr>
          <a:xfrm>
            <a:off x="2819400" y="5821363"/>
            <a:ext cx="41148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相除前</a:t>
            </a: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不需对阶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14"/>
          <p:cNvSpPr txBox="1"/>
          <p:nvPr/>
        </p:nvSpPr>
        <p:spPr>
          <a:xfrm>
            <a:off x="0" y="6357938"/>
            <a:ext cx="5148263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结果不需要再规格化。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 Box 19"/>
          <p:cNvSpPr txBox="1"/>
          <p:nvPr/>
        </p:nvSpPr>
        <p:spPr>
          <a:xfrm>
            <a:off x="0" y="4678363"/>
            <a:ext cx="7391400" cy="969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阶码相减。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若阶码用移码表示，相减后要修正。</a:t>
            </a:r>
            <a:endParaRPr lang="zh-CN" altLang="en-US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901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901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90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90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90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90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>
                                            <p:txEl>
                                              <p:charRg st="1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9012">
                                            <p:txEl>
                                              <p:charRg st="1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9012">
                                            <p:txEl>
                                              <p:charRg st="1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9012">
                                            <p:txEl>
                                              <p:charRg st="1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9012">
                                            <p:txEl>
                                              <p:charRg st="1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>
                                            <p:txEl>
                                              <p:charRg st="4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9012">
                                            <p:txEl>
                                              <p:charRg st="4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9012">
                                            <p:txEl>
                                              <p:charRg st="4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9012">
                                            <p:txEl>
                                              <p:charRg st="4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9012">
                                            <p:txEl>
                                              <p:charRg st="4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9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9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9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9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8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">
                                            <p:txEl>
                                              <p:charRg st="8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>
                                            <p:txEl>
                                              <p:charRg st="8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charRg st="8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charRg st="8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0" grpId="0" build="p"/>
      <p:bldP spid="299011" grpId="0" build="p"/>
      <p:bldP spid="299012" grpId="0" build="p"/>
      <p:bldP spid="23" grpId="0"/>
      <p:bldP spid="24" grpId="0"/>
      <p:bldP spid="25" grpId="0"/>
      <p:bldP spid="2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  <a:endParaRPr lang="en-US" altLang="zh-CN" sz="1400" b="1" dirty="0">
              <a:solidFill>
                <a:schemeClr val="tx2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188913"/>
            <a:ext cx="9144000" cy="5470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40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简要回答下列问题          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）原码一位乘法与补码一位乘法的主要区别是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什么？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）原码加减交替除法根据什么情况商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、商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）在浮点加减运算中如何进行对阶操作？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）在什么情况下需要左移规格化？什么情况下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需要右移规格化？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5" name="文本框 26625"/>
          <p:cNvSpPr txBox="1"/>
          <p:nvPr/>
        </p:nvSpPr>
        <p:spPr>
          <a:xfrm>
            <a:off x="214313" y="274638"/>
            <a:ext cx="110648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例: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98306" name="文本框 26626"/>
          <p:cNvSpPr txBox="1"/>
          <p:nvPr/>
        </p:nvSpPr>
        <p:spPr>
          <a:xfrm>
            <a:off x="266700" y="852488"/>
            <a:ext cx="8389938" cy="952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74650" indent="-374650">
              <a:spcBef>
                <a:spcPct val="50000"/>
              </a:spcBef>
            </a:pPr>
            <a:r>
              <a:rPr lang="zh-CN" altLang="en-US" sz="2800" b="1" dirty="0">
                <a:solidFill>
                  <a:srgbClr val="CCFF99"/>
                </a:solidFill>
                <a:latin typeface="Times New Roman" panose="02020603050405020304" pitchFamily="18" charset="0"/>
              </a:rPr>
              <a:t>1. 一位乘法是将乘法转换成部分积累加和移位操作, 因此(      )</a:t>
            </a:r>
            <a:endParaRPr lang="zh-CN" altLang="en-US" sz="2800" b="1" dirty="0">
              <a:solidFill>
                <a:srgbClr val="CC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7" name="矩形 26627"/>
          <p:cNvSpPr/>
          <p:nvPr/>
        </p:nvSpPr>
        <p:spPr>
          <a:xfrm>
            <a:off x="534988" y="1833563"/>
            <a:ext cx="8609012" cy="2438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74650" indent="-374650">
              <a:spcBef>
                <a:spcPct val="15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BatangChe" pitchFamily="49" charset="-127"/>
              </a:rPr>
              <a:t>①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在原码一位乘法中, 只有求和操作而无相减操作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74650" indent="-374650">
              <a:spcBef>
                <a:spcPct val="15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BatangChe" pitchFamily="49" charset="-127"/>
              </a:rPr>
              <a:t>②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在补码一位乘法中, 只有求和操作而无相减操作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74650" indent="-374650">
              <a:spcBef>
                <a:spcPct val="15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BatangChe" pitchFamily="49" charset="-127"/>
              </a:rPr>
              <a:t>③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在原码一位乘法中, 既有求和操作, 也有相减操作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74650" indent="-374650">
              <a:spcBef>
                <a:spcPct val="15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BatangChe" pitchFamily="49" charset="-127"/>
              </a:rPr>
              <a:t>④ </a:t>
            </a:r>
            <a:r>
              <a:rPr lang="zh-CN" altLang="en-US" sz="2800" b="1" dirty="0">
                <a:latin typeface="Times New Roman" panose="02020603050405020304" pitchFamily="18" charset="0"/>
              </a:rPr>
              <a:t>不管原码一位乘法或补码一位乘法, 都既有求和操作也有相减操作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8308" name="文本框 26629"/>
          <p:cNvSpPr txBox="1"/>
          <p:nvPr/>
        </p:nvSpPr>
        <p:spPr>
          <a:xfrm>
            <a:off x="250825" y="4394200"/>
            <a:ext cx="6251575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74650" indent="-374650">
              <a:spcBef>
                <a:spcPct val="50000"/>
              </a:spcBef>
            </a:pPr>
            <a:r>
              <a:rPr lang="zh-CN" altLang="en-US" sz="2800" b="1" dirty="0">
                <a:solidFill>
                  <a:srgbClr val="CCFF99"/>
                </a:solidFill>
                <a:latin typeface="Times New Roman" panose="02020603050405020304" pitchFamily="18" charset="0"/>
              </a:rPr>
              <a:t>2. 在浮点运算中,  对阶操作是指(      )</a:t>
            </a:r>
            <a:endParaRPr lang="zh-CN" altLang="en-US" sz="2800" b="1" dirty="0">
              <a:solidFill>
                <a:srgbClr val="CC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9" name="矩形 26630"/>
          <p:cNvSpPr/>
          <p:nvPr/>
        </p:nvSpPr>
        <p:spPr>
          <a:xfrm>
            <a:off x="511175" y="4954588"/>
            <a:ext cx="370205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BatangChe" pitchFamily="49" charset="-127"/>
              </a:rPr>
              <a:t>① </a:t>
            </a:r>
            <a:r>
              <a:rPr lang="zh-CN" altLang="en-US" sz="2800" b="1" dirty="0">
                <a:latin typeface="Times New Roman" panose="02020603050405020304" pitchFamily="18" charset="0"/>
              </a:rPr>
              <a:t>小阶增大,  尾数左移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8310" name="矩形 26631"/>
          <p:cNvSpPr/>
          <p:nvPr/>
        </p:nvSpPr>
        <p:spPr>
          <a:xfrm>
            <a:off x="4568825" y="4953000"/>
            <a:ext cx="370205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  <a:ea typeface="BatangChe" pitchFamily="49" charset="-127"/>
              </a:rPr>
              <a:t>②</a:t>
            </a:r>
            <a:r>
              <a:rPr lang="zh-CN" altLang="en-US" b="1" dirty="0">
                <a:latin typeface="Times New Roman" panose="02020603050405020304" pitchFamily="18" charset="0"/>
                <a:ea typeface="BatangChe" pitchFamily="49" charset="-127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大阶减少,  尾数左移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8311" name="矩形 26632"/>
          <p:cNvSpPr/>
          <p:nvPr/>
        </p:nvSpPr>
        <p:spPr>
          <a:xfrm>
            <a:off x="508000" y="5526088"/>
            <a:ext cx="370205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BatangChe" pitchFamily="49" charset="-127"/>
              </a:rPr>
              <a:t>③ </a:t>
            </a:r>
            <a:r>
              <a:rPr lang="zh-CN" altLang="en-US" sz="2800" b="1" dirty="0">
                <a:latin typeface="Times New Roman" panose="02020603050405020304" pitchFamily="18" charset="0"/>
              </a:rPr>
              <a:t>小阶增大,  尾数右移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8312" name="矩形 26633"/>
          <p:cNvSpPr/>
          <p:nvPr/>
        </p:nvSpPr>
        <p:spPr>
          <a:xfrm>
            <a:off x="4567238" y="5492750"/>
            <a:ext cx="370205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BatangChe" pitchFamily="49" charset="-127"/>
              </a:rPr>
              <a:t>④ </a:t>
            </a:r>
            <a:r>
              <a:rPr lang="zh-CN" altLang="en-US" sz="2800" b="1" dirty="0">
                <a:latin typeface="Times New Roman" panose="02020603050405020304" pitchFamily="18" charset="0"/>
              </a:rPr>
              <a:t>大阶减少,  尾数右移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29" name="文本框 27649"/>
          <p:cNvSpPr txBox="1"/>
          <p:nvPr/>
        </p:nvSpPr>
        <p:spPr>
          <a:xfrm>
            <a:off x="387350" y="257175"/>
            <a:ext cx="481965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CFF99"/>
                </a:solidFill>
                <a:latin typeface="Times New Roman" panose="02020603050405020304" pitchFamily="18" charset="0"/>
              </a:rPr>
              <a:t>3. 在补码加减运算中，(      )</a:t>
            </a:r>
            <a:endParaRPr lang="zh-CN" altLang="en-US" sz="2800" b="1" dirty="0">
              <a:solidFill>
                <a:srgbClr val="CC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0" name="文本框 27650"/>
          <p:cNvSpPr txBox="1"/>
          <p:nvPr/>
        </p:nvSpPr>
        <p:spPr>
          <a:xfrm>
            <a:off x="790575" y="979488"/>
            <a:ext cx="8088313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BatangChe" pitchFamily="49" charset="-127"/>
              </a:rPr>
              <a:t>①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若最高有效位和符号位均产生进位,  不发生溢出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9331" name="文本框 27651"/>
          <p:cNvSpPr txBox="1"/>
          <p:nvPr/>
        </p:nvSpPr>
        <p:spPr>
          <a:xfrm>
            <a:off x="787400" y="1562100"/>
            <a:ext cx="7856538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BatangChe" pitchFamily="49" charset="-127"/>
              </a:rPr>
              <a:t>②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若最高有效位和符号位均产生进位,  发生溢出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9332" name="文本框 27652"/>
          <p:cNvSpPr txBox="1"/>
          <p:nvPr/>
        </p:nvSpPr>
        <p:spPr>
          <a:xfrm>
            <a:off x="784225" y="2112963"/>
            <a:ext cx="630555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BatangChe" pitchFamily="49" charset="-127"/>
              </a:rPr>
              <a:t>③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若最高有效位产生进位,  发生正溢出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9333" name="文本框 27653"/>
          <p:cNvSpPr txBox="1"/>
          <p:nvPr/>
        </p:nvSpPr>
        <p:spPr>
          <a:xfrm>
            <a:off x="795338" y="2716213"/>
            <a:ext cx="567055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BatangChe" pitchFamily="49" charset="-127"/>
              </a:rPr>
              <a:t>④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若符号位产生进位,  发生负溢出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>
</file>

<file path=ppt/tags/tag1.xml><?xml version="1.0" encoding="utf-8"?>
<p:tagLst xmlns:p="http://schemas.openxmlformats.org/presentationml/2006/main">
  <p:tag name="COMMONDATA" val="eyJoZGlkIjoiM2NmY2U0MjQxMjVhMzViM2U2NDc0NTI2ZDMwMzBmZGIifQ==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2666</Words>
  <Application>WPS 演示</Application>
  <PresentationFormat>全屏显示(4:3)</PresentationFormat>
  <Paragraphs>283</Paragraphs>
  <Slides>15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黑体</vt:lpstr>
      <vt:lpstr>Symbol</vt:lpstr>
      <vt:lpstr>BatangChe</vt:lpstr>
      <vt:lpstr>Malgun Gothic</vt:lpstr>
      <vt:lpstr>微软雅黑</vt:lpstr>
      <vt:lpstr>Arial Unicode MS</vt:lpstr>
      <vt:lpstr>MS PGothic</vt:lpstr>
      <vt:lpstr>Soaring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贝妈</cp:lastModifiedBy>
  <cp:revision>617</cp:revision>
  <dcterms:created xsi:type="dcterms:W3CDTF">2000-08-28T13:29:00Z</dcterms:created>
  <dcterms:modified xsi:type="dcterms:W3CDTF">2026-09-16T10:37:58Z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E93A867A16C84E768DB9F70D3355DADA_13</vt:lpwstr>
  </property>
</Properties>
</file>