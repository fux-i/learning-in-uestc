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5"/>
  </p:handoutMasterIdLst>
  <p:sldIdLst>
    <p:sldId id="257" r:id="rId3"/>
    <p:sldId id="258" r:id="rId5"/>
    <p:sldId id="731" r:id="rId6"/>
    <p:sldId id="732" r:id="rId7"/>
    <p:sldId id="733" r:id="rId8"/>
    <p:sldId id="773" r:id="rId9"/>
    <p:sldId id="737" r:id="rId10"/>
    <p:sldId id="735" r:id="rId11"/>
    <p:sldId id="738" r:id="rId12"/>
    <p:sldId id="740" r:id="rId13"/>
    <p:sldId id="774" r:id="rId14"/>
    <p:sldId id="742" r:id="rId15"/>
    <p:sldId id="743" r:id="rId16"/>
    <p:sldId id="744" r:id="rId17"/>
    <p:sldId id="745" r:id="rId18"/>
    <p:sldId id="746" r:id="rId19"/>
    <p:sldId id="747" r:id="rId20"/>
    <p:sldId id="748" r:id="rId21"/>
    <p:sldId id="750" r:id="rId22"/>
    <p:sldId id="751" r:id="rId23"/>
    <p:sldId id="752" r:id="rId24"/>
    <p:sldId id="753" r:id="rId25"/>
    <p:sldId id="754" r:id="rId26"/>
    <p:sldId id="756" r:id="rId27"/>
    <p:sldId id="755" r:id="rId28"/>
    <p:sldId id="757" r:id="rId29"/>
    <p:sldId id="758" r:id="rId30"/>
    <p:sldId id="759" r:id="rId31"/>
    <p:sldId id="760" r:id="rId32"/>
    <p:sldId id="762" r:id="rId33"/>
    <p:sldId id="763" r:id="rId34"/>
    <p:sldId id="765" r:id="rId35"/>
    <p:sldId id="775" r:id="rId36"/>
    <p:sldId id="766" r:id="rId37"/>
    <p:sldId id="767" r:id="rId38"/>
    <p:sldId id="768" r:id="rId39"/>
    <p:sldId id="769" r:id="rId40"/>
    <p:sldId id="770" r:id="rId41"/>
    <p:sldId id="771" r:id="rId42"/>
    <p:sldId id="772" r:id="rId43"/>
    <p:sldId id="730" r:id="rId44"/>
  </p:sldIdLst>
  <p:sldSz cx="9144000" cy="6858000" type="screen4x3"/>
  <p:notesSz cx="6858000" cy="9144000"/>
  <p:custDataLst>
    <p:tags r:id="rId5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63C1"/>
    <a:srgbClr val="ED7D31"/>
    <a:srgbClr val="FF9900"/>
    <a:srgbClr val="F0DADA"/>
    <a:srgbClr val="FF0000"/>
    <a:srgbClr val="4472C4"/>
    <a:srgbClr val="2F5597"/>
    <a:srgbClr val="668CCF"/>
    <a:srgbClr val="00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6046" autoAdjust="0"/>
  </p:normalViewPr>
  <p:slideViewPr>
    <p:cSldViewPr snapToGrid="0" showGuides="1">
      <p:cViewPr varScale="1">
        <p:scale>
          <a:sx n="110" d="100"/>
          <a:sy n="110" d="100"/>
        </p:scale>
        <p:origin x="139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5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gs" Target="tags/tag128.xml"/><Relationship Id="rId5" Type="http://schemas.openxmlformats.org/officeDocument/2006/relationships/slide" Target="slides/slide2.xml"/><Relationship Id="rId49" Type="http://schemas.openxmlformats.org/officeDocument/2006/relationships/commentAuthors" Target="commentAuthors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A1862-72E1-426C-855A-D48747319F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0BC9D-12F8-4D67-BEC5-611AE33D2F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95E01-A3AA-414B-AC91-6247B051C5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82D4A-7916-4EA7-98F3-4A62AB60BF2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98A65-164E-49A1-B5FA-4237CF23D58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0A52-8F1A-4292-8ACE-45A92007FF3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7851-6EBE-4126-ACF5-FFBE3C22FF7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FA76-945C-4A0B-829A-B3F78E6D1EAB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23796-B962-4A03-A7F7-45F9A6DE369F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31D6-2F3F-4C77-B3DB-8DBE7BBF4BE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9A54-BCB9-48D1-97E1-CA144AEEBB7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8393-C9CD-46B7-BAC4-BD88E6FCCFE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7E0B-3B9F-4B37-9DA2-ED2708012EE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5D2CC-1108-4B70-9BC3-09B55C4A534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38B1C-581B-45EE-9AFC-E6074017653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.xml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6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image" Target="../media/image8.jpeg"/><Relationship Id="rId3" Type="http://schemas.openxmlformats.org/officeDocument/2006/relationships/tags" Target="../tags/tag4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7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11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14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15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16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17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9.jpeg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0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1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2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3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4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5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6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7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8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9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0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1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2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3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4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5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6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8" Type="http://schemas.openxmlformats.org/officeDocument/2006/relationships/notesSlide" Target="../notesSlides/notesSlide32.xml"/><Relationship Id="rId87" Type="http://schemas.openxmlformats.org/officeDocument/2006/relationships/slideLayout" Target="../slideLayouts/slideLayout6.xml"/><Relationship Id="rId86" Type="http://schemas.openxmlformats.org/officeDocument/2006/relationships/tags" Target="../tags/tag120.xml"/><Relationship Id="rId85" Type="http://schemas.openxmlformats.org/officeDocument/2006/relationships/tags" Target="../tags/tag119.xml"/><Relationship Id="rId84" Type="http://schemas.openxmlformats.org/officeDocument/2006/relationships/tags" Target="../tags/tag118.xml"/><Relationship Id="rId83" Type="http://schemas.openxmlformats.org/officeDocument/2006/relationships/tags" Target="../tags/tag117.xml"/><Relationship Id="rId82" Type="http://schemas.openxmlformats.org/officeDocument/2006/relationships/tags" Target="../tags/tag116.xml"/><Relationship Id="rId81" Type="http://schemas.openxmlformats.org/officeDocument/2006/relationships/tags" Target="../tags/tag115.xml"/><Relationship Id="rId80" Type="http://schemas.openxmlformats.org/officeDocument/2006/relationships/tags" Target="../tags/tag114.xml"/><Relationship Id="rId8" Type="http://schemas.openxmlformats.org/officeDocument/2006/relationships/tags" Target="../tags/tag42.xml"/><Relationship Id="rId79" Type="http://schemas.openxmlformats.org/officeDocument/2006/relationships/tags" Target="../tags/tag113.xml"/><Relationship Id="rId78" Type="http://schemas.openxmlformats.org/officeDocument/2006/relationships/tags" Target="../tags/tag112.xml"/><Relationship Id="rId77" Type="http://schemas.openxmlformats.org/officeDocument/2006/relationships/tags" Target="../tags/tag111.xml"/><Relationship Id="rId76" Type="http://schemas.openxmlformats.org/officeDocument/2006/relationships/tags" Target="../tags/tag110.xml"/><Relationship Id="rId75" Type="http://schemas.openxmlformats.org/officeDocument/2006/relationships/tags" Target="../tags/tag109.xml"/><Relationship Id="rId74" Type="http://schemas.openxmlformats.org/officeDocument/2006/relationships/tags" Target="../tags/tag108.xml"/><Relationship Id="rId73" Type="http://schemas.openxmlformats.org/officeDocument/2006/relationships/tags" Target="../tags/tag107.xml"/><Relationship Id="rId72" Type="http://schemas.openxmlformats.org/officeDocument/2006/relationships/tags" Target="../tags/tag106.xml"/><Relationship Id="rId71" Type="http://schemas.openxmlformats.org/officeDocument/2006/relationships/tags" Target="../tags/tag105.xml"/><Relationship Id="rId70" Type="http://schemas.openxmlformats.org/officeDocument/2006/relationships/tags" Target="../tags/tag104.xml"/><Relationship Id="rId7" Type="http://schemas.openxmlformats.org/officeDocument/2006/relationships/tags" Target="../tags/tag41.xml"/><Relationship Id="rId69" Type="http://schemas.openxmlformats.org/officeDocument/2006/relationships/tags" Target="../tags/tag103.xml"/><Relationship Id="rId68" Type="http://schemas.openxmlformats.org/officeDocument/2006/relationships/tags" Target="../tags/tag102.xml"/><Relationship Id="rId67" Type="http://schemas.openxmlformats.org/officeDocument/2006/relationships/tags" Target="../tags/tag101.xml"/><Relationship Id="rId66" Type="http://schemas.openxmlformats.org/officeDocument/2006/relationships/tags" Target="../tags/tag100.xml"/><Relationship Id="rId65" Type="http://schemas.openxmlformats.org/officeDocument/2006/relationships/tags" Target="../tags/tag99.xml"/><Relationship Id="rId64" Type="http://schemas.openxmlformats.org/officeDocument/2006/relationships/tags" Target="../tags/tag98.xml"/><Relationship Id="rId63" Type="http://schemas.openxmlformats.org/officeDocument/2006/relationships/tags" Target="../tags/tag97.xml"/><Relationship Id="rId62" Type="http://schemas.openxmlformats.org/officeDocument/2006/relationships/tags" Target="../tags/tag96.xml"/><Relationship Id="rId61" Type="http://schemas.openxmlformats.org/officeDocument/2006/relationships/tags" Target="../tags/tag95.xml"/><Relationship Id="rId60" Type="http://schemas.openxmlformats.org/officeDocument/2006/relationships/tags" Target="../tags/tag94.xml"/><Relationship Id="rId6" Type="http://schemas.openxmlformats.org/officeDocument/2006/relationships/tags" Target="../tags/tag40.xml"/><Relationship Id="rId59" Type="http://schemas.openxmlformats.org/officeDocument/2006/relationships/tags" Target="../tags/tag93.xml"/><Relationship Id="rId58" Type="http://schemas.openxmlformats.org/officeDocument/2006/relationships/tags" Target="../tags/tag92.xml"/><Relationship Id="rId57" Type="http://schemas.openxmlformats.org/officeDocument/2006/relationships/tags" Target="../tags/tag91.xml"/><Relationship Id="rId56" Type="http://schemas.openxmlformats.org/officeDocument/2006/relationships/tags" Target="../tags/tag90.xml"/><Relationship Id="rId55" Type="http://schemas.openxmlformats.org/officeDocument/2006/relationships/tags" Target="../tags/tag89.xml"/><Relationship Id="rId54" Type="http://schemas.openxmlformats.org/officeDocument/2006/relationships/tags" Target="../tags/tag88.xml"/><Relationship Id="rId53" Type="http://schemas.openxmlformats.org/officeDocument/2006/relationships/tags" Target="../tags/tag87.xml"/><Relationship Id="rId52" Type="http://schemas.openxmlformats.org/officeDocument/2006/relationships/tags" Target="../tags/tag86.xml"/><Relationship Id="rId51" Type="http://schemas.openxmlformats.org/officeDocument/2006/relationships/tags" Target="../tags/tag85.xml"/><Relationship Id="rId50" Type="http://schemas.openxmlformats.org/officeDocument/2006/relationships/tags" Target="../tags/tag84.xml"/><Relationship Id="rId5" Type="http://schemas.openxmlformats.org/officeDocument/2006/relationships/tags" Target="../tags/tag39.xml"/><Relationship Id="rId49" Type="http://schemas.openxmlformats.org/officeDocument/2006/relationships/tags" Target="../tags/tag83.xml"/><Relationship Id="rId48" Type="http://schemas.openxmlformats.org/officeDocument/2006/relationships/tags" Target="../tags/tag82.xml"/><Relationship Id="rId47" Type="http://schemas.openxmlformats.org/officeDocument/2006/relationships/tags" Target="../tags/tag81.xml"/><Relationship Id="rId46" Type="http://schemas.openxmlformats.org/officeDocument/2006/relationships/tags" Target="../tags/tag80.xml"/><Relationship Id="rId45" Type="http://schemas.openxmlformats.org/officeDocument/2006/relationships/tags" Target="../tags/tag79.xml"/><Relationship Id="rId44" Type="http://schemas.openxmlformats.org/officeDocument/2006/relationships/tags" Target="../tags/tag78.xml"/><Relationship Id="rId43" Type="http://schemas.openxmlformats.org/officeDocument/2006/relationships/tags" Target="../tags/tag77.xml"/><Relationship Id="rId42" Type="http://schemas.openxmlformats.org/officeDocument/2006/relationships/tags" Target="../tags/tag76.xml"/><Relationship Id="rId41" Type="http://schemas.openxmlformats.org/officeDocument/2006/relationships/tags" Target="../tags/tag75.xml"/><Relationship Id="rId40" Type="http://schemas.openxmlformats.org/officeDocument/2006/relationships/tags" Target="../tags/tag74.xml"/><Relationship Id="rId4" Type="http://schemas.openxmlformats.org/officeDocument/2006/relationships/tags" Target="../tags/tag38.xml"/><Relationship Id="rId39" Type="http://schemas.openxmlformats.org/officeDocument/2006/relationships/tags" Target="../tags/tag73.xml"/><Relationship Id="rId38" Type="http://schemas.openxmlformats.org/officeDocument/2006/relationships/tags" Target="../tags/tag72.xml"/><Relationship Id="rId37" Type="http://schemas.openxmlformats.org/officeDocument/2006/relationships/tags" Target="../tags/tag71.xml"/><Relationship Id="rId36" Type="http://schemas.openxmlformats.org/officeDocument/2006/relationships/tags" Target="../tags/tag70.xml"/><Relationship Id="rId35" Type="http://schemas.openxmlformats.org/officeDocument/2006/relationships/tags" Target="../tags/tag69.xml"/><Relationship Id="rId34" Type="http://schemas.openxmlformats.org/officeDocument/2006/relationships/tags" Target="../tags/tag68.xml"/><Relationship Id="rId33" Type="http://schemas.openxmlformats.org/officeDocument/2006/relationships/tags" Target="../tags/tag67.xml"/><Relationship Id="rId32" Type="http://schemas.openxmlformats.org/officeDocument/2006/relationships/tags" Target="../tags/tag66.xml"/><Relationship Id="rId31" Type="http://schemas.openxmlformats.org/officeDocument/2006/relationships/tags" Target="../tags/tag65.xml"/><Relationship Id="rId30" Type="http://schemas.openxmlformats.org/officeDocument/2006/relationships/tags" Target="../tags/tag64.xml"/><Relationship Id="rId3" Type="http://schemas.openxmlformats.org/officeDocument/2006/relationships/tags" Target="../tags/tag37.xml"/><Relationship Id="rId29" Type="http://schemas.openxmlformats.org/officeDocument/2006/relationships/tags" Target="../tags/tag63.xml"/><Relationship Id="rId28" Type="http://schemas.openxmlformats.org/officeDocument/2006/relationships/tags" Target="../tags/tag62.xml"/><Relationship Id="rId27" Type="http://schemas.openxmlformats.org/officeDocument/2006/relationships/tags" Target="../tags/tag61.xml"/><Relationship Id="rId26" Type="http://schemas.openxmlformats.org/officeDocument/2006/relationships/tags" Target="../tags/tag60.xml"/><Relationship Id="rId25" Type="http://schemas.openxmlformats.org/officeDocument/2006/relationships/tags" Target="../tags/tag59.xml"/><Relationship Id="rId24" Type="http://schemas.openxmlformats.org/officeDocument/2006/relationships/tags" Target="../tags/tag58.xml"/><Relationship Id="rId23" Type="http://schemas.openxmlformats.org/officeDocument/2006/relationships/tags" Target="../tags/tag57.xml"/><Relationship Id="rId22" Type="http://schemas.openxmlformats.org/officeDocument/2006/relationships/tags" Target="../tags/tag56.xml"/><Relationship Id="rId21" Type="http://schemas.openxmlformats.org/officeDocument/2006/relationships/tags" Target="../tags/tag55.xml"/><Relationship Id="rId20" Type="http://schemas.openxmlformats.org/officeDocument/2006/relationships/tags" Target="../tags/tag54.xml"/><Relationship Id="rId2" Type="http://schemas.openxmlformats.org/officeDocument/2006/relationships/image" Target="../media/image6.png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../media/image10.png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36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27.xml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12495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计算机组成原理</a:t>
            </a:r>
            <a:endParaRPr lang="zh-CN" altLang="en-US" sz="3600" b="1" dirty="0">
              <a:solidFill>
                <a:srgbClr val="0045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第一章 概论</a:t>
            </a:r>
            <a:endParaRPr lang="zh-CN" altLang="en-US" sz="2800" b="1" dirty="0">
              <a:solidFill>
                <a:srgbClr val="004578"/>
              </a:solidFill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A500B9CC-620B-4728-B037-19303720751D}" type="datetime1">
              <a:rPr lang="zh-CN" altLang="en-US" sz="1400" smtClean="0">
                <a:solidFill>
                  <a:schemeClr val="tx1"/>
                </a:solidFill>
              </a:rPr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37" t="623" r="9645" b="-623"/>
          <a:stretch>
            <a:fillRect/>
          </a:stretch>
        </p:blipFill>
        <p:spPr>
          <a:xfrm>
            <a:off x="2939643" y="0"/>
            <a:ext cx="6220936" cy="6904284"/>
          </a:xfrm>
          <a:prstGeom prst="rect">
            <a:avLst/>
          </a:prstGeom>
          <a:solidFill>
            <a:schemeClr val="bg1">
              <a:alpha val="43000"/>
            </a:schemeClr>
          </a:solidFill>
        </p:spPr>
      </p:pic>
      <p:sp>
        <p:nvSpPr>
          <p:cNvPr id="7" name="矩形 6"/>
          <p:cNvSpPr/>
          <p:nvPr/>
        </p:nvSpPr>
        <p:spPr>
          <a:xfrm>
            <a:off x="2939643" y="0"/>
            <a:ext cx="6220936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2939644" cy="685800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2574" y="2340080"/>
            <a:ext cx="1979291" cy="217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lnSpc>
                <a:spcPct val="150000"/>
              </a:lnSpc>
              <a:defRPr/>
            </a:pPr>
            <a:r>
              <a:rPr lang="zh-CN" altLang="en-US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endParaRPr lang="zh-CN" altLang="en-US" sz="4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142382" y="176944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142382" y="271858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142382" y="4886926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31054" y="4774197"/>
            <a:ext cx="3389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计算机的性能指标</a:t>
            </a:r>
            <a:endParaRPr lang="zh-CN" altLang="en-US" sz="28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08194" y="1631674"/>
            <a:ext cx="341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计算机的基本概念</a:t>
            </a:r>
            <a:endParaRPr lang="zh-CN" altLang="en-US" sz="28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08229" y="2578782"/>
            <a:ext cx="3797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系统硬件组成</a:t>
            </a:r>
            <a:endParaRPr lang="zh-CN" altLang="en-US" sz="28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17" name="AutoShape 5"/>
          <p:cNvSpPr/>
          <p:nvPr/>
        </p:nvSpPr>
        <p:spPr bwMode="auto">
          <a:xfrm>
            <a:off x="4815460" y="3453389"/>
            <a:ext cx="157134" cy="813805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095496" y="3134445"/>
            <a:ext cx="3432284" cy="1284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主要部件</a:t>
            </a:r>
            <a:endParaRPr lang="zh-CN" altLang="en-US" sz="28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系统结构</a:t>
            </a:r>
            <a:endParaRPr lang="zh-CN" altLang="en-US" sz="28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31D6-2F3F-4C77-B3DB-8DBE7BBF4BE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课程介绍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/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/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/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b="1" dirty="0">
                  <a:solidFill>
                    <a:prstClr val="white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1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.1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 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计算机系统的基本组成与特点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/>
          <p:cNvSpPr txBox="1"/>
          <p:nvPr/>
        </p:nvSpPr>
        <p:spPr>
          <a:xfrm>
            <a:off x="1872698" y="2915655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ísḻiḑe"/>
          <p:cNvSpPr/>
          <p:nvPr/>
        </p:nvSpPr>
        <p:spPr>
          <a:xfrm>
            <a:off x="2526228" y="2927197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电子数字计算机的基本组成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6" name="ïṩľîdé"/>
          <p:cNvSpPr txBox="1"/>
          <p:nvPr/>
        </p:nvSpPr>
        <p:spPr>
          <a:xfrm>
            <a:off x="1872697" y="3600798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îṣ1idè"/>
          <p:cNvSpPr/>
          <p:nvPr/>
        </p:nvSpPr>
        <p:spPr>
          <a:xfrm>
            <a:off x="2526228" y="3612339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存储程序与冯</a:t>
            </a:r>
            <a:r>
              <a:rPr lang="en-US" altLang="zh-CN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</a:t>
            </a: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诺依曼体制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8" name="işľíďe"/>
          <p:cNvSpPr txBox="1"/>
          <p:nvPr/>
        </p:nvSpPr>
        <p:spPr>
          <a:xfrm>
            <a:off x="1872697" y="4312064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03.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ïşľïdé"/>
          <p:cNvSpPr/>
          <p:nvPr/>
        </p:nvSpPr>
        <p:spPr>
          <a:xfrm>
            <a:off x="2526228" y="4323605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信息的数字化表示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0" name="ís1íde"/>
          <p:cNvSpPr txBox="1"/>
          <p:nvPr/>
        </p:nvSpPr>
        <p:spPr>
          <a:xfrm>
            <a:off x="1872697" y="5058171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04.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íṡḻîḓé"/>
          <p:cNvSpPr/>
          <p:nvPr/>
        </p:nvSpPr>
        <p:spPr>
          <a:xfrm>
            <a:off x="2526228" y="5069712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数字计算机的特点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2" name="îṩļíḑé"/>
          <p:cNvSpPr/>
          <p:nvPr/>
        </p:nvSpPr>
        <p:spPr>
          <a:xfrm>
            <a:off x="1524070" y="294421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/>
          <p:cNvSpPr/>
          <p:nvPr/>
        </p:nvSpPr>
        <p:spPr>
          <a:xfrm>
            <a:off x="1524070" y="3629352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íṧļîḓê"/>
          <p:cNvSpPr/>
          <p:nvPr/>
        </p:nvSpPr>
        <p:spPr>
          <a:xfrm>
            <a:off x="1524070" y="4340618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íšḻíḋe"/>
          <p:cNvSpPr/>
          <p:nvPr/>
        </p:nvSpPr>
        <p:spPr>
          <a:xfrm>
            <a:off x="1524070" y="5086725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959428" y="342185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959428" y="411854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959428" y="4841360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一、电子数字计算机的基本组成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pic>
        <p:nvPicPr>
          <p:cNvPr id="2050" name="Picture 2" descr="http://img1.ppt118.com/bannerbg/conbine/2019/10/10/grgwnmma.jpg?525x35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54"/>
          <a:stretch>
            <a:fillRect/>
          </a:stretch>
        </p:blipFill>
        <p:spPr bwMode="auto">
          <a:xfrm>
            <a:off x="4267147" y="2288452"/>
            <a:ext cx="4908158" cy="286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 Box 5"/>
          <p:cNvSpPr txBox="1"/>
          <p:nvPr/>
        </p:nvSpPr>
        <p:spPr>
          <a:xfrm>
            <a:off x="596099" y="1740460"/>
            <a:ext cx="5486929" cy="42463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输入设备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输出设备（包括总线、接口）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8" name="MH_Other_5"/>
          <p:cNvCxnSpPr/>
          <p:nvPr>
            <p:custDataLst>
              <p:tags r:id="rId4"/>
            </p:custDataLst>
          </p:nvPr>
        </p:nvCxnSpPr>
        <p:spPr>
          <a:xfrm>
            <a:off x="606797" y="1740460"/>
            <a:ext cx="28698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4"/>
          <p:cNvSpPr txBox="1"/>
          <p:nvPr/>
        </p:nvSpPr>
        <p:spPr>
          <a:xfrm>
            <a:off x="502022" y="1110060"/>
            <a:ext cx="2974603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五大组成部分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一、电子数字计算机的基本组成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cxnSp>
        <p:nvCxnSpPr>
          <p:cNvPr id="33" name="MH_Other_5"/>
          <p:cNvCxnSpPr/>
          <p:nvPr>
            <p:custDataLst>
              <p:tags r:id="rId3"/>
            </p:custDataLst>
          </p:nvPr>
        </p:nvCxnSpPr>
        <p:spPr>
          <a:xfrm>
            <a:off x="606797" y="1740460"/>
            <a:ext cx="49244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4"/>
          <p:cNvSpPr txBox="1"/>
          <p:nvPr/>
        </p:nvSpPr>
        <p:spPr>
          <a:xfrm>
            <a:off x="502022" y="1110060"/>
            <a:ext cx="4069978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计算机内部的两大流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sp>
        <p:nvSpPr>
          <p:cNvPr id="18" name="Text Box 5"/>
          <p:cNvSpPr txBox="1"/>
          <p:nvPr/>
        </p:nvSpPr>
        <p:spPr>
          <a:xfrm>
            <a:off x="1614354" y="1879755"/>
            <a:ext cx="6831805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控制流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：控制计算机工作的信息，即指令、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命令。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93314" y="2243217"/>
            <a:ext cx="1069602" cy="1298477"/>
            <a:chOff x="502022" y="2309892"/>
            <a:chExt cx="1069602" cy="813805"/>
          </a:xfrm>
        </p:grpSpPr>
        <p:sp>
          <p:nvSpPr>
            <p:cNvPr id="40" name="Text Box 5"/>
            <p:cNvSpPr txBox="1"/>
            <p:nvPr/>
          </p:nvSpPr>
          <p:spPr>
            <a:xfrm>
              <a:off x="502022" y="2470380"/>
              <a:ext cx="1060077" cy="63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rgbClr val="4472C4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信息</a:t>
              </a:r>
              <a:endParaRPr lang="zh-CN" altLang="en-US" sz="2800" dirty="0">
                <a:solidFill>
                  <a:srgbClr val="4472C4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" name="AutoShape 5"/>
            <p:cNvSpPr/>
            <p:nvPr/>
          </p:nvSpPr>
          <p:spPr bwMode="auto">
            <a:xfrm>
              <a:off x="1414490" y="2309892"/>
              <a:ext cx="157134" cy="813805"/>
            </a:xfrm>
            <a:prstGeom prst="leftBrace">
              <a:avLst>
                <a:gd name="adj1" fmla="val 63817"/>
                <a:gd name="adj2" fmla="val 50000"/>
              </a:avLst>
            </a:prstGeom>
            <a:noFill/>
            <a:ln w="2540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2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3" name="Text Box 5"/>
          <p:cNvSpPr txBox="1"/>
          <p:nvPr/>
        </p:nvSpPr>
        <p:spPr>
          <a:xfrm>
            <a:off x="1629359" y="3074267"/>
            <a:ext cx="6826326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数据流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：计算机加工处理的对象，即数值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型数据、非数值型数据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MH_SubTitle_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2523" y="4802882"/>
            <a:ext cx="6413521" cy="1526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这本书的两条基本线索是：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a.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信息的表示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b.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信息的传送及传送中的控制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二、存储程序与冯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Wingdings" panose="05000000000000000000" pitchFamily="2" charset="2"/>
              </a:rPr>
              <a:t>诺依曼体制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cxnSp>
        <p:nvCxnSpPr>
          <p:cNvPr id="13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89171"/>
            <a:ext cx="2755551" cy="4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4"/>
          <p:cNvSpPr txBox="1"/>
          <p:nvPr/>
        </p:nvSpPr>
        <p:spPr>
          <a:xfrm>
            <a:off x="437513" y="1037210"/>
            <a:ext cx="2803492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存储程序方式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0" name="Picture 6" descr="http://pic.sc.chinaz.com/files/pic/pic6/pic3050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1"/>
          <a:stretch>
            <a:fillRect/>
          </a:stretch>
        </p:blipFill>
        <p:spPr bwMode="auto">
          <a:xfrm>
            <a:off x="4672691" y="2480559"/>
            <a:ext cx="4227469" cy="284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MH_Other_3"/>
          <p:cNvSpPr/>
          <p:nvPr>
            <p:custDataLst>
              <p:tags r:id="rId5"/>
            </p:custDataLst>
          </p:nvPr>
        </p:nvSpPr>
        <p:spPr>
          <a:xfrm>
            <a:off x="952500" y="2182266"/>
            <a:ext cx="4762500" cy="3424351"/>
          </a:xfrm>
          <a:prstGeom prst="parallelogram">
            <a:avLst>
              <a:gd name="adj" fmla="val 19946"/>
            </a:avLst>
          </a:prstGeom>
          <a:solidFill>
            <a:schemeClr val="bg1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 useBgFill="1">
        <p:nvSpPr>
          <p:cNvPr id="18" name="MH_Other_2"/>
          <p:cNvSpPr/>
          <p:nvPr>
            <p:custDataLst>
              <p:tags r:id="rId6"/>
            </p:custDataLst>
          </p:nvPr>
        </p:nvSpPr>
        <p:spPr>
          <a:xfrm>
            <a:off x="106856" y="2191791"/>
            <a:ext cx="5290644" cy="3424351"/>
          </a:xfrm>
          <a:prstGeom prst="parallelogram">
            <a:avLst>
              <a:gd name="adj" fmla="val 2277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Text Box 5"/>
          <p:cNvSpPr txBox="1"/>
          <p:nvPr/>
        </p:nvSpPr>
        <p:spPr>
          <a:xfrm>
            <a:off x="1047114" y="2246858"/>
            <a:ext cx="3786143" cy="322299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计算机采取：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事先编制程序、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存储程序、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自动连续运行程序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的工作方式。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二、存储程序与冯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Wingdings" panose="05000000000000000000" pitchFamily="2" charset="2"/>
              </a:rPr>
              <a:t>诺依曼体制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cxnSp>
        <p:nvCxnSpPr>
          <p:cNvPr id="20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28"/>
            <a:ext cx="303434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4"/>
          <p:cNvSpPr txBox="1"/>
          <p:nvPr/>
        </p:nvSpPr>
        <p:spPr>
          <a:xfrm>
            <a:off x="437513" y="1037210"/>
            <a:ext cx="2803492" cy="525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冯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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诺依曼体制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Text Box 5"/>
          <p:cNvSpPr txBox="1"/>
          <p:nvPr/>
        </p:nvSpPr>
        <p:spPr>
          <a:xfrm>
            <a:off x="437514" y="1859153"/>
            <a:ext cx="7725411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采用二进制形式表示数据和指令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Text Box 5"/>
          <p:cNvSpPr txBox="1"/>
          <p:nvPr/>
        </p:nvSpPr>
        <p:spPr>
          <a:xfrm>
            <a:off x="437513" y="2584747"/>
            <a:ext cx="6734812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采用存储程序方式工作（核心）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5"/>
          <p:cNvSpPr txBox="1"/>
          <p:nvPr/>
        </p:nvSpPr>
        <p:spPr>
          <a:xfrm>
            <a:off x="437512" y="3310341"/>
            <a:ext cx="8077838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由五大部分组成计算机系统的硬件，并规定了这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五部分的基本功能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 Box 5"/>
          <p:cNvSpPr txBox="1"/>
          <p:nvPr/>
        </p:nvSpPr>
        <p:spPr>
          <a:xfrm>
            <a:off x="437512" y="4662997"/>
            <a:ext cx="4886961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传统诺依曼机串行执行指令。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Text Box 5"/>
          <p:cNvSpPr txBox="1"/>
          <p:nvPr/>
        </p:nvSpPr>
        <p:spPr>
          <a:xfrm>
            <a:off x="437512" y="5245666"/>
            <a:ext cx="7364798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对传统诺依曼机的改造：增加并行处理功能。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三、信息的数字化表示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 Box 4"/>
          <p:cNvSpPr txBox="1"/>
          <p:nvPr/>
        </p:nvSpPr>
        <p:spPr>
          <a:xfrm>
            <a:off x="437513" y="1037210"/>
            <a:ext cx="6258562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在计算机中用数字代码表示各种信息 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Line 11"/>
          <p:cNvSpPr>
            <a:spLocks noChangeShapeType="1"/>
          </p:cNvSpPr>
          <p:nvPr/>
        </p:nvSpPr>
        <p:spPr bwMode="auto">
          <a:xfrm flipV="1">
            <a:off x="3095625" y="1543048"/>
            <a:ext cx="1276350" cy="1"/>
          </a:xfrm>
          <a:prstGeom prst="line">
            <a:avLst/>
          </a:prstGeom>
          <a:noFill/>
          <a:ln w="19050">
            <a:solidFill>
              <a:srgbClr val="ED7D3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Line 12"/>
          <p:cNvSpPr>
            <a:spLocks noChangeShapeType="1"/>
          </p:cNvSpPr>
          <p:nvPr/>
        </p:nvSpPr>
        <p:spPr bwMode="auto">
          <a:xfrm>
            <a:off x="4371975" y="1543050"/>
            <a:ext cx="762000" cy="304800"/>
          </a:xfrm>
          <a:prstGeom prst="line">
            <a:avLst/>
          </a:prstGeom>
          <a:noFill/>
          <a:ln w="19050">
            <a:solidFill>
              <a:srgbClr val="ED7D3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 useBgFill="1">
        <p:nvSpPr>
          <p:cNvPr id="43" name="MH_Other_2"/>
          <p:cNvSpPr/>
          <p:nvPr>
            <p:custDataLst>
              <p:tags r:id="rId3"/>
            </p:custDataLst>
          </p:nvPr>
        </p:nvSpPr>
        <p:spPr>
          <a:xfrm>
            <a:off x="267336" y="2306100"/>
            <a:ext cx="4037964" cy="1753269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5100638" y="1560545"/>
            <a:ext cx="3124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二进制代码</a:t>
            </a:r>
            <a:endParaRPr lang="zh-CN" altLang="en-US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3" name="Text Box 14"/>
          <p:cNvSpPr txBox="1">
            <a:spLocks noChangeArrowheads="1"/>
          </p:cNvSpPr>
          <p:nvPr/>
        </p:nvSpPr>
        <p:spPr bwMode="auto">
          <a:xfrm>
            <a:off x="400050" y="2426129"/>
            <a:ext cx="3886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例1  用数字代码表示数据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" name="Text Box 15"/>
          <p:cNvSpPr txBox="1">
            <a:spLocks noChangeArrowheads="1"/>
          </p:cNvSpPr>
          <p:nvPr/>
        </p:nvSpPr>
        <p:spPr bwMode="auto">
          <a:xfrm>
            <a:off x="923925" y="2940479"/>
            <a:ext cx="6671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Text Box 16"/>
          <p:cNvSpPr txBox="1">
            <a:spLocks noChangeArrowheads="1"/>
          </p:cNvSpPr>
          <p:nvPr/>
        </p:nvSpPr>
        <p:spPr bwMode="auto">
          <a:xfrm>
            <a:off x="619126" y="3445304"/>
            <a:ext cx="857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- 5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" name="Text Box 18"/>
          <p:cNvSpPr txBox="1">
            <a:spLocks noChangeArrowheads="1"/>
          </p:cNvSpPr>
          <p:nvPr/>
        </p:nvSpPr>
        <p:spPr bwMode="auto">
          <a:xfrm>
            <a:off x="1590675" y="2940479"/>
            <a:ext cx="2733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0 101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Text Box 20"/>
          <p:cNvSpPr txBox="1">
            <a:spLocks noChangeArrowheads="1"/>
          </p:cNvSpPr>
          <p:nvPr/>
        </p:nvSpPr>
        <p:spPr bwMode="auto">
          <a:xfrm>
            <a:off x="1590675" y="3445304"/>
            <a:ext cx="2733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1 101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 useBgFill="1">
        <p:nvSpPr>
          <p:cNvPr id="44" name="MH_Other_2"/>
          <p:cNvSpPr/>
          <p:nvPr>
            <p:custDataLst>
              <p:tags r:id="rId4"/>
            </p:custDataLst>
          </p:nvPr>
        </p:nvSpPr>
        <p:spPr>
          <a:xfrm>
            <a:off x="267336" y="4256699"/>
            <a:ext cx="4057014" cy="179485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Text Box 7"/>
          <p:cNvSpPr txBox="1">
            <a:spLocks noChangeArrowheads="1"/>
          </p:cNvSpPr>
          <p:nvPr/>
        </p:nvSpPr>
        <p:spPr bwMode="auto">
          <a:xfrm>
            <a:off x="437513" y="4385129"/>
            <a:ext cx="39592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例2  用数字代码表示字符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" name="Text Box 8"/>
          <p:cNvSpPr txBox="1">
            <a:spLocks noChangeArrowheads="1"/>
          </p:cNvSpPr>
          <p:nvPr/>
        </p:nvSpPr>
        <p:spPr bwMode="auto">
          <a:xfrm>
            <a:off x="727074" y="4918553"/>
            <a:ext cx="6064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24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727074" y="5471003"/>
            <a:ext cx="463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Text Box 10"/>
          <p:cNvSpPr txBox="1">
            <a:spLocks noChangeArrowheads="1"/>
          </p:cNvSpPr>
          <p:nvPr/>
        </p:nvSpPr>
        <p:spPr bwMode="auto">
          <a:xfrm>
            <a:off x="1590675" y="4925671"/>
            <a:ext cx="25266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1000001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Text Box 11"/>
          <p:cNvSpPr txBox="1">
            <a:spLocks noChangeArrowheads="1"/>
          </p:cNvSpPr>
          <p:nvPr/>
        </p:nvSpPr>
        <p:spPr bwMode="auto">
          <a:xfrm>
            <a:off x="1590675" y="5453167"/>
            <a:ext cx="2628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1000010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 useBgFill="1">
        <p:nvSpPr>
          <p:cNvPr id="50" name="MH_Other_2"/>
          <p:cNvSpPr/>
          <p:nvPr>
            <p:custDataLst>
              <p:tags r:id="rId5"/>
            </p:custDataLst>
          </p:nvPr>
        </p:nvSpPr>
        <p:spPr>
          <a:xfrm>
            <a:off x="4456427" y="2306100"/>
            <a:ext cx="4449450" cy="374545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4410713" y="2465205"/>
            <a:ext cx="47557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例3 用数字代码表示命令、状态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" name="Text Box 14"/>
          <p:cNvSpPr txBox="1">
            <a:spLocks noChangeArrowheads="1"/>
          </p:cNvSpPr>
          <p:nvPr/>
        </p:nvSpPr>
        <p:spPr bwMode="auto">
          <a:xfrm>
            <a:off x="4905187" y="3104288"/>
            <a:ext cx="8922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启动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3" name="Text Box 15"/>
          <p:cNvSpPr txBox="1">
            <a:spLocks noChangeArrowheads="1"/>
          </p:cNvSpPr>
          <p:nvPr/>
        </p:nvSpPr>
        <p:spPr bwMode="auto">
          <a:xfrm>
            <a:off x="4905187" y="3790088"/>
            <a:ext cx="8922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停止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4" name="Text Box 16"/>
          <p:cNvSpPr txBox="1">
            <a:spLocks noChangeArrowheads="1"/>
          </p:cNvSpPr>
          <p:nvPr/>
        </p:nvSpPr>
        <p:spPr bwMode="auto">
          <a:xfrm>
            <a:off x="4905187" y="45520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正在工作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5" name="Text Box 17"/>
          <p:cNvSpPr txBox="1">
            <a:spLocks noChangeArrowheads="1"/>
          </p:cNvSpPr>
          <p:nvPr/>
        </p:nvSpPr>
        <p:spPr bwMode="auto">
          <a:xfrm>
            <a:off x="4905187" y="53140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工作结束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6" name="Text Box 18"/>
          <p:cNvSpPr txBox="1">
            <a:spLocks noChangeArrowheads="1"/>
          </p:cNvSpPr>
          <p:nvPr/>
        </p:nvSpPr>
        <p:spPr bwMode="auto">
          <a:xfrm>
            <a:off x="6600637" y="31042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Text Box 19"/>
          <p:cNvSpPr txBox="1">
            <a:spLocks noChangeArrowheads="1"/>
          </p:cNvSpPr>
          <p:nvPr/>
        </p:nvSpPr>
        <p:spPr bwMode="auto">
          <a:xfrm>
            <a:off x="6600637" y="37900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01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Text Box 20"/>
          <p:cNvSpPr txBox="1">
            <a:spLocks noChangeArrowheads="1"/>
          </p:cNvSpPr>
          <p:nvPr/>
        </p:nvSpPr>
        <p:spPr bwMode="auto">
          <a:xfrm>
            <a:off x="6600637" y="45520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</a:t>
            </a:r>
            <a:r>
              <a:rPr lang="zh-CN" altLang="en-US" sz="24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400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Text Box 21"/>
          <p:cNvSpPr txBox="1">
            <a:spLocks noChangeArrowheads="1"/>
          </p:cNvSpPr>
          <p:nvPr/>
        </p:nvSpPr>
        <p:spPr bwMode="auto">
          <a:xfrm>
            <a:off x="6600637" y="5314088"/>
            <a:ext cx="1962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  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29" grpId="0"/>
      <p:bldP spid="33" grpId="0"/>
      <p:bldP spid="34" grpId="0"/>
      <p:bldP spid="35" grpId="0"/>
      <p:bldP spid="36" grpId="0"/>
      <p:bldP spid="37" grpId="0"/>
      <p:bldP spid="44" grpId="0" animBg="1"/>
      <p:bldP spid="45" grpId="0"/>
      <p:bldP spid="46" grpId="0"/>
      <p:bldP spid="47" grpId="0"/>
      <p:bldP spid="48" grpId="0"/>
      <p:bldP spid="49" grpId="0"/>
      <p:bldP spid="50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三、信息的数字化表示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 Box 4"/>
          <p:cNvSpPr txBox="1"/>
          <p:nvPr/>
        </p:nvSpPr>
        <p:spPr>
          <a:xfrm>
            <a:off x="437513" y="1037210"/>
            <a:ext cx="6258562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在计算机中用数字代码表示各种信息 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8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28"/>
            <a:ext cx="61775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5"/>
          <p:cNvSpPr txBox="1"/>
          <p:nvPr/>
        </p:nvSpPr>
        <p:spPr>
          <a:xfrm>
            <a:off x="437514" y="1859153"/>
            <a:ext cx="6734811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在计算机中，信息是通过电信号表示的。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" name="Text Box 5"/>
          <p:cNvSpPr txBox="1"/>
          <p:nvPr/>
        </p:nvSpPr>
        <p:spPr>
          <a:xfrm>
            <a:off x="437513" y="2641897"/>
            <a:ext cx="4886961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表示两种类型的电信号：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Text Box 5"/>
          <p:cNvSpPr txBox="1"/>
          <p:nvPr/>
        </p:nvSpPr>
        <p:spPr>
          <a:xfrm>
            <a:off x="1067499" y="3318969"/>
            <a:ext cx="6734811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模拟信号：是一种随时间连续变化的电信号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Text Box 5"/>
          <p:cNvSpPr txBox="1"/>
          <p:nvPr/>
        </p:nvSpPr>
        <p:spPr>
          <a:xfrm>
            <a:off x="3228338" y="4615603"/>
            <a:ext cx="3703321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电平（位）：并行传送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" name="Text Box 5"/>
          <p:cNvSpPr txBox="1"/>
          <p:nvPr/>
        </p:nvSpPr>
        <p:spPr>
          <a:xfrm>
            <a:off x="3240404" y="5289672"/>
            <a:ext cx="3703321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脉冲：串行传送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Text Box 5"/>
          <p:cNvSpPr txBox="1"/>
          <p:nvPr/>
        </p:nvSpPr>
        <p:spPr>
          <a:xfrm>
            <a:off x="1067499" y="3946016"/>
            <a:ext cx="7689994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数字信号：是一种在时间或空间上断续变化的电信号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AutoShape 5"/>
          <p:cNvSpPr/>
          <p:nvPr/>
        </p:nvSpPr>
        <p:spPr bwMode="auto">
          <a:xfrm>
            <a:off x="3030883" y="4854116"/>
            <a:ext cx="191108" cy="875188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60" grpId="0"/>
      <p:bldP spid="61" grpId="0"/>
      <p:bldP spid="6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三、信息的数字化表示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 Box 4"/>
          <p:cNvSpPr txBox="1"/>
          <p:nvPr/>
        </p:nvSpPr>
        <p:spPr>
          <a:xfrm>
            <a:off x="437512" y="913385"/>
            <a:ext cx="481330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在物理机制上用数字信号 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" name="Text Box 5"/>
          <p:cNvSpPr txBox="1"/>
          <p:nvPr/>
        </p:nvSpPr>
        <p:spPr>
          <a:xfrm>
            <a:off x="437514" y="1346198"/>
            <a:ext cx="2655254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表示数字代码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 flipV="1">
            <a:off x="3448050" y="1419223"/>
            <a:ext cx="1276350" cy="1"/>
          </a:xfrm>
          <a:prstGeom prst="line">
            <a:avLst/>
          </a:prstGeom>
          <a:noFill/>
          <a:ln w="19050">
            <a:solidFill>
              <a:srgbClr val="ED7D3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333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>
            <a:off x="4724400" y="1419225"/>
            <a:ext cx="762000" cy="304800"/>
          </a:xfrm>
          <a:prstGeom prst="line">
            <a:avLst/>
          </a:prstGeom>
          <a:noFill/>
          <a:ln w="19050">
            <a:solidFill>
              <a:srgbClr val="ED7D3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3333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 useBgFill="1">
        <p:nvSpPr>
          <p:cNvPr id="84" name="MH_Other_2"/>
          <p:cNvSpPr/>
          <p:nvPr>
            <p:custDataLst>
              <p:tags r:id="rId3"/>
            </p:custDataLst>
          </p:nvPr>
        </p:nvSpPr>
        <p:spPr>
          <a:xfrm>
            <a:off x="437513" y="2077462"/>
            <a:ext cx="8256270" cy="230971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 Box 13"/>
          <p:cNvSpPr txBox="1">
            <a:spLocks noChangeArrowheads="1"/>
          </p:cNvSpPr>
          <p:nvPr/>
        </p:nvSpPr>
        <p:spPr bwMode="auto">
          <a:xfrm>
            <a:off x="5453063" y="1360520"/>
            <a:ext cx="3124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数字型电信号</a:t>
            </a:r>
            <a:endParaRPr lang="zh-CN" altLang="en-US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450217" y="2106035"/>
            <a:ext cx="50266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例1  用电平信号表示数字代码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1119191" y="2639435"/>
            <a:ext cx="13023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高电平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5708017" y="2534660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9" name="Group 19"/>
          <p:cNvGrpSpPr/>
          <p:nvPr/>
        </p:nvGrpSpPr>
        <p:grpSpPr bwMode="auto">
          <a:xfrm>
            <a:off x="2888617" y="2629910"/>
            <a:ext cx="2362200" cy="381000"/>
            <a:chOff x="1968" y="1824"/>
            <a:chExt cx="1488" cy="240"/>
          </a:xfrm>
        </p:grpSpPr>
        <p:sp>
          <p:nvSpPr>
            <p:cNvPr id="33" name="Line 13"/>
            <p:cNvSpPr>
              <a:spLocks noChangeShapeType="1"/>
            </p:cNvSpPr>
            <p:nvPr/>
          </p:nvSpPr>
          <p:spPr bwMode="auto">
            <a:xfrm>
              <a:off x="1968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4" name="Line 14"/>
            <p:cNvSpPr>
              <a:spLocks noChangeShapeType="1"/>
            </p:cNvSpPr>
            <p:nvPr/>
          </p:nvSpPr>
          <p:spPr bwMode="auto">
            <a:xfrm flipV="1">
              <a:off x="21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5" name="Line 15"/>
            <p:cNvSpPr>
              <a:spLocks noChangeShapeType="1"/>
            </p:cNvSpPr>
            <p:nvPr/>
          </p:nvSpPr>
          <p:spPr bwMode="auto">
            <a:xfrm>
              <a:off x="2112" y="1824"/>
              <a:ext cx="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6" name="Line 16"/>
            <p:cNvSpPr>
              <a:spLocks noChangeShapeType="1"/>
            </p:cNvSpPr>
            <p:nvPr/>
          </p:nvSpPr>
          <p:spPr bwMode="auto">
            <a:xfrm flipV="1">
              <a:off x="33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7" name="Line 17"/>
            <p:cNvSpPr>
              <a:spLocks noChangeShapeType="1"/>
            </p:cNvSpPr>
            <p:nvPr/>
          </p:nvSpPr>
          <p:spPr bwMode="auto">
            <a:xfrm>
              <a:off x="3312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43" name="Text Box 18"/>
          <p:cNvSpPr txBox="1">
            <a:spLocks noChangeArrowheads="1"/>
          </p:cNvSpPr>
          <p:nvPr/>
        </p:nvSpPr>
        <p:spPr bwMode="auto">
          <a:xfrm>
            <a:off x="1119191" y="3248249"/>
            <a:ext cx="13023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低电平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4" name="Group 20"/>
          <p:cNvGrpSpPr/>
          <p:nvPr/>
        </p:nvGrpSpPr>
        <p:grpSpPr bwMode="auto">
          <a:xfrm flipV="1">
            <a:off x="2888617" y="3315710"/>
            <a:ext cx="2362200" cy="381000"/>
            <a:chOff x="1968" y="1824"/>
            <a:chExt cx="1488" cy="240"/>
          </a:xfrm>
        </p:grpSpPr>
        <p:sp>
          <p:nvSpPr>
            <p:cNvPr id="45" name="Line 21"/>
            <p:cNvSpPr>
              <a:spLocks noChangeShapeType="1"/>
            </p:cNvSpPr>
            <p:nvPr/>
          </p:nvSpPr>
          <p:spPr bwMode="auto">
            <a:xfrm>
              <a:off x="1968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 flipV="1">
              <a:off x="21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7" name="Line 23"/>
            <p:cNvSpPr>
              <a:spLocks noChangeShapeType="1"/>
            </p:cNvSpPr>
            <p:nvPr/>
          </p:nvSpPr>
          <p:spPr bwMode="auto">
            <a:xfrm>
              <a:off x="2112" y="1824"/>
              <a:ext cx="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8" name="Line 24"/>
            <p:cNvSpPr>
              <a:spLocks noChangeShapeType="1"/>
            </p:cNvSpPr>
            <p:nvPr/>
          </p:nvSpPr>
          <p:spPr bwMode="auto">
            <a:xfrm flipV="1">
              <a:off x="33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9" name="Line 25"/>
            <p:cNvSpPr>
              <a:spLocks noChangeShapeType="1"/>
            </p:cNvSpPr>
            <p:nvPr/>
          </p:nvSpPr>
          <p:spPr bwMode="auto">
            <a:xfrm>
              <a:off x="3312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50" name="Group 26"/>
          <p:cNvGrpSpPr/>
          <p:nvPr/>
        </p:nvGrpSpPr>
        <p:grpSpPr bwMode="auto">
          <a:xfrm>
            <a:off x="2888617" y="3915785"/>
            <a:ext cx="2362200" cy="381000"/>
            <a:chOff x="1968" y="1824"/>
            <a:chExt cx="1488" cy="240"/>
          </a:xfrm>
        </p:grpSpPr>
        <p:sp>
          <p:nvSpPr>
            <p:cNvPr id="51" name="Line 27"/>
            <p:cNvSpPr>
              <a:spLocks noChangeShapeType="1"/>
            </p:cNvSpPr>
            <p:nvPr/>
          </p:nvSpPr>
          <p:spPr bwMode="auto">
            <a:xfrm>
              <a:off x="1968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" name="Line 28"/>
            <p:cNvSpPr>
              <a:spLocks noChangeShapeType="1"/>
            </p:cNvSpPr>
            <p:nvPr/>
          </p:nvSpPr>
          <p:spPr bwMode="auto">
            <a:xfrm flipV="1">
              <a:off x="21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3" name="Line 29"/>
            <p:cNvSpPr>
              <a:spLocks noChangeShapeType="1"/>
            </p:cNvSpPr>
            <p:nvPr/>
          </p:nvSpPr>
          <p:spPr bwMode="auto">
            <a:xfrm>
              <a:off x="2112" y="1824"/>
              <a:ext cx="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4" name="Line 30"/>
            <p:cNvSpPr>
              <a:spLocks noChangeShapeType="1"/>
            </p:cNvSpPr>
            <p:nvPr/>
          </p:nvSpPr>
          <p:spPr bwMode="auto">
            <a:xfrm flipV="1">
              <a:off x="3312" y="182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5" name="Line 31"/>
            <p:cNvSpPr>
              <a:spLocks noChangeShapeType="1"/>
            </p:cNvSpPr>
            <p:nvPr/>
          </p:nvSpPr>
          <p:spPr bwMode="auto">
            <a:xfrm>
              <a:off x="3312" y="2064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6" name="Text Box 32"/>
          <p:cNvSpPr txBox="1">
            <a:spLocks noChangeArrowheads="1"/>
          </p:cNvSpPr>
          <p:nvPr/>
        </p:nvSpPr>
        <p:spPr bwMode="auto">
          <a:xfrm>
            <a:off x="1119191" y="3820535"/>
            <a:ext cx="13023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高电平</a:t>
            </a:r>
            <a:r>
              <a:rPr lang="zh-CN" altLang="en-US" sz="2400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Text Box 33"/>
          <p:cNvSpPr txBox="1">
            <a:spLocks noChangeArrowheads="1"/>
          </p:cNvSpPr>
          <p:nvPr/>
        </p:nvSpPr>
        <p:spPr bwMode="auto">
          <a:xfrm>
            <a:off x="5708017" y="3220460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Text Box 34"/>
          <p:cNvSpPr txBox="1">
            <a:spLocks noChangeArrowheads="1"/>
          </p:cNvSpPr>
          <p:nvPr/>
        </p:nvSpPr>
        <p:spPr bwMode="auto">
          <a:xfrm>
            <a:off x="5708017" y="3820535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" name="MH_Other_2"/>
          <p:cNvSpPr/>
          <p:nvPr>
            <p:custDataLst>
              <p:tags r:id="rId4"/>
            </p:custDataLst>
          </p:nvPr>
        </p:nvSpPr>
        <p:spPr>
          <a:xfrm>
            <a:off x="437513" y="4487965"/>
            <a:ext cx="8256270" cy="19519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563C1"/>
              </a:solidFill>
            </a:endParaRPr>
          </a:p>
        </p:txBody>
      </p:sp>
      <p:sp>
        <p:nvSpPr>
          <p:cNvPr id="59" name="Text Box 35"/>
          <p:cNvSpPr txBox="1">
            <a:spLocks noChangeArrowheads="1"/>
          </p:cNvSpPr>
          <p:nvPr/>
        </p:nvSpPr>
        <p:spPr bwMode="auto">
          <a:xfrm>
            <a:off x="450217" y="4527551"/>
            <a:ext cx="48005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例2  用脉冲信号表示数字代码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3" name="Line 45"/>
          <p:cNvSpPr>
            <a:spLocks noChangeShapeType="1"/>
          </p:cNvSpPr>
          <p:nvPr/>
        </p:nvSpPr>
        <p:spPr bwMode="auto">
          <a:xfrm flipV="1">
            <a:off x="3107692" y="5601710"/>
            <a:ext cx="0" cy="381000"/>
          </a:xfrm>
          <a:prstGeom prst="line">
            <a:avLst/>
          </a:prstGeom>
          <a:noFill/>
          <a:ln w="38100">
            <a:solidFill>
              <a:srgbClr val="0563C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4" name="Group 61"/>
          <p:cNvGrpSpPr/>
          <p:nvPr/>
        </p:nvGrpSpPr>
        <p:grpSpPr bwMode="auto">
          <a:xfrm>
            <a:off x="2879092" y="5315960"/>
            <a:ext cx="2971800" cy="381000"/>
            <a:chOff x="1632" y="3456"/>
            <a:chExt cx="1872" cy="240"/>
          </a:xfrm>
        </p:grpSpPr>
        <p:sp>
          <p:nvSpPr>
            <p:cNvPr id="65" name="Line 38"/>
            <p:cNvSpPr>
              <a:spLocks noChangeShapeType="1"/>
            </p:cNvSpPr>
            <p:nvPr/>
          </p:nvSpPr>
          <p:spPr bwMode="auto">
            <a:xfrm>
              <a:off x="1632" y="369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6" name="Line 39"/>
            <p:cNvSpPr>
              <a:spLocks noChangeShapeType="1"/>
            </p:cNvSpPr>
            <p:nvPr/>
          </p:nvSpPr>
          <p:spPr bwMode="auto">
            <a:xfrm flipV="1">
              <a:off x="1776" y="345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7" name="Line 40"/>
            <p:cNvSpPr>
              <a:spLocks noChangeShapeType="1"/>
            </p:cNvSpPr>
            <p:nvPr/>
          </p:nvSpPr>
          <p:spPr bwMode="auto">
            <a:xfrm>
              <a:off x="1776" y="3456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8" name="Line 41"/>
            <p:cNvSpPr>
              <a:spLocks noChangeShapeType="1"/>
            </p:cNvSpPr>
            <p:nvPr/>
          </p:nvSpPr>
          <p:spPr bwMode="auto">
            <a:xfrm flipV="1">
              <a:off x="2064" y="345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9" name="Line 42"/>
            <p:cNvSpPr>
              <a:spLocks noChangeShapeType="1"/>
            </p:cNvSpPr>
            <p:nvPr/>
          </p:nvSpPr>
          <p:spPr bwMode="auto">
            <a:xfrm>
              <a:off x="2064" y="3696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0" name="Line 47"/>
            <p:cNvSpPr>
              <a:spLocks noChangeShapeType="1"/>
            </p:cNvSpPr>
            <p:nvPr/>
          </p:nvSpPr>
          <p:spPr bwMode="auto">
            <a:xfrm flipV="1">
              <a:off x="2928" y="345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1" name="Line 48"/>
            <p:cNvSpPr>
              <a:spLocks noChangeShapeType="1"/>
            </p:cNvSpPr>
            <p:nvPr/>
          </p:nvSpPr>
          <p:spPr bwMode="auto">
            <a:xfrm>
              <a:off x="3216" y="3696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2" name="Line 49"/>
            <p:cNvSpPr>
              <a:spLocks noChangeShapeType="1"/>
            </p:cNvSpPr>
            <p:nvPr/>
          </p:nvSpPr>
          <p:spPr bwMode="auto">
            <a:xfrm>
              <a:off x="2928" y="3456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3" name="Line 50"/>
            <p:cNvSpPr>
              <a:spLocks noChangeShapeType="1"/>
            </p:cNvSpPr>
            <p:nvPr/>
          </p:nvSpPr>
          <p:spPr bwMode="auto">
            <a:xfrm flipV="1">
              <a:off x="3216" y="345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74" name="Text Box 53"/>
          <p:cNvSpPr txBox="1">
            <a:spLocks noChangeArrowheads="1"/>
          </p:cNvSpPr>
          <p:nvPr/>
        </p:nvSpPr>
        <p:spPr bwMode="auto">
          <a:xfrm>
            <a:off x="2498092" y="598271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有脉冲</a:t>
            </a:r>
            <a:endParaRPr lang="zh-CN" altLang="en-US" sz="2400" b="1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5" name="Text Box 54"/>
          <p:cNvSpPr txBox="1">
            <a:spLocks noChangeArrowheads="1"/>
          </p:cNvSpPr>
          <p:nvPr/>
        </p:nvSpPr>
        <p:spPr bwMode="auto">
          <a:xfrm>
            <a:off x="3717292" y="598271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无脉冲</a:t>
            </a:r>
            <a:endParaRPr lang="zh-CN" altLang="en-US" sz="2400" b="1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 Box 55"/>
          <p:cNvSpPr txBox="1">
            <a:spLocks noChangeArrowheads="1"/>
          </p:cNvSpPr>
          <p:nvPr/>
        </p:nvSpPr>
        <p:spPr bwMode="auto">
          <a:xfrm>
            <a:off x="4784092" y="598271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有脉冲</a:t>
            </a:r>
            <a:endParaRPr lang="zh-CN" altLang="en-US" sz="2400" b="1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7" name="Line 56"/>
          <p:cNvSpPr>
            <a:spLocks noChangeShapeType="1"/>
          </p:cNvSpPr>
          <p:nvPr/>
        </p:nvSpPr>
        <p:spPr bwMode="auto">
          <a:xfrm flipV="1">
            <a:off x="4022092" y="5687435"/>
            <a:ext cx="0" cy="295274"/>
          </a:xfrm>
          <a:prstGeom prst="line">
            <a:avLst/>
          </a:prstGeom>
          <a:noFill/>
          <a:ln w="38100">
            <a:solidFill>
              <a:srgbClr val="0563C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8" name="Line 57"/>
          <p:cNvSpPr>
            <a:spLocks noChangeShapeType="1"/>
          </p:cNvSpPr>
          <p:nvPr/>
        </p:nvSpPr>
        <p:spPr bwMode="auto">
          <a:xfrm flipV="1">
            <a:off x="4936492" y="5687434"/>
            <a:ext cx="0" cy="295275"/>
          </a:xfrm>
          <a:prstGeom prst="line">
            <a:avLst/>
          </a:prstGeom>
          <a:noFill/>
          <a:ln w="38100">
            <a:solidFill>
              <a:srgbClr val="0563C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Text Box 58"/>
          <p:cNvSpPr txBox="1">
            <a:spLocks noChangeArrowheads="1"/>
          </p:cNvSpPr>
          <p:nvPr/>
        </p:nvSpPr>
        <p:spPr bwMode="auto">
          <a:xfrm>
            <a:off x="3183892" y="485876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24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0" name="Text Box 59"/>
          <p:cNvSpPr txBox="1">
            <a:spLocks noChangeArrowheads="1"/>
          </p:cNvSpPr>
          <p:nvPr/>
        </p:nvSpPr>
        <p:spPr bwMode="auto">
          <a:xfrm>
            <a:off x="4022092" y="485876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en-US" sz="2400" b="1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1" name="Text Box 60"/>
          <p:cNvSpPr txBox="1">
            <a:spLocks noChangeArrowheads="1"/>
          </p:cNvSpPr>
          <p:nvPr/>
        </p:nvSpPr>
        <p:spPr bwMode="auto">
          <a:xfrm>
            <a:off x="4936492" y="485876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24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2" name="Text Box 63"/>
          <p:cNvSpPr txBox="1">
            <a:spLocks noChangeArrowheads="1"/>
          </p:cNvSpPr>
          <p:nvPr/>
        </p:nvSpPr>
        <p:spPr bwMode="auto">
          <a:xfrm>
            <a:off x="6236972" y="3093061"/>
            <a:ext cx="25545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实现并行操作</a:t>
            </a:r>
            <a:endParaRPr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3" name="Text Box 64"/>
          <p:cNvSpPr txBox="1">
            <a:spLocks noChangeArrowheads="1"/>
          </p:cNvSpPr>
          <p:nvPr/>
        </p:nvSpPr>
        <p:spPr bwMode="auto">
          <a:xfrm>
            <a:off x="6246497" y="5139082"/>
            <a:ext cx="25545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实现串行操作</a:t>
            </a:r>
            <a:endParaRPr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84" grpId="0" animBg="1"/>
      <p:bldP spid="25" grpId="0"/>
      <p:bldP spid="26" grpId="0"/>
      <p:bldP spid="27" grpId="0"/>
      <p:bldP spid="28" grpId="0"/>
      <p:bldP spid="43" grpId="0"/>
      <p:bldP spid="56" grpId="0"/>
      <p:bldP spid="57" grpId="0"/>
      <p:bldP spid="58" grpId="0"/>
      <p:bldP spid="85" grpId="0" animBg="1"/>
      <p:bldP spid="59" grpId="0"/>
      <p:bldP spid="74" grpId="0"/>
      <p:bldP spid="75" grpId="0"/>
      <p:bldP spid="76" grpId="0"/>
      <p:bldP spid="79" grpId="0"/>
      <p:bldP spid="80" grpId="0"/>
      <p:bldP spid="81" grpId="0"/>
      <p:bldP spid="82" grpId="0"/>
      <p:bldP spid="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四、数字计算机的特点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-352945" y="611418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sp>
        <p:nvSpPr>
          <p:cNvPr id="54" name="MH_SubTitle_1"/>
          <p:cNvSpPr txBox="1"/>
          <p:nvPr>
            <p:custDataLst>
              <p:tags r:id="rId3"/>
            </p:custDataLst>
          </p:nvPr>
        </p:nvSpPr>
        <p:spPr>
          <a:xfrm>
            <a:off x="628650" y="1620044"/>
            <a:ext cx="7928017" cy="3888694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能在程序控制下自动连续的工作：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运算速度快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运算精度高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具有很强的信息存储能力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通用性强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97631D6-2F3F-4C77-B3DB-8DBE7BBF4BE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课程介绍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/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/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/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1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.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2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 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计算机系统的硬件组成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/>
          <p:cNvSpPr txBox="1"/>
          <p:nvPr/>
        </p:nvSpPr>
        <p:spPr>
          <a:xfrm>
            <a:off x="1872698" y="3420753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ísḻiḑe"/>
          <p:cNvSpPr/>
          <p:nvPr/>
        </p:nvSpPr>
        <p:spPr>
          <a:xfrm>
            <a:off x="2526228" y="3432295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主要功能部件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6" name="ïṩľîdé"/>
          <p:cNvSpPr txBox="1"/>
          <p:nvPr/>
        </p:nvSpPr>
        <p:spPr>
          <a:xfrm>
            <a:off x="1872697" y="4105896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îṣ1idè"/>
          <p:cNvSpPr/>
          <p:nvPr/>
        </p:nvSpPr>
        <p:spPr>
          <a:xfrm>
            <a:off x="2526228" y="4117437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硬件系统结构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2" name="îṩļíḑé"/>
          <p:cNvSpPr/>
          <p:nvPr/>
        </p:nvSpPr>
        <p:spPr>
          <a:xfrm>
            <a:off x="1524070" y="3449308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/>
          <p:cNvSpPr/>
          <p:nvPr/>
        </p:nvSpPr>
        <p:spPr>
          <a:xfrm>
            <a:off x="1524070" y="413445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959428" y="3926955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0"/>
            <a:ext cx="184371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5"/>
          <p:cNvSpPr txBox="1"/>
          <p:nvPr/>
        </p:nvSpPr>
        <p:spPr>
          <a:xfrm>
            <a:off x="437513" y="1732641"/>
            <a:ext cx="4604750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）功能：  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存储信息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6" name="Group 2"/>
          <p:cNvGrpSpPr/>
          <p:nvPr/>
        </p:nvGrpSpPr>
        <p:grpSpPr bwMode="auto">
          <a:xfrm>
            <a:off x="885630" y="3285940"/>
            <a:ext cx="7391342" cy="2534850"/>
            <a:chOff x="271" y="1104"/>
            <a:chExt cx="5489" cy="1860"/>
          </a:xfrm>
        </p:grpSpPr>
        <p:sp>
          <p:nvSpPr>
            <p:cNvPr id="67" name="Rectangle 3"/>
            <p:cNvSpPr>
              <a:spLocks noChangeArrowheads="1"/>
            </p:cNvSpPr>
            <p:nvPr/>
          </p:nvSpPr>
          <p:spPr bwMode="auto">
            <a:xfrm>
              <a:off x="2496" y="1248"/>
              <a:ext cx="1104" cy="115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8" name="Rectangle 4"/>
            <p:cNvSpPr>
              <a:spLocks noChangeArrowheads="1"/>
            </p:cNvSpPr>
            <p:nvPr/>
          </p:nvSpPr>
          <p:spPr bwMode="auto">
            <a:xfrm>
              <a:off x="720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9" name="Rectangle 5"/>
            <p:cNvSpPr>
              <a:spLocks noChangeArrowheads="1"/>
            </p:cNvSpPr>
            <p:nvPr/>
          </p:nvSpPr>
          <p:spPr bwMode="auto">
            <a:xfrm>
              <a:off x="1584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0" name="Rectangle 6"/>
            <p:cNvSpPr>
              <a:spLocks noChangeArrowheads="1"/>
            </p:cNvSpPr>
            <p:nvPr/>
          </p:nvSpPr>
          <p:spPr bwMode="auto">
            <a:xfrm>
              <a:off x="4128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1" name="Rectangle 7"/>
            <p:cNvSpPr>
              <a:spLocks noChangeArrowheads="1"/>
            </p:cNvSpPr>
            <p:nvPr/>
          </p:nvSpPr>
          <p:spPr bwMode="auto">
            <a:xfrm>
              <a:off x="4992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2" name="Rectangle 8"/>
            <p:cNvSpPr>
              <a:spLocks noChangeArrowheads="1"/>
            </p:cNvSpPr>
            <p:nvPr/>
          </p:nvSpPr>
          <p:spPr bwMode="auto">
            <a:xfrm>
              <a:off x="2352" y="2580"/>
              <a:ext cx="1392" cy="38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2592" y="1584"/>
              <a:ext cx="9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存储体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756" y="1344"/>
              <a:ext cx="349" cy="1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地址寄存器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5" name="Text Box 11"/>
            <p:cNvSpPr txBox="1">
              <a:spLocks noChangeArrowheads="1"/>
            </p:cNvSpPr>
            <p:nvPr/>
          </p:nvSpPr>
          <p:spPr bwMode="auto">
            <a:xfrm>
              <a:off x="1620" y="1488"/>
              <a:ext cx="349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译码器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6" name="Text Box 12"/>
            <p:cNvSpPr txBox="1">
              <a:spLocks noChangeArrowheads="1"/>
            </p:cNvSpPr>
            <p:nvPr/>
          </p:nvSpPr>
          <p:spPr bwMode="auto">
            <a:xfrm>
              <a:off x="4164" y="1440"/>
              <a:ext cx="349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读/写线路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7" name="Text Box 13"/>
            <p:cNvSpPr txBox="1">
              <a:spLocks noChangeArrowheads="1"/>
            </p:cNvSpPr>
            <p:nvPr/>
          </p:nvSpPr>
          <p:spPr bwMode="auto">
            <a:xfrm>
              <a:off x="5028" y="1392"/>
              <a:ext cx="349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数据寄存器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8" name="Text Box 14"/>
            <p:cNvSpPr txBox="1">
              <a:spLocks noChangeArrowheads="1"/>
            </p:cNvSpPr>
            <p:nvPr/>
          </p:nvSpPr>
          <p:spPr bwMode="auto">
            <a:xfrm>
              <a:off x="2478" y="2616"/>
              <a:ext cx="1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控制线路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9" name="Line 15"/>
            <p:cNvSpPr>
              <a:spLocks noChangeShapeType="1"/>
            </p:cNvSpPr>
            <p:nvPr/>
          </p:nvSpPr>
          <p:spPr bwMode="auto">
            <a:xfrm>
              <a:off x="288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0" name="Line 16"/>
            <p:cNvSpPr>
              <a:spLocks noChangeShapeType="1"/>
            </p:cNvSpPr>
            <p:nvPr/>
          </p:nvSpPr>
          <p:spPr bwMode="auto">
            <a:xfrm>
              <a:off x="288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1" name="Line 17"/>
            <p:cNvSpPr>
              <a:spLocks noChangeShapeType="1"/>
            </p:cNvSpPr>
            <p:nvPr/>
          </p:nvSpPr>
          <p:spPr bwMode="auto">
            <a:xfrm>
              <a:off x="1152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2" name="Line 18"/>
            <p:cNvSpPr>
              <a:spLocks noChangeShapeType="1"/>
            </p:cNvSpPr>
            <p:nvPr/>
          </p:nvSpPr>
          <p:spPr bwMode="auto">
            <a:xfrm>
              <a:off x="1152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3" name="Line 19"/>
            <p:cNvSpPr>
              <a:spLocks noChangeShapeType="1"/>
            </p:cNvSpPr>
            <p:nvPr/>
          </p:nvSpPr>
          <p:spPr bwMode="auto">
            <a:xfrm>
              <a:off x="1968" y="1872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4" name="Text Box 20"/>
            <p:cNvSpPr txBox="1">
              <a:spLocks noChangeArrowheads="1"/>
            </p:cNvSpPr>
            <p:nvPr/>
          </p:nvSpPr>
          <p:spPr bwMode="auto">
            <a:xfrm>
              <a:off x="271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5" name="Text Box 21"/>
            <p:cNvSpPr txBox="1">
              <a:spLocks noChangeArrowheads="1"/>
            </p:cNvSpPr>
            <p:nvPr/>
          </p:nvSpPr>
          <p:spPr bwMode="auto">
            <a:xfrm>
              <a:off x="1135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6" name="Line 22"/>
            <p:cNvSpPr>
              <a:spLocks noChangeShapeType="1"/>
            </p:cNvSpPr>
            <p:nvPr/>
          </p:nvSpPr>
          <p:spPr bwMode="auto">
            <a:xfrm>
              <a:off x="3600" y="1920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7" name="Line 23"/>
            <p:cNvSpPr>
              <a:spLocks noChangeShapeType="1"/>
            </p:cNvSpPr>
            <p:nvPr/>
          </p:nvSpPr>
          <p:spPr bwMode="auto">
            <a:xfrm>
              <a:off x="4512" y="192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8" name="Line 24"/>
            <p:cNvSpPr>
              <a:spLocks noChangeShapeType="1"/>
            </p:cNvSpPr>
            <p:nvPr/>
          </p:nvSpPr>
          <p:spPr bwMode="auto">
            <a:xfrm>
              <a:off x="5376" y="1920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16" name="Text Box 5"/>
          <p:cNvSpPr txBox="1"/>
          <p:nvPr/>
        </p:nvSpPr>
        <p:spPr>
          <a:xfrm>
            <a:off x="437513" y="2386668"/>
            <a:ext cx="4604750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）组成（主存储器）：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0"/>
            <a:ext cx="169131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2"/>
          <p:cNvGrpSpPr/>
          <p:nvPr/>
        </p:nvGrpSpPr>
        <p:grpSpPr bwMode="auto">
          <a:xfrm>
            <a:off x="864883" y="1936956"/>
            <a:ext cx="7391342" cy="2534850"/>
            <a:chOff x="271" y="1104"/>
            <a:chExt cx="5489" cy="1860"/>
          </a:xfrm>
        </p:grpSpPr>
        <p:sp>
          <p:nvSpPr>
            <p:cNvPr id="67" name="Rectangle 3"/>
            <p:cNvSpPr>
              <a:spLocks noChangeArrowheads="1"/>
            </p:cNvSpPr>
            <p:nvPr/>
          </p:nvSpPr>
          <p:spPr bwMode="auto">
            <a:xfrm>
              <a:off x="2496" y="1248"/>
              <a:ext cx="1104" cy="115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8" name="Rectangle 4"/>
            <p:cNvSpPr>
              <a:spLocks noChangeArrowheads="1"/>
            </p:cNvSpPr>
            <p:nvPr/>
          </p:nvSpPr>
          <p:spPr bwMode="auto">
            <a:xfrm>
              <a:off x="720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9" name="Rectangle 5"/>
            <p:cNvSpPr>
              <a:spLocks noChangeArrowheads="1"/>
            </p:cNvSpPr>
            <p:nvPr/>
          </p:nvSpPr>
          <p:spPr bwMode="auto">
            <a:xfrm>
              <a:off x="1584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0" name="Rectangle 6"/>
            <p:cNvSpPr>
              <a:spLocks noChangeArrowheads="1"/>
            </p:cNvSpPr>
            <p:nvPr/>
          </p:nvSpPr>
          <p:spPr bwMode="auto">
            <a:xfrm>
              <a:off x="4128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1" name="Rectangle 7"/>
            <p:cNvSpPr>
              <a:spLocks noChangeArrowheads="1"/>
            </p:cNvSpPr>
            <p:nvPr/>
          </p:nvSpPr>
          <p:spPr bwMode="auto">
            <a:xfrm>
              <a:off x="4992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2" name="Rectangle 8"/>
            <p:cNvSpPr>
              <a:spLocks noChangeArrowheads="1"/>
            </p:cNvSpPr>
            <p:nvPr/>
          </p:nvSpPr>
          <p:spPr bwMode="auto">
            <a:xfrm>
              <a:off x="2352" y="2580"/>
              <a:ext cx="1392" cy="38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2592" y="1584"/>
              <a:ext cx="9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存储体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756" y="1344"/>
              <a:ext cx="349" cy="1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地址寄存器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5" name="Text Box 11"/>
            <p:cNvSpPr txBox="1">
              <a:spLocks noChangeArrowheads="1"/>
            </p:cNvSpPr>
            <p:nvPr/>
          </p:nvSpPr>
          <p:spPr bwMode="auto">
            <a:xfrm>
              <a:off x="1620" y="1488"/>
              <a:ext cx="349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译码器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6" name="Text Box 12"/>
            <p:cNvSpPr txBox="1">
              <a:spLocks noChangeArrowheads="1"/>
            </p:cNvSpPr>
            <p:nvPr/>
          </p:nvSpPr>
          <p:spPr bwMode="auto">
            <a:xfrm>
              <a:off x="4164" y="1440"/>
              <a:ext cx="349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读/写线路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7" name="Text Box 13"/>
            <p:cNvSpPr txBox="1">
              <a:spLocks noChangeArrowheads="1"/>
            </p:cNvSpPr>
            <p:nvPr/>
          </p:nvSpPr>
          <p:spPr bwMode="auto">
            <a:xfrm>
              <a:off x="5028" y="1392"/>
              <a:ext cx="349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数据寄存器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8" name="Text Box 14"/>
            <p:cNvSpPr txBox="1">
              <a:spLocks noChangeArrowheads="1"/>
            </p:cNvSpPr>
            <p:nvPr/>
          </p:nvSpPr>
          <p:spPr bwMode="auto">
            <a:xfrm>
              <a:off x="2478" y="2616"/>
              <a:ext cx="1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控制线路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9" name="Line 15"/>
            <p:cNvSpPr>
              <a:spLocks noChangeShapeType="1"/>
            </p:cNvSpPr>
            <p:nvPr/>
          </p:nvSpPr>
          <p:spPr bwMode="auto">
            <a:xfrm>
              <a:off x="288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0" name="Line 16"/>
            <p:cNvSpPr>
              <a:spLocks noChangeShapeType="1"/>
            </p:cNvSpPr>
            <p:nvPr/>
          </p:nvSpPr>
          <p:spPr bwMode="auto">
            <a:xfrm>
              <a:off x="288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1" name="Line 17"/>
            <p:cNvSpPr>
              <a:spLocks noChangeShapeType="1"/>
            </p:cNvSpPr>
            <p:nvPr/>
          </p:nvSpPr>
          <p:spPr bwMode="auto">
            <a:xfrm>
              <a:off x="1152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2" name="Line 18"/>
            <p:cNvSpPr>
              <a:spLocks noChangeShapeType="1"/>
            </p:cNvSpPr>
            <p:nvPr/>
          </p:nvSpPr>
          <p:spPr bwMode="auto">
            <a:xfrm>
              <a:off x="1152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3" name="Line 19"/>
            <p:cNvSpPr>
              <a:spLocks noChangeShapeType="1"/>
            </p:cNvSpPr>
            <p:nvPr/>
          </p:nvSpPr>
          <p:spPr bwMode="auto">
            <a:xfrm>
              <a:off x="1968" y="1872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4" name="Text Box 20"/>
            <p:cNvSpPr txBox="1">
              <a:spLocks noChangeArrowheads="1"/>
            </p:cNvSpPr>
            <p:nvPr/>
          </p:nvSpPr>
          <p:spPr bwMode="auto">
            <a:xfrm>
              <a:off x="271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5" name="Text Box 21"/>
            <p:cNvSpPr txBox="1">
              <a:spLocks noChangeArrowheads="1"/>
            </p:cNvSpPr>
            <p:nvPr/>
          </p:nvSpPr>
          <p:spPr bwMode="auto">
            <a:xfrm>
              <a:off x="1135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6" name="Line 22"/>
            <p:cNvSpPr>
              <a:spLocks noChangeShapeType="1"/>
            </p:cNvSpPr>
            <p:nvPr/>
          </p:nvSpPr>
          <p:spPr bwMode="auto">
            <a:xfrm>
              <a:off x="3600" y="1920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7" name="Line 23"/>
            <p:cNvSpPr>
              <a:spLocks noChangeShapeType="1"/>
            </p:cNvSpPr>
            <p:nvPr/>
          </p:nvSpPr>
          <p:spPr bwMode="auto">
            <a:xfrm>
              <a:off x="4512" y="192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8" name="Line 24"/>
            <p:cNvSpPr>
              <a:spLocks noChangeShapeType="1"/>
            </p:cNvSpPr>
            <p:nvPr/>
          </p:nvSpPr>
          <p:spPr bwMode="auto">
            <a:xfrm>
              <a:off x="5376" y="1920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11" name="Text Box 26"/>
          <p:cNvSpPr txBox="1">
            <a:spLocks noChangeArrowheads="1"/>
          </p:cNvSpPr>
          <p:nvPr/>
        </p:nvSpPr>
        <p:spPr bwMode="auto">
          <a:xfrm>
            <a:off x="751985" y="4780701"/>
            <a:ext cx="43288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存储体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: 存放信息的实体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3" name="Text Box 27"/>
          <p:cNvSpPr txBox="1">
            <a:spLocks noChangeArrowheads="1"/>
          </p:cNvSpPr>
          <p:nvPr/>
        </p:nvSpPr>
        <p:spPr bwMode="auto">
          <a:xfrm>
            <a:off x="732021" y="5440777"/>
            <a:ext cx="71405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寻址系统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：对地址码译码，选择存储单元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0"/>
            <a:ext cx="18722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2"/>
          <p:cNvGrpSpPr/>
          <p:nvPr/>
        </p:nvGrpSpPr>
        <p:grpSpPr bwMode="auto">
          <a:xfrm>
            <a:off x="864883" y="1936956"/>
            <a:ext cx="7391342" cy="2534850"/>
            <a:chOff x="271" y="1104"/>
            <a:chExt cx="5489" cy="1860"/>
          </a:xfrm>
        </p:grpSpPr>
        <p:sp>
          <p:nvSpPr>
            <p:cNvPr id="67" name="Rectangle 3"/>
            <p:cNvSpPr>
              <a:spLocks noChangeArrowheads="1"/>
            </p:cNvSpPr>
            <p:nvPr/>
          </p:nvSpPr>
          <p:spPr bwMode="auto">
            <a:xfrm>
              <a:off x="2496" y="1248"/>
              <a:ext cx="1104" cy="115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8" name="Rectangle 4"/>
            <p:cNvSpPr>
              <a:spLocks noChangeArrowheads="1"/>
            </p:cNvSpPr>
            <p:nvPr/>
          </p:nvSpPr>
          <p:spPr bwMode="auto">
            <a:xfrm>
              <a:off x="720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9" name="Rectangle 5"/>
            <p:cNvSpPr>
              <a:spLocks noChangeArrowheads="1"/>
            </p:cNvSpPr>
            <p:nvPr/>
          </p:nvSpPr>
          <p:spPr bwMode="auto">
            <a:xfrm>
              <a:off x="1584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0" name="Rectangle 6"/>
            <p:cNvSpPr>
              <a:spLocks noChangeArrowheads="1"/>
            </p:cNvSpPr>
            <p:nvPr/>
          </p:nvSpPr>
          <p:spPr bwMode="auto">
            <a:xfrm>
              <a:off x="4128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1" name="Rectangle 7"/>
            <p:cNvSpPr>
              <a:spLocks noChangeArrowheads="1"/>
            </p:cNvSpPr>
            <p:nvPr/>
          </p:nvSpPr>
          <p:spPr bwMode="auto">
            <a:xfrm>
              <a:off x="4992" y="1104"/>
              <a:ext cx="384" cy="163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2" name="Rectangle 8"/>
            <p:cNvSpPr>
              <a:spLocks noChangeArrowheads="1"/>
            </p:cNvSpPr>
            <p:nvPr/>
          </p:nvSpPr>
          <p:spPr bwMode="auto">
            <a:xfrm>
              <a:off x="2352" y="2580"/>
              <a:ext cx="1392" cy="38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2592" y="1584"/>
              <a:ext cx="9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存储体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756" y="1344"/>
              <a:ext cx="349" cy="1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地址寄存器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5" name="Text Box 11"/>
            <p:cNvSpPr txBox="1">
              <a:spLocks noChangeArrowheads="1"/>
            </p:cNvSpPr>
            <p:nvPr/>
          </p:nvSpPr>
          <p:spPr bwMode="auto">
            <a:xfrm>
              <a:off x="1620" y="1488"/>
              <a:ext cx="349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译码器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6" name="Text Box 12"/>
            <p:cNvSpPr txBox="1">
              <a:spLocks noChangeArrowheads="1"/>
            </p:cNvSpPr>
            <p:nvPr/>
          </p:nvSpPr>
          <p:spPr bwMode="auto">
            <a:xfrm>
              <a:off x="4164" y="1440"/>
              <a:ext cx="349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读/写线路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7" name="Text Box 13"/>
            <p:cNvSpPr txBox="1">
              <a:spLocks noChangeArrowheads="1"/>
            </p:cNvSpPr>
            <p:nvPr/>
          </p:nvSpPr>
          <p:spPr bwMode="auto">
            <a:xfrm>
              <a:off x="5028" y="1392"/>
              <a:ext cx="349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数据寄存器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8" name="Text Box 14"/>
            <p:cNvSpPr txBox="1">
              <a:spLocks noChangeArrowheads="1"/>
            </p:cNvSpPr>
            <p:nvPr/>
          </p:nvSpPr>
          <p:spPr bwMode="auto">
            <a:xfrm>
              <a:off x="2478" y="2616"/>
              <a:ext cx="1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控制线路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9" name="Line 15"/>
            <p:cNvSpPr>
              <a:spLocks noChangeShapeType="1"/>
            </p:cNvSpPr>
            <p:nvPr/>
          </p:nvSpPr>
          <p:spPr bwMode="auto">
            <a:xfrm>
              <a:off x="288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0" name="Line 16"/>
            <p:cNvSpPr>
              <a:spLocks noChangeShapeType="1"/>
            </p:cNvSpPr>
            <p:nvPr/>
          </p:nvSpPr>
          <p:spPr bwMode="auto">
            <a:xfrm>
              <a:off x="288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1" name="Line 17"/>
            <p:cNvSpPr>
              <a:spLocks noChangeShapeType="1"/>
            </p:cNvSpPr>
            <p:nvPr/>
          </p:nvSpPr>
          <p:spPr bwMode="auto">
            <a:xfrm>
              <a:off x="1152" y="13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2" name="Line 18"/>
            <p:cNvSpPr>
              <a:spLocks noChangeShapeType="1"/>
            </p:cNvSpPr>
            <p:nvPr/>
          </p:nvSpPr>
          <p:spPr bwMode="auto">
            <a:xfrm>
              <a:off x="1152" y="244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3" name="Line 19"/>
            <p:cNvSpPr>
              <a:spLocks noChangeShapeType="1"/>
            </p:cNvSpPr>
            <p:nvPr/>
          </p:nvSpPr>
          <p:spPr bwMode="auto">
            <a:xfrm>
              <a:off x="1968" y="1872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4" name="Text Box 20"/>
            <p:cNvSpPr txBox="1">
              <a:spLocks noChangeArrowheads="1"/>
            </p:cNvSpPr>
            <p:nvPr/>
          </p:nvSpPr>
          <p:spPr bwMode="auto">
            <a:xfrm>
              <a:off x="271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5" name="Text Box 21"/>
            <p:cNvSpPr txBox="1">
              <a:spLocks noChangeArrowheads="1"/>
            </p:cNvSpPr>
            <p:nvPr/>
          </p:nvSpPr>
          <p:spPr bwMode="auto">
            <a:xfrm>
              <a:off x="1135" y="1488"/>
              <a:ext cx="411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………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6" name="Line 22"/>
            <p:cNvSpPr>
              <a:spLocks noChangeShapeType="1"/>
            </p:cNvSpPr>
            <p:nvPr/>
          </p:nvSpPr>
          <p:spPr bwMode="auto">
            <a:xfrm>
              <a:off x="3600" y="1920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7" name="Line 23"/>
            <p:cNvSpPr>
              <a:spLocks noChangeShapeType="1"/>
            </p:cNvSpPr>
            <p:nvPr/>
          </p:nvSpPr>
          <p:spPr bwMode="auto">
            <a:xfrm>
              <a:off x="4512" y="192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8" name="Line 24"/>
            <p:cNvSpPr>
              <a:spLocks noChangeShapeType="1"/>
            </p:cNvSpPr>
            <p:nvPr/>
          </p:nvSpPr>
          <p:spPr bwMode="auto">
            <a:xfrm>
              <a:off x="5376" y="1920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11" name="Text Box 26"/>
          <p:cNvSpPr txBox="1">
            <a:spLocks noChangeArrowheads="1"/>
          </p:cNvSpPr>
          <p:nvPr/>
        </p:nvSpPr>
        <p:spPr bwMode="auto">
          <a:xfrm>
            <a:off x="751986" y="4626918"/>
            <a:ext cx="6987156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写线路和数据寄存器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:完成读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写操作，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暂存读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写数据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3" name="Text Box 27"/>
          <p:cNvSpPr txBox="1">
            <a:spLocks noChangeArrowheads="1"/>
          </p:cNvSpPr>
          <p:nvPr/>
        </p:nvSpPr>
        <p:spPr bwMode="auto">
          <a:xfrm>
            <a:off x="751986" y="5819134"/>
            <a:ext cx="71641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控制线路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：产生读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写时序，控制读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写操作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0"/>
            <a:ext cx="192944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437513" y="1796448"/>
            <a:ext cx="4053519" cy="2361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3）讨论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存储单元读/写原理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存储器逻辑设计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MH_Other_1"/>
          <p:cNvSpPr/>
          <p:nvPr>
            <p:custDataLst>
              <p:tags r:id="rId4"/>
            </p:custDataLst>
          </p:nvPr>
        </p:nvSpPr>
        <p:spPr>
          <a:xfrm flipH="1">
            <a:off x="1619793" y="910815"/>
            <a:ext cx="7555511" cy="5431588"/>
          </a:xfrm>
          <a:custGeom>
            <a:avLst/>
            <a:gdLst>
              <a:gd name="connsiteX0" fmla="*/ 1030015 w 5397909"/>
              <a:gd name="connsiteY0" fmla="*/ 0 h 4231635"/>
              <a:gd name="connsiteX1" fmla="*/ 5397909 w 5397909"/>
              <a:gd name="connsiteY1" fmla="*/ 4231635 h 4231635"/>
              <a:gd name="connsiteX2" fmla="*/ 0 w 5397909"/>
              <a:gd name="connsiteY2" fmla="*/ 4231635 h 4231635"/>
              <a:gd name="connsiteX3" fmla="*/ 0 w 5397909"/>
              <a:gd name="connsiteY3" fmla="*/ 997883 h 4231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7909" h="4231635">
                <a:moveTo>
                  <a:pt x="1030015" y="0"/>
                </a:moveTo>
                <a:lnTo>
                  <a:pt x="5397909" y="4231635"/>
                </a:lnTo>
                <a:lnTo>
                  <a:pt x="0" y="4231635"/>
                </a:lnTo>
                <a:lnTo>
                  <a:pt x="0" y="997883"/>
                </a:lnTo>
                <a:close/>
              </a:path>
            </a:pathLst>
          </a:custGeom>
          <a:blipFill>
            <a:blip r:embed="rId5"/>
            <a:srcRect/>
            <a:stretch>
              <a:fillRect l="-59761" t="-34380" r="-5324" b="-607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2.CPU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437513" y="1740551"/>
            <a:ext cx="405351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由运算器、控制器组成。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37512" y="2430884"/>
            <a:ext cx="4053519" cy="2361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）功能：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加工信息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）组成：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Rectangle 2"/>
          <p:cNvSpPr>
            <a:spLocks noChangeArrowheads="1"/>
          </p:cNvSpPr>
          <p:nvPr/>
        </p:nvSpPr>
        <p:spPr bwMode="auto">
          <a:xfrm>
            <a:off x="5278443" y="1551267"/>
            <a:ext cx="1673213" cy="7620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auto">
          <a:xfrm>
            <a:off x="4895851" y="2674934"/>
            <a:ext cx="2514600" cy="7620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Rectangle 4"/>
          <p:cNvSpPr>
            <a:spLocks noChangeArrowheads="1"/>
          </p:cNvSpPr>
          <p:nvPr/>
        </p:nvSpPr>
        <p:spPr bwMode="auto">
          <a:xfrm>
            <a:off x="3763516" y="3874933"/>
            <a:ext cx="1895697" cy="7620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Rectangle 5"/>
          <p:cNvSpPr>
            <a:spLocks noChangeArrowheads="1"/>
          </p:cNvSpPr>
          <p:nvPr/>
        </p:nvSpPr>
        <p:spPr bwMode="auto">
          <a:xfrm>
            <a:off x="4834379" y="5303834"/>
            <a:ext cx="2664527" cy="749539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" name="Text Box 6"/>
          <p:cNvSpPr txBox="1">
            <a:spLocks noChangeArrowheads="1"/>
          </p:cNvSpPr>
          <p:nvPr/>
        </p:nvSpPr>
        <p:spPr bwMode="auto">
          <a:xfrm>
            <a:off x="5272097" y="1694738"/>
            <a:ext cx="16795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3" name="Text Box 7"/>
          <p:cNvSpPr txBox="1">
            <a:spLocks noChangeArrowheads="1"/>
          </p:cNvSpPr>
          <p:nvPr/>
        </p:nvSpPr>
        <p:spPr bwMode="auto">
          <a:xfrm>
            <a:off x="5272097" y="2836859"/>
            <a:ext cx="16795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4" name="Text Box 8"/>
          <p:cNvSpPr txBox="1">
            <a:spLocks noChangeArrowheads="1"/>
          </p:cNvSpPr>
          <p:nvPr/>
        </p:nvSpPr>
        <p:spPr bwMode="auto">
          <a:xfrm>
            <a:off x="3781425" y="4065584"/>
            <a:ext cx="18873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选择器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5" name="Text Box 9"/>
          <p:cNvSpPr txBox="1">
            <a:spLocks noChangeArrowheads="1"/>
          </p:cNvSpPr>
          <p:nvPr/>
        </p:nvSpPr>
        <p:spPr bwMode="auto">
          <a:xfrm>
            <a:off x="4805358" y="5454874"/>
            <a:ext cx="25193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通用寄存器组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6" name="Line 10"/>
          <p:cNvSpPr>
            <a:spLocks noChangeShapeType="1"/>
          </p:cNvSpPr>
          <p:nvPr/>
        </p:nvSpPr>
        <p:spPr bwMode="auto">
          <a:xfrm flipV="1">
            <a:off x="5353051" y="4675184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Line 11"/>
          <p:cNvSpPr>
            <a:spLocks noChangeShapeType="1"/>
          </p:cNvSpPr>
          <p:nvPr/>
        </p:nvSpPr>
        <p:spPr bwMode="auto">
          <a:xfrm flipV="1">
            <a:off x="4010026" y="4675184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Line 12"/>
          <p:cNvSpPr>
            <a:spLocks noChangeShapeType="1"/>
          </p:cNvSpPr>
          <p:nvPr/>
        </p:nvSpPr>
        <p:spPr bwMode="auto">
          <a:xfrm flipV="1">
            <a:off x="6715126" y="4675184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Line 13"/>
          <p:cNvSpPr>
            <a:spLocks noChangeShapeType="1"/>
          </p:cNvSpPr>
          <p:nvPr/>
        </p:nvSpPr>
        <p:spPr bwMode="auto">
          <a:xfrm flipV="1">
            <a:off x="8124826" y="4675184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" name="Line 14"/>
          <p:cNvSpPr>
            <a:spLocks noChangeShapeType="1"/>
          </p:cNvSpPr>
          <p:nvPr/>
        </p:nvSpPr>
        <p:spPr bwMode="auto">
          <a:xfrm flipV="1">
            <a:off x="5219700" y="3465509"/>
            <a:ext cx="1" cy="39022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Line 15"/>
          <p:cNvSpPr>
            <a:spLocks noChangeShapeType="1"/>
          </p:cNvSpPr>
          <p:nvPr/>
        </p:nvSpPr>
        <p:spPr bwMode="auto">
          <a:xfrm flipV="1">
            <a:off x="7048501" y="3436934"/>
            <a:ext cx="1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Line 16"/>
          <p:cNvSpPr>
            <a:spLocks noChangeShapeType="1"/>
          </p:cNvSpPr>
          <p:nvPr/>
        </p:nvSpPr>
        <p:spPr bwMode="auto">
          <a:xfrm flipV="1">
            <a:off x="6115050" y="2293934"/>
            <a:ext cx="1" cy="38546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3" name="Line 17"/>
          <p:cNvSpPr>
            <a:spLocks noChangeShapeType="1"/>
          </p:cNvSpPr>
          <p:nvPr/>
        </p:nvSpPr>
        <p:spPr bwMode="auto">
          <a:xfrm flipH="1" flipV="1">
            <a:off x="6115051" y="998534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4" name="Line 18"/>
          <p:cNvSpPr>
            <a:spLocks noChangeShapeType="1"/>
          </p:cNvSpPr>
          <p:nvPr/>
        </p:nvSpPr>
        <p:spPr bwMode="auto">
          <a:xfrm flipH="1" flipV="1">
            <a:off x="6038848" y="6053372"/>
            <a:ext cx="1586" cy="32383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5" name="Line 19"/>
          <p:cNvSpPr>
            <a:spLocks noChangeShapeType="1"/>
          </p:cNvSpPr>
          <p:nvPr/>
        </p:nvSpPr>
        <p:spPr bwMode="auto">
          <a:xfrm>
            <a:off x="6115050" y="1303334"/>
            <a:ext cx="262934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6" name="Line 20"/>
          <p:cNvSpPr>
            <a:spLocks noChangeShapeType="1"/>
          </p:cNvSpPr>
          <p:nvPr/>
        </p:nvSpPr>
        <p:spPr bwMode="auto">
          <a:xfrm>
            <a:off x="8718550" y="1303334"/>
            <a:ext cx="29020" cy="504824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7" name="Line 21"/>
          <p:cNvSpPr>
            <a:spLocks noChangeShapeType="1"/>
          </p:cNvSpPr>
          <p:nvPr/>
        </p:nvSpPr>
        <p:spPr bwMode="auto">
          <a:xfrm flipV="1">
            <a:off x="6046782" y="6351583"/>
            <a:ext cx="2694437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8" name="Line 22"/>
          <p:cNvSpPr>
            <a:spLocks noChangeShapeType="1"/>
          </p:cNvSpPr>
          <p:nvPr/>
        </p:nvSpPr>
        <p:spPr bwMode="auto">
          <a:xfrm>
            <a:off x="4295775" y="4979984"/>
            <a:ext cx="605286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Line 23"/>
          <p:cNvSpPr>
            <a:spLocks noChangeShapeType="1"/>
          </p:cNvSpPr>
          <p:nvPr/>
        </p:nvSpPr>
        <p:spPr bwMode="auto">
          <a:xfrm>
            <a:off x="7058026" y="4979984"/>
            <a:ext cx="533399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0" name="Rectangle 24"/>
          <p:cNvSpPr>
            <a:spLocks noChangeArrowheads="1"/>
          </p:cNvSpPr>
          <p:nvPr/>
        </p:nvSpPr>
        <p:spPr bwMode="auto">
          <a:xfrm>
            <a:off x="6496051" y="3894134"/>
            <a:ext cx="1889146" cy="7620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2" name="Text Box 26"/>
          <p:cNvSpPr txBox="1">
            <a:spLocks noChangeArrowheads="1"/>
          </p:cNvSpPr>
          <p:nvPr/>
        </p:nvSpPr>
        <p:spPr bwMode="auto">
          <a:xfrm>
            <a:off x="6505575" y="4046240"/>
            <a:ext cx="18796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选择器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  <p:bldP spid="14" grpId="0" uiExpand="1" build="p"/>
      <p:bldP spid="48" grpId="0" animBg="1"/>
      <p:bldP spid="49" grpId="0" animBg="1"/>
      <p:bldP spid="50" grpId="0" animBg="1"/>
      <p:bldP spid="51" grpId="0" animBg="1"/>
      <p:bldP spid="52" grpId="0"/>
      <p:bldP spid="53" grpId="0"/>
      <p:bldP spid="54" grpId="0"/>
      <p:bldP spid="55" grpId="0"/>
      <p:bldP spid="70" grpId="0" animBg="1"/>
      <p:bldP spid="7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2.CPU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88682" y="1777540"/>
            <a:ext cx="2044614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370115" y="1052180"/>
            <a:ext cx="6298362" cy="4099590"/>
            <a:chOff x="1066800" y="228600"/>
            <a:chExt cx="7543801" cy="6097913"/>
          </a:xfrm>
        </p:grpSpPr>
        <p:sp>
          <p:nvSpPr>
            <p:cNvPr id="97" name="Rectangle 2"/>
            <p:cNvSpPr>
              <a:spLocks noChangeArrowheads="1"/>
            </p:cNvSpPr>
            <p:nvPr/>
          </p:nvSpPr>
          <p:spPr bwMode="auto">
            <a:xfrm>
              <a:off x="2895600" y="7620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Rectangle 3"/>
            <p:cNvSpPr>
              <a:spLocks noChangeArrowheads="1"/>
            </p:cNvSpPr>
            <p:nvPr/>
          </p:nvSpPr>
          <p:spPr bwMode="auto">
            <a:xfrm>
              <a:off x="2895600" y="2133600"/>
              <a:ext cx="3276600" cy="7620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Rectangle 4"/>
            <p:cNvSpPr>
              <a:spLocks noChangeArrowheads="1"/>
            </p:cNvSpPr>
            <p:nvPr/>
          </p:nvSpPr>
          <p:spPr bwMode="auto">
            <a:xfrm>
              <a:off x="106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Rectangle 5"/>
            <p:cNvSpPr>
              <a:spLocks noChangeArrowheads="1"/>
            </p:cNvSpPr>
            <p:nvPr/>
          </p:nvSpPr>
          <p:spPr bwMode="auto">
            <a:xfrm>
              <a:off x="2895599" y="4876801"/>
              <a:ext cx="3276600" cy="990598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6"/>
            <p:cNvSpPr txBox="1">
              <a:spLocks noChangeArrowheads="1"/>
            </p:cNvSpPr>
            <p:nvPr/>
          </p:nvSpPr>
          <p:spPr bwMode="auto">
            <a:xfrm>
              <a:off x="3733801" y="838199"/>
              <a:ext cx="1860529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2" name="Text Box 7"/>
            <p:cNvSpPr txBox="1">
              <a:spLocks noChangeArrowheads="1"/>
            </p:cNvSpPr>
            <p:nvPr/>
          </p:nvSpPr>
          <p:spPr bwMode="auto">
            <a:xfrm>
              <a:off x="3815497" y="2193078"/>
              <a:ext cx="1606313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 ALU</a:t>
              </a:r>
              <a:endPara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3" name="Text Box 8"/>
            <p:cNvSpPr txBox="1">
              <a:spLocks noChangeArrowheads="1"/>
            </p:cNvSpPr>
            <p:nvPr/>
          </p:nvSpPr>
          <p:spPr bwMode="auto">
            <a:xfrm>
              <a:off x="1981200" y="3581400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4" name="Text Box 9"/>
            <p:cNvSpPr txBox="1">
              <a:spLocks noChangeArrowheads="1"/>
            </p:cNvSpPr>
            <p:nvPr/>
          </p:nvSpPr>
          <p:spPr bwMode="auto">
            <a:xfrm>
              <a:off x="3352801" y="5021593"/>
              <a:ext cx="30480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通用寄存器组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Line 10"/>
            <p:cNvSpPr>
              <a:spLocks noChangeShapeType="1"/>
            </p:cNvSpPr>
            <p:nvPr/>
          </p:nvSpPr>
          <p:spPr bwMode="auto">
            <a:xfrm flipV="1">
              <a:off x="37338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6" name="Line 11"/>
            <p:cNvSpPr>
              <a:spLocks noChangeShapeType="1"/>
            </p:cNvSpPr>
            <p:nvPr/>
          </p:nvSpPr>
          <p:spPr bwMode="auto">
            <a:xfrm flipV="1">
              <a:off x="1752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7" name="Line 12"/>
            <p:cNvSpPr>
              <a:spLocks noChangeShapeType="1"/>
            </p:cNvSpPr>
            <p:nvPr/>
          </p:nvSpPr>
          <p:spPr bwMode="auto">
            <a:xfrm flipV="1">
              <a:off x="54102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8" name="Line 13"/>
            <p:cNvSpPr>
              <a:spLocks noChangeShapeType="1"/>
            </p:cNvSpPr>
            <p:nvPr/>
          </p:nvSpPr>
          <p:spPr bwMode="auto">
            <a:xfrm flipV="1">
              <a:off x="7467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14"/>
            <p:cNvSpPr>
              <a:spLocks noChangeShapeType="1"/>
            </p:cNvSpPr>
            <p:nvPr/>
          </p:nvSpPr>
          <p:spPr bwMode="auto">
            <a:xfrm flipV="1">
              <a:off x="32766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15"/>
            <p:cNvSpPr>
              <a:spLocks noChangeShapeType="1"/>
            </p:cNvSpPr>
            <p:nvPr/>
          </p:nvSpPr>
          <p:spPr bwMode="auto">
            <a:xfrm flipV="1">
              <a:off x="57912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16"/>
            <p:cNvSpPr>
              <a:spLocks noChangeShapeType="1"/>
            </p:cNvSpPr>
            <p:nvPr/>
          </p:nvSpPr>
          <p:spPr bwMode="auto">
            <a:xfrm flipV="1">
              <a:off x="4495800" y="15240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17"/>
            <p:cNvSpPr>
              <a:spLocks noChangeShapeType="1"/>
            </p:cNvSpPr>
            <p:nvPr/>
          </p:nvSpPr>
          <p:spPr bwMode="auto">
            <a:xfrm flipH="1" flipV="1">
              <a:off x="4495800" y="228600"/>
              <a:ext cx="0" cy="533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18"/>
            <p:cNvSpPr>
              <a:spLocks noChangeShapeType="1"/>
            </p:cNvSpPr>
            <p:nvPr/>
          </p:nvSpPr>
          <p:spPr bwMode="auto">
            <a:xfrm flipV="1">
              <a:off x="4419600" y="5869313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19"/>
            <p:cNvSpPr>
              <a:spLocks noChangeShapeType="1"/>
            </p:cNvSpPr>
            <p:nvPr/>
          </p:nvSpPr>
          <p:spPr bwMode="auto">
            <a:xfrm>
              <a:off x="4495801" y="533400"/>
              <a:ext cx="41148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20"/>
            <p:cNvSpPr>
              <a:spLocks noChangeShapeType="1"/>
            </p:cNvSpPr>
            <p:nvPr/>
          </p:nvSpPr>
          <p:spPr bwMode="auto">
            <a:xfrm flipH="1">
              <a:off x="8610599" y="533401"/>
              <a:ext cx="1" cy="57931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21"/>
            <p:cNvSpPr>
              <a:spLocks noChangeShapeType="1"/>
            </p:cNvSpPr>
            <p:nvPr/>
          </p:nvSpPr>
          <p:spPr bwMode="auto">
            <a:xfrm>
              <a:off x="4419600" y="6326513"/>
              <a:ext cx="4191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22"/>
            <p:cNvSpPr>
              <a:spLocks noChangeShapeType="1"/>
            </p:cNvSpPr>
            <p:nvPr/>
          </p:nvSpPr>
          <p:spPr bwMode="auto">
            <a:xfrm>
              <a:off x="205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23"/>
            <p:cNvSpPr>
              <a:spLocks noChangeShapeType="1"/>
            </p:cNvSpPr>
            <p:nvPr/>
          </p:nvSpPr>
          <p:spPr bwMode="auto">
            <a:xfrm>
              <a:off x="586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Rectangle 24"/>
            <p:cNvSpPr>
              <a:spLocks noChangeArrowheads="1"/>
            </p:cNvSpPr>
            <p:nvPr/>
          </p:nvSpPr>
          <p:spPr bwMode="auto">
            <a:xfrm>
              <a:off x="487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1" name="Text Box 26"/>
            <p:cNvSpPr txBox="1">
              <a:spLocks noChangeArrowheads="1"/>
            </p:cNvSpPr>
            <p:nvPr/>
          </p:nvSpPr>
          <p:spPr bwMode="auto">
            <a:xfrm>
              <a:off x="4876801" y="3569177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</a:t>
              </a: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22" name="Text Box 11"/>
          <p:cNvSpPr txBox="1">
            <a:spLocks noChangeArrowheads="1"/>
          </p:cNvSpPr>
          <p:nvPr/>
        </p:nvSpPr>
        <p:spPr bwMode="auto">
          <a:xfrm>
            <a:off x="611499" y="5253956"/>
            <a:ext cx="8240398" cy="128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通过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加法器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实现运算操作（由全加器求和、由进位链传递进位信号）。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2.CPU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88682" y="1777540"/>
            <a:ext cx="2044614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370115" y="1052180"/>
            <a:ext cx="6298362" cy="4099590"/>
            <a:chOff x="1066800" y="228600"/>
            <a:chExt cx="7543801" cy="6097913"/>
          </a:xfrm>
        </p:grpSpPr>
        <p:sp>
          <p:nvSpPr>
            <p:cNvPr id="97" name="Rectangle 2"/>
            <p:cNvSpPr>
              <a:spLocks noChangeArrowheads="1"/>
            </p:cNvSpPr>
            <p:nvPr/>
          </p:nvSpPr>
          <p:spPr bwMode="auto">
            <a:xfrm>
              <a:off x="2895600" y="7620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Rectangle 3"/>
            <p:cNvSpPr>
              <a:spLocks noChangeArrowheads="1"/>
            </p:cNvSpPr>
            <p:nvPr/>
          </p:nvSpPr>
          <p:spPr bwMode="auto">
            <a:xfrm>
              <a:off x="2895600" y="2133600"/>
              <a:ext cx="3276600" cy="762000"/>
            </a:xfrm>
            <a:prstGeom prst="rect">
              <a:avLst/>
            </a:prstGeom>
            <a:solidFill>
              <a:srgbClr val="F0DADA"/>
            </a:solidFill>
            <a:ln w="38100">
              <a:noFill/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Rectangle 4"/>
            <p:cNvSpPr>
              <a:spLocks noChangeArrowheads="1"/>
            </p:cNvSpPr>
            <p:nvPr/>
          </p:nvSpPr>
          <p:spPr bwMode="auto">
            <a:xfrm>
              <a:off x="106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Rectangle 5"/>
            <p:cNvSpPr>
              <a:spLocks noChangeArrowheads="1"/>
            </p:cNvSpPr>
            <p:nvPr/>
          </p:nvSpPr>
          <p:spPr bwMode="auto">
            <a:xfrm>
              <a:off x="2895599" y="4876801"/>
              <a:ext cx="3276600" cy="99059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6"/>
            <p:cNvSpPr txBox="1">
              <a:spLocks noChangeArrowheads="1"/>
            </p:cNvSpPr>
            <p:nvPr/>
          </p:nvSpPr>
          <p:spPr bwMode="auto">
            <a:xfrm>
              <a:off x="3733801" y="838199"/>
              <a:ext cx="1860529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2" name="Text Box 7"/>
            <p:cNvSpPr txBox="1">
              <a:spLocks noChangeArrowheads="1"/>
            </p:cNvSpPr>
            <p:nvPr/>
          </p:nvSpPr>
          <p:spPr bwMode="auto">
            <a:xfrm>
              <a:off x="3815497" y="2193078"/>
              <a:ext cx="1606313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ALU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3" name="Text Box 8"/>
            <p:cNvSpPr txBox="1">
              <a:spLocks noChangeArrowheads="1"/>
            </p:cNvSpPr>
            <p:nvPr/>
          </p:nvSpPr>
          <p:spPr bwMode="auto">
            <a:xfrm>
              <a:off x="1981200" y="3581400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4" name="Text Box 9"/>
            <p:cNvSpPr txBox="1">
              <a:spLocks noChangeArrowheads="1"/>
            </p:cNvSpPr>
            <p:nvPr/>
          </p:nvSpPr>
          <p:spPr bwMode="auto">
            <a:xfrm>
              <a:off x="3352801" y="5021593"/>
              <a:ext cx="30480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通用寄存器组</a:t>
              </a:r>
              <a:endPara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Line 10"/>
            <p:cNvSpPr>
              <a:spLocks noChangeShapeType="1"/>
            </p:cNvSpPr>
            <p:nvPr/>
          </p:nvSpPr>
          <p:spPr bwMode="auto">
            <a:xfrm flipV="1">
              <a:off x="37338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6" name="Line 11"/>
            <p:cNvSpPr>
              <a:spLocks noChangeShapeType="1"/>
            </p:cNvSpPr>
            <p:nvPr/>
          </p:nvSpPr>
          <p:spPr bwMode="auto">
            <a:xfrm flipV="1">
              <a:off x="1752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7" name="Line 12"/>
            <p:cNvSpPr>
              <a:spLocks noChangeShapeType="1"/>
            </p:cNvSpPr>
            <p:nvPr/>
          </p:nvSpPr>
          <p:spPr bwMode="auto">
            <a:xfrm flipV="1">
              <a:off x="54102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8" name="Line 13"/>
            <p:cNvSpPr>
              <a:spLocks noChangeShapeType="1"/>
            </p:cNvSpPr>
            <p:nvPr/>
          </p:nvSpPr>
          <p:spPr bwMode="auto">
            <a:xfrm flipV="1">
              <a:off x="7467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14"/>
            <p:cNvSpPr>
              <a:spLocks noChangeShapeType="1"/>
            </p:cNvSpPr>
            <p:nvPr/>
          </p:nvSpPr>
          <p:spPr bwMode="auto">
            <a:xfrm flipV="1">
              <a:off x="32766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15"/>
            <p:cNvSpPr>
              <a:spLocks noChangeShapeType="1"/>
            </p:cNvSpPr>
            <p:nvPr/>
          </p:nvSpPr>
          <p:spPr bwMode="auto">
            <a:xfrm flipV="1">
              <a:off x="57912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16"/>
            <p:cNvSpPr>
              <a:spLocks noChangeShapeType="1"/>
            </p:cNvSpPr>
            <p:nvPr/>
          </p:nvSpPr>
          <p:spPr bwMode="auto">
            <a:xfrm flipV="1">
              <a:off x="4495800" y="15240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17"/>
            <p:cNvSpPr>
              <a:spLocks noChangeShapeType="1"/>
            </p:cNvSpPr>
            <p:nvPr/>
          </p:nvSpPr>
          <p:spPr bwMode="auto">
            <a:xfrm flipH="1" flipV="1">
              <a:off x="4495800" y="228600"/>
              <a:ext cx="0" cy="533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18"/>
            <p:cNvSpPr>
              <a:spLocks noChangeShapeType="1"/>
            </p:cNvSpPr>
            <p:nvPr/>
          </p:nvSpPr>
          <p:spPr bwMode="auto">
            <a:xfrm flipV="1">
              <a:off x="4419600" y="5869313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19"/>
            <p:cNvSpPr>
              <a:spLocks noChangeShapeType="1"/>
            </p:cNvSpPr>
            <p:nvPr/>
          </p:nvSpPr>
          <p:spPr bwMode="auto">
            <a:xfrm>
              <a:off x="4495801" y="533400"/>
              <a:ext cx="41148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20"/>
            <p:cNvSpPr>
              <a:spLocks noChangeShapeType="1"/>
            </p:cNvSpPr>
            <p:nvPr/>
          </p:nvSpPr>
          <p:spPr bwMode="auto">
            <a:xfrm flipH="1">
              <a:off x="8610599" y="533401"/>
              <a:ext cx="1" cy="57931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21"/>
            <p:cNvSpPr>
              <a:spLocks noChangeShapeType="1"/>
            </p:cNvSpPr>
            <p:nvPr/>
          </p:nvSpPr>
          <p:spPr bwMode="auto">
            <a:xfrm>
              <a:off x="4419600" y="6326513"/>
              <a:ext cx="4191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22"/>
            <p:cNvSpPr>
              <a:spLocks noChangeShapeType="1"/>
            </p:cNvSpPr>
            <p:nvPr/>
          </p:nvSpPr>
          <p:spPr bwMode="auto">
            <a:xfrm>
              <a:off x="205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23"/>
            <p:cNvSpPr>
              <a:spLocks noChangeShapeType="1"/>
            </p:cNvSpPr>
            <p:nvPr/>
          </p:nvSpPr>
          <p:spPr bwMode="auto">
            <a:xfrm>
              <a:off x="586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Rectangle 24"/>
            <p:cNvSpPr>
              <a:spLocks noChangeArrowheads="1"/>
            </p:cNvSpPr>
            <p:nvPr/>
          </p:nvSpPr>
          <p:spPr bwMode="auto">
            <a:xfrm>
              <a:off x="487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1" name="Text Box 26"/>
            <p:cNvSpPr txBox="1">
              <a:spLocks noChangeArrowheads="1"/>
            </p:cNvSpPr>
            <p:nvPr/>
          </p:nvSpPr>
          <p:spPr bwMode="auto">
            <a:xfrm>
              <a:off x="4876801" y="3569177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</a:t>
              </a: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22" name="Text Box 11"/>
          <p:cNvSpPr txBox="1">
            <a:spLocks noChangeArrowheads="1"/>
          </p:cNvSpPr>
          <p:nvPr/>
        </p:nvSpPr>
        <p:spPr bwMode="auto">
          <a:xfrm>
            <a:off x="611499" y="5253956"/>
            <a:ext cx="7357157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通用寄存器组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提供操作数，存放运算结果。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一、主要功能部件</a:t>
            </a:r>
            <a:endParaRPr lang="zh-CN" altLang="en-US" sz="2800" b="1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D6D2-E329-49A0-B7DB-4E29F7D6F1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第一章 概论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2.CPU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88682" y="1777540"/>
            <a:ext cx="2044614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370115" y="1052180"/>
            <a:ext cx="6298362" cy="4099590"/>
            <a:chOff x="1066800" y="228600"/>
            <a:chExt cx="7543801" cy="6097913"/>
          </a:xfrm>
        </p:grpSpPr>
        <p:sp>
          <p:nvSpPr>
            <p:cNvPr id="97" name="Rectangle 2"/>
            <p:cNvSpPr>
              <a:spLocks noChangeArrowheads="1"/>
            </p:cNvSpPr>
            <p:nvPr/>
          </p:nvSpPr>
          <p:spPr bwMode="auto">
            <a:xfrm>
              <a:off x="2895600" y="762000"/>
              <a:ext cx="3276600" cy="762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Rectangle 3"/>
            <p:cNvSpPr>
              <a:spLocks noChangeArrowheads="1"/>
            </p:cNvSpPr>
            <p:nvPr/>
          </p:nvSpPr>
          <p:spPr bwMode="auto">
            <a:xfrm>
              <a:off x="2895600" y="2133600"/>
              <a:ext cx="3276600" cy="762000"/>
            </a:xfrm>
            <a:prstGeom prst="rect">
              <a:avLst/>
            </a:prstGeom>
            <a:solidFill>
              <a:srgbClr val="F0DADA"/>
            </a:solidFill>
            <a:ln w="38100">
              <a:noFill/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Rectangle 4"/>
            <p:cNvSpPr>
              <a:spLocks noChangeArrowheads="1"/>
            </p:cNvSpPr>
            <p:nvPr/>
          </p:nvSpPr>
          <p:spPr bwMode="auto">
            <a:xfrm>
              <a:off x="106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Rectangle 5"/>
            <p:cNvSpPr>
              <a:spLocks noChangeArrowheads="1"/>
            </p:cNvSpPr>
            <p:nvPr/>
          </p:nvSpPr>
          <p:spPr bwMode="auto">
            <a:xfrm>
              <a:off x="2895599" y="4876801"/>
              <a:ext cx="3276600" cy="990598"/>
            </a:xfrm>
            <a:prstGeom prst="rect">
              <a:avLst/>
            </a:prstGeom>
            <a:solidFill>
              <a:srgbClr val="F0DADA"/>
            </a:solidFill>
            <a:ln w="38100">
              <a:noFill/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6"/>
            <p:cNvSpPr txBox="1">
              <a:spLocks noChangeArrowheads="1"/>
            </p:cNvSpPr>
            <p:nvPr/>
          </p:nvSpPr>
          <p:spPr bwMode="auto">
            <a:xfrm>
              <a:off x="3733801" y="838199"/>
              <a:ext cx="1860529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  <a:endPara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2" name="Text Box 7"/>
            <p:cNvSpPr txBox="1">
              <a:spLocks noChangeArrowheads="1"/>
            </p:cNvSpPr>
            <p:nvPr/>
          </p:nvSpPr>
          <p:spPr bwMode="auto">
            <a:xfrm>
              <a:off x="3815497" y="2193078"/>
              <a:ext cx="1606313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ALU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3" name="Text Box 8"/>
            <p:cNvSpPr txBox="1">
              <a:spLocks noChangeArrowheads="1"/>
            </p:cNvSpPr>
            <p:nvPr/>
          </p:nvSpPr>
          <p:spPr bwMode="auto">
            <a:xfrm>
              <a:off x="1981200" y="3581400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4" name="Text Box 9"/>
            <p:cNvSpPr txBox="1">
              <a:spLocks noChangeArrowheads="1"/>
            </p:cNvSpPr>
            <p:nvPr/>
          </p:nvSpPr>
          <p:spPr bwMode="auto">
            <a:xfrm>
              <a:off x="3352801" y="5021593"/>
              <a:ext cx="30480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通用寄存器组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Line 10"/>
            <p:cNvSpPr>
              <a:spLocks noChangeShapeType="1"/>
            </p:cNvSpPr>
            <p:nvPr/>
          </p:nvSpPr>
          <p:spPr bwMode="auto">
            <a:xfrm flipV="1">
              <a:off x="37338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6" name="Line 11"/>
            <p:cNvSpPr>
              <a:spLocks noChangeShapeType="1"/>
            </p:cNvSpPr>
            <p:nvPr/>
          </p:nvSpPr>
          <p:spPr bwMode="auto">
            <a:xfrm flipV="1">
              <a:off x="1752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7" name="Line 12"/>
            <p:cNvSpPr>
              <a:spLocks noChangeShapeType="1"/>
            </p:cNvSpPr>
            <p:nvPr/>
          </p:nvSpPr>
          <p:spPr bwMode="auto">
            <a:xfrm flipV="1">
              <a:off x="54102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8" name="Line 13"/>
            <p:cNvSpPr>
              <a:spLocks noChangeShapeType="1"/>
            </p:cNvSpPr>
            <p:nvPr/>
          </p:nvSpPr>
          <p:spPr bwMode="auto">
            <a:xfrm flipV="1">
              <a:off x="7467600" y="42672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14"/>
            <p:cNvSpPr>
              <a:spLocks noChangeShapeType="1"/>
            </p:cNvSpPr>
            <p:nvPr/>
          </p:nvSpPr>
          <p:spPr bwMode="auto">
            <a:xfrm flipV="1">
              <a:off x="32766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15"/>
            <p:cNvSpPr>
              <a:spLocks noChangeShapeType="1"/>
            </p:cNvSpPr>
            <p:nvPr/>
          </p:nvSpPr>
          <p:spPr bwMode="auto">
            <a:xfrm flipV="1">
              <a:off x="5791200" y="28956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16"/>
            <p:cNvSpPr>
              <a:spLocks noChangeShapeType="1"/>
            </p:cNvSpPr>
            <p:nvPr/>
          </p:nvSpPr>
          <p:spPr bwMode="auto">
            <a:xfrm flipV="1">
              <a:off x="4495800" y="1524000"/>
              <a:ext cx="0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17"/>
            <p:cNvSpPr>
              <a:spLocks noChangeShapeType="1"/>
            </p:cNvSpPr>
            <p:nvPr/>
          </p:nvSpPr>
          <p:spPr bwMode="auto">
            <a:xfrm flipH="1" flipV="1">
              <a:off x="4495800" y="228600"/>
              <a:ext cx="0" cy="533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18"/>
            <p:cNvSpPr>
              <a:spLocks noChangeShapeType="1"/>
            </p:cNvSpPr>
            <p:nvPr/>
          </p:nvSpPr>
          <p:spPr bwMode="auto">
            <a:xfrm flipV="1">
              <a:off x="4419600" y="5869313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19"/>
            <p:cNvSpPr>
              <a:spLocks noChangeShapeType="1"/>
            </p:cNvSpPr>
            <p:nvPr/>
          </p:nvSpPr>
          <p:spPr bwMode="auto">
            <a:xfrm>
              <a:off x="4495801" y="533400"/>
              <a:ext cx="41148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20"/>
            <p:cNvSpPr>
              <a:spLocks noChangeShapeType="1"/>
            </p:cNvSpPr>
            <p:nvPr/>
          </p:nvSpPr>
          <p:spPr bwMode="auto">
            <a:xfrm flipH="1">
              <a:off x="8610599" y="533401"/>
              <a:ext cx="1" cy="57931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21"/>
            <p:cNvSpPr>
              <a:spLocks noChangeShapeType="1"/>
            </p:cNvSpPr>
            <p:nvPr/>
          </p:nvSpPr>
          <p:spPr bwMode="auto">
            <a:xfrm>
              <a:off x="4419600" y="6326513"/>
              <a:ext cx="4191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22"/>
            <p:cNvSpPr>
              <a:spLocks noChangeShapeType="1"/>
            </p:cNvSpPr>
            <p:nvPr/>
          </p:nvSpPr>
          <p:spPr bwMode="auto">
            <a:xfrm>
              <a:off x="205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23"/>
            <p:cNvSpPr>
              <a:spLocks noChangeShapeType="1"/>
            </p:cNvSpPr>
            <p:nvPr/>
          </p:nvSpPr>
          <p:spPr bwMode="auto">
            <a:xfrm>
              <a:off x="5867400" y="4572000"/>
              <a:ext cx="12192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Rectangle 24"/>
            <p:cNvSpPr>
              <a:spLocks noChangeArrowheads="1"/>
            </p:cNvSpPr>
            <p:nvPr/>
          </p:nvSpPr>
          <p:spPr bwMode="auto">
            <a:xfrm>
              <a:off x="4876800" y="3505200"/>
              <a:ext cx="3276600" cy="762000"/>
            </a:xfrm>
            <a:prstGeom prst="rect">
              <a:avLst/>
            </a:prstGeom>
            <a:solidFill>
              <a:srgbClr val="F0DADA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1" name="Text Box 26"/>
            <p:cNvSpPr txBox="1">
              <a:spLocks noChangeArrowheads="1"/>
            </p:cNvSpPr>
            <p:nvPr/>
          </p:nvSpPr>
          <p:spPr bwMode="auto">
            <a:xfrm>
              <a:off x="4876801" y="3569177"/>
              <a:ext cx="2895600" cy="68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</a:t>
              </a: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22" name="Text Box 11"/>
          <p:cNvSpPr txBox="1">
            <a:spLocks noChangeArrowheads="1"/>
          </p:cNvSpPr>
          <p:nvPr/>
        </p:nvSpPr>
        <p:spPr bwMode="auto">
          <a:xfrm>
            <a:off x="611499" y="5253956"/>
            <a:ext cx="7102672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直接或者移位送出运算结果。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一、主要功能部件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2.CPU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11339" y="1757507"/>
            <a:ext cx="8763964" cy="193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	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）功能：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产生控制命令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微命令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，控制全机操作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）组成：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" name="Line 3"/>
          <p:cNvSpPr>
            <a:spLocks noChangeShapeType="1"/>
          </p:cNvSpPr>
          <p:nvPr/>
        </p:nvSpPr>
        <p:spPr bwMode="auto">
          <a:xfrm flipV="1">
            <a:off x="3109230" y="4431351"/>
            <a:ext cx="0" cy="3500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" name="Line 4"/>
          <p:cNvSpPr>
            <a:spLocks noChangeShapeType="1"/>
          </p:cNvSpPr>
          <p:nvPr/>
        </p:nvSpPr>
        <p:spPr bwMode="auto">
          <a:xfrm flipH="1" flipV="1">
            <a:off x="4796509" y="4431351"/>
            <a:ext cx="1" cy="35009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Line 5"/>
          <p:cNvSpPr>
            <a:spLocks noChangeShapeType="1"/>
          </p:cNvSpPr>
          <p:nvPr/>
        </p:nvSpPr>
        <p:spPr bwMode="auto">
          <a:xfrm flipV="1">
            <a:off x="6625310" y="4431351"/>
            <a:ext cx="0" cy="3500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Line 6"/>
          <p:cNvSpPr>
            <a:spLocks noChangeShapeType="1"/>
          </p:cNvSpPr>
          <p:nvPr/>
        </p:nvSpPr>
        <p:spPr bwMode="auto">
          <a:xfrm flipV="1">
            <a:off x="3141886" y="33532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" name="Line 7"/>
          <p:cNvSpPr>
            <a:spLocks noChangeShapeType="1"/>
          </p:cNvSpPr>
          <p:nvPr/>
        </p:nvSpPr>
        <p:spPr bwMode="auto">
          <a:xfrm flipV="1">
            <a:off x="6625310" y="33532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" name="Line 8"/>
          <p:cNvSpPr>
            <a:spLocks noChangeShapeType="1"/>
          </p:cNvSpPr>
          <p:nvPr/>
        </p:nvSpPr>
        <p:spPr bwMode="auto">
          <a:xfrm>
            <a:off x="3443202" y="3591005"/>
            <a:ext cx="30480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5" name="Group 9"/>
          <p:cNvGrpSpPr/>
          <p:nvPr/>
        </p:nvGrpSpPr>
        <p:grpSpPr bwMode="auto">
          <a:xfrm>
            <a:off x="2766098" y="3827050"/>
            <a:ext cx="4316413" cy="619125"/>
            <a:chOff x="2081" y="2106"/>
            <a:chExt cx="2719" cy="390"/>
          </a:xfrm>
        </p:grpSpPr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2081" y="2106"/>
              <a:ext cx="2719" cy="39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7" name="Text Box 11"/>
            <p:cNvSpPr txBox="1">
              <a:spLocks noChangeArrowheads="1"/>
            </p:cNvSpPr>
            <p:nvPr/>
          </p:nvSpPr>
          <p:spPr bwMode="auto">
            <a:xfrm>
              <a:off x="2774" y="2149"/>
              <a:ext cx="131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微命令发生器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71" name="Group 12"/>
          <p:cNvGrpSpPr/>
          <p:nvPr/>
        </p:nvGrpSpPr>
        <p:grpSpPr bwMode="auto">
          <a:xfrm>
            <a:off x="2766100" y="4781449"/>
            <a:ext cx="658813" cy="1606550"/>
            <a:chOff x="2081" y="2784"/>
            <a:chExt cx="415" cy="1012"/>
          </a:xfrm>
        </p:grpSpPr>
        <p:sp>
          <p:nvSpPr>
            <p:cNvPr id="73" name="Rectangle 13"/>
            <p:cNvSpPr>
              <a:spLocks noChangeArrowheads="1"/>
            </p:cNvSpPr>
            <p:nvPr/>
          </p:nvSpPr>
          <p:spPr bwMode="auto">
            <a:xfrm>
              <a:off x="2081" y="2784"/>
              <a:ext cx="415" cy="1012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4" name="Text Box 14"/>
            <p:cNvSpPr txBox="1">
              <a:spLocks noChangeArrowheads="1"/>
            </p:cNvSpPr>
            <p:nvPr/>
          </p:nvSpPr>
          <p:spPr bwMode="auto">
            <a:xfrm>
              <a:off x="2081" y="2880"/>
              <a:ext cx="349" cy="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指令信息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75" name="Group 15"/>
          <p:cNvGrpSpPr/>
          <p:nvPr/>
        </p:nvGrpSpPr>
        <p:grpSpPr bwMode="auto">
          <a:xfrm>
            <a:off x="4533778" y="4796271"/>
            <a:ext cx="658813" cy="1606550"/>
            <a:chOff x="3072" y="2784"/>
            <a:chExt cx="624" cy="1440"/>
          </a:xfrm>
        </p:grpSpPr>
        <p:sp>
          <p:nvSpPr>
            <p:cNvPr id="76" name="Rectangle 16"/>
            <p:cNvSpPr>
              <a:spLocks noChangeArrowheads="1"/>
            </p:cNvSpPr>
            <p:nvPr/>
          </p:nvSpPr>
          <p:spPr bwMode="auto">
            <a:xfrm>
              <a:off x="3072" y="2784"/>
              <a:ext cx="624" cy="144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7" name="Text Box 17"/>
            <p:cNvSpPr txBox="1">
              <a:spLocks noChangeArrowheads="1"/>
            </p:cNvSpPr>
            <p:nvPr/>
          </p:nvSpPr>
          <p:spPr bwMode="auto">
            <a:xfrm>
              <a:off x="3281" y="2880"/>
              <a:ext cx="349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状态信息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78" name="Group 18"/>
          <p:cNvGrpSpPr/>
          <p:nvPr/>
        </p:nvGrpSpPr>
        <p:grpSpPr bwMode="auto">
          <a:xfrm>
            <a:off x="6297053" y="4788859"/>
            <a:ext cx="752479" cy="1621372"/>
            <a:chOff x="4224" y="2784"/>
            <a:chExt cx="624" cy="1440"/>
          </a:xfrm>
        </p:grpSpPr>
        <p:sp>
          <p:nvSpPr>
            <p:cNvPr id="79" name="Rectangle 19"/>
            <p:cNvSpPr>
              <a:spLocks noChangeArrowheads="1"/>
            </p:cNvSpPr>
            <p:nvPr/>
          </p:nvSpPr>
          <p:spPr bwMode="auto">
            <a:xfrm>
              <a:off x="4224" y="2784"/>
              <a:ext cx="624" cy="144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0" name="Text Box 20"/>
            <p:cNvSpPr txBox="1">
              <a:spLocks noChangeArrowheads="1"/>
            </p:cNvSpPr>
            <p:nvPr/>
          </p:nvSpPr>
          <p:spPr bwMode="auto">
            <a:xfrm>
              <a:off x="4385" y="2880"/>
              <a:ext cx="349" cy="1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时序信号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81" name="Text Box 21"/>
          <p:cNvSpPr txBox="1">
            <a:spLocks noChangeArrowheads="1"/>
          </p:cNvSpPr>
          <p:nvPr/>
        </p:nvSpPr>
        <p:spPr bwMode="auto">
          <a:xfrm>
            <a:off x="3912956" y="3030111"/>
            <a:ext cx="19412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微命令序列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8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一、主要功能部件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1772287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2.CPU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29"/>
            <a:ext cx="1329369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11340" y="1757507"/>
            <a:ext cx="2979560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Text Box 2"/>
          <p:cNvSpPr txBox="1">
            <a:spLocks noChangeArrowheads="1"/>
          </p:cNvSpPr>
          <p:nvPr/>
        </p:nvSpPr>
        <p:spPr bwMode="auto">
          <a:xfrm>
            <a:off x="952180" y="2435670"/>
            <a:ext cx="69955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）微命令产生方式（指令执行控制方式）：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86254" y="4362698"/>
            <a:ext cx="8319247" cy="1557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）讨论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两种控制器组成原理与控制机制；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模型机的</a:t>
            </a:r>
            <a:r>
              <a:rPr lang="zh-CN" altLang="en-US" sz="28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数据通路结构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8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指令执行过程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Text Box 5"/>
          <p:cNvSpPr txBox="1">
            <a:spLocks noChangeArrowheads="1"/>
          </p:cNvSpPr>
          <p:nvPr/>
        </p:nvSpPr>
        <p:spPr bwMode="auto">
          <a:xfrm>
            <a:off x="1274305" y="3056903"/>
            <a:ext cx="34786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组合逻辑控制方式：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Text Box 6"/>
          <p:cNvSpPr txBox="1">
            <a:spLocks noChangeArrowheads="1"/>
          </p:cNvSpPr>
          <p:nvPr/>
        </p:nvSpPr>
        <p:spPr bwMode="auto">
          <a:xfrm>
            <a:off x="1274304" y="3665553"/>
            <a:ext cx="32024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微程序控制方式：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4379702" y="3059924"/>
            <a:ext cx="46771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由组合逻辑电路产生微命令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Text Box 8"/>
          <p:cNvSpPr txBox="1">
            <a:spLocks noChangeArrowheads="1"/>
          </p:cNvSpPr>
          <p:nvPr/>
        </p:nvSpPr>
        <p:spPr bwMode="auto">
          <a:xfrm>
            <a:off x="4111998" y="3659939"/>
            <a:ext cx="36389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由微指令产生微命令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AutoShape 5"/>
          <p:cNvSpPr/>
          <p:nvPr/>
        </p:nvSpPr>
        <p:spPr bwMode="auto">
          <a:xfrm>
            <a:off x="1109191" y="3167055"/>
            <a:ext cx="157134" cy="813805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b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35" grpId="0" build="p"/>
      <p:bldP spid="37" grpId="0" build="p"/>
      <p:bldP spid="38" grpId="0"/>
      <p:bldP spid="48" grpId="0"/>
      <p:bldP spid="49" grpId="0"/>
      <p:bldP spid="50" grpId="0"/>
      <p:bldP spid="5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一、主要功能部件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325492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输出设备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1"/>
            <a:ext cx="326294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518481" y="1923434"/>
            <a:ext cx="405351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）功能：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转换信息</a:t>
            </a:r>
            <a:endParaRPr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Line 3"/>
          <p:cNvSpPr>
            <a:spLocks noChangeShapeType="1"/>
          </p:cNvSpPr>
          <p:nvPr/>
        </p:nvSpPr>
        <p:spPr bwMode="auto">
          <a:xfrm flipV="1">
            <a:off x="4114796" y="2887130"/>
            <a:ext cx="457200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4114796" y="3499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1357171" y="2593217"/>
            <a:ext cx="27512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：原始信息 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4781001" y="2593217"/>
            <a:ext cx="33247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代码，送入主机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1357172" y="3248854"/>
            <a:ext cx="27512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：处理结果 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4710252" y="3221537"/>
            <a:ext cx="46051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人所能接受的形式，并输出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2497615" y="3772074"/>
            <a:ext cx="17184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（代码） 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" name="Text Box 21"/>
          <p:cNvSpPr txBox="1">
            <a:spLocks noChangeArrowheads="1"/>
          </p:cNvSpPr>
          <p:nvPr/>
        </p:nvSpPr>
        <p:spPr bwMode="auto">
          <a:xfrm>
            <a:off x="518481" y="4352135"/>
            <a:ext cx="7772400" cy="997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2）讨论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显示器的工作原理和</a:t>
            </a:r>
            <a:r>
              <a:rPr lang="zh-CN" altLang="en-US" sz="28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信息转换过程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  <p:bldP spid="26" grpId="0"/>
      <p:bldP spid="27" grpId="0"/>
      <p:bldP spid="28" grpId="0"/>
      <p:bldP spid="29" grpId="0"/>
      <p:bldP spid="36" grpId="0"/>
      <p:bldP spid="3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474936" y="1740551"/>
            <a:ext cx="8240439" cy="128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：能为多个部件分时共享的一组信息传送线路及相应的控制逻辑。</a:t>
            </a:r>
            <a:endParaRPr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Line 3"/>
          <p:cNvSpPr>
            <a:spLocks noChangeShapeType="1"/>
          </p:cNvSpPr>
          <p:nvPr/>
        </p:nvSpPr>
        <p:spPr bwMode="auto">
          <a:xfrm>
            <a:off x="2057400" y="3728958"/>
            <a:ext cx="502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3124200" y="372895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Line 5"/>
          <p:cNvSpPr>
            <a:spLocks noChangeShapeType="1"/>
          </p:cNvSpPr>
          <p:nvPr/>
        </p:nvSpPr>
        <p:spPr bwMode="auto">
          <a:xfrm>
            <a:off x="4572000" y="372895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" name="Line 6"/>
          <p:cNvSpPr>
            <a:spLocks noChangeShapeType="1"/>
          </p:cNvSpPr>
          <p:nvPr/>
        </p:nvSpPr>
        <p:spPr bwMode="auto">
          <a:xfrm>
            <a:off x="6019800" y="372895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3962400" y="3043158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总  线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2" name="Group 10"/>
          <p:cNvGrpSpPr/>
          <p:nvPr/>
        </p:nvGrpSpPr>
        <p:grpSpPr bwMode="auto">
          <a:xfrm>
            <a:off x="2819400" y="4414760"/>
            <a:ext cx="3505200" cy="1595438"/>
            <a:chOff x="1584" y="3216"/>
            <a:chExt cx="2208" cy="1005"/>
          </a:xfrm>
        </p:grpSpPr>
        <p:sp>
          <p:nvSpPr>
            <p:cNvPr id="43" name="Rectangle 11"/>
            <p:cNvSpPr>
              <a:spLocks noChangeArrowheads="1"/>
            </p:cNvSpPr>
            <p:nvPr/>
          </p:nvSpPr>
          <p:spPr bwMode="auto">
            <a:xfrm>
              <a:off x="1584" y="3216"/>
              <a:ext cx="384" cy="86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4" name="Rectangle 12"/>
            <p:cNvSpPr>
              <a:spLocks noChangeArrowheads="1"/>
            </p:cNvSpPr>
            <p:nvPr/>
          </p:nvSpPr>
          <p:spPr bwMode="auto">
            <a:xfrm>
              <a:off x="2496" y="3216"/>
              <a:ext cx="384" cy="86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5" name="Rectangle 13"/>
            <p:cNvSpPr>
              <a:spLocks noChangeArrowheads="1"/>
            </p:cNvSpPr>
            <p:nvPr/>
          </p:nvSpPr>
          <p:spPr bwMode="auto">
            <a:xfrm>
              <a:off x="3408" y="3216"/>
              <a:ext cx="384" cy="864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6" name="Text Box 14"/>
            <p:cNvSpPr txBox="1">
              <a:spLocks noChangeArrowheads="1"/>
            </p:cNvSpPr>
            <p:nvPr/>
          </p:nvSpPr>
          <p:spPr bwMode="auto">
            <a:xfrm>
              <a:off x="1617" y="3357"/>
              <a:ext cx="349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部件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7" name="Text Box 15"/>
            <p:cNvSpPr txBox="1">
              <a:spLocks noChangeArrowheads="1"/>
            </p:cNvSpPr>
            <p:nvPr/>
          </p:nvSpPr>
          <p:spPr bwMode="auto">
            <a:xfrm>
              <a:off x="2531" y="3354"/>
              <a:ext cx="349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部件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8" name="Text Box 16"/>
            <p:cNvSpPr txBox="1">
              <a:spLocks noChangeArrowheads="1"/>
            </p:cNvSpPr>
            <p:nvPr/>
          </p:nvSpPr>
          <p:spPr bwMode="auto">
            <a:xfrm>
              <a:off x="3443" y="3352"/>
              <a:ext cx="349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部件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689101" y="1881908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分时</a:t>
            </a:r>
            <a:endParaRPr lang="zh-CN" altLang="en-US" sz="2800" dirty="0">
              <a:solidFill>
                <a:srgbClr val="ED7D3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401270" y="1882140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共享</a:t>
            </a:r>
            <a:endParaRPr lang="zh-CN" altLang="en-US" sz="2800" dirty="0">
              <a:solidFill>
                <a:srgbClr val="0563C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  <p:bldP spid="41" grpId="0" advAuto="0" build="p"/>
      <p:bldP spid="3" grpId="0"/>
      <p:bldP spid="5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1874520" y="1770885"/>
            <a:ext cx="5029200" cy="1872460"/>
            <a:chOff x="2057400" y="3261436"/>
            <a:chExt cx="5029200" cy="1872460"/>
          </a:xfrm>
        </p:grpSpPr>
        <p:sp>
          <p:nvSpPr>
            <p:cNvPr id="53" name="Line 3"/>
            <p:cNvSpPr>
              <a:spLocks noChangeShapeType="1"/>
            </p:cNvSpPr>
            <p:nvPr/>
          </p:nvSpPr>
          <p:spPr bwMode="auto">
            <a:xfrm>
              <a:off x="2057400" y="3728958"/>
              <a:ext cx="50292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4" name="Line 4"/>
            <p:cNvSpPr>
              <a:spLocks noChangeShapeType="1"/>
            </p:cNvSpPr>
            <p:nvPr/>
          </p:nvSpPr>
          <p:spPr bwMode="auto">
            <a:xfrm>
              <a:off x="3124200" y="3728958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5" name="Line 5"/>
            <p:cNvSpPr>
              <a:spLocks noChangeShapeType="1"/>
            </p:cNvSpPr>
            <p:nvPr/>
          </p:nvSpPr>
          <p:spPr bwMode="auto">
            <a:xfrm>
              <a:off x="4572000" y="3728958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6" name="Line 6"/>
            <p:cNvSpPr>
              <a:spLocks noChangeShapeType="1"/>
            </p:cNvSpPr>
            <p:nvPr/>
          </p:nvSpPr>
          <p:spPr bwMode="auto">
            <a:xfrm>
              <a:off x="6019800" y="3728958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7" name="Text Box 7"/>
            <p:cNvSpPr txBox="1">
              <a:spLocks noChangeArrowheads="1"/>
            </p:cNvSpPr>
            <p:nvPr/>
          </p:nvSpPr>
          <p:spPr bwMode="auto">
            <a:xfrm>
              <a:off x="3771901" y="3261436"/>
              <a:ext cx="16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总  线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58" name="Group 10"/>
            <p:cNvGrpSpPr/>
            <p:nvPr/>
          </p:nvGrpSpPr>
          <p:grpSpPr bwMode="auto">
            <a:xfrm>
              <a:off x="2819400" y="4040108"/>
              <a:ext cx="3505200" cy="1093788"/>
              <a:chOff x="1584" y="2980"/>
              <a:chExt cx="2208" cy="689"/>
            </a:xfrm>
          </p:grpSpPr>
          <p:sp>
            <p:nvSpPr>
              <p:cNvPr id="59" name="Rectangle 11"/>
              <p:cNvSpPr>
                <a:spLocks noChangeArrowheads="1"/>
              </p:cNvSpPr>
              <p:nvPr/>
            </p:nvSpPr>
            <p:spPr bwMode="auto">
              <a:xfrm>
                <a:off x="1584" y="2980"/>
                <a:ext cx="384" cy="689"/>
              </a:xfrm>
              <a:prstGeom prst="rect">
                <a:avLst/>
              </a:prstGeom>
              <a:solidFill>
                <a:srgbClr val="FDFBFB"/>
              </a:solidFill>
              <a:ln w="381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sz="240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0" name="Rectangle 12"/>
              <p:cNvSpPr>
                <a:spLocks noChangeArrowheads="1"/>
              </p:cNvSpPr>
              <p:nvPr/>
            </p:nvSpPr>
            <p:spPr bwMode="auto">
              <a:xfrm>
                <a:off x="2496" y="2980"/>
                <a:ext cx="384" cy="689"/>
              </a:xfrm>
              <a:prstGeom prst="rect">
                <a:avLst/>
              </a:prstGeom>
              <a:solidFill>
                <a:srgbClr val="FDFBFB"/>
              </a:solidFill>
              <a:ln w="381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sz="240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1" name="Rectangle 13"/>
              <p:cNvSpPr>
                <a:spLocks noChangeArrowheads="1"/>
              </p:cNvSpPr>
              <p:nvPr/>
            </p:nvSpPr>
            <p:spPr bwMode="auto">
              <a:xfrm>
                <a:off x="3408" y="2980"/>
                <a:ext cx="384" cy="689"/>
              </a:xfrm>
              <a:prstGeom prst="rect">
                <a:avLst/>
              </a:prstGeom>
              <a:solidFill>
                <a:srgbClr val="FDFBFB"/>
              </a:solidFill>
              <a:ln w="381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sz="240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2" name="Text Box 14"/>
              <p:cNvSpPr txBox="1">
                <a:spLocks noChangeArrowheads="1"/>
              </p:cNvSpPr>
              <p:nvPr/>
            </p:nvSpPr>
            <p:spPr bwMode="auto">
              <a:xfrm>
                <a:off x="1617" y="3121"/>
                <a:ext cx="349" cy="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部件</a:t>
                </a:r>
                <a:endPara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" name="Text Box 15"/>
              <p:cNvSpPr txBox="1">
                <a:spLocks noChangeArrowheads="1"/>
              </p:cNvSpPr>
              <p:nvPr/>
            </p:nvSpPr>
            <p:spPr bwMode="auto">
              <a:xfrm>
                <a:off x="2531" y="3118"/>
                <a:ext cx="349" cy="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部件</a:t>
                </a:r>
                <a:endPara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" name="Text Box 16"/>
              <p:cNvSpPr txBox="1">
                <a:spLocks noChangeArrowheads="1"/>
              </p:cNvSpPr>
              <p:nvPr/>
            </p:nvSpPr>
            <p:spPr bwMode="auto">
              <a:xfrm>
                <a:off x="3443" y="3116"/>
                <a:ext cx="349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4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部件</a:t>
                </a:r>
                <a:endPara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</p:grp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1320393" y="4123641"/>
            <a:ext cx="1606225" cy="182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局部总线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系统总线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外总线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6" name="Text Box 14"/>
          <p:cNvSpPr txBox="1">
            <a:spLocks noChangeArrowheads="1"/>
          </p:cNvSpPr>
          <p:nvPr/>
        </p:nvSpPr>
        <p:spPr bwMode="auto">
          <a:xfrm>
            <a:off x="3907794" y="3776266"/>
            <a:ext cx="1867352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地址总线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数据总线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7" name="Text Box 15"/>
          <p:cNvSpPr txBox="1">
            <a:spLocks noChangeArrowheads="1"/>
          </p:cNvSpPr>
          <p:nvPr/>
        </p:nvSpPr>
        <p:spPr bwMode="auto">
          <a:xfrm>
            <a:off x="3949432" y="5261550"/>
            <a:ext cx="142920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同步总线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异步总线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8" name="Text Box 17"/>
          <p:cNvSpPr txBox="1">
            <a:spLocks noChangeArrowheads="1"/>
          </p:cNvSpPr>
          <p:nvPr/>
        </p:nvSpPr>
        <p:spPr bwMode="auto">
          <a:xfrm>
            <a:off x="6453289" y="3942465"/>
            <a:ext cx="153107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并行总线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串行总线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Text Box 18"/>
          <p:cNvSpPr txBox="1">
            <a:spLocks noChangeArrowheads="1"/>
          </p:cNvSpPr>
          <p:nvPr/>
        </p:nvSpPr>
        <p:spPr bwMode="auto">
          <a:xfrm>
            <a:off x="6544557" y="5261549"/>
            <a:ext cx="16062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单向总线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双向总线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0" name="AutoShape 19"/>
          <p:cNvSpPr/>
          <p:nvPr/>
        </p:nvSpPr>
        <p:spPr bwMode="auto">
          <a:xfrm>
            <a:off x="1103359" y="4161437"/>
            <a:ext cx="228600" cy="1752600"/>
          </a:xfrm>
          <a:prstGeom prst="leftBrace">
            <a:avLst>
              <a:gd name="adj1" fmla="val 63818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" name="AutoShape 20"/>
          <p:cNvSpPr/>
          <p:nvPr/>
        </p:nvSpPr>
        <p:spPr bwMode="auto">
          <a:xfrm>
            <a:off x="3644358" y="3878796"/>
            <a:ext cx="228600" cy="1143000"/>
          </a:xfrm>
          <a:prstGeom prst="leftBrace">
            <a:avLst>
              <a:gd name="adj1" fmla="val 41620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2" name="AutoShape 21"/>
          <p:cNvSpPr/>
          <p:nvPr/>
        </p:nvSpPr>
        <p:spPr bwMode="auto">
          <a:xfrm>
            <a:off x="6392157" y="4031196"/>
            <a:ext cx="152400" cy="838200"/>
          </a:xfrm>
          <a:prstGeom prst="leftBrace">
            <a:avLst>
              <a:gd name="adj1" fmla="val 45782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AutoShape 22"/>
          <p:cNvSpPr/>
          <p:nvPr/>
        </p:nvSpPr>
        <p:spPr bwMode="auto">
          <a:xfrm>
            <a:off x="6425495" y="5405982"/>
            <a:ext cx="152400" cy="762000"/>
          </a:xfrm>
          <a:prstGeom prst="leftBrace">
            <a:avLst>
              <a:gd name="adj1" fmla="val 41620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AutoShape 23"/>
          <p:cNvSpPr/>
          <p:nvPr/>
        </p:nvSpPr>
        <p:spPr bwMode="auto">
          <a:xfrm>
            <a:off x="3704496" y="5388381"/>
            <a:ext cx="152400" cy="762000"/>
          </a:xfrm>
          <a:prstGeom prst="leftBrace">
            <a:avLst>
              <a:gd name="adj1" fmla="val 41620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3739" y="480690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功能</a:t>
            </a:r>
            <a:endParaRPr lang="zh-CN" altLang="en-US" sz="2400" dirty="0">
              <a:solidFill>
                <a:srgbClr val="0563C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860968" y="421946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信息</a:t>
            </a:r>
            <a:endParaRPr lang="zh-CN" altLang="en-US" sz="2400" dirty="0">
              <a:solidFill>
                <a:srgbClr val="0563C1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891688" y="553854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时序</a:t>
            </a:r>
            <a:endParaRPr lang="zh-CN" altLang="en-US" sz="2400" dirty="0">
              <a:solidFill>
                <a:srgbClr val="0563C1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5622070" y="421946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格式</a:t>
            </a:r>
            <a:endParaRPr lang="zh-CN" altLang="en-US" sz="2400" dirty="0">
              <a:solidFill>
                <a:srgbClr val="0563C1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622070" y="553854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方向</a:t>
            </a:r>
            <a:endParaRPr lang="zh-CN" altLang="en-US" sz="2400" dirty="0">
              <a:solidFill>
                <a:srgbClr val="0563C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build="p"/>
      <p:bldP spid="66" grpId="0" build="p"/>
      <p:bldP spid="67" grpId="0" build="p"/>
      <p:bldP spid="68" grpId="0" build="p"/>
      <p:bldP spid="69" grpId="0" build="p"/>
      <p:bldP spid="70" grpId="0" animBg="1"/>
      <p:bldP spid="71" grpId="0" animBg="1"/>
      <p:bldP spid="72" grpId="0" animBg="1"/>
      <p:bldP spid="73" grpId="0" animBg="1"/>
      <p:bldP spid="74" grpId="0" animBg="1"/>
      <p:bldP spid="9" grpId="0"/>
      <p:bldP spid="75" grpId="0"/>
      <p:bldP spid="76" grpId="0"/>
      <p:bldP spid="77" grpId="0"/>
      <p:bldP spid="7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1612174" y="2920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1612174" y="4825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3517174" y="4825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3517174" y="3682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Rectangle 7"/>
          <p:cNvSpPr>
            <a:spLocks noChangeArrowheads="1"/>
          </p:cNvSpPr>
          <p:nvPr/>
        </p:nvSpPr>
        <p:spPr bwMode="auto">
          <a:xfrm>
            <a:off x="6107974" y="3682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6107974" y="4825388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7" name="Line 9"/>
          <p:cNvSpPr>
            <a:spLocks noChangeShapeType="1"/>
          </p:cNvSpPr>
          <p:nvPr/>
        </p:nvSpPr>
        <p:spPr bwMode="auto">
          <a:xfrm>
            <a:off x="2831374" y="3225188"/>
            <a:ext cx="4953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Line 10"/>
          <p:cNvSpPr>
            <a:spLocks noChangeShapeType="1"/>
          </p:cNvSpPr>
          <p:nvPr/>
        </p:nvSpPr>
        <p:spPr bwMode="auto">
          <a:xfrm>
            <a:off x="2221774" y="3606188"/>
            <a:ext cx="0" cy="1219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Line 11"/>
          <p:cNvSpPr>
            <a:spLocks noChangeShapeType="1"/>
          </p:cNvSpPr>
          <p:nvPr/>
        </p:nvSpPr>
        <p:spPr bwMode="auto">
          <a:xfrm>
            <a:off x="4126774" y="322518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Line 12"/>
          <p:cNvSpPr>
            <a:spLocks noChangeShapeType="1"/>
          </p:cNvSpPr>
          <p:nvPr/>
        </p:nvSpPr>
        <p:spPr bwMode="auto">
          <a:xfrm>
            <a:off x="4126774" y="436818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Line 13"/>
          <p:cNvSpPr>
            <a:spLocks noChangeShapeType="1"/>
          </p:cNvSpPr>
          <p:nvPr/>
        </p:nvSpPr>
        <p:spPr bwMode="auto">
          <a:xfrm>
            <a:off x="6717574" y="322518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" name="Line 14"/>
          <p:cNvSpPr>
            <a:spLocks noChangeShapeType="1"/>
          </p:cNvSpPr>
          <p:nvPr/>
        </p:nvSpPr>
        <p:spPr bwMode="auto">
          <a:xfrm>
            <a:off x="6717574" y="436818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Line 15"/>
          <p:cNvSpPr>
            <a:spLocks noChangeShapeType="1"/>
          </p:cNvSpPr>
          <p:nvPr/>
        </p:nvSpPr>
        <p:spPr bwMode="auto">
          <a:xfrm>
            <a:off x="5041174" y="4063388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0" name="Line 16"/>
          <p:cNvSpPr>
            <a:spLocks noChangeShapeType="1"/>
          </p:cNvSpPr>
          <p:nvPr/>
        </p:nvSpPr>
        <p:spPr bwMode="auto">
          <a:xfrm>
            <a:off x="5041174" y="5206388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1" name="Text Box 17"/>
          <p:cNvSpPr txBox="1">
            <a:spLocks noChangeArrowheads="1"/>
          </p:cNvSpPr>
          <p:nvPr/>
        </p:nvSpPr>
        <p:spPr bwMode="auto">
          <a:xfrm>
            <a:off x="1840774" y="2996588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2" name="Text Box 18"/>
          <p:cNvSpPr txBox="1">
            <a:spLocks noChangeArrowheads="1"/>
          </p:cNvSpPr>
          <p:nvPr/>
        </p:nvSpPr>
        <p:spPr bwMode="auto">
          <a:xfrm>
            <a:off x="1993174" y="4901588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3" name="Text Box 19"/>
          <p:cNvSpPr txBox="1">
            <a:spLocks noChangeArrowheads="1"/>
          </p:cNvSpPr>
          <p:nvPr/>
        </p:nvSpPr>
        <p:spPr bwMode="auto">
          <a:xfrm>
            <a:off x="3669574" y="3758588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4" name="Text Box 20"/>
          <p:cNvSpPr txBox="1">
            <a:spLocks noChangeArrowheads="1"/>
          </p:cNvSpPr>
          <p:nvPr/>
        </p:nvSpPr>
        <p:spPr bwMode="auto">
          <a:xfrm>
            <a:off x="6260374" y="3758588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" name="Text Box 21"/>
          <p:cNvSpPr txBox="1">
            <a:spLocks noChangeArrowheads="1"/>
          </p:cNvSpPr>
          <p:nvPr/>
        </p:nvSpPr>
        <p:spPr bwMode="auto">
          <a:xfrm>
            <a:off x="3745774" y="4901588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6" name="Text Box 22"/>
          <p:cNvSpPr txBox="1">
            <a:spLocks noChangeArrowheads="1"/>
          </p:cNvSpPr>
          <p:nvPr/>
        </p:nvSpPr>
        <p:spPr bwMode="auto">
          <a:xfrm>
            <a:off x="6260374" y="4901588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7" name="Text Box 23"/>
          <p:cNvSpPr txBox="1">
            <a:spLocks noChangeArrowheads="1"/>
          </p:cNvSpPr>
          <p:nvPr/>
        </p:nvSpPr>
        <p:spPr bwMode="auto">
          <a:xfrm>
            <a:off x="4279174" y="2615588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 总线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Text Box 24"/>
          <p:cNvSpPr txBox="1">
            <a:spLocks noChangeArrowheads="1"/>
          </p:cNvSpPr>
          <p:nvPr/>
        </p:nvSpPr>
        <p:spPr bwMode="auto">
          <a:xfrm>
            <a:off x="773974" y="3987188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 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总线 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9" name="Text Box 11"/>
          <p:cNvSpPr txBox="1">
            <a:spLocks noChangeArrowheads="1"/>
          </p:cNvSpPr>
          <p:nvPr/>
        </p:nvSpPr>
        <p:spPr bwMode="auto">
          <a:xfrm>
            <a:off x="474936" y="1740551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为中心的双总线结构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0"/>
                            </p:stCondLst>
                            <p:childTnLst>
                              <p:par>
                                <p:cTn id="6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9500"/>
                            </p:stCondLst>
                            <p:childTnLst>
                              <p:par>
                                <p:cTn id="7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1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20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3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5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81" grpId="0" advAuto="0" build="p"/>
      <p:bldP spid="82" grpId="0" advAuto="0" build="p"/>
      <p:bldP spid="83" grpId="0" advAuto="0" build="p"/>
      <p:bldP spid="84" grpId="0" advAuto="0" build="p"/>
      <p:bldP spid="85" grpId="0" advAuto="0" build="p"/>
      <p:bldP spid="86" grpId="0" advAuto="0" build="p"/>
      <p:bldP spid="87" grpId="0" build="p"/>
      <p:bldP spid="88" grpId="0" build="p"/>
      <p:bldP spid="89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Box 11"/>
          <p:cNvSpPr txBox="1">
            <a:spLocks noChangeArrowheads="1"/>
          </p:cNvSpPr>
          <p:nvPr/>
        </p:nvSpPr>
        <p:spPr bwMode="auto">
          <a:xfrm>
            <a:off x="474936" y="1740551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）单总线结构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" name="Rectangle 3"/>
          <p:cNvSpPr>
            <a:spLocks noChangeArrowheads="1"/>
          </p:cNvSpPr>
          <p:nvPr/>
        </p:nvSpPr>
        <p:spPr bwMode="auto">
          <a:xfrm>
            <a:off x="609600" y="3581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2209800" y="3581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3810000" y="4724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" name="Rectangle 6"/>
          <p:cNvSpPr>
            <a:spLocks noChangeArrowheads="1"/>
          </p:cNvSpPr>
          <p:nvPr/>
        </p:nvSpPr>
        <p:spPr bwMode="auto">
          <a:xfrm>
            <a:off x="3810000" y="3581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" name="Rectangle 7"/>
          <p:cNvSpPr>
            <a:spLocks noChangeArrowheads="1"/>
          </p:cNvSpPr>
          <p:nvPr/>
        </p:nvSpPr>
        <p:spPr bwMode="auto">
          <a:xfrm>
            <a:off x="6400800" y="3581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6400800" y="4724400"/>
            <a:ext cx="1219200" cy="6858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4" name="Line 9"/>
          <p:cNvSpPr>
            <a:spLocks noChangeShapeType="1"/>
          </p:cNvSpPr>
          <p:nvPr/>
        </p:nvSpPr>
        <p:spPr bwMode="auto">
          <a:xfrm>
            <a:off x="533400" y="3124200"/>
            <a:ext cx="7543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5" name="Line 10"/>
          <p:cNvSpPr>
            <a:spLocks noChangeShapeType="1"/>
          </p:cNvSpPr>
          <p:nvPr/>
        </p:nvSpPr>
        <p:spPr bwMode="auto">
          <a:xfrm>
            <a:off x="4419600" y="3124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6" name="Line 11"/>
          <p:cNvSpPr>
            <a:spLocks noChangeShapeType="1"/>
          </p:cNvSpPr>
          <p:nvPr/>
        </p:nvSpPr>
        <p:spPr bwMode="auto">
          <a:xfrm>
            <a:off x="4419600" y="4267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Line 12"/>
          <p:cNvSpPr>
            <a:spLocks noChangeShapeType="1"/>
          </p:cNvSpPr>
          <p:nvPr/>
        </p:nvSpPr>
        <p:spPr bwMode="auto">
          <a:xfrm>
            <a:off x="7010400" y="3124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Line 13"/>
          <p:cNvSpPr>
            <a:spLocks noChangeShapeType="1"/>
          </p:cNvSpPr>
          <p:nvPr/>
        </p:nvSpPr>
        <p:spPr bwMode="auto">
          <a:xfrm>
            <a:off x="7010400" y="4267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Line 14"/>
          <p:cNvSpPr>
            <a:spLocks noChangeShapeType="1"/>
          </p:cNvSpPr>
          <p:nvPr/>
        </p:nvSpPr>
        <p:spPr bwMode="auto">
          <a:xfrm>
            <a:off x="5334000" y="3962400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" name="Line 15"/>
          <p:cNvSpPr>
            <a:spLocks noChangeShapeType="1"/>
          </p:cNvSpPr>
          <p:nvPr/>
        </p:nvSpPr>
        <p:spPr bwMode="auto">
          <a:xfrm>
            <a:off x="5334000" y="5105400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Text Box 16"/>
          <p:cNvSpPr txBox="1">
            <a:spLocks noChangeArrowheads="1"/>
          </p:cNvSpPr>
          <p:nvPr/>
        </p:nvSpPr>
        <p:spPr bwMode="auto">
          <a:xfrm>
            <a:off x="838200" y="3657600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Text Box 17"/>
          <p:cNvSpPr txBox="1">
            <a:spLocks noChangeArrowheads="1"/>
          </p:cNvSpPr>
          <p:nvPr/>
        </p:nvSpPr>
        <p:spPr bwMode="auto">
          <a:xfrm>
            <a:off x="2590800" y="3657600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3" name="Text Box 18"/>
          <p:cNvSpPr txBox="1">
            <a:spLocks noChangeArrowheads="1"/>
          </p:cNvSpPr>
          <p:nvPr/>
        </p:nvSpPr>
        <p:spPr bwMode="auto">
          <a:xfrm>
            <a:off x="3962400" y="3657600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4" name="Text Box 19"/>
          <p:cNvSpPr txBox="1">
            <a:spLocks noChangeArrowheads="1"/>
          </p:cNvSpPr>
          <p:nvPr/>
        </p:nvSpPr>
        <p:spPr bwMode="auto">
          <a:xfrm>
            <a:off x="6553200" y="365760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3962400" y="4800600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6" name="Text Box 21"/>
          <p:cNvSpPr txBox="1">
            <a:spLocks noChangeArrowheads="1"/>
          </p:cNvSpPr>
          <p:nvPr/>
        </p:nvSpPr>
        <p:spPr bwMode="auto">
          <a:xfrm>
            <a:off x="6553200" y="4800600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7" name="Text Box 22"/>
          <p:cNvSpPr txBox="1">
            <a:spLocks noChangeArrowheads="1"/>
          </p:cNvSpPr>
          <p:nvPr/>
        </p:nvSpPr>
        <p:spPr bwMode="auto">
          <a:xfrm>
            <a:off x="3124200" y="2505671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系 统 总 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8" name="Line 23"/>
          <p:cNvSpPr>
            <a:spLocks noChangeShapeType="1"/>
          </p:cNvSpPr>
          <p:nvPr/>
        </p:nvSpPr>
        <p:spPr bwMode="auto">
          <a:xfrm>
            <a:off x="2819400" y="3124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Line 24"/>
          <p:cNvSpPr>
            <a:spLocks noChangeShapeType="1"/>
          </p:cNvSpPr>
          <p:nvPr/>
        </p:nvSpPr>
        <p:spPr bwMode="auto">
          <a:xfrm>
            <a:off x="1219200" y="3124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9000"/>
                            </p:stCondLst>
                            <p:childTnLst>
                              <p:par>
                                <p:cTn id="5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1500"/>
                            </p:stCondLst>
                            <p:childTnLst>
                              <p:par>
                                <p:cTn id="6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3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40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6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8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uiExpand="1" build="p"/>
      <p:bldP spid="36" grpId="0" animBg="1"/>
      <p:bldP spid="37" grpId="0" animBg="1"/>
      <p:bldP spid="38" grpId="0" animBg="1"/>
      <p:bldP spid="39" grpId="0" animBg="1"/>
      <p:bldP spid="40" grpId="0" animBg="1"/>
      <p:bldP spid="53" grpId="0" animBg="1"/>
      <p:bldP spid="61" grpId="0" advAuto="0" build="p"/>
      <p:bldP spid="62" grpId="0" advAuto="0" build="p"/>
      <p:bldP spid="63" grpId="0" advAuto="0" build="p"/>
      <p:bldP spid="64" grpId="0" advAuto="0" build="p"/>
      <p:bldP spid="65" grpId="0" advAuto="0" build="p"/>
      <p:bldP spid="66" grpId="0" advAuto="0" build="p"/>
      <p:bldP spid="6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Box 11"/>
          <p:cNvSpPr txBox="1">
            <a:spLocks noChangeArrowheads="1"/>
          </p:cNvSpPr>
          <p:nvPr/>
        </p:nvSpPr>
        <p:spPr bwMode="auto">
          <a:xfrm>
            <a:off x="474936" y="1740551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为中心的双总线结构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33400" y="2505671"/>
            <a:ext cx="7543800" cy="2904529"/>
            <a:chOff x="533400" y="2505671"/>
            <a:chExt cx="7543800" cy="2904529"/>
          </a:xfrm>
        </p:grpSpPr>
        <p:sp>
          <p:nvSpPr>
            <p:cNvPr id="83" name="Rectangle 3"/>
            <p:cNvSpPr>
              <a:spLocks noChangeArrowheads="1"/>
            </p:cNvSpPr>
            <p:nvPr/>
          </p:nvSpPr>
          <p:spPr bwMode="auto">
            <a:xfrm>
              <a:off x="609600" y="3581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4" name="Rectangle 4"/>
            <p:cNvSpPr>
              <a:spLocks noChangeArrowheads="1"/>
            </p:cNvSpPr>
            <p:nvPr/>
          </p:nvSpPr>
          <p:spPr bwMode="auto">
            <a:xfrm>
              <a:off x="2209800" y="3581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5" name="Rectangle 5"/>
            <p:cNvSpPr>
              <a:spLocks noChangeArrowheads="1"/>
            </p:cNvSpPr>
            <p:nvPr/>
          </p:nvSpPr>
          <p:spPr bwMode="auto">
            <a:xfrm>
              <a:off x="3810000" y="4724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6" name="Rectangle 6"/>
            <p:cNvSpPr>
              <a:spLocks noChangeArrowheads="1"/>
            </p:cNvSpPr>
            <p:nvPr/>
          </p:nvSpPr>
          <p:spPr bwMode="auto">
            <a:xfrm>
              <a:off x="3810000" y="3581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7" name="Rectangle 7"/>
            <p:cNvSpPr>
              <a:spLocks noChangeArrowheads="1"/>
            </p:cNvSpPr>
            <p:nvPr/>
          </p:nvSpPr>
          <p:spPr bwMode="auto">
            <a:xfrm>
              <a:off x="6400800" y="3581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8" name="Rectangle 8"/>
            <p:cNvSpPr>
              <a:spLocks noChangeArrowheads="1"/>
            </p:cNvSpPr>
            <p:nvPr/>
          </p:nvSpPr>
          <p:spPr bwMode="auto">
            <a:xfrm>
              <a:off x="6400800" y="4724400"/>
              <a:ext cx="1219200" cy="685800"/>
            </a:xfrm>
            <a:prstGeom prst="rect">
              <a:avLst/>
            </a:prstGeom>
            <a:solidFill>
              <a:srgbClr val="FDFBFB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0" hangingPunct="0"/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0" name="Line 9"/>
            <p:cNvSpPr>
              <a:spLocks noChangeShapeType="1"/>
            </p:cNvSpPr>
            <p:nvPr/>
          </p:nvSpPr>
          <p:spPr bwMode="auto">
            <a:xfrm>
              <a:off x="533400" y="3124200"/>
              <a:ext cx="75438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1" name="Line 10"/>
            <p:cNvSpPr>
              <a:spLocks noChangeShapeType="1"/>
            </p:cNvSpPr>
            <p:nvPr/>
          </p:nvSpPr>
          <p:spPr bwMode="auto">
            <a:xfrm>
              <a:off x="4419600" y="3124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2" name="Line 11"/>
            <p:cNvSpPr>
              <a:spLocks noChangeShapeType="1"/>
            </p:cNvSpPr>
            <p:nvPr/>
          </p:nvSpPr>
          <p:spPr bwMode="auto">
            <a:xfrm>
              <a:off x="4419600" y="4267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3" name="Line 12"/>
            <p:cNvSpPr>
              <a:spLocks noChangeShapeType="1"/>
            </p:cNvSpPr>
            <p:nvPr/>
          </p:nvSpPr>
          <p:spPr bwMode="auto">
            <a:xfrm>
              <a:off x="7010400" y="3124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13"/>
            <p:cNvSpPr>
              <a:spLocks noChangeShapeType="1"/>
            </p:cNvSpPr>
            <p:nvPr/>
          </p:nvSpPr>
          <p:spPr bwMode="auto">
            <a:xfrm>
              <a:off x="7010400" y="4267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14"/>
            <p:cNvSpPr>
              <a:spLocks noChangeShapeType="1"/>
            </p:cNvSpPr>
            <p:nvPr/>
          </p:nvSpPr>
          <p:spPr bwMode="auto">
            <a:xfrm>
              <a:off x="5334000" y="3962400"/>
              <a:ext cx="8382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15"/>
            <p:cNvSpPr>
              <a:spLocks noChangeShapeType="1"/>
            </p:cNvSpPr>
            <p:nvPr/>
          </p:nvSpPr>
          <p:spPr bwMode="auto">
            <a:xfrm>
              <a:off x="5334000" y="5105400"/>
              <a:ext cx="8382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Text Box 16"/>
            <p:cNvSpPr txBox="1">
              <a:spLocks noChangeArrowheads="1"/>
            </p:cNvSpPr>
            <p:nvPr/>
          </p:nvSpPr>
          <p:spPr bwMode="auto">
            <a:xfrm>
              <a:off x="838200" y="3657600"/>
              <a:ext cx="83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CPU</a:t>
              </a:r>
              <a:endParaRPr lang="en-US" altLang="zh-CN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Text Box 17"/>
            <p:cNvSpPr txBox="1">
              <a:spLocks noChangeArrowheads="1"/>
            </p:cNvSpPr>
            <p:nvPr/>
          </p:nvSpPr>
          <p:spPr bwMode="auto">
            <a:xfrm>
              <a:off x="2590800" y="3657600"/>
              <a:ext cx="83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M</a:t>
              </a:r>
              <a:endParaRPr lang="en-US" altLang="zh-CN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Text Box 18"/>
            <p:cNvSpPr txBox="1">
              <a:spLocks noChangeArrowheads="1"/>
            </p:cNvSpPr>
            <p:nvPr/>
          </p:nvSpPr>
          <p:spPr bwMode="auto">
            <a:xfrm>
              <a:off x="3962400" y="3657600"/>
              <a:ext cx="1447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接口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Text Box 19"/>
            <p:cNvSpPr txBox="1">
              <a:spLocks noChangeArrowheads="1"/>
            </p:cNvSpPr>
            <p:nvPr/>
          </p:nvSpPr>
          <p:spPr bwMode="auto">
            <a:xfrm>
              <a:off x="6553200" y="3657600"/>
              <a:ext cx="1371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接口</a:t>
              </a:r>
              <a:endParaRPr lang="zh-CN" altLang="en-US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20"/>
            <p:cNvSpPr txBox="1">
              <a:spLocks noChangeArrowheads="1"/>
            </p:cNvSpPr>
            <p:nvPr/>
          </p:nvSpPr>
          <p:spPr bwMode="auto">
            <a:xfrm>
              <a:off x="3962400" y="4800600"/>
              <a:ext cx="1219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I/O</a:t>
              </a:r>
              <a:endParaRPr lang="en-US" altLang="zh-CN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2" name="Text Box 21"/>
            <p:cNvSpPr txBox="1">
              <a:spLocks noChangeArrowheads="1"/>
            </p:cNvSpPr>
            <p:nvPr/>
          </p:nvSpPr>
          <p:spPr bwMode="auto">
            <a:xfrm>
              <a:off x="6553200" y="4800600"/>
              <a:ext cx="83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I/O</a:t>
              </a:r>
              <a:endParaRPr lang="en-US" altLang="zh-CN" sz="2400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3" name="Text Box 22"/>
            <p:cNvSpPr txBox="1">
              <a:spLocks noChangeArrowheads="1"/>
            </p:cNvSpPr>
            <p:nvPr/>
          </p:nvSpPr>
          <p:spPr bwMode="auto">
            <a:xfrm>
              <a:off x="3124200" y="2505671"/>
              <a:ext cx="3276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系 统 总 线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4" name="Line 23"/>
            <p:cNvSpPr>
              <a:spLocks noChangeShapeType="1"/>
            </p:cNvSpPr>
            <p:nvPr/>
          </p:nvSpPr>
          <p:spPr bwMode="auto">
            <a:xfrm>
              <a:off x="2819400" y="3124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Line 24"/>
            <p:cNvSpPr>
              <a:spLocks noChangeShapeType="1"/>
            </p:cNvSpPr>
            <p:nvPr/>
          </p:nvSpPr>
          <p:spPr bwMode="auto">
            <a:xfrm>
              <a:off x="1219200" y="31242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06" name="Line 25"/>
          <p:cNvSpPr>
            <a:spLocks noChangeShapeType="1"/>
          </p:cNvSpPr>
          <p:nvPr/>
        </p:nvSpPr>
        <p:spPr bwMode="auto">
          <a:xfrm>
            <a:off x="1828800" y="38862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7" name="Text Box 26"/>
          <p:cNvSpPr txBox="1">
            <a:spLocks noChangeArrowheads="1"/>
          </p:cNvSpPr>
          <p:nvPr/>
        </p:nvSpPr>
        <p:spPr bwMode="auto">
          <a:xfrm>
            <a:off x="1143000" y="4495800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 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总线 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8" name="Line 27"/>
          <p:cNvSpPr>
            <a:spLocks noChangeShapeType="1"/>
          </p:cNvSpPr>
          <p:nvPr/>
        </p:nvSpPr>
        <p:spPr bwMode="auto">
          <a:xfrm flipH="1">
            <a:off x="1828800" y="4038600"/>
            <a:ext cx="22860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uiExpand="1" build="p"/>
      <p:bldP spid="10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以总线为基础的系统结构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1"/>
            <a:ext cx="449657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Box 11"/>
          <p:cNvSpPr txBox="1">
            <a:spLocks noChangeArrowheads="1"/>
          </p:cNvSpPr>
          <p:nvPr/>
        </p:nvSpPr>
        <p:spPr bwMode="auto">
          <a:xfrm>
            <a:off x="474936" y="1740551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）多级总线结构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" name="Rectangle 3"/>
          <p:cNvSpPr>
            <a:spLocks noChangeArrowheads="1"/>
          </p:cNvSpPr>
          <p:nvPr/>
        </p:nvSpPr>
        <p:spPr bwMode="auto">
          <a:xfrm>
            <a:off x="552378" y="3600451"/>
            <a:ext cx="1219200" cy="614065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780978" y="3676651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Line 5"/>
          <p:cNvSpPr>
            <a:spLocks noChangeShapeType="1"/>
          </p:cNvSpPr>
          <p:nvPr/>
        </p:nvSpPr>
        <p:spPr bwMode="auto">
          <a:xfrm>
            <a:off x="1771578" y="3905251"/>
            <a:ext cx="5486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" name="Rectangle 6"/>
          <p:cNvSpPr>
            <a:spLocks noChangeArrowheads="1"/>
          </p:cNvSpPr>
          <p:nvPr/>
        </p:nvSpPr>
        <p:spPr bwMode="auto">
          <a:xfrm>
            <a:off x="2152578" y="2905455"/>
            <a:ext cx="1219200" cy="542596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" name="Text Box 7"/>
          <p:cNvSpPr txBox="1">
            <a:spLocks noChangeArrowheads="1"/>
          </p:cNvSpPr>
          <p:nvPr/>
        </p:nvSpPr>
        <p:spPr bwMode="auto">
          <a:xfrm>
            <a:off x="2390431" y="2968885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Rectangle 8"/>
          <p:cNvSpPr>
            <a:spLocks noChangeArrowheads="1"/>
          </p:cNvSpPr>
          <p:nvPr/>
        </p:nvSpPr>
        <p:spPr bwMode="auto">
          <a:xfrm>
            <a:off x="3828978" y="2905453"/>
            <a:ext cx="1219200" cy="542597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" name="Text Box 9"/>
          <p:cNvSpPr txBox="1">
            <a:spLocks noChangeArrowheads="1"/>
          </p:cNvSpPr>
          <p:nvPr/>
        </p:nvSpPr>
        <p:spPr bwMode="auto">
          <a:xfrm>
            <a:off x="4087590" y="2941161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7" name="Rectangle 10"/>
          <p:cNvSpPr>
            <a:spLocks noChangeArrowheads="1"/>
          </p:cNvSpPr>
          <p:nvPr/>
        </p:nvSpPr>
        <p:spPr bwMode="auto">
          <a:xfrm>
            <a:off x="5399166" y="2899837"/>
            <a:ext cx="1475010" cy="548213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Text Box 11"/>
          <p:cNvSpPr txBox="1">
            <a:spLocks noChangeArrowheads="1"/>
          </p:cNvSpPr>
          <p:nvPr/>
        </p:nvSpPr>
        <p:spPr bwMode="auto">
          <a:xfrm>
            <a:off x="5429178" y="2925000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公共接口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9" name="Line 12"/>
          <p:cNvSpPr>
            <a:spLocks noChangeShapeType="1"/>
          </p:cNvSpPr>
          <p:nvPr/>
        </p:nvSpPr>
        <p:spPr bwMode="auto">
          <a:xfrm>
            <a:off x="2762178" y="3448051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Line 13"/>
          <p:cNvSpPr>
            <a:spLocks noChangeShapeType="1"/>
          </p:cNvSpPr>
          <p:nvPr/>
        </p:nvSpPr>
        <p:spPr bwMode="auto">
          <a:xfrm>
            <a:off x="4438578" y="3448051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Line 14"/>
          <p:cNvSpPr>
            <a:spLocks noChangeShapeType="1"/>
          </p:cNvSpPr>
          <p:nvPr/>
        </p:nvSpPr>
        <p:spPr bwMode="auto">
          <a:xfrm>
            <a:off x="6114978" y="3448051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" name="Line 15"/>
          <p:cNvSpPr>
            <a:spLocks noChangeShapeType="1"/>
          </p:cNvSpPr>
          <p:nvPr/>
        </p:nvSpPr>
        <p:spPr bwMode="auto">
          <a:xfrm>
            <a:off x="4438578" y="3905251"/>
            <a:ext cx="0" cy="34398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3" name="Rectangle 16"/>
          <p:cNvSpPr>
            <a:spLocks noChangeArrowheads="1"/>
          </p:cNvSpPr>
          <p:nvPr/>
        </p:nvSpPr>
        <p:spPr bwMode="auto">
          <a:xfrm>
            <a:off x="3219378" y="4249234"/>
            <a:ext cx="2590800" cy="589877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4" name="Text Box 17"/>
          <p:cNvSpPr txBox="1">
            <a:spLocks noChangeArrowheads="1"/>
          </p:cNvSpPr>
          <p:nvPr/>
        </p:nvSpPr>
        <p:spPr bwMode="auto">
          <a:xfrm>
            <a:off x="3371778" y="4298488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总线控制逻辑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5" name="Line 18"/>
          <p:cNvSpPr>
            <a:spLocks noChangeShapeType="1"/>
          </p:cNvSpPr>
          <p:nvPr/>
        </p:nvSpPr>
        <p:spPr bwMode="auto">
          <a:xfrm>
            <a:off x="4438578" y="4847944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6" name="Line 19"/>
          <p:cNvSpPr>
            <a:spLocks noChangeShapeType="1"/>
          </p:cNvSpPr>
          <p:nvPr/>
        </p:nvSpPr>
        <p:spPr bwMode="auto">
          <a:xfrm>
            <a:off x="1847778" y="5305144"/>
            <a:ext cx="533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Line 20"/>
          <p:cNvSpPr>
            <a:spLocks noChangeShapeType="1"/>
          </p:cNvSpPr>
          <p:nvPr/>
        </p:nvSpPr>
        <p:spPr bwMode="auto">
          <a:xfrm flipH="1">
            <a:off x="3066976" y="5305144"/>
            <a:ext cx="2" cy="34398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Line 21"/>
          <p:cNvSpPr>
            <a:spLocks noChangeShapeType="1"/>
          </p:cNvSpPr>
          <p:nvPr/>
        </p:nvSpPr>
        <p:spPr bwMode="auto">
          <a:xfrm>
            <a:off x="5200578" y="5305144"/>
            <a:ext cx="0" cy="34398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2228778" y="5649127"/>
            <a:ext cx="1676400" cy="533288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" name="Text Box 23"/>
          <p:cNvSpPr txBox="1">
            <a:spLocks noChangeArrowheads="1"/>
          </p:cNvSpPr>
          <p:nvPr/>
        </p:nvSpPr>
        <p:spPr bwMode="auto">
          <a:xfrm>
            <a:off x="2419276" y="5662101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扩展板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4514778" y="5649127"/>
            <a:ext cx="1600200" cy="533286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Text Box 25"/>
          <p:cNvSpPr txBox="1">
            <a:spLocks noChangeArrowheads="1"/>
          </p:cNvSpPr>
          <p:nvPr/>
        </p:nvSpPr>
        <p:spPr bwMode="auto">
          <a:xfrm>
            <a:off x="4509807" y="5687288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3" name="Line 26"/>
          <p:cNvSpPr>
            <a:spLocks noChangeShapeType="1"/>
          </p:cNvSpPr>
          <p:nvPr/>
        </p:nvSpPr>
        <p:spPr bwMode="auto">
          <a:xfrm>
            <a:off x="6419778" y="5953927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4" name="Text Box 27"/>
          <p:cNvSpPr txBox="1">
            <a:spLocks noChangeArrowheads="1"/>
          </p:cNvSpPr>
          <p:nvPr/>
        </p:nvSpPr>
        <p:spPr bwMode="auto">
          <a:xfrm>
            <a:off x="7344916" y="3600451"/>
            <a:ext cx="1513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局部总线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5" name="Text Box 28"/>
          <p:cNvSpPr txBox="1">
            <a:spLocks noChangeArrowheads="1"/>
          </p:cNvSpPr>
          <p:nvPr/>
        </p:nvSpPr>
        <p:spPr bwMode="auto">
          <a:xfrm>
            <a:off x="7342350" y="5015469"/>
            <a:ext cx="14778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系统总线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6" name="Line 30"/>
          <p:cNvSpPr>
            <a:spLocks noChangeShapeType="1"/>
          </p:cNvSpPr>
          <p:nvPr/>
        </p:nvSpPr>
        <p:spPr bwMode="auto">
          <a:xfrm>
            <a:off x="323778" y="2607682"/>
            <a:ext cx="70104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7" name="Line 31"/>
          <p:cNvSpPr>
            <a:spLocks noChangeShapeType="1"/>
          </p:cNvSpPr>
          <p:nvPr/>
        </p:nvSpPr>
        <p:spPr bwMode="auto">
          <a:xfrm>
            <a:off x="7334175" y="2607682"/>
            <a:ext cx="2" cy="2468862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8" name="Line 32"/>
          <p:cNvSpPr>
            <a:spLocks noChangeShapeType="1"/>
          </p:cNvSpPr>
          <p:nvPr/>
        </p:nvSpPr>
        <p:spPr bwMode="auto">
          <a:xfrm flipH="1">
            <a:off x="323778" y="5076544"/>
            <a:ext cx="70104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Line 33"/>
          <p:cNvSpPr>
            <a:spLocks noChangeShapeType="1"/>
          </p:cNvSpPr>
          <p:nvPr/>
        </p:nvSpPr>
        <p:spPr bwMode="auto">
          <a:xfrm flipH="1">
            <a:off x="320976" y="2607682"/>
            <a:ext cx="0" cy="2453262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0"/>
                            </p:stCondLst>
                            <p:childTnLst>
                              <p:par>
                                <p:cTn id="4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3000"/>
                            </p:stCondLst>
                            <p:childTnLst>
                              <p:par>
                                <p:cTn id="6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3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6500"/>
                            </p:stCondLst>
                            <p:childTnLst>
                              <p:par>
                                <p:cTn id="78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80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9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30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3500"/>
                            </p:stCondLst>
                            <p:childTnLst>
                              <p:par>
                                <p:cTn id="10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4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5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6000"/>
                            </p:stCondLst>
                            <p:childTnLst>
                              <p:par>
                                <p:cTn id="1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6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6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uiExpand="1" build="p"/>
      <p:bldP spid="40" grpId="0" animBg="1"/>
      <p:bldP spid="41" grpId="0" advAuto="0" build="p"/>
      <p:bldP spid="43" grpId="0" animBg="1"/>
      <p:bldP spid="44" grpId="0" advAuto="0" build="p"/>
      <p:bldP spid="45" grpId="0" animBg="1"/>
      <p:bldP spid="46" grpId="0" advAuto="0" build="p"/>
      <p:bldP spid="47" grpId="0" animBg="1"/>
      <p:bldP spid="48" grpId="0" advAuto="0" build="p"/>
      <p:bldP spid="53" grpId="0" animBg="1"/>
      <p:bldP spid="54" grpId="0" advAuto="0" build="p"/>
      <p:bldP spid="59" grpId="0" animBg="1"/>
      <p:bldP spid="60" grpId="0" advAuto="0" build="p"/>
      <p:bldP spid="61" grpId="0" animBg="1"/>
      <p:bldP spid="62" grpId="0" advAuto="0" build="p"/>
      <p:bldP spid="64" grpId="0" build="p"/>
      <p:bldP spid="6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544948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采用通道或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IOP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的大型系统结构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2"/>
            <a:ext cx="536851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Box 11"/>
          <p:cNvSpPr txBox="1">
            <a:spLocks noChangeArrowheads="1"/>
          </p:cNvSpPr>
          <p:nvPr/>
        </p:nvSpPr>
        <p:spPr bwMode="auto">
          <a:xfrm>
            <a:off x="437513" y="1665548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）带通道的系统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0" name="Rectangle 3"/>
          <p:cNvSpPr>
            <a:spLocks noChangeArrowheads="1"/>
          </p:cNvSpPr>
          <p:nvPr/>
        </p:nvSpPr>
        <p:spPr bwMode="auto">
          <a:xfrm>
            <a:off x="628650" y="2408162"/>
            <a:ext cx="15240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" name="Rectangle 4"/>
          <p:cNvSpPr>
            <a:spLocks noChangeArrowheads="1"/>
          </p:cNvSpPr>
          <p:nvPr/>
        </p:nvSpPr>
        <p:spPr bwMode="auto">
          <a:xfrm>
            <a:off x="2686050" y="2408162"/>
            <a:ext cx="16002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2" name="Rectangle 5"/>
          <p:cNvSpPr>
            <a:spLocks noChangeArrowheads="1"/>
          </p:cNvSpPr>
          <p:nvPr/>
        </p:nvSpPr>
        <p:spPr bwMode="auto">
          <a:xfrm>
            <a:off x="4819650" y="2408162"/>
            <a:ext cx="16764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Rectangle 6"/>
          <p:cNvSpPr>
            <a:spLocks noChangeArrowheads="1"/>
          </p:cNvSpPr>
          <p:nvPr/>
        </p:nvSpPr>
        <p:spPr bwMode="auto">
          <a:xfrm>
            <a:off x="7029450" y="2408162"/>
            <a:ext cx="15240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Text Box 7"/>
          <p:cNvSpPr txBox="1">
            <a:spLocks noChangeArrowheads="1"/>
          </p:cNvSpPr>
          <p:nvPr/>
        </p:nvSpPr>
        <p:spPr bwMode="auto">
          <a:xfrm>
            <a:off x="4895850" y="2482130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控制器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5" name="Text Box 8"/>
          <p:cNvSpPr txBox="1">
            <a:spLocks noChangeArrowheads="1"/>
          </p:cNvSpPr>
          <p:nvPr/>
        </p:nvSpPr>
        <p:spPr bwMode="auto">
          <a:xfrm>
            <a:off x="933450" y="2482130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主机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 Box 9"/>
          <p:cNvSpPr txBox="1">
            <a:spLocks noChangeArrowheads="1"/>
          </p:cNvSpPr>
          <p:nvPr/>
        </p:nvSpPr>
        <p:spPr bwMode="auto">
          <a:xfrm>
            <a:off x="7410450" y="2482130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7" name="Text Box 10"/>
          <p:cNvSpPr txBox="1">
            <a:spLocks noChangeArrowheads="1"/>
          </p:cNvSpPr>
          <p:nvPr/>
        </p:nvSpPr>
        <p:spPr bwMode="auto">
          <a:xfrm>
            <a:off x="3067050" y="2482130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通道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8" name="Line 11"/>
          <p:cNvSpPr>
            <a:spLocks noChangeShapeType="1"/>
          </p:cNvSpPr>
          <p:nvPr/>
        </p:nvSpPr>
        <p:spPr bwMode="auto">
          <a:xfrm>
            <a:off x="2152650" y="271296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Line 12"/>
          <p:cNvSpPr>
            <a:spLocks noChangeShapeType="1"/>
          </p:cNvSpPr>
          <p:nvPr/>
        </p:nvSpPr>
        <p:spPr bwMode="auto">
          <a:xfrm>
            <a:off x="4286250" y="271296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0" name="Line 13"/>
          <p:cNvSpPr>
            <a:spLocks noChangeShapeType="1"/>
          </p:cNvSpPr>
          <p:nvPr/>
        </p:nvSpPr>
        <p:spPr bwMode="auto">
          <a:xfrm>
            <a:off x="6496050" y="271296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1" name="Text Box 11"/>
          <p:cNvSpPr txBox="1">
            <a:spLocks noChangeArrowheads="1"/>
          </p:cNvSpPr>
          <p:nvPr/>
        </p:nvSpPr>
        <p:spPr bwMode="auto">
          <a:xfrm>
            <a:off x="437513" y="3064579"/>
            <a:ext cx="4849539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）带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IOP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的系统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2" name="Line 15"/>
          <p:cNvSpPr>
            <a:spLocks noChangeShapeType="1"/>
          </p:cNvSpPr>
          <p:nvPr/>
        </p:nvSpPr>
        <p:spPr bwMode="auto">
          <a:xfrm>
            <a:off x="762000" y="3888380"/>
            <a:ext cx="7086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3" name="Rectangle 16"/>
          <p:cNvSpPr>
            <a:spLocks noChangeArrowheads="1"/>
          </p:cNvSpPr>
          <p:nvPr/>
        </p:nvSpPr>
        <p:spPr bwMode="auto">
          <a:xfrm>
            <a:off x="762000" y="4140926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4" name="Rectangle 17"/>
          <p:cNvSpPr>
            <a:spLocks noChangeArrowheads="1"/>
          </p:cNvSpPr>
          <p:nvPr/>
        </p:nvSpPr>
        <p:spPr bwMode="auto">
          <a:xfrm>
            <a:off x="2209800" y="4140926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" name="Rectangle 18"/>
          <p:cNvSpPr>
            <a:spLocks noChangeArrowheads="1"/>
          </p:cNvSpPr>
          <p:nvPr/>
        </p:nvSpPr>
        <p:spPr bwMode="auto">
          <a:xfrm>
            <a:off x="3657600" y="4140926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6" name="Rectangle 19"/>
          <p:cNvSpPr>
            <a:spLocks noChangeArrowheads="1"/>
          </p:cNvSpPr>
          <p:nvPr/>
        </p:nvSpPr>
        <p:spPr bwMode="auto">
          <a:xfrm>
            <a:off x="6019800" y="4140926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7" name="Rectangle 20"/>
          <p:cNvSpPr>
            <a:spLocks noChangeArrowheads="1"/>
          </p:cNvSpPr>
          <p:nvPr/>
        </p:nvSpPr>
        <p:spPr bwMode="auto">
          <a:xfrm>
            <a:off x="3657600" y="4985660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Line 21"/>
          <p:cNvSpPr>
            <a:spLocks noChangeShapeType="1"/>
          </p:cNvSpPr>
          <p:nvPr/>
        </p:nvSpPr>
        <p:spPr bwMode="auto">
          <a:xfrm>
            <a:off x="5105400" y="4917080"/>
            <a:ext cx="2667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0" name="Rectangle 22"/>
          <p:cNvSpPr>
            <a:spLocks noChangeArrowheads="1"/>
          </p:cNvSpPr>
          <p:nvPr/>
        </p:nvSpPr>
        <p:spPr bwMode="auto">
          <a:xfrm>
            <a:off x="5257800" y="5180104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1" name="Rectangle 23"/>
          <p:cNvSpPr>
            <a:spLocks noChangeArrowheads="1"/>
          </p:cNvSpPr>
          <p:nvPr/>
        </p:nvSpPr>
        <p:spPr bwMode="auto">
          <a:xfrm>
            <a:off x="6553200" y="5180104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2" name="Rectangle 24"/>
          <p:cNvSpPr>
            <a:spLocks noChangeArrowheads="1"/>
          </p:cNvSpPr>
          <p:nvPr/>
        </p:nvSpPr>
        <p:spPr bwMode="auto">
          <a:xfrm>
            <a:off x="6553200" y="5964821"/>
            <a:ext cx="990600" cy="5334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3" name="Text Box 25"/>
          <p:cNvSpPr txBox="1">
            <a:spLocks noChangeArrowheads="1"/>
          </p:cNvSpPr>
          <p:nvPr/>
        </p:nvSpPr>
        <p:spPr bwMode="auto">
          <a:xfrm>
            <a:off x="914400" y="4176794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4" name="Text Box 26"/>
          <p:cNvSpPr txBox="1">
            <a:spLocks noChangeArrowheads="1"/>
          </p:cNvSpPr>
          <p:nvPr/>
        </p:nvSpPr>
        <p:spPr bwMode="auto">
          <a:xfrm>
            <a:off x="2514600" y="4176794"/>
            <a:ext cx="53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5" name="Text Box 27"/>
          <p:cNvSpPr txBox="1">
            <a:spLocks noChangeArrowheads="1"/>
          </p:cNvSpPr>
          <p:nvPr/>
        </p:nvSpPr>
        <p:spPr bwMode="auto">
          <a:xfrm>
            <a:off x="3733800" y="4176794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6" name="Text Box 28"/>
          <p:cNvSpPr txBox="1">
            <a:spLocks noChangeArrowheads="1"/>
          </p:cNvSpPr>
          <p:nvPr/>
        </p:nvSpPr>
        <p:spPr bwMode="auto">
          <a:xfrm>
            <a:off x="3810000" y="5061860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7" name="Text Box 29"/>
          <p:cNvSpPr txBox="1">
            <a:spLocks noChangeArrowheads="1"/>
          </p:cNvSpPr>
          <p:nvPr/>
        </p:nvSpPr>
        <p:spPr bwMode="auto">
          <a:xfrm>
            <a:off x="6172200" y="4176794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IOP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8" name="Text Box 30"/>
          <p:cNvSpPr txBox="1">
            <a:spLocks noChangeArrowheads="1"/>
          </p:cNvSpPr>
          <p:nvPr/>
        </p:nvSpPr>
        <p:spPr bwMode="auto">
          <a:xfrm>
            <a:off x="5486400" y="5215972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LM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9" name="Text Box 31"/>
          <p:cNvSpPr txBox="1">
            <a:spLocks noChangeArrowheads="1"/>
          </p:cNvSpPr>
          <p:nvPr/>
        </p:nvSpPr>
        <p:spPr bwMode="auto">
          <a:xfrm>
            <a:off x="6629400" y="5215972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0" name="Text Box 32"/>
          <p:cNvSpPr txBox="1">
            <a:spLocks noChangeArrowheads="1"/>
          </p:cNvSpPr>
          <p:nvPr/>
        </p:nvSpPr>
        <p:spPr bwMode="auto">
          <a:xfrm>
            <a:off x="6629400" y="5964821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1" name="Line 33"/>
          <p:cNvSpPr>
            <a:spLocks noChangeShapeType="1"/>
          </p:cNvSpPr>
          <p:nvPr/>
        </p:nvSpPr>
        <p:spPr bwMode="auto">
          <a:xfrm flipH="1">
            <a:off x="1295399" y="3888380"/>
            <a:ext cx="1" cy="25072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2" name="Line 34"/>
          <p:cNvSpPr>
            <a:spLocks noChangeShapeType="1"/>
          </p:cNvSpPr>
          <p:nvPr/>
        </p:nvSpPr>
        <p:spPr bwMode="auto">
          <a:xfrm>
            <a:off x="4114800" y="468086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3" name="Line 35"/>
          <p:cNvSpPr>
            <a:spLocks noChangeShapeType="1"/>
          </p:cNvSpPr>
          <p:nvPr/>
        </p:nvSpPr>
        <p:spPr bwMode="auto">
          <a:xfrm flipH="1">
            <a:off x="2733677" y="3888380"/>
            <a:ext cx="9523" cy="2421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" name="Line 36"/>
          <p:cNvSpPr>
            <a:spLocks noChangeShapeType="1"/>
          </p:cNvSpPr>
          <p:nvPr/>
        </p:nvSpPr>
        <p:spPr bwMode="auto">
          <a:xfrm flipH="1">
            <a:off x="4181477" y="3888380"/>
            <a:ext cx="9523" cy="2421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5" name="Line 37"/>
          <p:cNvSpPr>
            <a:spLocks noChangeShapeType="1"/>
          </p:cNvSpPr>
          <p:nvPr/>
        </p:nvSpPr>
        <p:spPr bwMode="auto">
          <a:xfrm>
            <a:off x="6553200" y="3888380"/>
            <a:ext cx="0" cy="25072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6" name="Line 38"/>
          <p:cNvSpPr>
            <a:spLocks noChangeShapeType="1"/>
          </p:cNvSpPr>
          <p:nvPr/>
        </p:nvSpPr>
        <p:spPr bwMode="auto">
          <a:xfrm>
            <a:off x="6553200" y="4680860"/>
            <a:ext cx="0" cy="2362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7" name="Line 39"/>
          <p:cNvSpPr>
            <a:spLocks noChangeShapeType="1"/>
          </p:cNvSpPr>
          <p:nvPr/>
        </p:nvSpPr>
        <p:spPr bwMode="auto">
          <a:xfrm>
            <a:off x="5715000" y="4917080"/>
            <a:ext cx="0" cy="26302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8" name="Line 40"/>
          <p:cNvSpPr>
            <a:spLocks noChangeShapeType="1"/>
          </p:cNvSpPr>
          <p:nvPr/>
        </p:nvSpPr>
        <p:spPr bwMode="auto">
          <a:xfrm flipH="1">
            <a:off x="7048500" y="4917081"/>
            <a:ext cx="1" cy="25711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9" name="Line 41"/>
          <p:cNvSpPr>
            <a:spLocks noChangeShapeType="1"/>
          </p:cNvSpPr>
          <p:nvPr/>
        </p:nvSpPr>
        <p:spPr bwMode="auto">
          <a:xfrm>
            <a:off x="7043738" y="5713504"/>
            <a:ext cx="9525" cy="2322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0" name="Text Box 42"/>
          <p:cNvSpPr txBox="1">
            <a:spLocks noChangeArrowheads="1"/>
          </p:cNvSpPr>
          <p:nvPr/>
        </p:nvSpPr>
        <p:spPr bwMode="auto">
          <a:xfrm>
            <a:off x="6553200" y="3354980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系统总线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1" name="Text Box 43"/>
          <p:cNvSpPr txBox="1">
            <a:spLocks noChangeArrowheads="1"/>
          </p:cNvSpPr>
          <p:nvPr/>
        </p:nvSpPr>
        <p:spPr bwMode="auto">
          <a:xfrm>
            <a:off x="7458075" y="4452672"/>
            <a:ext cx="1390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6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0"/>
                            </p:stCondLst>
                            <p:childTnLst>
                              <p:par>
                                <p:cTn id="9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8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000"/>
                            </p:stCondLst>
                            <p:childTnLst>
                              <p:par>
                                <p:cTn id="100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0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2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2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75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9500"/>
                            </p:stCondLst>
                            <p:childTnLst>
                              <p:par>
                                <p:cTn id="15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4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0000"/>
                            </p:stCondLst>
                            <p:childTnLst>
                              <p:par>
                                <p:cTn id="15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15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6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6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uiExpand="1" build="p"/>
      <p:bldP spid="70" grpId="0" animBg="1"/>
      <p:bldP spid="71" grpId="0" animBg="1"/>
      <p:bldP spid="72" grpId="0" animBg="1"/>
      <p:bldP spid="73" grpId="0" animBg="1"/>
      <p:bldP spid="74" grpId="0" advAuto="0" build="p"/>
      <p:bldP spid="75" grpId="0" advAuto="0" build="p"/>
      <p:bldP spid="76" grpId="0" advAuto="0" build="p"/>
      <p:bldP spid="77" grpId="0" advAuto="0" build="p"/>
      <p:bldP spid="81" grpId="0" uiExpand="1" build="p"/>
      <p:bldP spid="83" grpId="0" animBg="1"/>
      <p:bldP spid="84" grpId="0" animBg="1"/>
      <p:bldP spid="85" grpId="0" animBg="1"/>
      <p:bldP spid="86" grpId="0" animBg="1"/>
      <p:bldP spid="87" grpId="0" animBg="1"/>
      <p:bldP spid="90" grpId="0" animBg="1"/>
      <p:bldP spid="91" grpId="0" animBg="1"/>
      <p:bldP spid="92" grpId="0" animBg="1"/>
      <p:bldP spid="93" grpId="0" advAuto="0" build="p"/>
      <p:bldP spid="94" grpId="0" advAuto="0" build="p"/>
      <p:bldP spid="95" grpId="0" advAuto="0" build="p"/>
      <p:bldP spid="96" grpId="0" advAuto="0" build="p"/>
      <p:bldP spid="97" grpId="0" advAuto="0" build="p"/>
      <p:bldP spid="98" grpId="0" advAuto="0" build="p"/>
      <p:bldP spid="99" grpId="0" advAuto="0" build="p"/>
      <p:bldP spid="100" grpId="0" advAuto="0" build="p"/>
      <p:bldP spid="110" grpId="0" build="p"/>
      <p:bldP spid="11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502276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93333"/>
            <a:ext cx="3060742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 Box 5"/>
          <p:cNvSpPr txBox="1">
            <a:spLocks noChangeArrowheads="1"/>
          </p:cNvSpPr>
          <p:nvPr/>
        </p:nvSpPr>
        <p:spPr bwMode="auto">
          <a:xfrm>
            <a:off x="3432196" y="2221737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系 统 总 线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6" name="Line 6"/>
          <p:cNvSpPr>
            <a:spLocks noChangeShapeType="1"/>
          </p:cNvSpPr>
          <p:nvPr/>
        </p:nvSpPr>
        <p:spPr bwMode="auto">
          <a:xfrm>
            <a:off x="536596" y="2831337"/>
            <a:ext cx="7924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612796" y="3364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Rectangle 8"/>
          <p:cNvSpPr>
            <a:spLocks noChangeArrowheads="1"/>
          </p:cNvSpPr>
          <p:nvPr/>
        </p:nvSpPr>
        <p:spPr bwMode="auto">
          <a:xfrm>
            <a:off x="2060596" y="3364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Rectangle 9"/>
          <p:cNvSpPr>
            <a:spLocks noChangeArrowheads="1"/>
          </p:cNvSpPr>
          <p:nvPr/>
        </p:nvSpPr>
        <p:spPr bwMode="auto">
          <a:xfrm>
            <a:off x="3508396" y="3364737"/>
            <a:ext cx="13716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" name="Rectangle 10"/>
          <p:cNvSpPr>
            <a:spLocks noChangeArrowheads="1"/>
          </p:cNvSpPr>
          <p:nvPr/>
        </p:nvSpPr>
        <p:spPr bwMode="auto">
          <a:xfrm>
            <a:off x="5337196" y="3364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Rectangle 11"/>
          <p:cNvSpPr>
            <a:spLocks noChangeArrowheads="1"/>
          </p:cNvSpPr>
          <p:nvPr/>
        </p:nvSpPr>
        <p:spPr bwMode="auto">
          <a:xfrm>
            <a:off x="7242196" y="3364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2" name="Rectangle 12"/>
          <p:cNvSpPr>
            <a:spLocks noChangeArrowheads="1"/>
          </p:cNvSpPr>
          <p:nvPr/>
        </p:nvSpPr>
        <p:spPr bwMode="auto">
          <a:xfrm>
            <a:off x="5337196" y="4507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3" name="Rectangle 13"/>
          <p:cNvSpPr>
            <a:spLocks noChangeArrowheads="1"/>
          </p:cNvSpPr>
          <p:nvPr/>
        </p:nvSpPr>
        <p:spPr bwMode="auto">
          <a:xfrm>
            <a:off x="7242196" y="4507737"/>
            <a:ext cx="1066800" cy="609600"/>
          </a:xfrm>
          <a:prstGeom prst="rect">
            <a:avLst/>
          </a:prstGeom>
          <a:solidFill>
            <a:srgbClr val="FDFBFB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4" name="Text Box 14"/>
          <p:cNvSpPr txBox="1">
            <a:spLocks noChangeArrowheads="1"/>
          </p:cNvSpPr>
          <p:nvPr/>
        </p:nvSpPr>
        <p:spPr bwMode="auto">
          <a:xfrm>
            <a:off x="765196" y="336473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5" name="Text Box 15"/>
          <p:cNvSpPr txBox="1">
            <a:spLocks noChangeArrowheads="1"/>
          </p:cNvSpPr>
          <p:nvPr/>
        </p:nvSpPr>
        <p:spPr bwMode="auto">
          <a:xfrm>
            <a:off x="2365396" y="3364737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6" name="Text Box 16"/>
          <p:cNvSpPr txBox="1">
            <a:spLocks noChangeArrowheads="1"/>
          </p:cNvSpPr>
          <p:nvPr/>
        </p:nvSpPr>
        <p:spPr bwMode="auto">
          <a:xfrm>
            <a:off x="3432196" y="3440937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公共接口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7" name="Text Box 17"/>
          <p:cNvSpPr txBox="1">
            <a:spLocks noChangeArrowheads="1"/>
          </p:cNvSpPr>
          <p:nvPr/>
        </p:nvSpPr>
        <p:spPr bwMode="auto">
          <a:xfrm>
            <a:off x="5489596" y="344093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8" name="Text Box 18"/>
          <p:cNvSpPr txBox="1">
            <a:spLocks noChangeArrowheads="1"/>
          </p:cNvSpPr>
          <p:nvPr/>
        </p:nvSpPr>
        <p:spPr bwMode="auto">
          <a:xfrm>
            <a:off x="7318396" y="344093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zh-CN" altLang="en-US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Text Box 19"/>
          <p:cNvSpPr txBox="1">
            <a:spLocks noChangeArrowheads="1"/>
          </p:cNvSpPr>
          <p:nvPr/>
        </p:nvSpPr>
        <p:spPr bwMode="auto">
          <a:xfrm>
            <a:off x="5489596" y="450773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2" name="Text Box 20"/>
          <p:cNvSpPr txBox="1">
            <a:spLocks noChangeArrowheads="1"/>
          </p:cNvSpPr>
          <p:nvPr/>
        </p:nvSpPr>
        <p:spPr bwMode="auto">
          <a:xfrm>
            <a:off x="7394596" y="450773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3" name="Line 21"/>
          <p:cNvSpPr>
            <a:spLocks noChangeShapeType="1"/>
          </p:cNvSpPr>
          <p:nvPr/>
        </p:nvSpPr>
        <p:spPr bwMode="auto">
          <a:xfrm>
            <a:off x="1146196" y="2831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4" name="Line 22"/>
          <p:cNvSpPr>
            <a:spLocks noChangeShapeType="1"/>
          </p:cNvSpPr>
          <p:nvPr/>
        </p:nvSpPr>
        <p:spPr bwMode="auto">
          <a:xfrm>
            <a:off x="4194196" y="2831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5" name="Line 23"/>
          <p:cNvSpPr>
            <a:spLocks noChangeShapeType="1"/>
          </p:cNvSpPr>
          <p:nvPr/>
        </p:nvSpPr>
        <p:spPr bwMode="auto">
          <a:xfrm>
            <a:off x="5870596" y="2831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6" name="Line 24"/>
          <p:cNvSpPr>
            <a:spLocks noChangeShapeType="1"/>
          </p:cNvSpPr>
          <p:nvPr/>
        </p:nvSpPr>
        <p:spPr bwMode="auto">
          <a:xfrm>
            <a:off x="7775596" y="2831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7" name="Line 25"/>
          <p:cNvSpPr>
            <a:spLocks noChangeShapeType="1"/>
          </p:cNvSpPr>
          <p:nvPr/>
        </p:nvSpPr>
        <p:spPr bwMode="auto">
          <a:xfrm>
            <a:off x="5870596" y="3974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8" name="Line 26"/>
          <p:cNvSpPr>
            <a:spLocks noChangeShapeType="1"/>
          </p:cNvSpPr>
          <p:nvPr/>
        </p:nvSpPr>
        <p:spPr bwMode="auto">
          <a:xfrm>
            <a:off x="7775596" y="3974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9" name="Line 27"/>
          <p:cNvSpPr>
            <a:spLocks noChangeShapeType="1"/>
          </p:cNvSpPr>
          <p:nvPr/>
        </p:nvSpPr>
        <p:spPr bwMode="auto">
          <a:xfrm>
            <a:off x="2593996" y="283133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0" name="Line 28"/>
          <p:cNvSpPr>
            <a:spLocks noChangeShapeType="1"/>
          </p:cNvSpPr>
          <p:nvPr/>
        </p:nvSpPr>
        <p:spPr bwMode="auto">
          <a:xfrm>
            <a:off x="6556396" y="3669537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1" name="Line 29"/>
          <p:cNvSpPr>
            <a:spLocks noChangeShapeType="1"/>
          </p:cNvSpPr>
          <p:nvPr/>
        </p:nvSpPr>
        <p:spPr bwMode="auto">
          <a:xfrm>
            <a:off x="6556396" y="4812537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500"/>
                            </p:stCondLst>
                            <p:childTnLst>
                              <p:par>
                                <p:cTn id="5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4500"/>
                            </p:stCondLst>
                            <p:childTnLst>
                              <p:par>
                                <p:cTn id="7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7000"/>
                            </p:stCondLst>
                            <p:childTnLst>
                              <p:par>
                                <p:cTn id="8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7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3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dvAuto="0" build="p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dvAuto="0" build="p"/>
      <p:bldP spid="65" grpId="0" advAuto="0" build="p"/>
      <p:bldP spid="66" grpId="0" advAuto="0" build="p"/>
      <p:bldP spid="67" grpId="0" advAuto="0" build="p"/>
      <p:bldP spid="68" grpId="0" advAuto="0" build="p"/>
      <p:bldP spid="69" grpId="0" advAuto="0" build="p"/>
      <p:bldP spid="112" grpId="0" advAuto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325492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36182"/>
            <a:ext cx="14912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89857" y="1684699"/>
            <a:ext cx="9181652" cy="4515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）什么是接口？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接口？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部件与部件（指硬件或软件）之间的交接部分称为接口；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主机系统总线与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设备之间的交接部分称为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）接口的类型？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按传送格式： 串行接口、并行接口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按时序控制： 同步接口、异步接口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按信息传送控制方式：中断接口、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Text Box 4"/>
          <p:cNvSpPr txBox="1"/>
          <p:nvPr/>
        </p:nvSpPr>
        <p:spPr>
          <a:xfrm>
            <a:off x="437513" y="1037210"/>
            <a:ext cx="3254921" cy="50840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34" name="MH_Other_5"/>
          <p:cNvCxnSpPr/>
          <p:nvPr>
            <p:custDataLst>
              <p:tags r:id="rId3"/>
            </p:custDataLst>
          </p:nvPr>
        </p:nvCxnSpPr>
        <p:spPr>
          <a:xfrm flipV="1">
            <a:off x="518481" y="1636182"/>
            <a:ext cx="14912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268765" y="1636182"/>
            <a:ext cx="5520369" cy="2522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）讨论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接口：中断接口、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总线：分类、信号组成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、硬件系统结构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97631D6-2F3F-4C77-B3DB-8DBE7BBF4BE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课程介绍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/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/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/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1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.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3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 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华文行楷" panose="02010800040101010101" pitchFamily="2" charset="-122"/>
                  <a:ea typeface="华文行楷" panose="02010800040101010101" pitchFamily="2" charset="-122"/>
                  <a:cs typeface="+mn-cs"/>
                </a:rPr>
                <a:t>计算机系统的性能指标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/>
          <p:cNvSpPr txBox="1"/>
          <p:nvPr/>
        </p:nvSpPr>
        <p:spPr>
          <a:xfrm>
            <a:off x="1872698" y="2915655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ísḻiḑe"/>
          <p:cNvSpPr/>
          <p:nvPr/>
        </p:nvSpPr>
        <p:spPr>
          <a:xfrm>
            <a:off x="2526228" y="2927197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基本字长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6" name="ïṩľîdé"/>
          <p:cNvSpPr txBox="1"/>
          <p:nvPr/>
        </p:nvSpPr>
        <p:spPr>
          <a:xfrm>
            <a:off x="1872697" y="3600798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îṣ1idè"/>
          <p:cNvSpPr/>
          <p:nvPr/>
        </p:nvSpPr>
        <p:spPr>
          <a:xfrm>
            <a:off x="2526228" y="3612339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运算速度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8" name="işľíďe"/>
          <p:cNvSpPr txBox="1"/>
          <p:nvPr/>
        </p:nvSpPr>
        <p:spPr>
          <a:xfrm>
            <a:off x="1872697" y="4312064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03.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ïşľïdé"/>
          <p:cNvSpPr/>
          <p:nvPr/>
        </p:nvSpPr>
        <p:spPr>
          <a:xfrm>
            <a:off x="2526228" y="4323605"/>
            <a:ext cx="4941372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数据通路宽度与数据传输率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0" name="ís1íde"/>
          <p:cNvSpPr txBox="1"/>
          <p:nvPr/>
        </p:nvSpPr>
        <p:spPr>
          <a:xfrm>
            <a:off x="1872697" y="5058171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04.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íṡḻîḓé"/>
          <p:cNvSpPr/>
          <p:nvPr/>
        </p:nvSpPr>
        <p:spPr>
          <a:xfrm>
            <a:off x="2526228" y="5069712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存储容量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2" name="îṩļíḑé"/>
          <p:cNvSpPr/>
          <p:nvPr/>
        </p:nvSpPr>
        <p:spPr>
          <a:xfrm>
            <a:off x="1524070" y="294421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/>
          <p:cNvSpPr/>
          <p:nvPr/>
        </p:nvSpPr>
        <p:spPr>
          <a:xfrm>
            <a:off x="1524070" y="3629352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íṧļîḓê"/>
          <p:cNvSpPr/>
          <p:nvPr/>
        </p:nvSpPr>
        <p:spPr>
          <a:xfrm>
            <a:off x="1524070" y="4340618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íšḻíḋe"/>
          <p:cNvSpPr/>
          <p:nvPr/>
        </p:nvSpPr>
        <p:spPr>
          <a:xfrm>
            <a:off x="1524070" y="5086725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959428" y="342185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959428" y="411854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959428" y="4841360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30" name="ís1íde"/>
          <p:cNvSpPr txBox="1"/>
          <p:nvPr/>
        </p:nvSpPr>
        <p:spPr>
          <a:xfrm>
            <a:off x="1874377" y="5803422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05.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íṡḻîḓé"/>
          <p:cNvSpPr/>
          <p:nvPr/>
        </p:nvSpPr>
        <p:spPr>
          <a:xfrm>
            <a:off x="2527908" y="5814963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其他指标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" name="íšḻíḋe"/>
          <p:cNvSpPr/>
          <p:nvPr/>
        </p:nvSpPr>
        <p:spPr>
          <a:xfrm>
            <a:off x="1525750" y="5831976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1961108" y="5586611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一、基本字长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454839" y="1317295"/>
            <a:ext cx="7603939" cy="2361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一般是指参加一次定点运算的操作数的位数。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64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它影响计算精度、指令功能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 flipH="1">
            <a:off x="3622773" y="2734558"/>
            <a:ext cx="5446032" cy="3607844"/>
            <a:chOff x="6588125" y="4840288"/>
            <a:chExt cx="1644650" cy="996950"/>
          </a:xfrm>
        </p:grpSpPr>
        <p:sp>
          <p:nvSpPr>
            <p:cNvPr id="12" name="MH_Other_15"/>
            <p:cNvSpPr/>
            <p:nvPr>
              <p:custDataLst>
                <p:tags r:id="rId3"/>
              </p:custDataLst>
            </p:nvPr>
          </p:nvSpPr>
          <p:spPr bwMode="auto">
            <a:xfrm>
              <a:off x="6965950" y="5030788"/>
              <a:ext cx="250825" cy="296862"/>
            </a:xfrm>
            <a:custGeom>
              <a:avLst/>
              <a:gdLst>
                <a:gd name="T0" fmla="*/ 140 w 202"/>
                <a:gd name="T1" fmla="*/ 0 h 238"/>
                <a:gd name="T2" fmla="*/ 114 w 202"/>
                <a:gd name="T3" fmla="*/ 15 h 238"/>
                <a:gd name="T4" fmla="*/ 132 w 202"/>
                <a:gd name="T5" fmla="*/ 62 h 238"/>
                <a:gd name="T6" fmla="*/ 124 w 202"/>
                <a:gd name="T7" fmla="*/ 84 h 238"/>
                <a:gd name="T8" fmla="*/ 113 w 202"/>
                <a:gd name="T9" fmla="*/ 116 h 238"/>
                <a:gd name="T10" fmla="*/ 86 w 202"/>
                <a:gd name="T11" fmla="*/ 136 h 238"/>
                <a:gd name="T12" fmla="*/ 41 w 202"/>
                <a:gd name="T13" fmla="*/ 113 h 238"/>
                <a:gd name="T14" fmla="*/ 41 w 202"/>
                <a:gd name="T15" fmla="*/ 113 h 238"/>
                <a:gd name="T16" fmla="*/ 36 w 202"/>
                <a:gd name="T17" fmla="*/ 137 h 238"/>
                <a:gd name="T18" fmla="*/ 62 w 202"/>
                <a:gd name="T19" fmla="*/ 166 h 238"/>
                <a:gd name="T20" fmla="*/ 88 w 202"/>
                <a:gd name="T21" fmla="*/ 166 h 238"/>
                <a:gd name="T22" fmla="*/ 88 w 202"/>
                <a:gd name="T23" fmla="*/ 180 h 238"/>
                <a:gd name="T24" fmla="*/ 41 w 202"/>
                <a:gd name="T25" fmla="*/ 167 h 238"/>
                <a:gd name="T26" fmla="*/ 0 w 202"/>
                <a:gd name="T27" fmla="*/ 196 h 238"/>
                <a:gd name="T28" fmla="*/ 28 w 202"/>
                <a:gd name="T29" fmla="*/ 214 h 238"/>
                <a:gd name="T30" fmla="*/ 82 w 202"/>
                <a:gd name="T31" fmla="*/ 238 h 238"/>
                <a:gd name="T32" fmla="*/ 113 w 202"/>
                <a:gd name="T33" fmla="*/ 199 h 238"/>
                <a:gd name="T34" fmla="*/ 103 w 202"/>
                <a:gd name="T35" fmla="*/ 180 h 238"/>
                <a:gd name="T36" fmla="*/ 120 w 202"/>
                <a:gd name="T37" fmla="*/ 189 h 238"/>
                <a:gd name="T38" fmla="*/ 184 w 202"/>
                <a:gd name="T39" fmla="*/ 110 h 238"/>
                <a:gd name="T40" fmla="*/ 195 w 202"/>
                <a:gd name="T41" fmla="*/ 97 h 238"/>
                <a:gd name="T42" fmla="*/ 166 w 202"/>
                <a:gd name="T43" fmla="*/ 63 h 238"/>
                <a:gd name="T44" fmla="*/ 166 w 202"/>
                <a:gd name="T45" fmla="*/ 38 h 238"/>
                <a:gd name="T46" fmla="*/ 140 w 202"/>
                <a:gd name="T47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2" h="238">
                  <a:moveTo>
                    <a:pt x="140" y="0"/>
                  </a:moveTo>
                  <a:cubicBezTo>
                    <a:pt x="114" y="15"/>
                    <a:pt x="114" y="15"/>
                    <a:pt x="114" y="15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24" y="84"/>
                    <a:pt x="124" y="84"/>
                    <a:pt x="124" y="84"/>
                  </a:cubicBezTo>
                  <a:cubicBezTo>
                    <a:pt x="113" y="116"/>
                    <a:pt x="113" y="116"/>
                    <a:pt x="113" y="116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76" y="116"/>
                    <a:pt x="60" y="108"/>
                    <a:pt x="41" y="113"/>
                  </a:cubicBezTo>
                  <a:cubicBezTo>
                    <a:pt x="41" y="113"/>
                    <a:pt x="41" y="113"/>
                    <a:pt x="41" y="113"/>
                  </a:cubicBezTo>
                  <a:cubicBezTo>
                    <a:pt x="33" y="117"/>
                    <a:pt x="31" y="125"/>
                    <a:pt x="36" y="137"/>
                  </a:cubicBezTo>
                  <a:cubicBezTo>
                    <a:pt x="41" y="152"/>
                    <a:pt x="49" y="162"/>
                    <a:pt x="62" y="166"/>
                  </a:cubicBezTo>
                  <a:cubicBezTo>
                    <a:pt x="75" y="173"/>
                    <a:pt x="84" y="173"/>
                    <a:pt x="88" y="166"/>
                  </a:cubicBezTo>
                  <a:cubicBezTo>
                    <a:pt x="88" y="180"/>
                    <a:pt x="88" y="180"/>
                    <a:pt x="88" y="180"/>
                  </a:cubicBezTo>
                  <a:cubicBezTo>
                    <a:pt x="67" y="181"/>
                    <a:pt x="51" y="177"/>
                    <a:pt x="41" y="167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9" y="203"/>
                    <a:pt x="18" y="209"/>
                    <a:pt x="28" y="214"/>
                  </a:cubicBezTo>
                  <a:cubicBezTo>
                    <a:pt x="82" y="238"/>
                    <a:pt x="82" y="238"/>
                    <a:pt x="82" y="238"/>
                  </a:cubicBezTo>
                  <a:cubicBezTo>
                    <a:pt x="113" y="199"/>
                    <a:pt x="113" y="199"/>
                    <a:pt x="113" y="199"/>
                  </a:cubicBezTo>
                  <a:cubicBezTo>
                    <a:pt x="103" y="180"/>
                    <a:pt x="103" y="180"/>
                    <a:pt x="103" y="180"/>
                  </a:cubicBezTo>
                  <a:cubicBezTo>
                    <a:pt x="109" y="184"/>
                    <a:pt x="115" y="187"/>
                    <a:pt x="120" y="189"/>
                  </a:cubicBezTo>
                  <a:cubicBezTo>
                    <a:pt x="166" y="195"/>
                    <a:pt x="187" y="169"/>
                    <a:pt x="184" y="110"/>
                  </a:cubicBezTo>
                  <a:cubicBezTo>
                    <a:pt x="195" y="97"/>
                    <a:pt x="195" y="97"/>
                    <a:pt x="195" y="97"/>
                  </a:cubicBezTo>
                  <a:cubicBezTo>
                    <a:pt x="202" y="91"/>
                    <a:pt x="193" y="79"/>
                    <a:pt x="166" y="63"/>
                  </a:cubicBezTo>
                  <a:cubicBezTo>
                    <a:pt x="166" y="38"/>
                    <a:pt x="166" y="38"/>
                    <a:pt x="166" y="38"/>
                  </a:cubicBezTo>
                  <a:cubicBezTo>
                    <a:pt x="140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MH_Other_16"/>
            <p:cNvSpPr/>
            <p:nvPr>
              <p:custDataLst>
                <p:tags r:id="rId4"/>
              </p:custDataLst>
            </p:nvPr>
          </p:nvSpPr>
          <p:spPr bwMode="auto">
            <a:xfrm>
              <a:off x="7067550" y="5014913"/>
              <a:ext cx="165100" cy="322262"/>
            </a:xfrm>
            <a:custGeom>
              <a:avLst/>
              <a:gdLst>
                <a:gd name="T0" fmla="*/ 32 w 134"/>
                <a:gd name="T1" fmla="*/ 29 h 260"/>
                <a:gd name="T2" fmla="*/ 58 w 134"/>
                <a:gd name="T3" fmla="*/ 14 h 260"/>
                <a:gd name="T4" fmla="*/ 84 w 134"/>
                <a:gd name="T5" fmla="*/ 52 h 260"/>
                <a:gd name="T6" fmla="*/ 84 w 134"/>
                <a:gd name="T7" fmla="*/ 77 h 260"/>
                <a:gd name="T8" fmla="*/ 113 w 134"/>
                <a:gd name="T9" fmla="*/ 111 h 260"/>
                <a:gd name="T10" fmla="*/ 102 w 134"/>
                <a:gd name="T11" fmla="*/ 124 h 260"/>
                <a:gd name="T12" fmla="*/ 38 w 134"/>
                <a:gd name="T13" fmla="*/ 203 h 260"/>
                <a:gd name="T14" fmla="*/ 21 w 134"/>
                <a:gd name="T15" fmla="*/ 194 h 260"/>
                <a:gd name="T16" fmla="*/ 31 w 134"/>
                <a:gd name="T17" fmla="*/ 213 h 260"/>
                <a:gd name="T18" fmla="*/ 0 w 134"/>
                <a:gd name="T19" fmla="*/ 252 h 260"/>
                <a:gd name="T20" fmla="*/ 17 w 134"/>
                <a:gd name="T21" fmla="*/ 260 h 260"/>
                <a:gd name="T22" fmla="*/ 24 w 134"/>
                <a:gd name="T23" fmla="*/ 252 h 260"/>
                <a:gd name="T24" fmla="*/ 31 w 134"/>
                <a:gd name="T25" fmla="*/ 243 h 260"/>
                <a:gd name="T26" fmla="*/ 33 w 134"/>
                <a:gd name="T27" fmla="*/ 226 h 260"/>
                <a:gd name="T28" fmla="*/ 47 w 134"/>
                <a:gd name="T29" fmla="*/ 206 h 260"/>
                <a:gd name="T30" fmla="*/ 53 w 134"/>
                <a:gd name="T31" fmla="*/ 208 h 260"/>
                <a:gd name="T32" fmla="*/ 96 w 134"/>
                <a:gd name="T33" fmla="*/ 204 h 260"/>
                <a:gd name="T34" fmla="*/ 110 w 134"/>
                <a:gd name="T35" fmla="*/ 172 h 260"/>
                <a:gd name="T36" fmla="*/ 111 w 134"/>
                <a:gd name="T37" fmla="*/ 142 h 260"/>
                <a:gd name="T38" fmla="*/ 112 w 134"/>
                <a:gd name="T39" fmla="*/ 126 h 260"/>
                <a:gd name="T40" fmla="*/ 124 w 134"/>
                <a:gd name="T41" fmla="*/ 118 h 260"/>
                <a:gd name="T42" fmla="*/ 130 w 134"/>
                <a:gd name="T43" fmla="*/ 113 h 260"/>
                <a:gd name="T44" fmla="*/ 124 w 134"/>
                <a:gd name="T45" fmla="*/ 93 h 260"/>
                <a:gd name="T46" fmla="*/ 99 w 134"/>
                <a:gd name="T47" fmla="*/ 72 h 260"/>
                <a:gd name="T48" fmla="*/ 99 w 134"/>
                <a:gd name="T49" fmla="*/ 54 h 260"/>
                <a:gd name="T50" fmla="*/ 70 w 134"/>
                <a:gd name="T51" fmla="*/ 0 h 260"/>
                <a:gd name="T52" fmla="*/ 43 w 134"/>
                <a:gd name="T53" fmla="*/ 9 h 260"/>
                <a:gd name="T54" fmla="*/ 19 w 134"/>
                <a:gd name="T55" fmla="*/ 23 h 260"/>
                <a:gd name="T56" fmla="*/ 41 w 134"/>
                <a:gd name="T57" fmla="*/ 77 h 260"/>
                <a:gd name="T58" fmla="*/ 31 w 134"/>
                <a:gd name="T59" fmla="*/ 90 h 260"/>
                <a:gd name="T60" fmla="*/ 31 w 134"/>
                <a:gd name="T61" fmla="*/ 130 h 260"/>
                <a:gd name="T62" fmla="*/ 42 w 134"/>
                <a:gd name="T63" fmla="*/ 98 h 260"/>
                <a:gd name="T64" fmla="*/ 50 w 134"/>
                <a:gd name="T65" fmla="*/ 76 h 260"/>
                <a:gd name="T66" fmla="*/ 32 w 134"/>
                <a:gd name="T67" fmla="*/ 2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260">
                  <a:moveTo>
                    <a:pt x="32" y="29"/>
                  </a:moveTo>
                  <a:cubicBezTo>
                    <a:pt x="58" y="14"/>
                    <a:pt x="58" y="14"/>
                    <a:pt x="58" y="14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77"/>
                    <a:pt x="84" y="77"/>
                    <a:pt x="84" y="77"/>
                  </a:cubicBezTo>
                  <a:cubicBezTo>
                    <a:pt x="111" y="93"/>
                    <a:pt x="120" y="105"/>
                    <a:pt x="113" y="111"/>
                  </a:cubicBezTo>
                  <a:cubicBezTo>
                    <a:pt x="102" y="124"/>
                    <a:pt x="102" y="124"/>
                    <a:pt x="102" y="124"/>
                  </a:cubicBezTo>
                  <a:cubicBezTo>
                    <a:pt x="105" y="183"/>
                    <a:pt x="84" y="209"/>
                    <a:pt x="38" y="203"/>
                  </a:cubicBezTo>
                  <a:cubicBezTo>
                    <a:pt x="33" y="201"/>
                    <a:pt x="27" y="198"/>
                    <a:pt x="21" y="194"/>
                  </a:cubicBezTo>
                  <a:cubicBezTo>
                    <a:pt x="31" y="213"/>
                    <a:pt x="31" y="213"/>
                    <a:pt x="31" y="213"/>
                  </a:cubicBezTo>
                  <a:cubicBezTo>
                    <a:pt x="0" y="252"/>
                    <a:pt x="0" y="252"/>
                    <a:pt x="0" y="252"/>
                  </a:cubicBezTo>
                  <a:cubicBezTo>
                    <a:pt x="17" y="260"/>
                    <a:pt x="17" y="260"/>
                    <a:pt x="17" y="260"/>
                  </a:cubicBezTo>
                  <a:cubicBezTo>
                    <a:pt x="24" y="252"/>
                    <a:pt x="24" y="252"/>
                    <a:pt x="24" y="252"/>
                  </a:cubicBezTo>
                  <a:cubicBezTo>
                    <a:pt x="31" y="243"/>
                    <a:pt x="31" y="243"/>
                    <a:pt x="31" y="243"/>
                  </a:cubicBezTo>
                  <a:cubicBezTo>
                    <a:pt x="30" y="237"/>
                    <a:pt x="31" y="231"/>
                    <a:pt x="33" y="226"/>
                  </a:cubicBezTo>
                  <a:cubicBezTo>
                    <a:pt x="36" y="219"/>
                    <a:pt x="40" y="212"/>
                    <a:pt x="47" y="206"/>
                  </a:cubicBezTo>
                  <a:cubicBezTo>
                    <a:pt x="49" y="207"/>
                    <a:pt x="51" y="208"/>
                    <a:pt x="53" y="208"/>
                  </a:cubicBezTo>
                  <a:cubicBezTo>
                    <a:pt x="68" y="212"/>
                    <a:pt x="83" y="211"/>
                    <a:pt x="96" y="204"/>
                  </a:cubicBezTo>
                  <a:cubicBezTo>
                    <a:pt x="110" y="199"/>
                    <a:pt x="115" y="189"/>
                    <a:pt x="110" y="172"/>
                  </a:cubicBezTo>
                  <a:cubicBezTo>
                    <a:pt x="111" y="142"/>
                    <a:pt x="111" y="142"/>
                    <a:pt x="111" y="142"/>
                  </a:cubicBezTo>
                  <a:cubicBezTo>
                    <a:pt x="112" y="126"/>
                    <a:pt x="112" y="126"/>
                    <a:pt x="112" y="126"/>
                  </a:cubicBezTo>
                  <a:cubicBezTo>
                    <a:pt x="124" y="118"/>
                    <a:pt x="124" y="118"/>
                    <a:pt x="124" y="118"/>
                  </a:cubicBezTo>
                  <a:cubicBezTo>
                    <a:pt x="127" y="116"/>
                    <a:pt x="129" y="115"/>
                    <a:pt x="130" y="113"/>
                  </a:cubicBezTo>
                  <a:cubicBezTo>
                    <a:pt x="134" y="108"/>
                    <a:pt x="132" y="102"/>
                    <a:pt x="124" y="93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9" y="54"/>
                    <a:pt x="99" y="54"/>
                    <a:pt x="99" y="54"/>
                  </a:cubicBezTo>
                  <a:cubicBezTo>
                    <a:pt x="90" y="31"/>
                    <a:pt x="81" y="13"/>
                    <a:pt x="70" y="0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30" y="13"/>
                    <a:pt x="22" y="18"/>
                    <a:pt x="19" y="23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31" y="90"/>
                    <a:pt x="31" y="90"/>
                    <a:pt x="31" y="90"/>
                  </a:cubicBezTo>
                  <a:cubicBezTo>
                    <a:pt x="31" y="130"/>
                    <a:pt x="31" y="130"/>
                    <a:pt x="31" y="13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50" y="76"/>
                    <a:pt x="50" y="76"/>
                    <a:pt x="50" y="76"/>
                  </a:cubicBezTo>
                  <a:cubicBezTo>
                    <a:pt x="32" y="29"/>
                    <a:pt x="32" y="29"/>
                    <a:pt x="32" y="29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4" name="MH_Other_17"/>
            <p:cNvSpPr/>
            <p:nvPr>
              <p:custDataLst>
                <p:tags r:id="rId5"/>
              </p:custDataLst>
            </p:nvPr>
          </p:nvSpPr>
          <p:spPr bwMode="auto">
            <a:xfrm>
              <a:off x="7046913" y="4973638"/>
              <a:ext cx="123825" cy="211137"/>
            </a:xfrm>
            <a:custGeom>
              <a:avLst/>
              <a:gdLst>
                <a:gd name="T0" fmla="*/ 35 w 99"/>
                <a:gd name="T1" fmla="*/ 56 h 170"/>
                <a:gd name="T2" fmla="*/ 59 w 99"/>
                <a:gd name="T3" fmla="*/ 42 h 170"/>
                <a:gd name="T4" fmla="*/ 86 w 99"/>
                <a:gd name="T5" fmla="*/ 33 h 170"/>
                <a:gd name="T6" fmla="*/ 92 w 99"/>
                <a:gd name="T7" fmla="*/ 31 h 170"/>
                <a:gd name="T8" fmla="*/ 83 w 99"/>
                <a:gd name="T9" fmla="*/ 0 h 170"/>
                <a:gd name="T10" fmla="*/ 0 w 99"/>
                <a:gd name="T11" fmla="*/ 41 h 170"/>
                <a:gd name="T12" fmla="*/ 33 w 99"/>
                <a:gd name="T13" fmla="*/ 106 h 170"/>
                <a:gd name="T14" fmla="*/ 25 w 99"/>
                <a:gd name="T15" fmla="*/ 155 h 170"/>
                <a:gd name="T16" fmla="*/ 5 w 99"/>
                <a:gd name="T17" fmla="*/ 158 h 170"/>
                <a:gd name="T18" fmla="*/ 24 w 99"/>
                <a:gd name="T19" fmla="*/ 170 h 170"/>
                <a:gd name="T20" fmla="*/ 47 w 99"/>
                <a:gd name="T21" fmla="*/ 163 h 170"/>
                <a:gd name="T22" fmla="*/ 47 w 99"/>
                <a:gd name="T23" fmla="*/ 123 h 170"/>
                <a:gd name="T24" fmla="*/ 57 w 99"/>
                <a:gd name="T25" fmla="*/ 110 h 170"/>
                <a:gd name="T26" fmla="*/ 35 w 99"/>
                <a:gd name="T27" fmla="*/ 5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170">
                  <a:moveTo>
                    <a:pt x="35" y="56"/>
                  </a:moveTo>
                  <a:cubicBezTo>
                    <a:pt x="38" y="51"/>
                    <a:pt x="46" y="46"/>
                    <a:pt x="59" y="42"/>
                  </a:cubicBezTo>
                  <a:cubicBezTo>
                    <a:pt x="86" y="33"/>
                    <a:pt x="86" y="33"/>
                    <a:pt x="86" y="33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9" y="17"/>
                    <a:pt x="96" y="6"/>
                    <a:pt x="83" y="0"/>
                  </a:cubicBezTo>
                  <a:cubicBezTo>
                    <a:pt x="73" y="13"/>
                    <a:pt x="45" y="26"/>
                    <a:pt x="0" y="41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25" y="155"/>
                    <a:pt x="25" y="155"/>
                    <a:pt x="25" y="155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14" y="160"/>
                    <a:pt x="21" y="164"/>
                    <a:pt x="24" y="170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7" y="123"/>
                    <a:pt x="47" y="123"/>
                    <a:pt x="47" y="123"/>
                  </a:cubicBezTo>
                  <a:cubicBezTo>
                    <a:pt x="57" y="110"/>
                    <a:pt x="57" y="110"/>
                    <a:pt x="57" y="110"/>
                  </a:cubicBezTo>
                  <a:cubicBezTo>
                    <a:pt x="35" y="56"/>
                    <a:pt x="35" y="56"/>
                    <a:pt x="35" y="56"/>
                  </a:cubicBezTo>
                  <a:close/>
                </a:path>
              </a:pathLst>
            </a:custGeom>
            <a:solidFill>
              <a:srgbClr val="4127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MH_Other_18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848475" y="4940300"/>
              <a:ext cx="301625" cy="309563"/>
            </a:xfrm>
            <a:custGeom>
              <a:avLst/>
              <a:gdLst>
                <a:gd name="T0" fmla="*/ 227 w 243"/>
                <a:gd name="T1" fmla="*/ 21 h 248"/>
                <a:gd name="T2" fmla="*/ 149 w 243"/>
                <a:gd name="T3" fmla="*/ 9 h 248"/>
                <a:gd name="T4" fmla="*/ 28 w 243"/>
                <a:gd name="T5" fmla="*/ 59 h 248"/>
                <a:gd name="T6" fmla="*/ 15 w 243"/>
                <a:gd name="T7" fmla="*/ 161 h 248"/>
                <a:gd name="T8" fmla="*/ 57 w 243"/>
                <a:gd name="T9" fmla="*/ 224 h 248"/>
                <a:gd name="T10" fmla="*/ 117 w 243"/>
                <a:gd name="T11" fmla="*/ 186 h 248"/>
                <a:gd name="T12" fmla="*/ 135 w 243"/>
                <a:gd name="T13" fmla="*/ 186 h 248"/>
                <a:gd name="T14" fmla="*/ 135 w 243"/>
                <a:gd name="T15" fmla="*/ 186 h 248"/>
                <a:gd name="T16" fmla="*/ 165 w 243"/>
                <a:gd name="T17" fmla="*/ 184 h 248"/>
                <a:gd name="T18" fmla="*/ 185 w 243"/>
                <a:gd name="T19" fmla="*/ 181 h 248"/>
                <a:gd name="T20" fmla="*/ 193 w 243"/>
                <a:gd name="T21" fmla="*/ 132 h 248"/>
                <a:gd name="T22" fmla="*/ 160 w 243"/>
                <a:gd name="T23" fmla="*/ 67 h 248"/>
                <a:gd name="T24" fmla="*/ 243 w 243"/>
                <a:gd name="T25" fmla="*/ 26 h 248"/>
                <a:gd name="T26" fmla="*/ 227 w 243"/>
                <a:gd name="T27" fmla="*/ 21 h 248"/>
                <a:gd name="T28" fmla="*/ 31 w 243"/>
                <a:gd name="T29" fmla="*/ 60 h 248"/>
                <a:gd name="T30" fmla="*/ 31 w 243"/>
                <a:gd name="T31" fmla="*/ 60 h 248"/>
                <a:gd name="T32" fmla="*/ 148 w 243"/>
                <a:gd name="T33" fmla="*/ 12 h 248"/>
                <a:gd name="T34" fmla="*/ 227 w 243"/>
                <a:gd name="T35" fmla="*/ 24 h 248"/>
                <a:gd name="T36" fmla="*/ 226 w 243"/>
                <a:gd name="T37" fmla="*/ 24 h 248"/>
                <a:gd name="T38" fmla="*/ 238 w 243"/>
                <a:gd name="T39" fmla="*/ 27 h 248"/>
                <a:gd name="T40" fmla="*/ 226 w 243"/>
                <a:gd name="T41" fmla="*/ 36 h 248"/>
                <a:gd name="T42" fmla="*/ 59 w 243"/>
                <a:gd name="T43" fmla="*/ 42 h 248"/>
                <a:gd name="T44" fmla="*/ 30 w 243"/>
                <a:gd name="T45" fmla="*/ 159 h 248"/>
                <a:gd name="T46" fmla="*/ 74 w 243"/>
                <a:gd name="T47" fmla="*/ 231 h 248"/>
                <a:gd name="T48" fmla="*/ 60 w 243"/>
                <a:gd name="T49" fmla="*/ 222 h 248"/>
                <a:gd name="T50" fmla="*/ 18 w 243"/>
                <a:gd name="T51" fmla="*/ 160 h 248"/>
                <a:gd name="T52" fmla="*/ 31 w 243"/>
                <a:gd name="T53" fmla="*/ 6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248">
                  <a:moveTo>
                    <a:pt x="227" y="21"/>
                  </a:moveTo>
                  <a:cubicBezTo>
                    <a:pt x="149" y="9"/>
                    <a:pt x="149" y="9"/>
                    <a:pt x="149" y="9"/>
                  </a:cubicBezTo>
                  <a:cubicBezTo>
                    <a:pt x="88" y="0"/>
                    <a:pt x="47" y="17"/>
                    <a:pt x="28" y="59"/>
                  </a:cubicBezTo>
                  <a:cubicBezTo>
                    <a:pt x="5" y="92"/>
                    <a:pt x="0" y="127"/>
                    <a:pt x="15" y="161"/>
                  </a:cubicBezTo>
                  <a:cubicBezTo>
                    <a:pt x="34" y="183"/>
                    <a:pt x="48" y="204"/>
                    <a:pt x="57" y="224"/>
                  </a:cubicBezTo>
                  <a:cubicBezTo>
                    <a:pt x="87" y="248"/>
                    <a:pt x="107" y="235"/>
                    <a:pt x="117" y="186"/>
                  </a:cubicBezTo>
                  <a:cubicBezTo>
                    <a:pt x="135" y="186"/>
                    <a:pt x="135" y="186"/>
                    <a:pt x="135" y="186"/>
                  </a:cubicBezTo>
                  <a:cubicBezTo>
                    <a:pt x="135" y="186"/>
                    <a:pt x="135" y="186"/>
                    <a:pt x="135" y="186"/>
                  </a:cubicBezTo>
                  <a:cubicBezTo>
                    <a:pt x="141" y="183"/>
                    <a:pt x="151" y="182"/>
                    <a:pt x="165" y="184"/>
                  </a:cubicBezTo>
                  <a:cubicBezTo>
                    <a:pt x="185" y="181"/>
                    <a:pt x="185" y="181"/>
                    <a:pt x="185" y="181"/>
                  </a:cubicBezTo>
                  <a:cubicBezTo>
                    <a:pt x="193" y="132"/>
                    <a:pt x="193" y="132"/>
                    <a:pt x="193" y="132"/>
                  </a:cubicBezTo>
                  <a:cubicBezTo>
                    <a:pt x="160" y="67"/>
                    <a:pt x="160" y="67"/>
                    <a:pt x="160" y="67"/>
                  </a:cubicBezTo>
                  <a:cubicBezTo>
                    <a:pt x="205" y="52"/>
                    <a:pt x="233" y="39"/>
                    <a:pt x="243" y="26"/>
                  </a:cubicBezTo>
                  <a:cubicBezTo>
                    <a:pt x="239" y="24"/>
                    <a:pt x="234" y="22"/>
                    <a:pt x="227" y="21"/>
                  </a:cubicBezTo>
                  <a:close/>
                  <a:moveTo>
                    <a:pt x="31" y="60"/>
                  </a:moveTo>
                  <a:cubicBezTo>
                    <a:pt x="31" y="60"/>
                    <a:pt x="31" y="60"/>
                    <a:pt x="31" y="60"/>
                  </a:cubicBezTo>
                  <a:cubicBezTo>
                    <a:pt x="50" y="19"/>
                    <a:pt x="89" y="3"/>
                    <a:pt x="148" y="12"/>
                  </a:cubicBezTo>
                  <a:cubicBezTo>
                    <a:pt x="227" y="24"/>
                    <a:pt x="227" y="24"/>
                    <a:pt x="227" y="24"/>
                  </a:cubicBezTo>
                  <a:cubicBezTo>
                    <a:pt x="226" y="24"/>
                    <a:pt x="226" y="24"/>
                    <a:pt x="226" y="24"/>
                  </a:cubicBezTo>
                  <a:cubicBezTo>
                    <a:pt x="231" y="24"/>
                    <a:pt x="235" y="25"/>
                    <a:pt x="238" y="27"/>
                  </a:cubicBezTo>
                  <a:cubicBezTo>
                    <a:pt x="235" y="30"/>
                    <a:pt x="231" y="33"/>
                    <a:pt x="226" y="36"/>
                  </a:cubicBezTo>
                  <a:cubicBezTo>
                    <a:pt x="143" y="18"/>
                    <a:pt x="87" y="19"/>
                    <a:pt x="59" y="42"/>
                  </a:cubicBezTo>
                  <a:cubicBezTo>
                    <a:pt x="26" y="85"/>
                    <a:pt x="16" y="124"/>
                    <a:pt x="30" y="159"/>
                  </a:cubicBezTo>
                  <a:cubicBezTo>
                    <a:pt x="74" y="231"/>
                    <a:pt x="74" y="231"/>
                    <a:pt x="74" y="231"/>
                  </a:cubicBezTo>
                  <a:cubicBezTo>
                    <a:pt x="70" y="229"/>
                    <a:pt x="65" y="227"/>
                    <a:pt x="60" y="222"/>
                  </a:cubicBezTo>
                  <a:cubicBezTo>
                    <a:pt x="50" y="203"/>
                    <a:pt x="36" y="182"/>
                    <a:pt x="18" y="160"/>
                  </a:cubicBezTo>
                  <a:cubicBezTo>
                    <a:pt x="3" y="126"/>
                    <a:pt x="8" y="93"/>
                    <a:pt x="31" y="60"/>
                  </a:cubicBezTo>
                  <a:close/>
                </a:path>
              </a:pathLst>
            </a:custGeom>
            <a:solidFill>
              <a:srgbClr val="6A40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MH_Other_19"/>
            <p:cNvSpPr/>
            <p:nvPr>
              <p:custDataLst>
                <p:tags r:id="rId7"/>
              </p:custDataLst>
            </p:nvPr>
          </p:nvSpPr>
          <p:spPr bwMode="auto">
            <a:xfrm>
              <a:off x="6851650" y="4945063"/>
              <a:ext cx="293688" cy="282575"/>
            </a:xfrm>
            <a:custGeom>
              <a:avLst/>
              <a:gdLst>
                <a:gd name="T0" fmla="*/ 28 w 235"/>
                <a:gd name="T1" fmla="*/ 57 h 228"/>
                <a:gd name="T2" fmla="*/ 28 w 235"/>
                <a:gd name="T3" fmla="*/ 57 h 228"/>
                <a:gd name="T4" fmla="*/ 15 w 235"/>
                <a:gd name="T5" fmla="*/ 157 h 228"/>
                <a:gd name="T6" fmla="*/ 57 w 235"/>
                <a:gd name="T7" fmla="*/ 219 h 228"/>
                <a:gd name="T8" fmla="*/ 71 w 235"/>
                <a:gd name="T9" fmla="*/ 228 h 228"/>
                <a:gd name="T10" fmla="*/ 27 w 235"/>
                <a:gd name="T11" fmla="*/ 156 h 228"/>
                <a:gd name="T12" fmla="*/ 56 w 235"/>
                <a:gd name="T13" fmla="*/ 39 h 228"/>
                <a:gd name="T14" fmla="*/ 223 w 235"/>
                <a:gd name="T15" fmla="*/ 33 h 228"/>
                <a:gd name="T16" fmla="*/ 235 w 235"/>
                <a:gd name="T17" fmla="*/ 24 h 228"/>
                <a:gd name="T18" fmla="*/ 223 w 235"/>
                <a:gd name="T19" fmla="*/ 21 h 228"/>
                <a:gd name="T20" fmla="*/ 224 w 235"/>
                <a:gd name="T21" fmla="*/ 21 h 228"/>
                <a:gd name="T22" fmla="*/ 145 w 235"/>
                <a:gd name="T23" fmla="*/ 9 h 228"/>
                <a:gd name="T24" fmla="*/ 28 w 235"/>
                <a:gd name="T25" fmla="*/ 5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5" h="228">
                  <a:moveTo>
                    <a:pt x="28" y="57"/>
                  </a:moveTo>
                  <a:cubicBezTo>
                    <a:pt x="28" y="57"/>
                    <a:pt x="28" y="57"/>
                    <a:pt x="28" y="57"/>
                  </a:cubicBezTo>
                  <a:cubicBezTo>
                    <a:pt x="5" y="90"/>
                    <a:pt x="0" y="123"/>
                    <a:pt x="15" y="157"/>
                  </a:cubicBezTo>
                  <a:cubicBezTo>
                    <a:pt x="33" y="179"/>
                    <a:pt x="47" y="200"/>
                    <a:pt x="57" y="219"/>
                  </a:cubicBezTo>
                  <a:cubicBezTo>
                    <a:pt x="62" y="224"/>
                    <a:pt x="67" y="226"/>
                    <a:pt x="71" y="228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13" y="121"/>
                    <a:pt x="23" y="82"/>
                    <a:pt x="56" y="39"/>
                  </a:cubicBezTo>
                  <a:cubicBezTo>
                    <a:pt x="84" y="16"/>
                    <a:pt x="140" y="15"/>
                    <a:pt x="223" y="33"/>
                  </a:cubicBezTo>
                  <a:cubicBezTo>
                    <a:pt x="228" y="30"/>
                    <a:pt x="232" y="27"/>
                    <a:pt x="235" y="24"/>
                  </a:cubicBezTo>
                  <a:cubicBezTo>
                    <a:pt x="232" y="22"/>
                    <a:pt x="228" y="21"/>
                    <a:pt x="223" y="21"/>
                  </a:cubicBezTo>
                  <a:cubicBezTo>
                    <a:pt x="224" y="21"/>
                    <a:pt x="224" y="21"/>
                    <a:pt x="224" y="21"/>
                  </a:cubicBezTo>
                  <a:cubicBezTo>
                    <a:pt x="145" y="9"/>
                    <a:pt x="145" y="9"/>
                    <a:pt x="145" y="9"/>
                  </a:cubicBezTo>
                  <a:cubicBezTo>
                    <a:pt x="86" y="0"/>
                    <a:pt x="47" y="16"/>
                    <a:pt x="28" y="57"/>
                  </a:cubicBezTo>
                  <a:close/>
                </a:path>
              </a:pathLst>
            </a:custGeom>
            <a:solidFill>
              <a:srgbClr val="9359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7" name="MH_Other_20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7281863" y="5054600"/>
              <a:ext cx="123825" cy="179388"/>
            </a:xfrm>
            <a:custGeom>
              <a:avLst/>
              <a:gdLst>
                <a:gd name="T0" fmla="*/ 87 w 99"/>
                <a:gd name="T1" fmla="*/ 5 h 145"/>
                <a:gd name="T2" fmla="*/ 82 w 99"/>
                <a:gd name="T3" fmla="*/ 0 h 145"/>
                <a:gd name="T4" fmla="*/ 35 w 99"/>
                <a:gd name="T5" fmla="*/ 59 h 145"/>
                <a:gd name="T6" fmla="*/ 0 w 99"/>
                <a:gd name="T7" fmla="*/ 135 h 145"/>
                <a:gd name="T8" fmla="*/ 81 w 99"/>
                <a:gd name="T9" fmla="*/ 145 h 145"/>
                <a:gd name="T10" fmla="*/ 99 w 99"/>
                <a:gd name="T11" fmla="*/ 95 h 145"/>
                <a:gd name="T12" fmla="*/ 96 w 99"/>
                <a:gd name="T13" fmla="*/ 86 h 145"/>
                <a:gd name="T14" fmla="*/ 94 w 99"/>
                <a:gd name="T15" fmla="*/ 75 h 145"/>
                <a:gd name="T16" fmla="*/ 92 w 99"/>
                <a:gd name="T17" fmla="*/ 35 h 145"/>
                <a:gd name="T18" fmla="*/ 96 w 99"/>
                <a:gd name="T19" fmla="*/ 8 h 145"/>
                <a:gd name="T20" fmla="*/ 96 w 99"/>
                <a:gd name="T21" fmla="*/ 8 h 145"/>
                <a:gd name="T22" fmla="*/ 87 w 99"/>
                <a:gd name="T23" fmla="*/ 5 h 145"/>
                <a:gd name="T24" fmla="*/ 81 w 99"/>
                <a:gd name="T25" fmla="*/ 5 h 145"/>
                <a:gd name="T26" fmla="*/ 81 w 99"/>
                <a:gd name="T27" fmla="*/ 5 h 145"/>
                <a:gd name="T28" fmla="*/ 15 w 99"/>
                <a:gd name="T29" fmla="*/ 134 h 145"/>
                <a:gd name="T30" fmla="*/ 5 w 99"/>
                <a:gd name="T31" fmla="*/ 133 h 145"/>
                <a:gd name="T32" fmla="*/ 38 w 99"/>
                <a:gd name="T33" fmla="*/ 61 h 145"/>
                <a:gd name="T34" fmla="*/ 81 w 99"/>
                <a:gd name="T35" fmla="*/ 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9" h="145">
                  <a:moveTo>
                    <a:pt x="87" y="5"/>
                  </a:moveTo>
                  <a:cubicBezTo>
                    <a:pt x="85" y="4"/>
                    <a:pt x="83" y="2"/>
                    <a:pt x="82" y="0"/>
                  </a:cubicBezTo>
                  <a:cubicBezTo>
                    <a:pt x="63" y="14"/>
                    <a:pt x="47" y="33"/>
                    <a:pt x="35" y="59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99" y="95"/>
                    <a:pt x="99" y="95"/>
                    <a:pt x="99" y="95"/>
                  </a:cubicBezTo>
                  <a:cubicBezTo>
                    <a:pt x="98" y="92"/>
                    <a:pt x="97" y="89"/>
                    <a:pt x="96" y="86"/>
                  </a:cubicBezTo>
                  <a:cubicBezTo>
                    <a:pt x="96" y="82"/>
                    <a:pt x="95" y="78"/>
                    <a:pt x="94" y="75"/>
                  </a:cubicBezTo>
                  <a:cubicBezTo>
                    <a:pt x="92" y="60"/>
                    <a:pt x="91" y="47"/>
                    <a:pt x="92" y="35"/>
                  </a:cubicBezTo>
                  <a:cubicBezTo>
                    <a:pt x="92" y="25"/>
                    <a:pt x="94" y="16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3" y="8"/>
                    <a:pt x="90" y="7"/>
                    <a:pt x="87" y="5"/>
                  </a:cubicBezTo>
                  <a:close/>
                  <a:moveTo>
                    <a:pt x="81" y="5"/>
                  </a:moveTo>
                  <a:cubicBezTo>
                    <a:pt x="81" y="5"/>
                    <a:pt x="81" y="5"/>
                    <a:pt x="81" y="5"/>
                  </a:cubicBezTo>
                  <a:cubicBezTo>
                    <a:pt x="51" y="49"/>
                    <a:pt x="29" y="92"/>
                    <a:pt x="15" y="134"/>
                  </a:cubicBezTo>
                  <a:cubicBezTo>
                    <a:pt x="5" y="133"/>
                    <a:pt x="5" y="133"/>
                    <a:pt x="5" y="133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49" y="36"/>
                    <a:pt x="64" y="17"/>
                    <a:pt x="81" y="5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MH_Other_21"/>
            <p:cNvSpPr/>
            <p:nvPr>
              <p:custDataLst>
                <p:tags r:id="rId9"/>
              </p:custDataLst>
            </p:nvPr>
          </p:nvSpPr>
          <p:spPr bwMode="auto">
            <a:xfrm>
              <a:off x="7288213" y="5060950"/>
              <a:ext cx="93662" cy="158750"/>
            </a:xfrm>
            <a:custGeom>
              <a:avLst/>
              <a:gdLst>
                <a:gd name="T0" fmla="*/ 76 w 76"/>
                <a:gd name="T1" fmla="*/ 0 h 129"/>
                <a:gd name="T2" fmla="*/ 76 w 76"/>
                <a:gd name="T3" fmla="*/ 0 h 129"/>
                <a:gd name="T4" fmla="*/ 33 w 76"/>
                <a:gd name="T5" fmla="*/ 56 h 129"/>
                <a:gd name="T6" fmla="*/ 0 w 76"/>
                <a:gd name="T7" fmla="*/ 128 h 129"/>
                <a:gd name="T8" fmla="*/ 10 w 76"/>
                <a:gd name="T9" fmla="*/ 129 h 129"/>
                <a:gd name="T10" fmla="*/ 76 w 76"/>
                <a:gd name="T11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" h="129">
                  <a:moveTo>
                    <a:pt x="76" y="0"/>
                  </a:moveTo>
                  <a:cubicBezTo>
                    <a:pt x="76" y="0"/>
                    <a:pt x="76" y="0"/>
                    <a:pt x="76" y="0"/>
                  </a:cubicBezTo>
                  <a:cubicBezTo>
                    <a:pt x="59" y="12"/>
                    <a:pt x="44" y="31"/>
                    <a:pt x="33" y="56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24" y="87"/>
                    <a:pt x="46" y="44"/>
                    <a:pt x="76" y="0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MH_Other_22"/>
            <p:cNvSpPr/>
            <p:nvPr>
              <p:custDataLst>
                <p:tags r:id="rId10"/>
              </p:custDataLst>
            </p:nvPr>
          </p:nvSpPr>
          <p:spPr bwMode="auto">
            <a:xfrm>
              <a:off x="7353300" y="4938713"/>
              <a:ext cx="198438" cy="214312"/>
            </a:xfrm>
            <a:custGeom>
              <a:avLst/>
              <a:gdLst>
                <a:gd name="T0" fmla="*/ 23 w 159"/>
                <a:gd name="T1" fmla="*/ 94 h 173"/>
                <a:gd name="T2" fmla="*/ 28 w 159"/>
                <a:gd name="T3" fmla="*/ 99 h 173"/>
                <a:gd name="T4" fmla="*/ 34 w 159"/>
                <a:gd name="T5" fmla="*/ 86 h 173"/>
                <a:gd name="T6" fmla="*/ 37 w 159"/>
                <a:gd name="T7" fmla="*/ 102 h 173"/>
                <a:gd name="T8" fmla="*/ 37 w 159"/>
                <a:gd name="T9" fmla="*/ 102 h 173"/>
                <a:gd name="T10" fmla="*/ 41 w 159"/>
                <a:gd name="T11" fmla="*/ 118 h 173"/>
                <a:gd name="T12" fmla="*/ 43 w 159"/>
                <a:gd name="T13" fmla="*/ 124 h 173"/>
                <a:gd name="T14" fmla="*/ 44 w 159"/>
                <a:gd name="T15" fmla="*/ 126 h 173"/>
                <a:gd name="T16" fmla="*/ 128 w 159"/>
                <a:gd name="T17" fmla="*/ 145 h 173"/>
                <a:gd name="T18" fmla="*/ 159 w 159"/>
                <a:gd name="T19" fmla="*/ 93 h 173"/>
                <a:gd name="T20" fmla="*/ 159 w 159"/>
                <a:gd name="T21" fmla="*/ 36 h 173"/>
                <a:gd name="T22" fmla="*/ 61 w 159"/>
                <a:gd name="T23" fmla="*/ 31 h 173"/>
                <a:gd name="T24" fmla="*/ 37 w 159"/>
                <a:gd name="T25" fmla="*/ 66 h 173"/>
                <a:gd name="T26" fmla="*/ 27 w 159"/>
                <a:gd name="T27" fmla="*/ 66 h 173"/>
                <a:gd name="T28" fmla="*/ 9 w 159"/>
                <a:gd name="T29" fmla="*/ 40 h 173"/>
                <a:gd name="T30" fmla="*/ 15 w 159"/>
                <a:gd name="T31" fmla="*/ 81 h 173"/>
                <a:gd name="T32" fmla="*/ 20 w 159"/>
                <a:gd name="T33" fmla="*/ 91 h 173"/>
                <a:gd name="T34" fmla="*/ 23 w 159"/>
                <a:gd name="T35" fmla="*/ 94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9" h="173">
                  <a:moveTo>
                    <a:pt x="23" y="94"/>
                  </a:moveTo>
                  <a:cubicBezTo>
                    <a:pt x="24" y="96"/>
                    <a:pt x="26" y="98"/>
                    <a:pt x="28" y="99"/>
                  </a:cubicBezTo>
                  <a:cubicBezTo>
                    <a:pt x="34" y="86"/>
                    <a:pt x="34" y="86"/>
                    <a:pt x="34" y="86"/>
                  </a:cubicBezTo>
                  <a:cubicBezTo>
                    <a:pt x="37" y="102"/>
                    <a:pt x="37" y="102"/>
                    <a:pt x="37" y="102"/>
                  </a:cubicBezTo>
                  <a:cubicBezTo>
                    <a:pt x="37" y="102"/>
                    <a:pt x="37" y="102"/>
                    <a:pt x="37" y="102"/>
                  </a:cubicBezTo>
                  <a:cubicBezTo>
                    <a:pt x="41" y="118"/>
                    <a:pt x="41" y="118"/>
                    <a:pt x="41" y="118"/>
                  </a:cubicBezTo>
                  <a:cubicBezTo>
                    <a:pt x="41" y="120"/>
                    <a:pt x="42" y="122"/>
                    <a:pt x="43" y="124"/>
                  </a:cubicBezTo>
                  <a:cubicBezTo>
                    <a:pt x="43" y="125"/>
                    <a:pt x="44" y="125"/>
                    <a:pt x="44" y="126"/>
                  </a:cubicBezTo>
                  <a:cubicBezTo>
                    <a:pt x="81" y="167"/>
                    <a:pt x="108" y="173"/>
                    <a:pt x="128" y="145"/>
                  </a:cubicBezTo>
                  <a:cubicBezTo>
                    <a:pt x="159" y="93"/>
                    <a:pt x="159" y="93"/>
                    <a:pt x="159" y="93"/>
                  </a:cubicBezTo>
                  <a:cubicBezTo>
                    <a:pt x="159" y="36"/>
                    <a:pt x="159" y="36"/>
                    <a:pt x="159" y="36"/>
                  </a:cubicBezTo>
                  <a:cubicBezTo>
                    <a:pt x="134" y="1"/>
                    <a:pt x="102" y="0"/>
                    <a:pt x="61" y="31"/>
                  </a:cubicBezTo>
                  <a:cubicBezTo>
                    <a:pt x="37" y="66"/>
                    <a:pt x="37" y="66"/>
                    <a:pt x="3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1" y="52"/>
                    <a:pt x="15" y="43"/>
                    <a:pt x="9" y="40"/>
                  </a:cubicBezTo>
                  <a:cubicBezTo>
                    <a:pt x="0" y="45"/>
                    <a:pt x="3" y="58"/>
                    <a:pt x="15" y="81"/>
                  </a:cubicBezTo>
                  <a:cubicBezTo>
                    <a:pt x="17" y="84"/>
                    <a:pt x="18" y="88"/>
                    <a:pt x="20" y="91"/>
                  </a:cubicBezTo>
                  <a:cubicBezTo>
                    <a:pt x="21" y="92"/>
                    <a:pt x="22" y="93"/>
                    <a:pt x="23" y="94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MH_Other_23"/>
            <p:cNvSpPr/>
            <p:nvPr>
              <p:custDataLst>
                <p:tags r:id="rId11"/>
              </p:custDataLst>
            </p:nvPr>
          </p:nvSpPr>
          <p:spPr bwMode="auto">
            <a:xfrm>
              <a:off x="7270750" y="5049838"/>
              <a:ext cx="168275" cy="541337"/>
            </a:xfrm>
            <a:custGeom>
              <a:avLst/>
              <a:gdLst>
                <a:gd name="T0" fmla="*/ 90 w 134"/>
                <a:gd name="T1" fmla="*/ 3 h 436"/>
                <a:gd name="T2" fmla="*/ 87 w 134"/>
                <a:gd name="T3" fmla="*/ 0 h 436"/>
                <a:gd name="T4" fmla="*/ 78 w 134"/>
                <a:gd name="T5" fmla="*/ 4 h 436"/>
                <a:gd name="T6" fmla="*/ 45 w 134"/>
                <a:gd name="T7" fmla="*/ 41 h 436"/>
                <a:gd name="T8" fmla="*/ 0 w 134"/>
                <a:gd name="T9" fmla="*/ 147 h 436"/>
                <a:gd name="T10" fmla="*/ 77 w 134"/>
                <a:gd name="T11" fmla="*/ 158 h 436"/>
                <a:gd name="T12" fmla="*/ 107 w 134"/>
                <a:gd name="T13" fmla="*/ 199 h 436"/>
                <a:gd name="T14" fmla="*/ 93 w 134"/>
                <a:gd name="T15" fmla="*/ 385 h 436"/>
                <a:gd name="T16" fmla="*/ 81 w 134"/>
                <a:gd name="T17" fmla="*/ 416 h 436"/>
                <a:gd name="T18" fmla="*/ 74 w 134"/>
                <a:gd name="T19" fmla="*/ 426 h 436"/>
                <a:gd name="T20" fmla="*/ 51 w 134"/>
                <a:gd name="T21" fmla="*/ 430 h 436"/>
                <a:gd name="T22" fmla="*/ 51 w 134"/>
                <a:gd name="T23" fmla="*/ 436 h 436"/>
                <a:gd name="T24" fmla="*/ 59 w 134"/>
                <a:gd name="T25" fmla="*/ 435 h 436"/>
                <a:gd name="T26" fmla="*/ 83 w 134"/>
                <a:gd name="T27" fmla="*/ 430 h 436"/>
                <a:gd name="T28" fmla="*/ 90 w 134"/>
                <a:gd name="T29" fmla="*/ 428 h 436"/>
                <a:gd name="T30" fmla="*/ 99 w 134"/>
                <a:gd name="T31" fmla="*/ 414 h 436"/>
                <a:gd name="T32" fmla="*/ 115 w 134"/>
                <a:gd name="T33" fmla="*/ 372 h 436"/>
                <a:gd name="T34" fmla="*/ 121 w 134"/>
                <a:gd name="T35" fmla="*/ 348 h 436"/>
                <a:gd name="T36" fmla="*/ 123 w 134"/>
                <a:gd name="T37" fmla="*/ 336 h 436"/>
                <a:gd name="T38" fmla="*/ 134 w 134"/>
                <a:gd name="T39" fmla="*/ 226 h 436"/>
                <a:gd name="T40" fmla="*/ 133 w 134"/>
                <a:gd name="T41" fmla="*/ 221 h 436"/>
                <a:gd name="T42" fmla="*/ 116 w 134"/>
                <a:gd name="T43" fmla="*/ 188 h 436"/>
                <a:gd name="T44" fmla="*/ 89 w 134"/>
                <a:gd name="T45" fmla="*/ 148 h 436"/>
                <a:gd name="T46" fmla="*/ 8 w 134"/>
                <a:gd name="T47" fmla="*/ 138 h 436"/>
                <a:gd name="T48" fmla="*/ 43 w 134"/>
                <a:gd name="T49" fmla="*/ 62 h 436"/>
                <a:gd name="T50" fmla="*/ 90 w 134"/>
                <a:gd name="T51" fmla="*/ 3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4" h="436">
                  <a:moveTo>
                    <a:pt x="90" y="3"/>
                  </a:moveTo>
                  <a:cubicBezTo>
                    <a:pt x="89" y="2"/>
                    <a:pt x="88" y="1"/>
                    <a:pt x="87" y="0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77" y="158"/>
                    <a:pt x="77" y="158"/>
                    <a:pt x="77" y="158"/>
                  </a:cubicBezTo>
                  <a:cubicBezTo>
                    <a:pt x="82" y="173"/>
                    <a:pt x="92" y="187"/>
                    <a:pt x="107" y="199"/>
                  </a:cubicBezTo>
                  <a:cubicBezTo>
                    <a:pt x="116" y="275"/>
                    <a:pt x="111" y="337"/>
                    <a:pt x="93" y="385"/>
                  </a:cubicBezTo>
                  <a:cubicBezTo>
                    <a:pt x="81" y="416"/>
                    <a:pt x="81" y="416"/>
                    <a:pt x="81" y="416"/>
                  </a:cubicBezTo>
                  <a:cubicBezTo>
                    <a:pt x="74" y="426"/>
                    <a:pt x="74" y="426"/>
                    <a:pt x="74" y="426"/>
                  </a:cubicBezTo>
                  <a:cubicBezTo>
                    <a:pt x="51" y="430"/>
                    <a:pt x="51" y="430"/>
                    <a:pt x="51" y="430"/>
                  </a:cubicBezTo>
                  <a:cubicBezTo>
                    <a:pt x="51" y="432"/>
                    <a:pt x="51" y="434"/>
                    <a:pt x="51" y="436"/>
                  </a:cubicBezTo>
                  <a:cubicBezTo>
                    <a:pt x="53" y="435"/>
                    <a:pt x="56" y="435"/>
                    <a:pt x="59" y="435"/>
                  </a:cubicBezTo>
                  <a:cubicBezTo>
                    <a:pt x="83" y="430"/>
                    <a:pt x="83" y="430"/>
                    <a:pt x="83" y="430"/>
                  </a:cubicBezTo>
                  <a:cubicBezTo>
                    <a:pt x="90" y="428"/>
                    <a:pt x="90" y="428"/>
                    <a:pt x="90" y="428"/>
                  </a:cubicBezTo>
                  <a:cubicBezTo>
                    <a:pt x="93" y="424"/>
                    <a:pt x="96" y="419"/>
                    <a:pt x="99" y="414"/>
                  </a:cubicBezTo>
                  <a:cubicBezTo>
                    <a:pt x="105" y="402"/>
                    <a:pt x="110" y="388"/>
                    <a:pt x="115" y="372"/>
                  </a:cubicBezTo>
                  <a:cubicBezTo>
                    <a:pt x="117" y="365"/>
                    <a:pt x="119" y="357"/>
                    <a:pt x="121" y="348"/>
                  </a:cubicBezTo>
                  <a:cubicBezTo>
                    <a:pt x="122" y="344"/>
                    <a:pt x="122" y="340"/>
                    <a:pt x="123" y="336"/>
                  </a:cubicBezTo>
                  <a:cubicBezTo>
                    <a:pt x="129" y="305"/>
                    <a:pt x="132" y="269"/>
                    <a:pt x="134" y="226"/>
                  </a:cubicBezTo>
                  <a:cubicBezTo>
                    <a:pt x="134" y="224"/>
                    <a:pt x="133" y="223"/>
                    <a:pt x="133" y="221"/>
                  </a:cubicBezTo>
                  <a:cubicBezTo>
                    <a:pt x="131" y="211"/>
                    <a:pt x="125" y="200"/>
                    <a:pt x="116" y="188"/>
                  </a:cubicBezTo>
                  <a:cubicBezTo>
                    <a:pt x="98" y="175"/>
                    <a:pt x="89" y="161"/>
                    <a:pt x="89" y="148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55" y="36"/>
                    <a:pt x="71" y="17"/>
                    <a:pt x="90" y="3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MH_Other_24"/>
            <p:cNvSpPr/>
            <p:nvPr>
              <p:custDataLst>
                <p:tags r:id="rId12"/>
              </p:custDataLst>
            </p:nvPr>
          </p:nvSpPr>
          <p:spPr bwMode="auto">
            <a:xfrm>
              <a:off x="7389813" y="5043488"/>
              <a:ext cx="11112" cy="20637"/>
            </a:xfrm>
            <a:custGeom>
              <a:avLst/>
              <a:gdLst>
                <a:gd name="T0" fmla="*/ 9 w 9"/>
                <a:gd name="T1" fmla="*/ 16 h 16"/>
                <a:gd name="T2" fmla="*/ 6 w 9"/>
                <a:gd name="T3" fmla="*/ 0 h 16"/>
                <a:gd name="T4" fmla="*/ 0 w 9"/>
                <a:gd name="T5" fmla="*/ 13 h 16"/>
                <a:gd name="T6" fmla="*/ 9 w 9"/>
                <a:gd name="T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6">
                  <a:moveTo>
                    <a:pt x="9" y="16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15"/>
                    <a:pt x="6" y="16"/>
                    <a:pt x="9" y="16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4" name="MH_Other_25"/>
            <p:cNvSpPr/>
            <p:nvPr>
              <p:custDataLst>
                <p:tags r:id="rId13"/>
              </p:custDataLst>
            </p:nvPr>
          </p:nvSpPr>
          <p:spPr bwMode="auto">
            <a:xfrm>
              <a:off x="7364413" y="4840288"/>
              <a:ext cx="300037" cy="268287"/>
            </a:xfrm>
            <a:custGeom>
              <a:avLst/>
              <a:gdLst>
                <a:gd name="T0" fmla="*/ 20 w 243"/>
                <a:gd name="T1" fmla="*/ 145 h 218"/>
                <a:gd name="T2" fmla="*/ 30 w 243"/>
                <a:gd name="T3" fmla="*/ 145 h 218"/>
                <a:gd name="T4" fmla="*/ 43 w 243"/>
                <a:gd name="T5" fmla="*/ 105 h 218"/>
                <a:gd name="T6" fmla="*/ 101 w 243"/>
                <a:gd name="T7" fmla="*/ 78 h 218"/>
                <a:gd name="T8" fmla="*/ 157 w 243"/>
                <a:gd name="T9" fmla="*/ 99 h 218"/>
                <a:gd name="T10" fmla="*/ 165 w 243"/>
                <a:gd name="T11" fmla="*/ 108 h 218"/>
                <a:gd name="T12" fmla="*/ 161 w 243"/>
                <a:gd name="T13" fmla="*/ 145 h 218"/>
                <a:gd name="T14" fmla="*/ 163 w 243"/>
                <a:gd name="T15" fmla="*/ 156 h 218"/>
                <a:gd name="T16" fmla="*/ 163 w 243"/>
                <a:gd name="T17" fmla="*/ 164 h 218"/>
                <a:gd name="T18" fmla="*/ 210 w 243"/>
                <a:gd name="T19" fmla="*/ 198 h 218"/>
                <a:gd name="T20" fmla="*/ 242 w 243"/>
                <a:gd name="T21" fmla="*/ 218 h 218"/>
                <a:gd name="T22" fmla="*/ 199 w 243"/>
                <a:gd name="T23" fmla="*/ 177 h 218"/>
                <a:gd name="T24" fmla="*/ 166 w 243"/>
                <a:gd name="T25" fmla="*/ 122 h 218"/>
                <a:gd name="T26" fmla="*/ 170 w 243"/>
                <a:gd name="T27" fmla="*/ 109 h 218"/>
                <a:gd name="T28" fmla="*/ 162 w 243"/>
                <a:gd name="T29" fmla="*/ 48 h 218"/>
                <a:gd name="T30" fmla="*/ 78 w 243"/>
                <a:gd name="T31" fmla="*/ 7 h 218"/>
                <a:gd name="T32" fmla="*/ 7 w 243"/>
                <a:gd name="T33" fmla="*/ 78 h 218"/>
                <a:gd name="T34" fmla="*/ 2 w 243"/>
                <a:gd name="T35" fmla="*/ 119 h 218"/>
                <a:gd name="T36" fmla="*/ 20 w 243"/>
                <a:gd name="T37" fmla="*/ 14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3" h="218">
                  <a:moveTo>
                    <a:pt x="20" y="145"/>
                  </a:moveTo>
                  <a:cubicBezTo>
                    <a:pt x="30" y="145"/>
                    <a:pt x="30" y="145"/>
                    <a:pt x="30" y="145"/>
                  </a:cubicBezTo>
                  <a:cubicBezTo>
                    <a:pt x="33" y="133"/>
                    <a:pt x="37" y="120"/>
                    <a:pt x="43" y="105"/>
                  </a:cubicBezTo>
                  <a:cubicBezTo>
                    <a:pt x="57" y="91"/>
                    <a:pt x="76" y="81"/>
                    <a:pt x="101" y="78"/>
                  </a:cubicBezTo>
                  <a:cubicBezTo>
                    <a:pt x="123" y="69"/>
                    <a:pt x="141" y="77"/>
                    <a:pt x="157" y="99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1" y="121"/>
                    <a:pt x="160" y="133"/>
                    <a:pt x="161" y="145"/>
                  </a:cubicBezTo>
                  <a:cubicBezTo>
                    <a:pt x="162" y="149"/>
                    <a:pt x="162" y="152"/>
                    <a:pt x="163" y="156"/>
                  </a:cubicBezTo>
                  <a:cubicBezTo>
                    <a:pt x="163" y="158"/>
                    <a:pt x="163" y="161"/>
                    <a:pt x="163" y="164"/>
                  </a:cubicBezTo>
                  <a:cubicBezTo>
                    <a:pt x="178" y="168"/>
                    <a:pt x="194" y="179"/>
                    <a:pt x="210" y="198"/>
                  </a:cubicBezTo>
                  <a:cubicBezTo>
                    <a:pt x="221" y="204"/>
                    <a:pt x="232" y="211"/>
                    <a:pt x="242" y="218"/>
                  </a:cubicBezTo>
                  <a:cubicBezTo>
                    <a:pt x="243" y="206"/>
                    <a:pt x="228" y="192"/>
                    <a:pt x="199" y="177"/>
                  </a:cubicBezTo>
                  <a:cubicBezTo>
                    <a:pt x="181" y="163"/>
                    <a:pt x="170" y="145"/>
                    <a:pt x="166" y="122"/>
                  </a:cubicBezTo>
                  <a:cubicBezTo>
                    <a:pt x="167" y="117"/>
                    <a:pt x="169" y="113"/>
                    <a:pt x="170" y="109"/>
                  </a:cubicBezTo>
                  <a:cubicBezTo>
                    <a:pt x="179" y="91"/>
                    <a:pt x="176" y="70"/>
                    <a:pt x="162" y="48"/>
                  </a:cubicBezTo>
                  <a:cubicBezTo>
                    <a:pt x="141" y="14"/>
                    <a:pt x="114" y="0"/>
                    <a:pt x="78" y="7"/>
                  </a:cubicBezTo>
                  <a:cubicBezTo>
                    <a:pt x="33" y="14"/>
                    <a:pt x="9" y="38"/>
                    <a:pt x="7" y="78"/>
                  </a:cubicBezTo>
                  <a:cubicBezTo>
                    <a:pt x="1" y="92"/>
                    <a:pt x="0" y="106"/>
                    <a:pt x="2" y="119"/>
                  </a:cubicBezTo>
                  <a:cubicBezTo>
                    <a:pt x="8" y="122"/>
                    <a:pt x="14" y="131"/>
                    <a:pt x="20" y="145"/>
                  </a:cubicBezTo>
                  <a:close/>
                </a:path>
              </a:pathLst>
            </a:custGeom>
            <a:solidFill>
              <a:srgbClr val="2222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MH_Other_26"/>
            <p:cNvSpPr/>
            <p:nvPr>
              <p:custDataLst>
                <p:tags r:id="rId14"/>
              </p:custDataLst>
            </p:nvPr>
          </p:nvSpPr>
          <p:spPr bwMode="auto">
            <a:xfrm>
              <a:off x="7400925" y="4926013"/>
              <a:ext cx="168275" cy="236537"/>
            </a:xfrm>
            <a:custGeom>
              <a:avLst/>
              <a:gdLst>
                <a:gd name="T0" fmla="*/ 0 w 135"/>
                <a:gd name="T1" fmla="*/ 76 h 192"/>
                <a:gd name="T2" fmla="*/ 24 w 135"/>
                <a:gd name="T3" fmla="*/ 41 h 192"/>
                <a:gd name="T4" fmla="*/ 122 w 135"/>
                <a:gd name="T5" fmla="*/ 46 h 192"/>
                <a:gd name="T6" fmla="*/ 122 w 135"/>
                <a:gd name="T7" fmla="*/ 103 h 192"/>
                <a:gd name="T8" fmla="*/ 91 w 135"/>
                <a:gd name="T9" fmla="*/ 155 h 192"/>
                <a:gd name="T10" fmla="*/ 7 w 135"/>
                <a:gd name="T11" fmla="*/ 136 h 192"/>
                <a:gd name="T12" fmla="*/ 6 w 135"/>
                <a:gd name="T13" fmla="*/ 134 h 192"/>
                <a:gd name="T14" fmla="*/ 12 w 135"/>
                <a:gd name="T15" fmla="*/ 146 h 192"/>
                <a:gd name="T16" fmla="*/ 36 w 135"/>
                <a:gd name="T17" fmla="*/ 171 h 192"/>
                <a:gd name="T18" fmla="*/ 93 w 135"/>
                <a:gd name="T19" fmla="*/ 171 h 192"/>
                <a:gd name="T20" fmla="*/ 104 w 135"/>
                <a:gd name="T21" fmla="*/ 157 h 192"/>
                <a:gd name="T22" fmla="*/ 116 w 135"/>
                <a:gd name="T23" fmla="*/ 143 h 192"/>
                <a:gd name="T24" fmla="*/ 131 w 135"/>
                <a:gd name="T25" fmla="*/ 111 h 192"/>
                <a:gd name="T26" fmla="*/ 133 w 135"/>
                <a:gd name="T27" fmla="*/ 95 h 192"/>
                <a:gd name="T28" fmla="*/ 133 w 135"/>
                <a:gd name="T29" fmla="*/ 87 h 192"/>
                <a:gd name="T30" fmla="*/ 131 w 135"/>
                <a:gd name="T31" fmla="*/ 76 h 192"/>
                <a:gd name="T32" fmla="*/ 135 w 135"/>
                <a:gd name="T33" fmla="*/ 39 h 192"/>
                <a:gd name="T34" fmla="*/ 127 w 135"/>
                <a:gd name="T35" fmla="*/ 30 h 192"/>
                <a:gd name="T36" fmla="*/ 71 w 135"/>
                <a:gd name="T37" fmla="*/ 9 h 192"/>
                <a:gd name="T38" fmla="*/ 13 w 135"/>
                <a:gd name="T39" fmla="*/ 36 h 192"/>
                <a:gd name="T40" fmla="*/ 0 w 135"/>
                <a:gd name="T41" fmla="*/ 7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5" h="192">
                  <a:moveTo>
                    <a:pt x="0" y="76"/>
                  </a:moveTo>
                  <a:cubicBezTo>
                    <a:pt x="24" y="41"/>
                    <a:pt x="24" y="41"/>
                    <a:pt x="24" y="41"/>
                  </a:cubicBezTo>
                  <a:cubicBezTo>
                    <a:pt x="65" y="10"/>
                    <a:pt x="97" y="11"/>
                    <a:pt x="122" y="46"/>
                  </a:cubicBezTo>
                  <a:cubicBezTo>
                    <a:pt x="122" y="103"/>
                    <a:pt x="122" y="103"/>
                    <a:pt x="122" y="103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71" y="183"/>
                    <a:pt x="44" y="177"/>
                    <a:pt x="7" y="136"/>
                  </a:cubicBezTo>
                  <a:cubicBezTo>
                    <a:pt x="7" y="135"/>
                    <a:pt x="6" y="135"/>
                    <a:pt x="6" y="134"/>
                  </a:cubicBezTo>
                  <a:cubicBezTo>
                    <a:pt x="7" y="139"/>
                    <a:pt x="9" y="143"/>
                    <a:pt x="12" y="146"/>
                  </a:cubicBezTo>
                  <a:cubicBezTo>
                    <a:pt x="18" y="156"/>
                    <a:pt x="26" y="164"/>
                    <a:pt x="36" y="171"/>
                  </a:cubicBezTo>
                  <a:cubicBezTo>
                    <a:pt x="56" y="192"/>
                    <a:pt x="75" y="192"/>
                    <a:pt x="93" y="171"/>
                  </a:cubicBezTo>
                  <a:cubicBezTo>
                    <a:pt x="104" y="157"/>
                    <a:pt x="104" y="157"/>
                    <a:pt x="104" y="157"/>
                  </a:cubicBezTo>
                  <a:cubicBezTo>
                    <a:pt x="116" y="143"/>
                    <a:pt x="116" y="143"/>
                    <a:pt x="116" y="143"/>
                  </a:cubicBezTo>
                  <a:cubicBezTo>
                    <a:pt x="123" y="132"/>
                    <a:pt x="128" y="122"/>
                    <a:pt x="131" y="111"/>
                  </a:cubicBezTo>
                  <a:cubicBezTo>
                    <a:pt x="132" y="106"/>
                    <a:pt x="133" y="100"/>
                    <a:pt x="133" y="95"/>
                  </a:cubicBezTo>
                  <a:cubicBezTo>
                    <a:pt x="133" y="92"/>
                    <a:pt x="133" y="89"/>
                    <a:pt x="133" y="87"/>
                  </a:cubicBezTo>
                  <a:cubicBezTo>
                    <a:pt x="132" y="83"/>
                    <a:pt x="132" y="80"/>
                    <a:pt x="131" y="76"/>
                  </a:cubicBezTo>
                  <a:cubicBezTo>
                    <a:pt x="130" y="64"/>
                    <a:pt x="131" y="52"/>
                    <a:pt x="135" y="39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11" y="8"/>
                    <a:pt x="93" y="0"/>
                    <a:pt x="71" y="9"/>
                  </a:cubicBezTo>
                  <a:cubicBezTo>
                    <a:pt x="46" y="12"/>
                    <a:pt x="27" y="22"/>
                    <a:pt x="13" y="36"/>
                  </a:cubicBezTo>
                  <a:cubicBezTo>
                    <a:pt x="7" y="51"/>
                    <a:pt x="3" y="64"/>
                    <a:pt x="0" y="76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6" name="MH_Other_27"/>
            <p:cNvSpPr/>
            <p:nvPr>
              <p:custDataLst>
                <p:tags r:id="rId15"/>
              </p:custDataLst>
            </p:nvPr>
          </p:nvSpPr>
          <p:spPr bwMode="auto">
            <a:xfrm>
              <a:off x="7485063" y="5043488"/>
              <a:ext cx="193675" cy="442912"/>
            </a:xfrm>
            <a:custGeom>
              <a:avLst/>
              <a:gdLst>
                <a:gd name="T0" fmla="*/ 65 w 156"/>
                <a:gd name="T1" fmla="*/ 0 h 357"/>
                <a:gd name="T2" fmla="*/ 63 w 156"/>
                <a:gd name="T3" fmla="*/ 16 h 357"/>
                <a:gd name="T4" fmla="*/ 88 w 156"/>
                <a:gd name="T5" fmla="*/ 63 h 357"/>
                <a:gd name="T6" fmla="*/ 99 w 156"/>
                <a:gd name="T7" fmla="*/ 137 h 357"/>
                <a:gd name="T8" fmla="*/ 37 w 156"/>
                <a:gd name="T9" fmla="*/ 142 h 357"/>
                <a:gd name="T10" fmla="*/ 23 w 156"/>
                <a:gd name="T11" fmla="*/ 108 h 357"/>
                <a:gd name="T12" fmla="*/ 20 w 156"/>
                <a:gd name="T13" fmla="*/ 116 h 357"/>
                <a:gd name="T14" fmla="*/ 27 w 156"/>
                <a:gd name="T15" fmla="*/ 143 h 357"/>
                <a:gd name="T16" fmla="*/ 5 w 156"/>
                <a:gd name="T17" fmla="*/ 172 h 357"/>
                <a:gd name="T18" fmla="*/ 0 w 156"/>
                <a:gd name="T19" fmla="*/ 209 h 357"/>
                <a:gd name="T20" fmla="*/ 35 w 156"/>
                <a:gd name="T21" fmla="*/ 153 h 357"/>
                <a:gd name="T22" fmla="*/ 106 w 156"/>
                <a:gd name="T23" fmla="*/ 144 h 357"/>
                <a:gd name="T24" fmla="*/ 96 w 156"/>
                <a:gd name="T25" fmla="*/ 44 h 357"/>
                <a:gd name="T26" fmla="*/ 96 w 156"/>
                <a:gd name="T27" fmla="*/ 36 h 357"/>
                <a:gd name="T28" fmla="*/ 139 w 156"/>
                <a:gd name="T29" fmla="*/ 68 h 357"/>
                <a:gd name="T30" fmla="*/ 98 w 156"/>
                <a:gd name="T31" fmla="*/ 209 h 357"/>
                <a:gd name="T32" fmla="*/ 118 w 156"/>
                <a:gd name="T33" fmla="*/ 289 h 357"/>
                <a:gd name="T34" fmla="*/ 39 w 156"/>
                <a:gd name="T35" fmla="*/ 313 h 357"/>
                <a:gd name="T36" fmla="*/ 21 w 156"/>
                <a:gd name="T37" fmla="*/ 347 h 357"/>
                <a:gd name="T38" fmla="*/ 27 w 156"/>
                <a:gd name="T39" fmla="*/ 357 h 357"/>
                <a:gd name="T40" fmla="*/ 49 w 156"/>
                <a:gd name="T41" fmla="*/ 324 h 357"/>
                <a:gd name="T42" fmla="*/ 111 w 156"/>
                <a:gd name="T43" fmla="*/ 300 h 357"/>
                <a:gd name="T44" fmla="*/ 117 w 156"/>
                <a:gd name="T45" fmla="*/ 298 h 357"/>
                <a:gd name="T46" fmla="*/ 120 w 156"/>
                <a:gd name="T47" fmla="*/ 298 h 357"/>
                <a:gd name="T48" fmla="*/ 123 w 156"/>
                <a:gd name="T49" fmla="*/ 303 h 357"/>
                <a:gd name="T50" fmla="*/ 110 w 156"/>
                <a:gd name="T51" fmla="*/ 326 h 357"/>
                <a:gd name="T52" fmla="*/ 143 w 156"/>
                <a:gd name="T53" fmla="*/ 315 h 357"/>
                <a:gd name="T54" fmla="*/ 110 w 156"/>
                <a:gd name="T55" fmla="*/ 208 h 357"/>
                <a:gd name="T56" fmla="*/ 156 w 156"/>
                <a:gd name="T57" fmla="*/ 64 h 357"/>
                <a:gd name="T58" fmla="*/ 145 w 156"/>
                <a:gd name="T59" fmla="*/ 55 h 357"/>
                <a:gd name="T60" fmla="*/ 144 w 156"/>
                <a:gd name="T61" fmla="*/ 54 h 357"/>
                <a:gd name="T62" fmla="*/ 112 w 156"/>
                <a:gd name="T63" fmla="*/ 34 h 357"/>
                <a:gd name="T64" fmla="*/ 65 w 156"/>
                <a:gd name="T65" fmla="*/ 0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6" h="357">
                  <a:moveTo>
                    <a:pt x="65" y="0"/>
                  </a:moveTo>
                  <a:cubicBezTo>
                    <a:pt x="65" y="5"/>
                    <a:pt x="64" y="11"/>
                    <a:pt x="63" y="16"/>
                  </a:cubicBezTo>
                  <a:cubicBezTo>
                    <a:pt x="74" y="23"/>
                    <a:pt x="83" y="39"/>
                    <a:pt x="88" y="6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37" y="142"/>
                    <a:pt x="37" y="142"/>
                    <a:pt x="37" y="142"/>
                  </a:cubicBezTo>
                  <a:cubicBezTo>
                    <a:pt x="23" y="108"/>
                    <a:pt x="23" y="108"/>
                    <a:pt x="23" y="108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5" y="172"/>
                    <a:pt x="5" y="172"/>
                    <a:pt x="5" y="172"/>
                  </a:cubicBezTo>
                  <a:cubicBezTo>
                    <a:pt x="2" y="184"/>
                    <a:pt x="1" y="196"/>
                    <a:pt x="0" y="209"/>
                  </a:cubicBezTo>
                  <a:cubicBezTo>
                    <a:pt x="4" y="185"/>
                    <a:pt x="16" y="167"/>
                    <a:pt x="35" y="153"/>
                  </a:cubicBezTo>
                  <a:cubicBezTo>
                    <a:pt x="106" y="144"/>
                    <a:pt x="106" y="144"/>
                    <a:pt x="106" y="144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6" y="36"/>
                    <a:pt x="96" y="36"/>
                    <a:pt x="96" y="36"/>
                  </a:cubicBezTo>
                  <a:cubicBezTo>
                    <a:pt x="139" y="68"/>
                    <a:pt x="139" y="68"/>
                    <a:pt x="139" y="68"/>
                  </a:cubicBezTo>
                  <a:cubicBezTo>
                    <a:pt x="119" y="113"/>
                    <a:pt x="106" y="160"/>
                    <a:pt x="98" y="209"/>
                  </a:cubicBezTo>
                  <a:cubicBezTo>
                    <a:pt x="118" y="289"/>
                    <a:pt x="118" y="289"/>
                    <a:pt x="118" y="289"/>
                  </a:cubicBezTo>
                  <a:cubicBezTo>
                    <a:pt x="39" y="313"/>
                    <a:pt x="39" y="313"/>
                    <a:pt x="39" y="313"/>
                  </a:cubicBezTo>
                  <a:cubicBezTo>
                    <a:pt x="21" y="347"/>
                    <a:pt x="21" y="347"/>
                    <a:pt x="21" y="347"/>
                  </a:cubicBezTo>
                  <a:cubicBezTo>
                    <a:pt x="23" y="351"/>
                    <a:pt x="25" y="354"/>
                    <a:pt x="27" y="357"/>
                  </a:cubicBezTo>
                  <a:cubicBezTo>
                    <a:pt x="34" y="348"/>
                    <a:pt x="41" y="337"/>
                    <a:pt x="49" y="324"/>
                  </a:cubicBezTo>
                  <a:cubicBezTo>
                    <a:pt x="69" y="318"/>
                    <a:pt x="90" y="310"/>
                    <a:pt x="111" y="300"/>
                  </a:cubicBezTo>
                  <a:cubicBezTo>
                    <a:pt x="113" y="299"/>
                    <a:pt x="115" y="299"/>
                    <a:pt x="117" y="298"/>
                  </a:cubicBezTo>
                  <a:cubicBezTo>
                    <a:pt x="118" y="298"/>
                    <a:pt x="119" y="298"/>
                    <a:pt x="120" y="298"/>
                  </a:cubicBezTo>
                  <a:cubicBezTo>
                    <a:pt x="122" y="298"/>
                    <a:pt x="123" y="300"/>
                    <a:pt x="123" y="303"/>
                  </a:cubicBezTo>
                  <a:cubicBezTo>
                    <a:pt x="123" y="311"/>
                    <a:pt x="119" y="318"/>
                    <a:pt x="110" y="326"/>
                  </a:cubicBezTo>
                  <a:cubicBezTo>
                    <a:pt x="122" y="323"/>
                    <a:pt x="133" y="319"/>
                    <a:pt x="143" y="315"/>
                  </a:cubicBezTo>
                  <a:cubicBezTo>
                    <a:pt x="110" y="208"/>
                    <a:pt x="110" y="208"/>
                    <a:pt x="110" y="208"/>
                  </a:cubicBezTo>
                  <a:cubicBezTo>
                    <a:pt x="116" y="139"/>
                    <a:pt x="132" y="91"/>
                    <a:pt x="156" y="64"/>
                  </a:cubicBezTo>
                  <a:cubicBezTo>
                    <a:pt x="153" y="61"/>
                    <a:pt x="149" y="58"/>
                    <a:pt x="145" y="55"/>
                  </a:cubicBezTo>
                  <a:cubicBezTo>
                    <a:pt x="144" y="55"/>
                    <a:pt x="144" y="54"/>
                    <a:pt x="144" y="54"/>
                  </a:cubicBezTo>
                  <a:cubicBezTo>
                    <a:pt x="134" y="47"/>
                    <a:pt x="123" y="40"/>
                    <a:pt x="112" y="34"/>
                  </a:cubicBezTo>
                  <a:cubicBezTo>
                    <a:pt x="96" y="15"/>
                    <a:pt x="80" y="4"/>
                    <a:pt x="65" y="0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7" name="MH_Other_28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7621588" y="5121275"/>
              <a:ext cx="200025" cy="469900"/>
            </a:xfrm>
            <a:custGeom>
              <a:avLst/>
              <a:gdLst>
                <a:gd name="T0" fmla="*/ 113 w 161"/>
                <a:gd name="T1" fmla="*/ 270 h 378"/>
                <a:gd name="T2" fmla="*/ 115 w 161"/>
                <a:gd name="T3" fmla="*/ 275 h 378"/>
                <a:gd name="T4" fmla="*/ 116 w 161"/>
                <a:gd name="T5" fmla="*/ 280 h 378"/>
                <a:gd name="T6" fmla="*/ 121 w 161"/>
                <a:gd name="T7" fmla="*/ 296 h 378"/>
                <a:gd name="T8" fmla="*/ 105 w 161"/>
                <a:gd name="T9" fmla="*/ 325 h 378"/>
                <a:gd name="T10" fmla="*/ 161 w 161"/>
                <a:gd name="T11" fmla="*/ 378 h 378"/>
                <a:gd name="T12" fmla="*/ 134 w 161"/>
                <a:gd name="T13" fmla="*/ 281 h 378"/>
                <a:gd name="T14" fmla="*/ 107 w 161"/>
                <a:gd name="T15" fmla="*/ 205 h 378"/>
                <a:gd name="T16" fmla="*/ 89 w 161"/>
                <a:gd name="T17" fmla="*/ 128 h 378"/>
                <a:gd name="T18" fmla="*/ 86 w 161"/>
                <a:gd name="T19" fmla="*/ 138 h 378"/>
                <a:gd name="T20" fmla="*/ 79 w 161"/>
                <a:gd name="T21" fmla="*/ 97 h 378"/>
                <a:gd name="T22" fmla="*/ 30 w 161"/>
                <a:gd name="T23" fmla="*/ 160 h 378"/>
                <a:gd name="T24" fmla="*/ 65 w 161"/>
                <a:gd name="T25" fmla="*/ 79 h 378"/>
                <a:gd name="T26" fmla="*/ 55 w 161"/>
                <a:gd name="T27" fmla="*/ 46 h 378"/>
                <a:gd name="T28" fmla="*/ 35 w 161"/>
                <a:gd name="T29" fmla="*/ 88 h 378"/>
                <a:gd name="T30" fmla="*/ 46 w 161"/>
                <a:gd name="T31" fmla="*/ 0 h 378"/>
                <a:gd name="T32" fmla="*/ 0 w 161"/>
                <a:gd name="T33" fmla="*/ 144 h 378"/>
                <a:gd name="T34" fmla="*/ 33 w 161"/>
                <a:gd name="T35" fmla="*/ 251 h 378"/>
                <a:gd name="T36" fmla="*/ 39 w 161"/>
                <a:gd name="T37" fmla="*/ 248 h 378"/>
                <a:gd name="T38" fmla="*/ 83 w 161"/>
                <a:gd name="T39" fmla="*/ 248 h 378"/>
                <a:gd name="T40" fmla="*/ 72 w 161"/>
                <a:gd name="T41" fmla="*/ 264 h 378"/>
                <a:gd name="T42" fmla="*/ 46 w 161"/>
                <a:gd name="T43" fmla="*/ 274 h 378"/>
                <a:gd name="T44" fmla="*/ 50 w 161"/>
                <a:gd name="T45" fmla="*/ 281 h 378"/>
                <a:gd name="T46" fmla="*/ 85 w 161"/>
                <a:gd name="T47" fmla="*/ 270 h 378"/>
                <a:gd name="T48" fmla="*/ 113 w 161"/>
                <a:gd name="T49" fmla="*/ 270 h 378"/>
                <a:gd name="T50" fmla="*/ 4 w 161"/>
                <a:gd name="T51" fmla="*/ 143 h 378"/>
                <a:gd name="T52" fmla="*/ 5 w 161"/>
                <a:gd name="T53" fmla="*/ 132 h 378"/>
                <a:gd name="T54" fmla="*/ 43 w 161"/>
                <a:gd name="T55" fmla="*/ 243 h 378"/>
                <a:gd name="T56" fmla="*/ 38 w 161"/>
                <a:gd name="T57" fmla="*/ 245 h 378"/>
                <a:gd name="T58" fmla="*/ 38 w 161"/>
                <a:gd name="T59" fmla="*/ 245 h 378"/>
                <a:gd name="T60" fmla="*/ 35 w 161"/>
                <a:gd name="T61" fmla="*/ 246 h 378"/>
                <a:gd name="T62" fmla="*/ 4 w 161"/>
                <a:gd name="T63" fmla="*/ 14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378">
                  <a:moveTo>
                    <a:pt x="113" y="270"/>
                  </a:moveTo>
                  <a:cubicBezTo>
                    <a:pt x="114" y="271"/>
                    <a:pt x="115" y="273"/>
                    <a:pt x="115" y="275"/>
                  </a:cubicBezTo>
                  <a:cubicBezTo>
                    <a:pt x="116" y="277"/>
                    <a:pt x="116" y="279"/>
                    <a:pt x="116" y="280"/>
                  </a:cubicBezTo>
                  <a:cubicBezTo>
                    <a:pt x="121" y="296"/>
                    <a:pt x="121" y="296"/>
                    <a:pt x="121" y="296"/>
                  </a:cubicBezTo>
                  <a:cubicBezTo>
                    <a:pt x="121" y="310"/>
                    <a:pt x="115" y="319"/>
                    <a:pt x="105" y="325"/>
                  </a:cubicBezTo>
                  <a:cubicBezTo>
                    <a:pt x="161" y="378"/>
                    <a:pt x="161" y="378"/>
                    <a:pt x="161" y="378"/>
                  </a:cubicBezTo>
                  <a:cubicBezTo>
                    <a:pt x="134" y="281"/>
                    <a:pt x="134" y="281"/>
                    <a:pt x="134" y="281"/>
                  </a:cubicBezTo>
                  <a:cubicBezTo>
                    <a:pt x="135" y="255"/>
                    <a:pt x="126" y="229"/>
                    <a:pt x="107" y="205"/>
                  </a:cubicBezTo>
                  <a:cubicBezTo>
                    <a:pt x="108" y="183"/>
                    <a:pt x="102" y="157"/>
                    <a:pt x="89" y="128"/>
                  </a:cubicBezTo>
                  <a:cubicBezTo>
                    <a:pt x="88" y="132"/>
                    <a:pt x="87" y="135"/>
                    <a:pt x="86" y="138"/>
                  </a:cubicBezTo>
                  <a:cubicBezTo>
                    <a:pt x="79" y="97"/>
                    <a:pt x="79" y="97"/>
                    <a:pt x="79" y="97"/>
                  </a:cubicBezTo>
                  <a:cubicBezTo>
                    <a:pt x="78" y="121"/>
                    <a:pt x="62" y="142"/>
                    <a:pt x="30" y="160"/>
                  </a:cubicBezTo>
                  <a:cubicBezTo>
                    <a:pt x="59" y="131"/>
                    <a:pt x="71" y="104"/>
                    <a:pt x="65" y="79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1" y="58"/>
                    <a:pt x="44" y="72"/>
                    <a:pt x="35" y="88"/>
                  </a:cubicBezTo>
                  <a:cubicBezTo>
                    <a:pt x="45" y="55"/>
                    <a:pt x="49" y="26"/>
                    <a:pt x="46" y="0"/>
                  </a:cubicBezTo>
                  <a:cubicBezTo>
                    <a:pt x="22" y="27"/>
                    <a:pt x="6" y="75"/>
                    <a:pt x="0" y="144"/>
                  </a:cubicBezTo>
                  <a:cubicBezTo>
                    <a:pt x="33" y="251"/>
                    <a:pt x="33" y="251"/>
                    <a:pt x="33" y="251"/>
                  </a:cubicBezTo>
                  <a:cubicBezTo>
                    <a:pt x="35" y="249"/>
                    <a:pt x="37" y="249"/>
                    <a:pt x="39" y="248"/>
                  </a:cubicBezTo>
                  <a:cubicBezTo>
                    <a:pt x="65" y="239"/>
                    <a:pt x="80" y="239"/>
                    <a:pt x="83" y="248"/>
                  </a:cubicBezTo>
                  <a:cubicBezTo>
                    <a:pt x="86" y="255"/>
                    <a:pt x="82" y="261"/>
                    <a:pt x="72" y="264"/>
                  </a:cubicBezTo>
                  <a:cubicBezTo>
                    <a:pt x="61" y="267"/>
                    <a:pt x="53" y="271"/>
                    <a:pt x="46" y="274"/>
                  </a:cubicBezTo>
                  <a:cubicBezTo>
                    <a:pt x="50" y="281"/>
                    <a:pt x="50" y="281"/>
                    <a:pt x="50" y="281"/>
                  </a:cubicBezTo>
                  <a:cubicBezTo>
                    <a:pt x="85" y="270"/>
                    <a:pt x="85" y="270"/>
                    <a:pt x="85" y="270"/>
                  </a:cubicBezTo>
                  <a:cubicBezTo>
                    <a:pt x="99" y="265"/>
                    <a:pt x="108" y="265"/>
                    <a:pt x="113" y="270"/>
                  </a:cubicBezTo>
                  <a:close/>
                  <a:moveTo>
                    <a:pt x="4" y="143"/>
                  </a:moveTo>
                  <a:cubicBezTo>
                    <a:pt x="4" y="139"/>
                    <a:pt x="4" y="136"/>
                    <a:pt x="5" y="132"/>
                  </a:cubicBezTo>
                  <a:cubicBezTo>
                    <a:pt x="43" y="243"/>
                    <a:pt x="43" y="243"/>
                    <a:pt x="43" y="243"/>
                  </a:cubicBezTo>
                  <a:cubicBezTo>
                    <a:pt x="42" y="244"/>
                    <a:pt x="40" y="244"/>
                    <a:pt x="38" y="245"/>
                  </a:cubicBezTo>
                  <a:cubicBezTo>
                    <a:pt x="38" y="245"/>
                    <a:pt x="38" y="245"/>
                    <a:pt x="38" y="245"/>
                  </a:cubicBezTo>
                  <a:cubicBezTo>
                    <a:pt x="37" y="245"/>
                    <a:pt x="36" y="246"/>
                    <a:pt x="35" y="246"/>
                  </a:cubicBezTo>
                  <a:cubicBezTo>
                    <a:pt x="4" y="143"/>
                    <a:pt x="4" y="143"/>
                    <a:pt x="4" y="143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MH_Other_29"/>
            <p:cNvSpPr/>
            <p:nvPr>
              <p:custDataLst>
                <p:tags r:id="rId17"/>
              </p:custDataLst>
            </p:nvPr>
          </p:nvSpPr>
          <p:spPr bwMode="auto">
            <a:xfrm>
              <a:off x="7626350" y="5284788"/>
              <a:ext cx="49213" cy="142875"/>
            </a:xfrm>
            <a:custGeom>
              <a:avLst/>
              <a:gdLst>
                <a:gd name="T0" fmla="*/ 1 w 39"/>
                <a:gd name="T1" fmla="*/ 0 h 114"/>
                <a:gd name="T2" fmla="*/ 0 w 39"/>
                <a:gd name="T3" fmla="*/ 11 h 114"/>
                <a:gd name="T4" fmla="*/ 31 w 39"/>
                <a:gd name="T5" fmla="*/ 114 h 114"/>
                <a:gd name="T6" fmla="*/ 34 w 39"/>
                <a:gd name="T7" fmla="*/ 113 h 114"/>
                <a:gd name="T8" fmla="*/ 34 w 39"/>
                <a:gd name="T9" fmla="*/ 113 h 114"/>
                <a:gd name="T10" fmla="*/ 39 w 39"/>
                <a:gd name="T11" fmla="*/ 111 h 114"/>
                <a:gd name="T12" fmla="*/ 1 w 39"/>
                <a:gd name="T1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114">
                  <a:moveTo>
                    <a:pt x="1" y="0"/>
                  </a:moveTo>
                  <a:cubicBezTo>
                    <a:pt x="0" y="4"/>
                    <a:pt x="0" y="7"/>
                    <a:pt x="0" y="11"/>
                  </a:cubicBezTo>
                  <a:cubicBezTo>
                    <a:pt x="31" y="114"/>
                    <a:pt x="31" y="114"/>
                    <a:pt x="31" y="114"/>
                  </a:cubicBezTo>
                  <a:cubicBezTo>
                    <a:pt x="32" y="114"/>
                    <a:pt x="33" y="113"/>
                    <a:pt x="34" y="113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6" y="112"/>
                    <a:pt x="38" y="112"/>
                    <a:pt x="39" y="11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29" name="MH_Other_30"/>
            <p:cNvSpPr/>
            <p:nvPr>
              <p:custDataLst>
                <p:tags r:id="rId18"/>
              </p:custDataLst>
            </p:nvPr>
          </p:nvSpPr>
          <p:spPr bwMode="auto">
            <a:xfrm>
              <a:off x="7643813" y="5457825"/>
              <a:ext cx="122237" cy="63500"/>
            </a:xfrm>
            <a:custGeom>
              <a:avLst/>
              <a:gdLst>
                <a:gd name="T0" fmla="*/ 97 w 98"/>
                <a:gd name="T1" fmla="*/ 5 h 52"/>
                <a:gd name="T2" fmla="*/ 95 w 98"/>
                <a:gd name="T3" fmla="*/ 0 h 52"/>
                <a:gd name="T4" fmla="*/ 6 w 98"/>
                <a:gd name="T5" fmla="*/ 34 h 52"/>
                <a:gd name="T6" fmla="*/ 0 w 98"/>
                <a:gd name="T7" fmla="*/ 52 h 52"/>
                <a:gd name="T8" fmla="*/ 77 w 98"/>
                <a:gd name="T9" fmla="*/ 20 h 52"/>
                <a:gd name="T10" fmla="*/ 82 w 98"/>
                <a:gd name="T11" fmla="*/ 18 h 52"/>
                <a:gd name="T12" fmla="*/ 82 w 98"/>
                <a:gd name="T13" fmla="*/ 18 h 52"/>
                <a:gd name="T14" fmla="*/ 98 w 98"/>
                <a:gd name="T15" fmla="*/ 10 h 52"/>
                <a:gd name="T16" fmla="*/ 97 w 98"/>
                <a:gd name="T17" fmla="*/ 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52">
                  <a:moveTo>
                    <a:pt x="97" y="5"/>
                  </a:moveTo>
                  <a:cubicBezTo>
                    <a:pt x="97" y="3"/>
                    <a:pt x="96" y="1"/>
                    <a:pt x="95" y="0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91" y="17"/>
                    <a:pt x="97" y="15"/>
                    <a:pt x="98" y="10"/>
                  </a:cubicBezTo>
                  <a:cubicBezTo>
                    <a:pt x="98" y="9"/>
                    <a:pt x="98" y="7"/>
                    <a:pt x="97" y="5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MH_Other_31"/>
            <p:cNvSpPr/>
            <p:nvPr>
              <p:custDataLst>
                <p:tags r:id="rId19"/>
              </p:custDataLst>
            </p:nvPr>
          </p:nvSpPr>
          <p:spPr bwMode="auto">
            <a:xfrm>
              <a:off x="7659688" y="5121275"/>
              <a:ext cx="198437" cy="508000"/>
            </a:xfrm>
            <a:custGeom>
              <a:avLst/>
              <a:gdLst>
                <a:gd name="T0" fmla="*/ 75 w 161"/>
                <a:gd name="T1" fmla="*/ 325 h 409"/>
                <a:gd name="T2" fmla="*/ 91 w 161"/>
                <a:gd name="T3" fmla="*/ 296 h 409"/>
                <a:gd name="T4" fmla="*/ 86 w 161"/>
                <a:gd name="T5" fmla="*/ 280 h 409"/>
                <a:gd name="T6" fmla="*/ 70 w 161"/>
                <a:gd name="T7" fmla="*/ 288 h 409"/>
                <a:gd name="T8" fmla="*/ 70 w 161"/>
                <a:gd name="T9" fmla="*/ 290 h 409"/>
                <a:gd name="T10" fmla="*/ 82 w 161"/>
                <a:gd name="T11" fmla="*/ 297 h 409"/>
                <a:gd name="T12" fmla="*/ 70 w 161"/>
                <a:gd name="T13" fmla="*/ 312 h 409"/>
                <a:gd name="T14" fmla="*/ 49 w 161"/>
                <a:gd name="T15" fmla="*/ 322 h 409"/>
                <a:gd name="T16" fmla="*/ 57 w 161"/>
                <a:gd name="T17" fmla="*/ 326 h 409"/>
                <a:gd name="T18" fmla="*/ 151 w 161"/>
                <a:gd name="T19" fmla="*/ 409 h 409"/>
                <a:gd name="T20" fmla="*/ 161 w 161"/>
                <a:gd name="T21" fmla="*/ 375 h 409"/>
                <a:gd name="T22" fmla="*/ 117 w 161"/>
                <a:gd name="T23" fmla="*/ 273 h 409"/>
                <a:gd name="T24" fmla="*/ 87 w 161"/>
                <a:gd name="T25" fmla="*/ 200 h 409"/>
                <a:gd name="T26" fmla="*/ 60 w 161"/>
                <a:gd name="T27" fmla="*/ 116 h 409"/>
                <a:gd name="T28" fmla="*/ 56 w 161"/>
                <a:gd name="T29" fmla="*/ 94 h 409"/>
                <a:gd name="T30" fmla="*/ 48 w 161"/>
                <a:gd name="T31" fmla="*/ 82 h 409"/>
                <a:gd name="T32" fmla="*/ 29 w 161"/>
                <a:gd name="T33" fmla="*/ 36 h 409"/>
                <a:gd name="T34" fmla="*/ 29 w 161"/>
                <a:gd name="T35" fmla="*/ 11 h 409"/>
                <a:gd name="T36" fmla="*/ 16 w 161"/>
                <a:gd name="T37" fmla="*/ 0 h 409"/>
                <a:gd name="T38" fmla="*/ 5 w 161"/>
                <a:gd name="T39" fmla="*/ 88 h 409"/>
                <a:gd name="T40" fmla="*/ 25 w 161"/>
                <a:gd name="T41" fmla="*/ 46 h 409"/>
                <a:gd name="T42" fmla="*/ 35 w 161"/>
                <a:gd name="T43" fmla="*/ 79 h 409"/>
                <a:gd name="T44" fmla="*/ 0 w 161"/>
                <a:gd name="T45" fmla="*/ 160 h 409"/>
                <a:gd name="T46" fmla="*/ 49 w 161"/>
                <a:gd name="T47" fmla="*/ 97 h 409"/>
                <a:gd name="T48" fmla="*/ 56 w 161"/>
                <a:gd name="T49" fmla="*/ 138 h 409"/>
                <a:gd name="T50" fmla="*/ 59 w 161"/>
                <a:gd name="T51" fmla="*/ 128 h 409"/>
                <a:gd name="T52" fmla="*/ 77 w 161"/>
                <a:gd name="T53" fmla="*/ 205 h 409"/>
                <a:gd name="T54" fmla="*/ 104 w 161"/>
                <a:gd name="T55" fmla="*/ 281 h 409"/>
                <a:gd name="T56" fmla="*/ 131 w 161"/>
                <a:gd name="T57" fmla="*/ 378 h 409"/>
                <a:gd name="T58" fmla="*/ 75 w 161"/>
                <a:gd name="T59" fmla="*/ 325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1" h="409">
                  <a:moveTo>
                    <a:pt x="75" y="325"/>
                  </a:moveTo>
                  <a:cubicBezTo>
                    <a:pt x="85" y="319"/>
                    <a:pt x="91" y="310"/>
                    <a:pt x="91" y="296"/>
                  </a:cubicBezTo>
                  <a:cubicBezTo>
                    <a:pt x="86" y="280"/>
                    <a:pt x="86" y="280"/>
                    <a:pt x="86" y="280"/>
                  </a:cubicBezTo>
                  <a:cubicBezTo>
                    <a:pt x="85" y="285"/>
                    <a:pt x="79" y="287"/>
                    <a:pt x="70" y="288"/>
                  </a:cubicBezTo>
                  <a:cubicBezTo>
                    <a:pt x="70" y="290"/>
                    <a:pt x="70" y="290"/>
                    <a:pt x="70" y="290"/>
                  </a:cubicBezTo>
                  <a:cubicBezTo>
                    <a:pt x="77" y="289"/>
                    <a:pt x="81" y="292"/>
                    <a:pt x="82" y="297"/>
                  </a:cubicBezTo>
                  <a:cubicBezTo>
                    <a:pt x="83" y="304"/>
                    <a:pt x="79" y="309"/>
                    <a:pt x="70" y="312"/>
                  </a:cubicBezTo>
                  <a:cubicBezTo>
                    <a:pt x="49" y="322"/>
                    <a:pt x="49" y="322"/>
                    <a:pt x="49" y="322"/>
                  </a:cubicBezTo>
                  <a:cubicBezTo>
                    <a:pt x="55" y="321"/>
                    <a:pt x="58" y="322"/>
                    <a:pt x="57" y="326"/>
                  </a:cubicBezTo>
                  <a:cubicBezTo>
                    <a:pt x="151" y="409"/>
                    <a:pt x="151" y="409"/>
                    <a:pt x="151" y="409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50" y="336"/>
                    <a:pt x="135" y="302"/>
                    <a:pt x="117" y="273"/>
                  </a:cubicBezTo>
                  <a:cubicBezTo>
                    <a:pt x="124" y="253"/>
                    <a:pt x="115" y="229"/>
                    <a:pt x="87" y="200"/>
                  </a:cubicBezTo>
                  <a:cubicBezTo>
                    <a:pt x="83" y="166"/>
                    <a:pt x="74" y="137"/>
                    <a:pt x="60" y="116"/>
                  </a:cubicBezTo>
                  <a:cubicBezTo>
                    <a:pt x="60" y="108"/>
                    <a:pt x="58" y="101"/>
                    <a:pt x="56" y="94"/>
                  </a:cubicBezTo>
                  <a:cubicBezTo>
                    <a:pt x="48" y="82"/>
                    <a:pt x="48" y="82"/>
                    <a:pt x="48" y="82"/>
                  </a:cubicBezTo>
                  <a:cubicBezTo>
                    <a:pt x="44" y="65"/>
                    <a:pt x="38" y="49"/>
                    <a:pt x="29" y="36"/>
                  </a:cubicBezTo>
                  <a:cubicBezTo>
                    <a:pt x="31" y="26"/>
                    <a:pt x="31" y="18"/>
                    <a:pt x="29" y="11"/>
                  </a:cubicBezTo>
                  <a:cubicBezTo>
                    <a:pt x="25" y="8"/>
                    <a:pt x="21" y="4"/>
                    <a:pt x="16" y="0"/>
                  </a:cubicBezTo>
                  <a:cubicBezTo>
                    <a:pt x="19" y="26"/>
                    <a:pt x="15" y="55"/>
                    <a:pt x="5" y="88"/>
                  </a:cubicBezTo>
                  <a:cubicBezTo>
                    <a:pt x="14" y="72"/>
                    <a:pt x="21" y="58"/>
                    <a:pt x="25" y="46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41" y="104"/>
                    <a:pt x="29" y="131"/>
                    <a:pt x="0" y="160"/>
                  </a:cubicBezTo>
                  <a:cubicBezTo>
                    <a:pt x="32" y="142"/>
                    <a:pt x="48" y="121"/>
                    <a:pt x="49" y="97"/>
                  </a:cubicBezTo>
                  <a:cubicBezTo>
                    <a:pt x="56" y="138"/>
                    <a:pt x="56" y="138"/>
                    <a:pt x="56" y="138"/>
                  </a:cubicBezTo>
                  <a:cubicBezTo>
                    <a:pt x="57" y="135"/>
                    <a:pt x="58" y="132"/>
                    <a:pt x="59" y="128"/>
                  </a:cubicBezTo>
                  <a:cubicBezTo>
                    <a:pt x="72" y="157"/>
                    <a:pt x="78" y="183"/>
                    <a:pt x="77" y="205"/>
                  </a:cubicBezTo>
                  <a:cubicBezTo>
                    <a:pt x="96" y="229"/>
                    <a:pt x="105" y="255"/>
                    <a:pt x="104" y="281"/>
                  </a:cubicBezTo>
                  <a:cubicBezTo>
                    <a:pt x="131" y="378"/>
                    <a:pt x="131" y="378"/>
                    <a:pt x="131" y="378"/>
                  </a:cubicBezTo>
                  <a:cubicBezTo>
                    <a:pt x="75" y="325"/>
                    <a:pt x="75" y="325"/>
                    <a:pt x="75" y="325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4" name="MH_Other_32"/>
            <p:cNvSpPr/>
            <p:nvPr>
              <p:custDataLst>
                <p:tags r:id="rId20"/>
              </p:custDataLst>
            </p:nvPr>
          </p:nvSpPr>
          <p:spPr bwMode="auto">
            <a:xfrm>
              <a:off x="7786688" y="5472113"/>
              <a:ext cx="358775" cy="365125"/>
            </a:xfrm>
            <a:custGeom>
              <a:avLst/>
              <a:gdLst>
                <a:gd name="T0" fmla="*/ 80 w 290"/>
                <a:gd name="T1" fmla="*/ 22 h 294"/>
                <a:gd name="T2" fmla="*/ 59 w 290"/>
                <a:gd name="T3" fmla="*/ 93 h 294"/>
                <a:gd name="T4" fmla="*/ 49 w 290"/>
                <a:gd name="T5" fmla="*/ 127 h 294"/>
                <a:gd name="T6" fmla="*/ 23 w 290"/>
                <a:gd name="T7" fmla="*/ 151 h 294"/>
                <a:gd name="T8" fmla="*/ 31 w 290"/>
                <a:gd name="T9" fmla="*/ 158 h 294"/>
                <a:gd name="T10" fmla="*/ 25 w 290"/>
                <a:gd name="T11" fmla="*/ 163 h 294"/>
                <a:gd name="T12" fmla="*/ 33 w 290"/>
                <a:gd name="T13" fmla="*/ 172 h 294"/>
                <a:gd name="T14" fmla="*/ 36 w 290"/>
                <a:gd name="T15" fmla="*/ 173 h 294"/>
                <a:gd name="T16" fmla="*/ 20 w 290"/>
                <a:gd name="T17" fmla="*/ 226 h 294"/>
                <a:gd name="T18" fmla="*/ 17 w 290"/>
                <a:gd name="T19" fmla="*/ 235 h 294"/>
                <a:gd name="T20" fmla="*/ 0 w 290"/>
                <a:gd name="T21" fmla="*/ 294 h 294"/>
                <a:gd name="T22" fmla="*/ 18 w 290"/>
                <a:gd name="T23" fmla="*/ 294 h 294"/>
                <a:gd name="T24" fmla="*/ 94 w 290"/>
                <a:gd name="T25" fmla="*/ 32 h 294"/>
                <a:gd name="T26" fmla="*/ 290 w 290"/>
                <a:gd name="T27" fmla="*/ 8 h 294"/>
                <a:gd name="T28" fmla="*/ 269 w 290"/>
                <a:gd name="T29" fmla="*/ 0 h 294"/>
                <a:gd name="T30" fmla="*/ 80 w 290"/>
                <a:gd name="T31" fmla="*/ 2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0" h="294">
                  <a:moveTo>
                    <a:pt x="80" y="22"/>
                  </a:moveTo>
                  <a:cubicBezTo>
                    <a:pt x="59" y="93"/>
                    <a:pt x="59" y="93"/>
                    <a:pt x="59" y="93"/>
                  </a:cubicBezTo>
                  <a:cubicBezTo>
                    <a:pt x="49" y="127"/>
                    <a:pt x="49" y="127"/>
                    <a:pt x="49" y="127"/>
                  </a:cubicBezTo>
                  <a:cubicBezTo>
                    <a:pt x="41" y="135"/>
                    <a:pt x="32" y="143"/>
                    <a:pt x="23" y="151"/>
                  </a:cubicBezTo>
                  <a:cubicBezTo>
                    <a:pt x="31" y="158"/>
                    <a:pt x="31" y="158"/>
                    <a:pt x="31" y="158"/>
                  </a:cubicBezTo>
                  <a:cubicBezTo>
                    <a:pt x="29" y="159"/>
                    <a:pt x="27" y="161"/>
                    <a:pt x="25" y="163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6" y="173"/>
                    <a:pt x="36" y="173"/>
                    <a:pt x="36" y="173"/>
                  </a:cubicBezTo>
                  <a:cubicBezTo>
                    <a:pt x="20" y="226"/>
                    <a:pt x="20" y="226"/>
                    <a:pt x="20" y="226"/>
                  </a:cubicBezTo>
                  <a:cubicBezTo>
                    <a:pt x="17" y="235"/>
                    <a:pt x="17" y="235"/>
                    <a:pt x="17" y="23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18" y="294"/>
                    <a:pt x="18" y="294"/>
                    <a:pt x="18" y="294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290" y="8"/>
                    <a:pt x="290" y="8"/>
                    <a:pt x="290" y="8"/>
                  </a:cubicBezTo>
                  <a:cubicBezTo>
                    <a:pt x="269" y="0"/>
                    <a:pt x="269" y="0"/>
                    <a:pt x="269" y="0"/>
                  </a:cubicBezTo>
                  <a:cubicBezTo>
                    <a:pt x="80" y="22"/>
                    <a:pt x="80" y="22"/>
                    <a:pt x="80" y="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5" name="MH_Other_33"/>
            <p:cNvSpPr/>
            <p:nvPr>
              <p:custDataLst>
                <p:tags r:id="rId21"/>
              </p:custDataLst>
            </p:nvPr>
          </p:nvSpPr>
          <p:spPr bwMode="auto">
            <a:xfrm>
              <a:off x="7013575" y="5684838"/>
              <a:ext cx="817563" cy="152400"/>
            </a:xfrm>
            <a:custGeom>
              <a:avLst/>
              <a:gdLst>
                <a:gd name="T0" fmla="*/ 657 w 657"/>
                <a:gd name="T1" fmla="*/ 1 h 122"/>
                <a:gd name="T2" fmla="*/ 654 w 657"/>
                <a:gd name="T3" fmla="*/ 0 h 122"/>
                <a:gd name="T4" fmla="*/ 551 w 657"/>
                <a:gd name="T5" fmla="*/ 63 h 122"/>
                <a:gd name="T6" fmla="*/ 549 w 657"/>
                <a:gd name="T7" fmla="*/ 63 h 122"/>
                <a:gd name="T8" fmla="*/ 499 w 657"/>
                <a:gd name="T9" fmla="*/ 79 h 122"/>
                <a:gd name="T10" fmla="*/ 332 w 657"/>
                <a:gd name="T11" fmla="*/ 104 h 122"/>
                <a:gd name="T12" fmla="*/ 323 w 657"/>
                <a:gd name="T13" fmla="*/ 65 h 122"/>
                <a:gd name="T14" fmla="*/ 290 w 657"/>
                <a:gd name="T15" fmla="*/ 69 h 122"/>
                <a:gd name="T16" fmla="*/ 286 w 657"/>
                <a:gd name="T17" fmla="*/ 73 h 122"/>
                <a:gd name="T18" fmla="*/ 274 w 657"/>
                <a:gd name="T19" fmla="*/ 73 h 122"/>
                <a:gd name="T20" fmla="*/ 222 w 657"/>
                <a:gd name="T21" fmla="*/ 110 h 122"/>
                <a:gd name="T22" fmla="*/ 104 w 657"/>
                <a:gd name="T23" fmla="*/ 98 h 122"/>
                <a:gd name="T24" fmla="*/ 0 w 657"/>
                <a:gd name="T25" fmla="*/ 122 h 122"/>
                <a:gd name="T26" fmla="*/ 399 w 657"/>
                <a:gd name="T27" fmla="*/ 122 h 122"/>
                <a:gd name="T28" fmla="*/ 399 w 657"/>
                <a:gd name="T29" fmla="*/ 108 h 122"/>
                <a:gd name="T30" fmla="*/ 623 w 657"/>
                <a:gd name="T31" fmla="*/ 54 h 122"/>
                <a:gd name="T32" fmla="*/ 641 w 657"/>
                <a:gd name="T33" fmla="*/ 54 h 122"/>
                <a:gd name="T34" fmla="*/ 657 w 657"/>
                <a:gd name="T35" fmla="*/ 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57" h="122">
                  <a:moveTo>
                    <a:pt x="657" y="1"/>
                  </a:moveTo>
                  <a:cubicBezTo>
                    <a:pt x="654" y="0"/>
                    <a:pt x="654" y="0"/>
                    <a:pt x="654" y="0"/>
                  </a:cubicBezTo>
                  <a:cubicBezTo>
                    <a:pt x="618" y="31"/>
                    <a:pt x="584" y="52"/>
                    <a:pt x="551" y="63"/>
                  </a:cubicBezTo>
                  <a:cubicBezTo>
                    <a:pt x="549" y="63"/>
                    <a:pt x="549" y="63"/>
                    <a:pt x="549" y="63"/>
                  </a:cubicBezTo>
                  <a:cubicBezTo>
                    <a:pt x="533" y="70"/>
                    <a:pt x="517" y="75"/>
                    <a:pt x="499" y="79"/>
                  </a:cubicBezTo>
                  <a:cubicBezTo>
                    <a:pt x="443" y="90"/>
                    <a:pt x="388" y="98"/>
                    <a:pt x="332" y="104"/>
                  </a:cubicBezTo>
                  <a:cubicBezTo>
                    <a:pt x="323" y="65"/>
                    <a:pt x="323" y="65"/>
                    <a:pt x="323" y="65"/>
                  </a:cubicBezTo>
                  <a:cubicBezTo>
                    <a:pt x="290" y="69"/>
                    <a:pt x="290" y="69"/>
                    <a:pt x="290" y="69"/>
                  </a:cubicBezTo>
                  <a:cubicBezTo>
                    <a:pt x="286" y="73"/>
                    <a:pt x="286" y="73"/>
                    <a:pt x="286" y="73"/>
                  </a:cubicBezTo>
                  <a:cubicBezTo>
                    <a:pt x="274" y="73"/>
                    <a:pt x="274" y="73"/>
                    <a:pt x="274" y="73"/>
                  </a:cubicBezTo>
                  <a:cubicBezTo>
                    <a:pt x="222" y="110"/>
                    <a:pt x="222" y="110"/>
                    <a:pt x="222" y="110"/>
                  </a:cubicBezTo>
                  <a:cubicBezTo>
                    <a:pt x="182" y="114"/>
                    <a:pt x="143" y="110"/>
                    <a:pt x="104" y="98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399" y="122"/>
                    <a:pt x="399" y="122"/>
                    <a:pt x="399" y="122"/>
                  </a:cubicBezTo>
                  <a:cubicBezTo>
                    <a:pt x="399" y="108"/>
                    <a:pt x="399" y="108"/>
                    <a:pt x="399" y="108"/>
                  </a:cubicBezTo>
                  <a:cubicBezTo>
                    <a:pt x="623" y="54"/>
                    <a:pt x="623" y="54"/>
                    <a:pt x="623" y="54"/>
                  </a:cubicBezTo>
                  <a:cubicBezTo>
                    <a:pt x="641" y="54"/>
                    <a:pt x="641" y="54"/>
                    <a:pt x="641" y="54"/>
                  </a:cubicBezTo>
                  <a:cubicBezTo>
                    <a:pt x="657" y="1"/>
                    <a:pt x="657" y="1"/>
                    <a:pt x="6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6" name="MH_Other_34"/>
            <p:cNvSpPr/>
            <p:nvPr>
              <p:custDataLst>
                <p:tags r:id="rId22"/>
              </p:custDataLst>
            </p:nvPr>
          </p:nvSpPr>
          <p:spPr bwMode="auto">
            <a:xfrm>
              <a:off x="7510463" y="5753100"/>
              <a:ext cx="300037" cy="84138"/>
            </a:xfrm>
            <a:custGeom>
              <a:avLst/>
              <a:gdLst>
                <a:gd name="T0" fmla="*/ 193 w 196"/>
                <a:gd name="T1" fmla="*/ 7 h 55"/>
                <a:gd name="T2" fmla="*/ 196 w 196"/>
                <a:gd name="T3" fmla="*/ 0 h 55"/>
                <a:gd name="T4" fmla="*/ 181 w 196"/>
                <a:gd name="T5" fmla="*/ 0 h 55"/>
                <a:gd name="T6" fmla="*/ 0 w 196"/>
                <a:gd name="T7" fmla="*/ 44 h 55"/>
                <a:gd name="T8" fmla="*/ 55 w 196"/>
                <a:gd name="T9" fmla="*/ 55 h 55"/>
                <a:gd name="T10" fmla="*/ 95 w 196"/>
                <a:gd name="T11" fmla="*/ 55 h 55"/>
                <a:gd name="T12" fmla="*/ 48 w 196"/>
                <a:gd name="T13" fmla="*/ 43 h 55"/>
                <a:gd name="T14" fmla="*/ 193 w 196"/>
                <a:gd name="T15" fmla="*/ 7 h 55"/>
                <a:gd name="T16" fmla="*/ 193 w 196"/>
                <a:gd name="T17" fmla="*/ 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55">
                  <a:moveTo>
                    <a:pt x="193" y="7"/>
                  </a:moveTo>
                  <a:lnTo>
                    <a:pt x="196" y="0"/>
                  </a:lnTo>
                  <a:lnTo>
                    <a:pt x="181" y="0"/>
                  </a:lnTo>
                  <a:lnTo>
                    <a:pt x="0" y="44"/>
                  </a:lnTo>
                  <a:lnTo>
                    <a:pt x="55" y="55"/>
                  </a:lnTo>
                  <a:lnTo>
                    <a:pt x="95" y="55"/>
                  </a:lnTo>
                  <a:lnTo>
                    <a:pt x="48" y="43"/>
                  </a:lnTo>
                  <a:lnTo>
                    <a:pt x="193" y="7"/>
                  </a:lnTo>
                  <a:lnTo>
                    <a:pt x="193" y="7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7" name="MH_Other_35"/>
            <p:cNvSpPr/>
            <p:nvPr>
              <p:custDataLst>
                <p:tags r:id="rId23"/>
              </p:custDataLst>
            </p:nvPr>
          </p:nvSpPr>
          <p:spPr bwMode="auto">
            <a:xfrm>
              <a:off x="7418388" y="5673725"/>
              <a:ext cx="407987" cy="128588"/>
            </a:xfrm>
            <a:custGeom>
              <a:avLst/>
              <a:gdLst>
                <a:gd name="T0" fmla="*/ 329 w 329"/>
                <a:gd name="T1" fmla="*/ 9 h 103"/>
                <a:gd name="T2" fmla="*/ 321 w 329"/>
                <a:gd name="T3" fmla="*/ 0 h 103"/>
                <a:gd name="T4" fmla="*/ 243 w 329"/>
                <a:gd name="T5" fmla="*/ 52 h 103"/>
                <a:gd name="T6" fmla="*/ 108 w 329"/>
                <a:gd name="T7" fmla="*/ 91 h 103"/>
                <a:gd name="T8" fmla="*/ 27 w 329"/>
                <a:gd name="T9" fmla="*/ 99 h 103"/>
                <a:gd name="T10" fmla="*/ 26 w 329"/>
                <a:gd name="T11" fmla="*/ 96 h 103"/>
                <a:gd name="T12" fmla="*/ 20 w 329"/>
                <a:gd name="T13" fmla="*/ 96 h 103"/>
                <a:gd name="T14" fmla="*/ 5 w 329"/>
                <a:gd name="T15" fmla="*/ 59 h 103"/>
                <a:gd name="T16" fmla="*/ 0 w 329"/>
                <a:gd name="T17" fmla="*/ 60 h 103"/>
                <a:gd name="T18" fmla="*/ 17 w 329"/>
                <a:gd name="T19" fmla="*/ 103 h 103"/>
                <a:gd name="T20" fmla="*/ 206 w 329"/>
                <a:gd name="T21" fmla="*/ 76 h 103"/>
                <a:gd name="T22" fmla="*/ 224 w 329"/>
                <a:gd name="T23" fmla="*/ 72 h 103"/>
                <a:gd name="T24" fmla="*/ 226 w 329"/>
                <a:gd name="T25" fmla="*/ 72 h 103"/>
                <a:gd name="T26" fmla="*/ 329 w 329"/>
                <a:gd name="T27" fmla="*/ 9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9" h="103">
                  <a:moveTo>
                    <a:pt x="329" y="9"/>
                  </a:moveTo>
                  <a:cubicBezTo>
                    <a:pt x="321" y="0"/>
                    <a:pt x="321" y="0"/>
                    <a:pt x="321" y="0"/>
                  </a:cubicBezTo>
                  <a:cubicBezTo>
                    <a:pt x="297" y="21"/>
                    <a:pt x="271" y="38"/>
                    <a:pt x="243" y="52"/>
                  </a:cubicBezTo>
                  <a:cubicBezTo>
                    <a:pt x="204" y="74"/>
                    <a:pt x="159" y="87"/>
                    <a:pt x="108" y="91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4" y="96"/>
                    <a:pt x="22" y="96"/>
                    <a:pt x="20" y="96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4" y="59"/>
                    <a:pt x="2" y="60"/>
                    <a:pt x="0" y="60"/>
                  </a:cubicBezTo>
                  <a:cubicBezTo>
                    <a:pt x="17" y="103"/>
                    <a:pt x="17" y="103"/>
                    <a:pt x="17" y="103"/>
                  </a:cubicBezTo>
                  <a:cubicBezTo>
                    <a:pt x="80" y="100"/>
                    <a:pt x="143" y="91"/>
                    <a:pt x="206" y="76"/>
                  </a:cubicBezTo>
                  <a:cubicBezTo>
                    <a:pt x="212" y="75"/>
                    <a:pt x="218" y="74"/>
                    <a:pt x="224" y="72"/>
                  </a:cubicBezTo>
                  <a:cubicBezTo>
                    <a:pt x="226" y="72"/>
                    <a:pt x="226" y="72"/>
                    <a:pt x="226" y="72"/>
                  </a:cubicBezTo>
                  <a:cubicBezTo>
                    <a:pt x="259" y="61"/>
                    <a:pt x="293" y="40"/>
                    <a:pt x="329" y="9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39" name="MH_Other_36"/>
            <p:cNvSpPr/>
            <p:nvPr>
              <p:custDataLst>
                <p:tags r:id="rId24"/>
              </p:custDataLst>
            </p:nvPr>
          </p:nvSpPr>
          <p:spPr bwMode="auto">
            <a:xfrm>
              <a:off x="7451725" y="5659438"/>
              <a:ext cx="373063" cy="138112"/>
            </a:xfrm>
            <a:custGeom>
              <a:avLst/>
              <a:gdLst>
                <a:gd name="T0" fmla="*/ 295 w 301"/>
                <a:gd name="T1" fmla="*/ 12 h 111"/>
                <a:gd name="T2" fmla="*/ 301 w 301"/>
                <a:gd name="T3" fmla="*/ 7 h 111"/>
                <a:gd name="T4" fmla="*/ 293 w 301"/>
                <a:gd name="T5" fmla="*/ 0 h 111"/>
                <a:gd name="T6" fmla="*/ 183 w 301"/>
                <a:gd name="T7" fmla="*/ 69 h 111"/>
                <a:gd name="T8" fmla="*/ 0 w 301"/>
                <a:gd name="T9" fmla="*/ 108 h 111"/>
                <a:gd name="T10" fmla="*/ 1 w 301"/>
                <a:gd name="T11" fmla="*/ 111 h 111"/>
                <a:gd name="T12" fmla="*/ 82 w 301"/>
                <a:gd name="T13" fmla="*/ 103 h 111"/>
                <a:gd name="T14" fmla="*/ 217 w 301"/>
                <a:gd name="T15" fmla="*/ 64 h 111"/>
                <a:gd name="T16" fmla="*/ 295 w 301"/>
                <a:gd name="T17" fmla="*/ 1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1" h="111">
                  <a:moveTo>
                    <a:pt x="295" y="12"/>
                  </a:moveTo>
                  <a:cubicBezTo>
                    <a:pt x="297" y="10"/>
                    <a:pt x="299" y="8"/>
                    <a:pt x="301" y="7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61" y="27"/>
                    <a:pt x="225" y="50"/>
                    <a:pt x="183" y="69"/>
                  </a:cubicBezTo>
                  <a:cubicBezTo>
                    <a:pt x="121" y="88"/>
                    <a:pt x="60" y="101"/>
                    <a:pt x="0" y="108"/>
                  </a:cubicBezTo>
                  <a:cubicBezTo>
                    <a:pt x="1" y="111"/>
                    <a:pt x="1" y="111"/>
                    <a:pt x="1" y="111"/>
                  </a:cubicBezTo>
                  <a:cubicBezTo>
                    <a:pt x="82" y="103"/>
                    <a:pt x="82" y="103"/>
                    <a:pt x="82" y="103"/>
                  </a:cubicBezTo>
                  <a:cubicBezTo>
                    <a:pt x="133" y="99"/>
                    <a:pt x="178" y="86"/>
                    <a:pt x="217" y="64"/>
                  </a:cubicBezTo>
                  <a:cubicBezTo>
                    <a:pt x="245" y="50"/>
                    <a:pt x="271" y="33"/>
                    <a:pt x="295" y="12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0" name="MH_Other_37"/>
            <p:cNvSpPr/>
            <p:nvPr>
              <p:custDataLst>
                <p:tags r:id="rId25"/>
              </p:custDataLst>
            </p:nvPr>
          </p:nvSpPr>
          <p:spPr bwMode="auto">
            <a:xfrm>
              <a:off x="7424738" y="5526088"/>
              <a:ext cx="420687" cy="266700"/>
            </a:xfrm>
            <a:custGeom>
              <a:avLst/>
              <a:gdLst>
                <a:gd name="T0" fmla="*/ 314 w 340"/>
                <a:gd name="T1" fmla="*/ 107 h 215"/>
                <a:gd name="T2" fmla="*/ 340 w 340"/>
                <a:gd name="T3" fmla="*/ 83 h 215"/>
                <a:gd name="T4" fmla="*/ 246 w 340"/>
                <a:gd name="T5" fmla="*/ 0 h 215"/>
                <a:gd name="T6" fmla="*/ 245 w 340"/>
                <a:gd name="T7" fmla="*/ 5 h 215"/>
                <a:gd name="T8" fmla="*/ 226 w 340"/>
                <a:gd name="T9" fmla="*/ 21 h 215"/>
                <a:gd name="T10" fmla="*/ 223 w 340"/>
                <a:gd name="T11" fmla="*/ 22 h 215"/>
                <a:gd name="T12" fmla="*/ 138 w 340"/>
                <a:gd name="T13" fmla="*/ 104 h 215"/>
                <a:gd name="T14" fmla="*/ 120 w 340"/>
                <a:gd name="T15" fmla="*/ 124 h 215"/>
                <a:gd name="T16" fmla="*/ 131 w 340"/>
                <a:gd name="T17" fmla="*/ 133 h 215"/>
                <a:gd name="T18" fmla="*/ 131 w 340"/>
                <a:gd name="T19" fmla="*/ 147 h 215"/>
                <a:gd name="T20" fmla="*/ 112 w 340"/>
                <a:gd name="T21" fmla="*/ 145 h 215"/>
                <a:gd name="T22" fmla="*/ 109 w 340"/>
                <a:gd name="T23" fmla="*/ 143 h 215"/>
                <a:gd name="T24" fmla="*/ 106 w 340"/>
                <a:gd name="T25" fmla="*/ 141 h 215"/>
                <a:gd name="T26" fmla="*/ 51 w 340"/>
                <a:gd name="T27" fmla="*/ 164 h 215"/>
                <a:gd name="T28" fmla="*/ 39 w 340"/>
                <a:gd name="T29" fmla="*/ 168 h 215"/>
                <a:gd name="T30" fmla="*/ 38 w 340"/>
                <a:gd name="T31" fmla="*/ 168 h 215"/>
                <a:gd name="T32" fmla="*/ 38 w 340"/>
                <a:gd name="T33" fmla="*/ 168 h 215"/>
                <a:gd name="T34" fmla="*/ 38 w 340"/>
                <a:gd name="T35" fmla="*/ 168 h 215"/>
                <a:gd name="T36" fmla="*/ 38 w 340"/>
                <a:gd name="T37" fmla="*/ 168 h 215"/>
                <a:gd name="T38" fmla="*/ 36 w 340"/>
                <a:gd name="T39" fmla="*/ 169 h 215"/>
                <a:gd name="T40" fmla="*/ 14 w 340"/>
                <a:gd name="T41" fmla="*/ 175 h 215"/>
                <a:gd name="T42" fmla="*/ 9 w 340"/>
                <a:gd name="T43" fmla="*/ 176 h 215"/>
                <a:gd name="T44" fmla="*/ 0 w 340"/>
                <a:gd name="T45" fmla="*/ 178 h 215"/>
                <a:gd name="T46" fmla="*/ 15 w 340"/>
                <a:gd name="T47" fmla="*/ 215 h 215"/>
                <a:gd name="T48" fmla="*/ 21 w 340"/>
                <a:gd name="T49" fmla="*/ 215 h 215"/>
                <a:gd name="T50" fmla="*/ 204 w 340"/>
                <a:gd name="T51" fmla="*/ 176 h 215"/>
                <a:gd name="T52" fmla="*/ 314 w 340"/>
                <a:gd name="T53" fmla="*/ 10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0" h="215">
                  <a:moveTo>
                    <a:pt x="314" y="107"/>
                  </a:moveTo>
                  <a:cubicBezTo>
                    <a:pt x="323" y="99"/>
                    <a:pt x="332" y="91"/>
                    <a:pt x="340" y="83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46" y="2"/>
                    <a:pt x="246" y="3"/>
                    <a:pt x="245" y="5"/>
                  </a:cubicBezTo>
                  <a:cubicBezTo>
                    <a:pt x="241" y="11"/>
                    <a:pt x="235" y="16"/>
                    <a:pt x="226" y="21"/>
                  </a:cubicBezTo>
                  <a:cubicBezTo>
                    <a:pt x="223" y="22"/>
                    <a:pt x="223" y="22"/>
                    <a:pt x="223" y="22"/>
                  </a:cubicBezTo>
                  <a:cubicBezTo>
                    <a:pt x="193" y="50"/>
                    <a:pt x="164" y="77"/>
                    <a:pt x="138" y="104"/>
                  </a:cubicBezTo>
                  <a:cubicBezTo>
                    <a:pt x="133" y="110"/>
                    <a:pt x="127" y="117"/>
                    <a:pt x="120" y="12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8" y="137"/>
                    <a:pt x="138" y="142"/>
                    <a:pt x="131" y="147"/>
                  </a:cubicBezTo>
                  <a:cubicBezTo>
                    <a:pt x="123" y="150"/>
                    <a:pt x="116" y="150"/>
                    <a:pt x="112" y="145"/>
                  </a:cubicBezTo>
                  <a:cubicBezTo>
                    <a:pt x="111" y="145"/>
                    <a:pt x="110" y="144"/>
                    <a:pt x="109" y="143"/>
                  </a:cubicBezTo>
                  <a:cubicBezTo>
                    <a:pt x="108" y="142"/>
                    <a:pt x="107" y="141"/>
                    <a:pt x="106" y="141"/>
                  </a:cubicBezTo>
                  <a:cubicBezTo>
                    <a:pt x="89" y="150"/>
                    <a:pt x="71" y="158"/>
                    <a:pt x="51" y="164"/>
                  </a:cubicBezTo>
                  <a:cubicBezTo>
                    <a:pt x="47" y="166"/>
                    <a:pt x="43" y="167"/>
                    <a:pt x="39" y="168"/>
                  </a:cubicBezTo>
                  <a:cubicBezTo>
                    <a:pt x="39" y="168"/>
                    <a:pt x="39" y="168"/>
                    <a:pt x="38" y="168"/>
                  </a:cubicBezTo>
                  <a:cubicBezTo>
                    <a:pt x="38" y="168"/>
                    <a:pt x="38" y="168"/>
                    <a:pt x="38" y="168"/>
                  </a:cubicBezTo>
                  <a:cubicBezTo>
                    <a:pt x="38" y="168"/>
                    <a:pt x="38" y="168"/>
                    <a:pt x="38" y="168"/>
                  </a:cubicBezTo>
                  <a:cubicBezTo>
                    <a:pt x="38" y="168"/>
                    <a:pt x="38" y="168"/>
                    <a:pt x="38" y="168"/>
                  </a:cubicBezTo>
                  <a:cubicBezTo>
                    <a:pt x="36" y="169"/>
                    <a:pt x="36" y="169"/>
                    <a:pt x="36" y="169"/>
                  </a:cubicBezTo>
                  <a:cubicBezTo>
                    <a:pt x="29" y="171"/>
                    <a:pt x="22" y="173"/>
                    <a:pt x="14" y="175"/>
                  </a:cubicBezTo>
                  <a:cubicBezTo>
                    <a:pt x="13" y="175"/>
                    <a:pt x="11" y="176"/>
                    <a:pt x="9" y="176"/>
                  </a:cubicBezTo>
                  <a:cubicBezTo>
                    <a:pt x="6" y="177"/>
                    <a:pt x="3" y="177"/>
                    <a:pt x="0" y="178"/>
                  </a:cubicBezTo>
                  <a:cubicBezTo>
                    <a:pt x="15" y="215"/>
                    <a:pt x="15" y="215"/>
                    <a:pt x="15" y="215"/>
                  </a:cubicBezTo>
                  <a:cubicBezTo>
                    <a:pt x="17" y="215"/>
                    <a:pt x="19" y="215"/>
                    <a:pt x="21" y="215"/>
                  </a:cubicBezTo>
                  <a:cubicBezTo>
                    <a:pt x="81" y="208"/>
                    <a:pt x="142" y="195"/>
                    <a:pt x="204" y="176"/>
                  </a:cubicBezTo>
                  <a:cubicBezTo>
                    <a:pt x="246" y="157"/>
                    <a:pt x="282" y="134"/>
                    <a:pt x="314" y="1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1" name="MH_Other_38"/>
            <p:cNvSpPr/>
            <p:nvPr>
              <p:custDataLst>
                <p:tags r:id="rId26"/>
              </p:custDataLst>
            </p:nvPr>
          </p:nvSpPr>
          <p:spPr bwMode="auto">
            <a:xfrm>
              <a:off x="7832725" y="5753100"/>
              <a:ext cx="400050" cy="84138"/>
            </a:xfrm>
            <a:custGeom>
              <a:avLst/>
              <a:gdLst>
                <a:gd name="T0" fmla="*/ 184 w 323"/>
                <a:gd name="T1" fmla="*/ 0 h 68"/>
                <a:gd name="T2" fmla="*/ 179 w 323"/>
                <a:gd name="T3" fmla="*/ 16 h 68"/>
                <a:gd name="T4" fmla="*/ 156 w 323"/>
                <a:gd name="T5" fmla="*/ 24 h 68"/>
                <a:gd name="T6" fmla="*/ 0 w 323"/>
                <a:gd name="T7" fmla="*/ 68 h 68"/>
                <a:gd name="T8" fmla="*/ 323 w 323"/>
                <a:gd name="T9" fmla="*/ 68 h 68"/>
                <a:gd name="T10" fmla="*/ 184 w 323"/>
                <a:gd name="T11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68">
                  <a:moveTo>
                    <a:pt x="184" y="0"/>
                  </a:moveTo>
                  <a:cubicBezTo>
                    <a:pt x="179" y="16"/>
                    <a:pt x="179" y="16"/>
                    <a:pt x="179" y="16"/>
                  </a:cubicBezTo>
                  <a:cubicBezTo>
                    <a:pt x="156" y="24"/>
                    <a:pt x="156" y="24"/>
                    <a:pt x="156" y="24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23" y="68"/>
                    <a:pt x="323" y="68"/>
                    <a:pt x="323" y="68"/>
                  </a:cubicBezTo>
                  <a:cubicBezTo>
                    <a:pt x="280" y="38"/>
                    <a:pt x="234" y="16"/>
                    <a:pt x="18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2" name="MH_Other_39"/>
            <p:cNvSpPr/>
            <p:nvPr>
              <p:custDataLst>
                <p:tags r:id="rId27"/>
              </p:custDataLst>
            </p:nvPr>
          </p:nvSpPr>
          <p:spPr bwMode="auto">
            <a:xfrm>
              <a:off x="7807325" y="5481638"/>
              <a:ext cx="338138" cy="355600"/>
            </a:xfrm>
            <a:custGeom>
              <a:avLst/>
              <a:gdLst>
                <a:gd name="T0" fmla="*/ 161 w 221"/>
                <a:gd name="T1" fmla="*/ 190 h 232"/>
                <a:gd name="T2" fmla="*/ 165 w 221"/>
                <a:gd name="T3" fmla="*/ 177 h 232"/>
                <a:gd name="T4" fmla="*/ 221 w 221"/>
                <a:gd name="T5" fmla="*/ 0 h 232"/>
                <a:gd name="T6" fmla="*/ 62 w 221"/>
                <a:gd name="T7" fmla="*/ 20 h 232"/>
                <a:gd name="T8" fmla="*/ 0 w 221"/>
                <a:gd name="T9" fmla="*/ 232 h 232"/>
                <a:gd name="T10" fmla="*/ 16 w 221"/>
                <a:gd name="T11" fmla="*/ 232 h 232"/>
                <a:gd name="T12" fmla="*/ 142 w 221"/>
                <a:gd name="T13" fmla="*/ 196 h 232"/>
                <a:gd name="T14" fmla="*/ 161 w 221"/>
                <a:gd name="T15" fmla="*/ 190 h 232"/>
                <a:gd name="T16" fmla="*/ 161 w 221"/>
                <a:gd name="T17" fmla="*/ 19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1" h="232">
                  <a:moveTo>
                    <a:pt x="161" y="190"/>
                  </a:moveTo>
                  <a:lnTo>
                    <a:pt x="165" y="177"/>
                  </a:lnTo>
                  <a:lnTo>
                    <a:pt x="221" y="0"/>
                  </a:lnTo>
                  <a:lnTo>
                    <a:pt x="62" y="20"/>
                  </a:lnTo>
                  <a:lnTo>
                    <a:pt x="0" y="232"/>
                  </a:lnTo>
                  <a:lnTo>
                    <a:pt x="16" y="232"/>
                  </a:lnTo>
                  <a:lnTo>
                    <a:pt x="142" y="196"/>
                  </a:lnTo>
                  <a:lnTo>
                    <a:pt x="161" y="190"/>
                  </a:lnTo>
                  <a:lnTo>
                    <a:pt x="161" y="190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3" name="MH_Other_40"/>
            <p:cNvSpPr/>
            <p:nvPr>
              <p:custDataLst>
                <p:tags r:id="rId28"/>
              </p:custDataLst>
            </p:nvPr>
          </p:nvSpPr>
          <p:spPr bwMode="auto">
            <a:xfrm>
              <a:off x="7583488" y="5764213"/>
              <a:ext cx="222250" cy="73025"/>
            </a:xfrm>
            <a:custGeom>
              <a:avLst/>
              <a:gdLst>
                <a:gd name="T0" fmla="*/ 132 w 145"/>
                <a:gd name="T1" fmla="*/ 48 h 48"/>
                <a:gd name="T2" fmla="*/ 145 w 145"/>
                <a:gd name="T3" fmla="*/ 0 h 48"/>
                <a:gd name="T4" fmla="*/ 0 w 145"/>
                <a:gd name="T5" fmla="*/ 36 h 48"/>
                <a:gd name="T6" fmla="*/ 47 w 145"/>
                <a:gd name="T7" fmla="*/ 48 h 48"/>
                <a:gd name="T8" fmla="*/ 132 w 145"/>
                <a:gd name="T9" fmla="*/ 48 h 48"/>
                <a:gd name="T10" fmla="*/ 132 w 145"/>
                <a:gd name="T1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5" h="48">
                  <a:moveTo>
                    <a:pt x="132" y="48"/>
                  </a:moveTo>
                  <a:lnTo>
                    <a:pt x="145" y="0"/>
                  </a:lnTo>
                  <a:lnTo>
                    <a:pt x="0" y="36"/>
                  </a:lnTo>
                  <a:lnTo>
                    <a:pt x="47" y="48"/>
                  </a:lnTo>
                  <a:lnTo>
                    <a:pt x="132" y="48"/>
                  </a:lnTo>
                  <a:lnTo>
                    <a:pt x="132" y="48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4" name="MH_Other_41"/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7483475" y="5087938"/>
              <a:ext cx="174625" cy="385762"/>
            </a:xfrm>
            <a:custGeom>
              <a:avLst/>
              <a:gdLst>
                <a:gd name="T0" fmla="*/ 141 w 141"/>
                <a:gd name="T1" fmla="*/ 32 h 311"/>
                <a:gd name="T2" fmla="*/ 98 w 141"/>
                <a:gd name="T3" fmla="*/ 0 h 311"/>
                <a:gd name="T4" fmla="*/ 98 w 141"/>
                <a:gd name="T5" fmla="*/ 8 h 311"/>
                <a:gd name="T6" fmla="*/ 108 w 141"/>
                <a:gd name="T7" fmla="*/ 108 h 311"/>
                <a:gd name="T8" fmla="*/ 37 w 141"/>
                <a:gd name="T9" fmla="*/ 117 h 311"/>
                <a:gd name="T10" fmla="*/ 2 w 141"/>
                <a:gd name="T11" fmla="*/ 173 h 311"/>
                <a:gd name="T12" fmla="*/ 2 w 141"/>
                <a:gd name="T13" fmla="*/ 226 h 311"/>
                <a:gd name="T14" fmla="*/ 23 w 141"/>
                <a:gd name="T15" fmla="*/ 311 h 311"/>
                <a:gd name="T16" fmla="*/ 41 w 141"/>
                <a:gd name="T17" fmla="*/ 277 h 311"/>
                <a:gd name="T18" fmla="*/ 120 w 141"/>
                <a:gd name="T19" fmla="*/ 253 h 311"/>
                <a:gd name="T20" fmla="*/ 100 w 141"/>
                <a:gd name="T21" fmla="*/ 173 h 311"/>
                <a:gd name="T22" fmla="*/ 141 w 141"/>
                <a:gd name="T23" fmla="*/ 32 h 311"/>
                <a:gd name="T24" fmla="*/ 5 w 141"/>
                <a:gd name="T25" fmla="*/ 173 h 311"/>
                <a:gd name="T26" fmla="*/ 7 w 141"/>
                <a:gd name="T27" fmla="*/ 163 h 311"/>
                <a:gd name="T28" fmla="*/ 27 w 141"/>
                <a:gd name="T29" fmla="*/ 295 h 311"/>
                <a:gd name="T30" fmla="*/ 23 w 141"/>
                <a:gd name="T31" fmla="*/ 304 h 311"/>
                <a:gd name="T32" fmla="*/ 5 w 141"/>
                <a:gd name="T33" fmla="*/ 226 h 311"/>
                <a:gd name="T34" fmla="*/ 5 w 141"/>
                <a:gd name="T35" fmla="*/ 173 h 311"/>
                <a:gd name="T36" fmla="*/ 5 w 141"/>
                <a:gd name="T37" fmla="*/ 173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1" h="311">
                  <a:moveTo>
                    <a:pt x="141" y="32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37" y="117"/>
                    <a:pt x="37" y="117"/>
                    <a:pt x="37" y="117"/>
                  </a:cubicBezTo>
                  <a:cubicBezTo>
                    <a:pt x="18" y="131"/>
                    <a:pt x="6" y="149"/>
                    <a:pt x="2" y="173"/>
                  </a:cubicBezTo>
                  <a:cubicBezTo>
                    <a:pt x="0" y="190"/>
                    <a:pt x="1" y="208"/>
                    <a:pt x="2" y="226"/>
                  </a:cubicBezTo>
                  <a:cubicBezTo>
                    <a:pt x="5" y="262"/>
                    <a:pt x="11" y="290"/>
                    <a:pt x="23" y="311"/>
                  </a:cubicBezTo>
                  <a:cubicBezTo>
                    <a:pt x="41" y="277"/>
                    <a:pt x="41" y="277"/>
                    <a:pt x="41" y="277"/>
                  </a:cubicBezTo>
                  <a:cubicBezTo>
                    <a:pt x="120" y="253"/>
                    <a:pt x="120" y="253"/>
                    <a:pt x="120" y="253"/>
                  </a:cubicBezTo>
                  <a:cubicBezTo>
                    <a:pt x="100" y="173"/>
                    <a:pt x="100" y="173"/>
                    <a:pt x="100" y="173"/>
                  </a:cubicBezTo>
                  <a:cubicBezTo>
                    <a:pt x="108" y="124"/>
                    <a:pt x="121" y="77"/>
                    <a:pt x="141" y="32"/>
                  </a:cubicBezTo>
                  <a:close/>
                  <a:moveTo>
                    <a:pt x="5" y="173"/>
                  </a:moveTo>
                  <a:cubicBezTo>
                    <a:pt x="5" y="170"/>
                    <a:pt x="6" y="166"/>
                    <a:pt x="7" y="163"/>
                  </a:cubicBezTo>
                  <a:cubicBezTo>
                    <a:pt x="7" y="210"/>
                    <a:pt x="13" y="254"/>
                    <a:pt x="27" y="295"/>
                  </a:cubicBezTo>
                  <a:cubicBezTo>
                    <a:pt x="23" y="304"/>
                    <a:pt x="23" y="304"/>
                    <a:pt x="23" y="304"/>
                  </a:cubicBezTo>
                  <a:cubicBezTo>
                    <a:pt x="13" y="284"/>
                    <a:pt x="7" y="258"/>
                    <a:pt x="5" y="226"/>
                  </a:cubicBezTo>
                  <a:cubicBezTo>
                    <a:pt x="4" y="208"/>
                    <a:pt x="3" y="190"/>
                    <a:pt x="5" y="173"/>
                  </a:cubicBezTo>
                  <a:cubicBezTo>
                    <a:pt x="5" y="173"/>
                    <a:pt x="5" y="173"/>
                    <a:pt x="5" y="173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5" name="MH_Other_42"/>
            <p:cNvSpPr/>
            <p:nvPr>
              <p:custDataLst>
                <p:tags r:id="rId30"/>
              </p:custDataLst>
            </p:nvPr>
          </p:nvSpPr>
          <p:spPr bwMode="auto">
            <a:xfrm>
              <a:off x="7485063" y="5289550"/>
              <a:ext cx="31750" cy="174625"/>
            </a:xfrm>
            <a:custGeom>
              <a:avLst/>
              <a:gdLst>
                <a:gd name="T0" fmla="*/ 4 w 24"/>
                <a:gd name="T1" fmla="*/ 0 h 141"/>
                <a:gd name="T2" fmla="*/ 2 w 24"/>
                <a:gd name="T3" fmla="*/ 10 h 141"/>
                <a:gd name="T4" fmla="*/ 2 w 24"/>
                <a:gd name="T5" fmla="*/ 10 h 141"/>
                <a:gd name="T6" fmla="*/ 2 w 24"/>
                <a:gd name="T7" fmla="*/ 63 h 141"/>
                <a:gd name="T8" fmla="*/ 20 w 24"/>
                <a:gd name="T9" fmla="*/ 141 h 141"/>
                <a:gd name="T10" fmla="*/ 24 w 24"/>
                <a:gd name="T11" fmla="*/ 132 h 141"/>
                <a:gd name="T12" fmla="*/ 4 w 24"/>
                <a:gd name="T13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41">
                  <a:moveTo>
                    <a:pt x="4" y="0"/>
                  </a:moveTo>
                  <a:cubicBezTo>
                    <a:pt x="3" y="3"/>
                    <a:pt x="2" y="7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27"/>
                    <a:pt x="1" y="45"/>
                    <a:pt x="2" y="63"/>
                  </a:cubicBezTo>
                  <a:cubicBezTo>
                    <a:pt x="4" y="95"/>
                    <a:pt x="10" y="121"/>
                    <a:pt x="20" y="141"/>
                  </a:cubicBezTo>
                  <a:cubicBezTo>
                    <a:pt x="24" y="132"/>
                    <a:pt x="24" y="132"/>
                    <a:pt x="24" y="132"/>
                  </a:cubicBezTo>
                  <a:cubicBezTo>
                    <a:pt x="10" y="91"/>
                    <a:pt x="4" y="47"/>
                    <a:pt x="4" y="0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6" name="MH_Other_43"/>
            <p:cNvSpPr/>
            <p:nvPr>
              <p:custDataLst>
                <p:tags r:id="rId31"/>
              </p:custDataLst>
            </p:nvPr>
          </p:nvSpPr>
          <p:spPr bwMode="auto">
            <a:xfrm>
              <a:off x="7513638" y="5062538"/>
              <a:ext cx="95250" cy="157162"/>
            </a:xfrm>
            <a:custGeom>
              <a:avLst/>
              <a:gdLst>
                <a:gd name="T0" fmla="*/ 25 w 76"/>
                <a:gd name="T1" fmla="*/ 32 h 126"/>
                <a:gd name="T2" fmla="*/ 13 w 76"/>
                <a:gd name="T3" fmla="*/ 46 h 126"/>
                <a:gd name="T4" fmla="*/ 2 w 76"/>
                <a:gd name="T5" fmla="*/ 83 h 126"/>
                <a:gd name="T6" fmla="*/ 0 w 76"/>
                <a:gd name="T7" fmla="*/ 92 h 126"/>
                <a:gd name="T8" fmla="*/ 14 w 76"/>
                <a:gd name="T9" fmla="*/ 126 h 126"/>
                <a:gd name="T10" fmla="*/ 76 w 76"/>
                <a:gd name="T11" fmla="*/ 121 h 126"/>
                <a:gd name="T12" fmla="*/ 65 w 76"/>
                <a:gd name="T13" fmla="*/ 47 h 126"/>
                <a:gd name="T14" fmla="*/ 40 w 76"/>
                <a:gd name="T15" fmla="*/ 0 h 126"/>
                <a:gd name="T16" fmla="*/ 25 w 76"/>
                <a:gd name="T17" fmla="*/ 3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126">
                  <a:moveTo>
                    <a:pt x="25" y="32"/>
                  </a:moveTo>
                  <a:cubicBezTo>
                    <a:pt x="13" y="46"/>
                    <a:pt x="13" y="46"/>
                    <a:pt x="13" y="46"/>
                  </a:cubicBezTo>
                  <a:cubicBezTo>
                    <a:pt x="2" y="83"/>
                    <a:pt x="2" y="83"/>
                    <a:pt x="2" y="83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14" y="126"/>
                    <a:pt x="14" y="126"/>
                    <a:pt x="14" y="126"/>
                  </a:cubicBezTo>
                  <a:cubicBezTo>
                    <a:pt x="76" y="121"/>
                    <a:pt x="76" y="121"/>
                    <a:pt x="76" y="121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0" y="23"/>
                    <a:pt x="51" y="7"/>
                    <a:pt x="40" y="0"/>
                  </a:cubicBezTo>
                  <a:cubicBezTo>
                    <a:pt x="37" y="11"/>
                    <a:pt x="32" y="21"/>
                    <a:pt x="25" y="32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7" name="MH_Other_44"/>
            <p:cNvSpPr/>
            <p:nvPr>
              <p:custDataLst>
                <p:tags r:id="rId32"/>
              </p:custDataLst>
            </p:nvPr>
          </p:nvSpPr>
          <p:spPr bwMode="auto">
            <a:xfrm>
              <a:off x="7397750" y="5148263"/>
              <a:ext cx="120650" cy="350837"/>
            </a:xfrm>
            <a:custGeom>
              <a:avLst/>
              <a:gdLst>
                <a:gd name="T0" fmla="*/ 90 w 97"/>
                <a:gd name="T1" fmla="*/ 32 h 285"/>
                <a:gd name="T2" fmla="*/ 93 w 97"/>
                <a:gd name="T3" fmla="*/ 24 h 285"/>
                <a:gd name="T4" fmla="*/ 95 w 97"/>
                <a:gd name="T5" fmla="*/ 15 h 285"/>
                <a:gd name="T6" fmla="*/ 18 w 97"/>
                <a:gd name="T7" fmla="*/ 15 h 285"/>
                <a:gd name="T8" fmla="*/ 0 w 97"/>
                <a:gd name="T9" fmla="*/ 0 h 285"/>
                <a:gd name="T10" fmla="*/ 2 w 97"/>
                <a:gd name="T11" fmla="*/ 11 h 285"/>
                <a:gd name="T12" fmla="*/ 5 w 97"/>
                <a:gd name="T13" fmla="*/ 20 h 285"/>
                <a:gd name="T14" fmla="*/ 30 w 97"/>
                <a:gd name="T15" fmla="*/ 38 h 285"/>
                <a:gd name="T16" fmla="*/ 70 w 97"/>
                <a:gd name="T17" fmla="*/ 45 h 285"/>
                <a:gd name="T18" fmla="*/ 63 w 97"/>
                <a:gd name="T19" fmla="*/ 222 h 285"/>
                <a:gd name="T20" fmla="*/ 76 w 97"/>
                <a:gd name="T21" fmla="*/ 272 h 285"/>
                <a:gd name="T22" fmla="*/ 21 w 97"/>
                <a:gd name="T23" fmla="*/ 258 h 285"/>
                <a:gd name="T24" fmla="*/ 19 w 97"/>
                <a:gd name="T25" fmla="*/ 270 h 285"/>
                <a:gd name="T26" fmla="*/ 87 w 97"/>
                <a:gd name="T27" fmla="*/ 285 h 285"/>
                <a:gd name="T28" fmla="*/ 97 w 97"/>
                <a:gd name="T29" fmla="*/ 273 h 285"/>
                <a:gd name="T30" fmla="*/ 91 w 97"/>
                <a:gd name="T31" fmla="*/ 263 h 285"/>
                <a:gd name="T32" fmla="*/ 70 w 97"/>
                <a:gd name="T33" fmla="*/ 178 h 285"/>
                <a:gd name="T34" fmla="*/ 70 w 97"/>
                <a:gd name="T35" fmla="*/ 125 h 285"/>
                <a:gd name="T36" fmla="*/ 75 w 97"/>
                <a:gd name="T37" fmla="*/ 88 h 285"/>
                <a:gd name="T38" fmla="*/ 76 w 97"/>
                <a:gd name="T39" fmla="*/ 81 h 285"/>
                <a:gd name="T40" fmla="*/ 90 w 97"/>
                <a:gd name="T41" fmla="*/ 32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7" h="285">
                  <a:moveTo>
                    <a:pt x="90" y="32"/>
                  </a:moveTo>
                  <a:cubicBezTo>
                    <a:pt x="93" y="24"/>
                    <a:pt x="93" y="24"/>
                    <a:pt x="93" y="24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66" y="38"/>
                    <a:pt x="40" y="38"/>
                    <a:pt x="18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7"/>
                    <a:pt x="2" y="11"/>
                  </a:cubicBezTo>
                  <a:cubicBezTo>
                    <a:pt x="3" y="14"/>
                    <a:pt x="4" y="17"/>
                    <a:pt x="5" y="2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45" y="47"/>
                    <a:pt x="58" y="49"/>
                    <a:pt x="70" y="45"/>
                  </a:cubicBezTo>
                  <a:cubicBezTo>
                    <a:pt x="58" y="105"/>
                    <a:pt x="55" y="164"/>
                    <a:pt x="63" y="222"/>
                  </a:cubicBezTo>
                  <a:cubicBezTo>
                    <a:pt x="76" y="272"/>
                    <a:pt x="76" y="272"/>
                    <a:pt x="76" y="272"/>
                  </a:cubicBezTo>
                  <a:cubicBezTo>
                    <a:pt x="21" y="258"/>
                    <a:pt x="21" y="258"/>
                    <a:pt x="21" y="258"/>
                  </a:cubicBezTo>
                  <a:cubicBezTo>
                    <a:pt x="20" y="262"/>
                    <a:pt x="20" y="266"/>
                    <a:pt x="19" y="270"/>
                  </a:cubicBezTo>
                  <a:cubicBezTo>
                    <a:pt x="39" y="279"/>
                    <a:pt x="61" y="284"/>
                    <a:pt x="87" y="285"/>
                  </a:cubicBezTo>
                  <a:cubicBezTo>
                    <a:pt x="90" y="281"/>
                    <a:pt x="93" y="278"/>
                    <a:pt x="97" y="273"/>
                  </a:cubicBezTo>
                  <a:cubicBezTo>
                    <a:pt x="95" y="270"/>
                    <a:pt x="93" y="267"/>
                    <a:pt x="91" y="263"/>
                  </a:cubicBezTo>
                  <a:cubicBezTo>
                    <a:pt x="79" y="242"/>
                    <a:pt x="73" y="214"/>
                    <a:pt x="70" y="178"/>
                  </a:cubicBezTo>
                  <a:cubicBezTo>
                    <a:pt x="69" y="160"/>
                    <a:pt x="68" y="142"/>
                    <a:pt x="70" y="125"/>
                  </a:cubicBezTo>
                  <a:cubicBezTo>
                    <a:pt x="71" y="112"/>
                    <a:pt x="72" y="100"/>
                    <a:pt x="75" y="88"/>
                  </a:cubicBezTo>
                  <a:cubicBezTo>
                    <a:pt x="75" y="86"/>
                    <a:pt x="75" y="83"/>
                    <a:pt x="76" y="81"/>
                  </a:cubicBezTo>
                  <a:cubicBezTo>
                    <a:pt x="90" y="32"/>
                    <a:pt x="90" y="32"/>
                    <a:pt x="90" y="32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MH_Other_45"/>
            <p:cNvSpPr/>
            <p:nvPr>
              <p:custDataLst>
                <p:tags r:id="rId33"/>
              </p:custDataLst>
            </p:nvPr>
          </p:nvSpPr>
          <p:spPr bwMode="auto">
            <a:xfrm>
              <a:off x="7493000" y="5186363"/>
              <a:ext cx="25400" cy="69850"/>
            </a:xfrm>
            <a:custGeom>
              <a:avLst/>
              <a:gdLst>
                <a:gd name="T0" fmla="*/ 15 w 22"/>
                <a:gd name="T1" fmla="*/ 0 h 56"/>
                <a:gd name="T2" fmla="*/ 1 w 22"/>
                <a:gd name="T3" fmla="*/ 49 h 56"/>
                <a:gd name="T4" fmla="*/ 0 w 22"/>
                <a:gd name="T5" fmla="*/ 56 h 56"/>
                <a:gd name="T6" fmla="*/ 22 w 22"/>
                <a:gd name="T7" fmla="*/ 27 h 56"/>
                <a:gd name="T8" fmla="*/ 15 w 22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6">
                  <a:moveTo>
                    <a:pt x="15" y="0"/>
                  </a:moveTo>
                  <a:cubicBezTo>
                    <a:pt x="1" y="49"/>
                    <a:pt x="1" y="49"/>
                    <a:pt x="1" y="49"/>
                  </a:cubicBezTo>
                  <a:cubicBezTo>
                    <a:pt x="0" y="51"/>
                    <a:pt x="0" y="54"/>
                    <a:pt x="0" y="56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5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9" name="MH_Other_46"/>
            <p:cNvSpPr/>
            <p:nvPr>
              <p:custDataLst>
                <p:tags r:id="rId34"/>
              </p:custDataLst>
            </p:nvPr>
          </p:nvSpPr>
          <p:spPr bwMode="auto">
            <a:xfrm>
              <a:off x="7394575" y="5097463"/>
              <a:ext cx="136525" cy="96837"/>
            </a:xfrm>
            <a:custGeom>
              <a:avLst/>
              <a:gdLst>
                <a:gd name="T0" fmla="*/ 98 w 109"/>
                <a:gd name="T1" fmla="*/ 55 h 78"/>
                <a:gd name="T2" fmla="*/ 109 w 109"/>
                <a:gd name="T3" fmla="*/ 18 h 78"/>
                <a:gd name="T4" fmla="*/ 98 w 109"/>
                <a:gd name="T5" fmla="*/ 32 h 78"/>
                <a:gd name="T6" fmla="*/ 41 w 109"/>
                <a:gd name="T7" fmla="*/ 32 h 78"/>
                <a:gd name="T8" fmla="*/ 17 w 109"/>
                <a:gd name="T9" fmla="*/ 7 h 78"/>
                <a:gd name="T10" fmla="*/ 37 w 109"/>
                <a:gd name="T11" fmla="*/ 53 h 78"/>
                <a:gd name="T12" fmla="*/ 1 w 109"/>
                <a:gd name="T13" fmla="*/ 0 h 78"/>
                <a:gd name="T14" fmla="*/ 3 w 109"/>
                <a:gd name="T15" fmla="*/ 40 h 78"/>
                <a:gd name="T16" fmla="*/ 21 w 109"/>
                <a:gd name="T17" fmla="*/ 55 h 78"/>
                <a:gd name="T18" fmla="*/ 98 w 109"/>
                <a:gd name="T19" fmla="*/ 5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78">
                  <a:moveTo>
                    <a:pt x="98" y="55"/>
                  </a:moveTo>
                  <a:cubicBezTo>
                    <a:pt x="109" y="18"/>
                    <a:pt x="109" y="18"/>
                    <a:pt x="109" y="18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80" y="53"/>
                    <a:pt x="61" y="53"/>
                    <a:pt x="41" y="32"/>
                  </a:cubicBezTo>
                  <a:cubicBezTo>
                    <a:pt x="31" y="25"/>
                    <a:pt x="23" y="17"/>
                    <a:pt x="17" y="7"/>
                  </a:cubicBezTo>
                  <a:cubicBezTo>
                    <a:pt x="18" y="23"/>
                    <a:pt x="25" y="38"/>
                    <a:pt x="37" y="53"/>
                  </a:cubicBezTo>
                  <a:cubicBezTo>
                    <a:pt x="16" y="37"/>
                    <a:pt x="4" y="20"/>
                    <a:pt x="1" y="0"/>
                  </a:cubicBezTo>
                  <a:cubicBezTo>
                    <a:pt x="0" y="12"/>
                    <a:pt x="1" y="25"/>
                    <a:pt x="3" y="40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43" y="78"/>
                    <a:pt x="69" y="78"/>
                    <a:pt x="98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0" name="MH_Other_47"/>
            <p:cNvSpPr/>
            <p:nvPr>
              <p:custDataLst>
                <p:tags r:id="rId35"/>
              </p:custDataLst>
            </p:nvPr>
          </p:nvSpPr>
          <p:spPr bwMode="auto">
            <a:xfrm>
              <a:off x="7481888" y="5413375"/>
              <a:ext cx="279400" cy="185738"/>
            </a:xfrm>
            <a:custGeom>
              <a:avLst/>
              <a:gdLst>
                <a:gd name="T0" fmla="*/ 126 w 226"/>
                <a:gd name="T1" fmla="*/ 5 h 151"/>
                <a:gd name="T2" fmla="*/ 123 w 226"/>
                <a:gd name="T3" fmla="*/ 0 h 151"/>
                <a:gd name="T4" fmla="*/ 120 w 226"/>
                <a:gd name="T5" fmla="*/ 0 h 151"/>
                <a:gd name="T6" fmla="*/ 114 w 226"/>
                <a:gd name="T7" fmla="*/ 2 h 151"/>
                <a:gd name="T8" fmla="*/ 52 w 226"/>
                <a:gd name="T9" fmla="*/ 26 h 151"/>
                <a:gd name="T10" fmla="*/ 30 w 226"/>
                <a:gd name="T11" fmla="*/ 59 h 151"/>
                <a:gd name="T12" fmla="*/ 20 w 226"/>
                <a:gd name="T13" fmla="*/ 71 h 151"/>
                <a:gd name="T14" fmla="*/ 0 w 226"/>
                <a:gd name="T15" fmla="*/ 87 h 151"/>
                <a:gd name="T16" fmla="*/ 31 w 226"/>
                <a:gd name="T17" fmla="*/ 151 h 151"/>
                <a:gd name="T18" fmla="*/ 95 w 226"/>
                <a:gd name="T19" fmla="*/ 131 h 151"/>
                <a:gd name="T20" fmla="*/ 200 w 226"/>
                <a:gd name="T21" fmla="*/ 92 h 151"/>
                <a:gd name="T22" fmla="*/ 192 w 226"/>
                <a:gd name="T23" fmla="*/ 88 h 151"/>
                <a:gd name="T24" fmla="*/ 171 w 226"/>
                <a:gd name="T25" fmla="*/ 98 h 151"/>
                <a:gd name="T26" fmla="*/ 136 w 226"/>
                <a:gd name="T27" fmla="*/ 109 h 151"/>
                <a:gd name="T28" fmla="*/ 225 w 226"/>
                <a:gd name="T29" fmla="*/ 63 h 151"/>
                <a:gd name="T30" fmla="*/ 213 w 226"/>
                <a:gd name="T31" fmla="*/ 56 h 151"/>
                <a:gd name="T32" fmla="*/ 208 w 226"/>
                <a:gd name="T33" fmla="*/ 56 h 151"/>
                <a:gd name="T34" fmla="*/ 131 w 226"/>
                <a:gd name="T35" fmla="*/ 88 h 151"/>
                <a:gd name="T36" fmla="*/ 137 w 226"/>
                <a:gd name="T37" fmla="*/ 70 h 151"/>
                <a:gd name="T38" fmla="*/ 226 w 226"/>
                <a:gd name="T39" fmla="*/ 36 h 151"/>
                <a:gd name="T40" fmla="*/ 198 w 226"/>
                <a:gd name="T41" fmla="*/ 36 h 151"/>
                <a:gd name="T42" fmla="*/ 163 w 226"/>
                <a:gd name="T43" fmla="*/ 47 h 151"/>
                <a:gd name="T44" fmla="*/ 117 w 226"/>
                <a:gd name="T45" fmla="*/ 62 h 151"/>
                <a:gd name="T46" fmla="*/ 129 w 226"/>
                <a:gd name="T47" fmla="*/ 39 h 151"/>
                <a:gd name="T48" fmla="*/ 196 w 226"/>
                <a:gd name="T49" fmla="*/ 14 h 151"/>
                <a:gd name="T50" fmla="*/ 152 w 226"/>
                <a:gd name="T51" fmla="*/ 14 h 151"/>
                <a:gd name="T52" fmla="*/ 146 w 226"/>
                <a:gd name="T53" fmla="*/ 17 h 151"/>
                <a:gd name="T54" fmla="*/ 113 w 226"/>
                <a:gd name="T55" fmla="*/ 28 h 151"/>
                <a:gd name="T56" fmla="*/ 83 w 226"/>
                <a:gd name="T57" fmla="*/ 35 h 151"/>
                <a:gd name="T58" fmla="*/ 98 w 226"/>
                <a:gd name="T59" fmla="*/ 19 h 151"/>
                <a:gd name="T60" fmla="*/ 126 w 226"/>
                <a:gd name="T61" fmla="*/ 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6" h="151">
                  <a:moveTo>
                    <a:pt x="126" y="5"/>
                  </a:moveTo>
                  <a:cubicBezTo>
                    <a:pt x="126" y="2"/>
                    <a:pt x="125" y="0"/>
                    <a:pt x="123" y="0"/>
                  </a:cubicBezTo>
                  <a:cubicBezTo>
                    <a:pt x="122" y="0"/>
                    <a:pt x="121" y="0"/>
                    <a:pt x="120" y="0"/>
                  </a:cubicBezTo>
                  <a:cubicBezTo>
                    <a:pt x="118" y="1"/>
                    <a:pt x="116" y="1"/>
                    <a:pt x="114" y="2"/>
                  </a:cubicBezTo>
                  <a:cubicBezTo>
                    <a:pt x="93" y="12"/>
                    <a:pt x="72" y="20"/>
                    <a:pt x="52" y="26"/>
                  </a:cubicBezTo>
                  <a:cubicBezTo>
                    <a:pt x="44" y="39"/>
                    <a:pt x="37" y="50"/>
                    <a:pt x="30" y="59"/>
                  </a:cubicBezTo>
                  <a:cubicBezTo>
                    <a:pt x="26" y="64"/>
                    <a:pt x="23" y="67"/>
                    <a:pt x="20" y="71"/>
                  </a:cubicBezTo>
                  <a:cubicBezTo>
                    <a:pt x="13" y="78"/>
                    <a:pt x="7" y="83"/>
                    <a:pt x="0" y="87"/>
                  </a:cubicBezTo>
                  <a:cubicBezTo>
                    <a:pt x="31" y="151"/>
                    <a:pt x="31" y="151"/>
                    <a:pt x="31" y="151"/>
                  </a:cubicBezTo>
                  <a:cubicBezTo>
                    <a:pt x="49" y="139"/>
                    <a:pt x="70" y="132"/>
                    <a:pt x="95" y="131"/>
                  </a:cubicBezTo>
                  <a:cubicBezTo>
                    <a:pt x="131" y="123"/>
                    <a:pt x="166" y="110"/>
                    <a:pt x="200" y="92"/>
                  </a:cubicBezTo>
                  <a:cubicBezTo>
                    <a:pt x="201" y="88"/>
                    <a:pt x="198" y="87"/>
                    <a:pt x="192" y="88"/>
                  </a:cubicBezTo>
                  <a:cubicBezTo>
                    <a:pt x="171" y="98"/>
                    <a:pt x="171" y="98"/>
                    <a:pt x="171" y="98"/>
                  </a:cubicBezTo>
                  <a:cubicBezTo>
                    <a:pt x="136" y="109"/>
                    <a:pt x="136" y="109"/>
                    <a:pt x="136" y="109"/>
                  </a:cubicBezTo>
                  <a:cubicBezTo>
                    <a:pt x="225" y="63"/>
                    <a:pt x="225" y="63"/>
                    <a:pt x="225" y="63"/>
                  </a:cubicBezTo>
                  <a:cubicBezTo>
                    <a:pt x="224" y="58"/>
                    <a:pt x="220" y="55"/>
                    <a:pt x="213" y="56"/>
                  </a:cubicBezTo>
                  <a:cubicBezTo>
                    <a:pt x="212" y="56"/>
                    <a:pt x="210" y="56"/>
                    <a:pt x="208" y="56"/>
                  </a:cubicBezTo>
                  <a:cubicBezTo>
                    <a:pt x="131" y="88"/>
                    <a:pt x="131" y="88"/>
                    <a:pt x="131" y="88"/>
                  </a:cubicBezTo>
                  <a:cubicBezTo>
                    <a:pt x="137" y="70"/>
                    <a:pt x="137" y="70"/>
                    <a:pt x="137" y="70"/>
                  </a:cubicBezTo>
                  <a:cubicBezTo>
                    <a:pt x="226" y="36"/>
                    <a:pt x="226" y="36"/>
                    <a:pt x="226" y="36"/>
                  </a:cubicBezTo>
                  <a:cubicBezTo>
                    <a:pt x="221" y="31"/>
                    <a:pt x="212" y="31"/>
                    <a:pt x="198" y="36"/>
                  </a:cubicBezTo>
                  <a:cubicBezTo>
                    <a:pt x="163" y="47"/>
                    <a:pt x="163" y="47"/>
                    <a:pt x="163" y="47"/>
                  </a:cubicBezTo>
                  <a:cubicBezTo>
                    <a:pt x="117" y="62"/>
                    <a:pt x="117" y="62"/>
                    <a:pt x="117" y="62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96" y="14"/>
                    <a:pt x="196" y="14"/>
                    <a:pt x="196" y="14"/>
                  </a:cubicBezTo>
                  <a:cubicBezTo>
                    <a:pt x="193" y="5"/>
                    <a:pt x="178" y="5"/>
                    <a:pt x="152" y="14"/>
                  </a:cubicBezTo>
                  <a:cubicBezTo>
                    <a:pt x="150" y="15"/>
                    <a:pt x="148" y="15"/>
                    <a:pt x="146" y="17"/>
                  </a:cubicBezTo>
                  <a:cubicBezTo>
                    <a:pt x="136" y="21"/>
                    <a:pt x="125" y="25"/>
                    <a:pt x="113" y="28"/>
                  </a:cubicBezTo>
                  <a:cubicBezTo>
                    <a:pt x="103" y="31"/>
                    <a:pt x="93" y="33"/>
                    <a:pt x="83" y="35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126" y="5"/>
                    <a:pt x="126" y="5"/>
                    <a:pt x="126" y="5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1" name="MH_Other_48"/>
            <p:cNvSpPr/>
            <p:nvPr>
              <p:custDataLst>
                <p:tags r:id="rId36"/>
              </p:custDataLst>
            </p:nvPr>
          </p:nvSpPr>
          <p:spPr bwMode="auto">
            <a:xfrm>
              <a:off x="7405688" y="5172075"/>
              <a:ext cx="87312" cy="312738"/>
            </a:xfrm>
            <a:custGeom>
              <a:avLst/>
              <a:gdLst>
                <a:gd name="T0" fmla="*/ 58 w 71"/>
                <a:gd name="T1" fmla="*/ 202 h 252"/>
                <a:gd name="T2" fmla="*/ 65 w 71"/>
                <a:gd name="T3" fmla="*/ 25 h 252"/>
                <a:gd name="T4" fmla="*/ 25 w 71"/>
                <a:gd name="T5" fmla="*/ 18 h 252"/>
                <a:gd name="T6" fmla="*/ 0 w 71"/>
                <a:gd name="T7" fmla="*/ 0 h 252"/>
                <a:gd name="T8" fmla="*/ 4 w 71"/>
                <a:gd name="T9" fmla="*/ 17 h 252"/>
                <a:gd name="T10" fmla="*/ 26 w 71"/>
                <a:gd name="T11" fmla="*/ 123 h 252"/>
                <a:gd name="T12" fmla="*/ 27 w 71"/>
                <a:gd name="T13" fmla="*/ 128 h 252"/>
                <a:gd name="T14" fmla="*/ 16 w 71"/>
                <a:gd name="T15" fmla="*/ 238 h 252"/>
                <a:gd name="T16" fmla="*/ 71 w 71"/>
                <a:gd name="T17" fmla="*/ 252 h 252"/>
                <a:gd name="T18" fmla="*/ 58 w 71"/>
                <a:gd name="T19" fmla="*/ 20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252">
                  <a:moveTo>
                    <a:pt x="58" y="202"/>
                  </a:moveTo>
                  <a:cubicBezTo>
                    <a:pt x="50" y="144"/>
                    <a:pt x="53" y="85"/>
                    <a:pt x="65" y="25"/>
                  </a:cubicBezTo>
                  <a:cubicBezTo>
                    <a:pt x="53" y="29"/>
                    <a:pt x="40" y="27"/>
                    <a:pt x="25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6"/>
                    <a:pt x="2" y="11"/>
                    <a:pt x="4" y="17"/>
                  </a:cubicBezTo>
                  <a:cubicBezTo>
                    <a:pt x="12" y="52"/>
                    <a:pt x="20" y="88"/>
                    <a:pt x="26" y="123"/>
                  </a:cubicBezTo>
                  <a:cubicBezTo>
                    <a:pt x="26" y="125"/>
                    <a:pt x="27" y="126"/>
                    <a:pt x="27" y="128"/>
                  </a:cubicBezTo>
                  <a:cubicBezTo>
                    <a:pt x="25" y="171"/>
                    <a:pt x="22" y="207"/>
                    <a:pt x="16" y="238"/>
                  </a:cubicBezTo>
                  <a:cubicBezTo>
                    <a:pt x="71" y="252"/>
                    <a:pt x="71" y="252"/>
                    <a:pt x="71" y="252"/>
                  </a:cubicBezTo>
                  <a:cubicBezTo>
                    <a:pt x="58" y="202"/>
                    <a:pt x="58" y="202"/>
                    <a:pt x="58" y="2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2" name="MH_Other_49"/>
            <p:cNvSpPr/>
            <p:nvPr>
              <p:custDataLst>
                <p:tags r:id="rId37"/>
              </p:custDataLst>
            </p:nvPr>
          </p:nvSpPr>
          <p:spPr bwMode="auto">
            <a:xfrm>
              <a:off x="7396163" y="5064125"/>
              <a:ext cx="44450" cy="98425"/>
            </a:xfrm>
            <a:custGeom>
              <a:avLst/>
              <a:gdLst>
                <a:gd name="T0" fmla="*/ 10 w 36"/>
                <a:gd name="T1" fmla="*/ 22 h 80"/>
                <a:gd name="T2" fmla="*/ 8 w 36"/>
                <a:gd name="T3" fmla="*/ 16 h 80"/>
                <a:gd name="T4" fmla="*/ 4 w 36"/>
                <a:gd name="T5" fmla="*/ 0 h 80"/>
                <a:gd name="T6" fmla="*/ 0 w 36"/>
                <a:gd name="T7" fmla="*/ 27 h 80"/>
                <a:gd name="T8" fmla="*/ 36 w 36"/>
                <a:gd name="T9" fmla="*/ 80 h 80"/>
                <a:gd name="T10" fmla="*/ 16 w 36"/>
                <a:gd name="T11" fmla="*/ 34 h 80"/>
                <a:gd name="T12" fmla="*/ 10 w 36"/>
                <a:gd name="T13" fmla="*/ 2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80">
                  <a:moveTo>
                    <a:pt x="10" y="22"/>
                  </a:moveTo>
                  <a:cubicBezTo>
                    <a:pt x="9" y="20"/>
                    <a:pt x="8" y="18"/>
                    <a:pt x="8" y="1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8"/>
                    <a:pt x="0" y="17"/>
                    <a:pt x="0" y="27"/>
                  </a:cubicBezTo>
                  <a:cubicBezTo>
                    <a:pt x="3" y="47"/>
                    <a:pt x="15" y="64"/>
                    <a:pt x="36" y="80"/>
                  </a:cubicBezTo>
                  <a:cubicBezTo>
                    <a:pt x="24" y="65"/>
                    <a:pt x="17" y="50"/>
                    <a:pt x="16" y="34"/>
                  </a:cubicBezTo>
                  <a:cubicBezTo>
                    <a:pt x="13" y="31"/>
                    <a:pt x="11" y="27"/>
                    <a:pt x="10" y="22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3" name="MH_Other_50"/>
            <p:cNvSpPr/>
            <p:nvPr>
              <p:custDataLst>
                <p:tags r:id="rId38"/>
              </p:custDataLst>
            </p:nvPr>
          </p:nvSpPr>
          <p:spPr bwMode="auto">
            <a:xfrm>
              <a:off x="7381875" y="5172075"/>
              <a:ext cx="26988" cy="61913"/>
            </a:xfrm>
            <a:custGeom>
              <a:avLst/>
              <a:gdLst>
                <a:gd name="T0" fmla="*/ 0 w 22"/>
                <a:gd name="T1" fmla="*/ 50 h 50"/>
                <a:gd name="T2" fmla="*/ 22 w 22"/>
                <a:gd name="T3" fmla="*/ 17 h 50"/>
                <a:gd name="T4" fmla="*/ 18 w 22"/>
                <a:gd name="T5" fmla="*/ 0 h 50"/>
                <a:gd name="T6" fmla="*/ 0 w 22"/>
                <a:gd name="T7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50">
                  <a:moveTo>
                    <a:pt x="0" y="50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0" y="11"/>
                    <a:pt x="19" y="6"/>
                    <a:pt x="18" y="0"/>
                  </a:cubicBezTo>
                  <a:cubicBezTo>
                    <a:pt x="0" y="50"/>
                    <a:pt x="0" y="50"/>
                    <a:pt x="0" y="50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MH_Other_51"/>
            <p:cNvSpPr/>
            <p:nvPr>
              <p:custDataLst>
                <p:tags r:id="rId39"/>
              </p:custDataLst>
            </p:nvPr>
          </p:nvSpPr>
          <p:spPr bwMode="auto">
            <a:xfrm>
              <a:off x="7381875" y="5194300"/>
              <a:ext cx="53975" cy="128588"/>
            </a:xfrm>
            <a:custGeom>
              <a:avLst/>
              <a:gdLst>
                <a:gd name="T0" fmla="*/ 22 w 44"/>
                <a:gd name="T1" fmla="*/ 0 h 106"/>
                <a:gd name="T2" fmla="*/ 0 w 44"/>
                <a:gd name="T3" fmla="*/ 33 h 106"/>
                <a:gd name="T4" fmla="*/ 27 w 44"/>
                <a:gd name="T5" fmla="*/ 73 h 106"/>
                <a:gd name="T6" fmla="*/ 44 w 44"/>
                <a:gd name="T7" fmla="*/ 106 h 106"/>
                <a:gd name="T8" fmla="*/ 22 w 44"/>
                <a:gd name="T9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06">
                  <a:moveTo>
                    <a:pt x="22" y="0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46"/>
                    <a:pt x="9" y="60"/>
                    <a:pt x="27" y="73"/>
                  </a:cubicBezTo>
                  <a:cubicBezTo>
                    <a:pt x="36" y="85"/>
                    <a:pt x="42" y="96"/>
                    <a:pt x="44" y="106"/>
                  </a:cubicBezTo>
                  <a:cubicBezTo>
                    <a:pt x="38" y="71"/>
                    <a:pt x="30" y="35"/>
                    <a:pt x="22" y="0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5" name="MH_Other_52"/>
            <p:cNvSpPr/>
            <p:nvPr>
              <p:custDataLst>
                <p:tags r:id="rId40"/>
              </p:custDataLst>
            </p:nvPr>
          </p:nvSpPr>
          <p:spPr bwMode="auto">
            <a:xfrm>
              <a:off x="7173913" y="5103813"/>
              <a:ext cx="107950" cy="266700"/>
            </a:xfrm>
            <a:custGeom>
              <a:avLst/>
              <a:gdLst>
                <a:gd name="T0" fmla="*/ 72 w 87"/>
                <a:gd name="T1" fmla="*/ 0 h 215"/>
                <a:gd name="T2" fmla="*/ 58 w 87"/>
                <a:gd name="T3" fmla="*/ 19 h 215"/>
                <a:gd name="T4" fmla="*/ 58 w 87"/>
                <a:gd name="T5" fmla="*/ 136 h 215"/>
                <a:gd name="T6" fmla="*/ 0 w 87"/>
                <a:gd name="T7" fmla="*/ 195 h 215"/>
                <a:gd name="T8" fmla="*/ 16 w 87"/>
                <a:gd name="T9" fmla="*/ 215 h 215"/>
                <a:gd name="T10" fmla="*/ 87 w 87"/>
                <a:gd name="T11" fmla="*/ 144 h 215"/>
                <a:gd name="T12" fmla="*/ 72 w 87"/>
                <a:gd name="T13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215">
                  <a:moveTo>
                    <a:pt x="72" y="0"/>
                  </a:moveTo>
                  <a:cubicBezTo>
                    <a:pt x="67" y="5"/>
                    <a:pt x="63" y="11"/>
                    <a:pt x="58" y="19"/>
                  </a:cubicBezTo>
                  <a:cubicBezTo>
                    <a:pt x="51" y="64"/>
                    <a:pt x="51" y="103"/>
                    <a:pt x="58" y="136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6" y="215"/>
                    <a:pt x="16" y="215"/>
                    <a:pt x="16" y="215"/>
                  </a:cubicBezTo>
                  <a:cubicBezTo>
                    <a:pt x="43" y="190"/>
                    <a:pt x="67" y="167"/>
                    <a:pt x="87" y="144"/>
                  </a:cubicBezTo>
                  <a:cubicBezTo>
                    <a:pt x="59" y="104"/>
                    <a:pt x="54" y="55"/>
                    <a:pt x="72" y="0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6" name="MH_Other_53"/>
            <p:cNvSpPr/>
            <p:nvPr>
              <p:custDataLst>
                <p:tags r:id="rId41"/>
              </p:custDataLst>
            </p:nvPr>
          </p:nvSpPr>
          <p:spPr bwMode="auto">
            <a:xfrm>
              <a:off x="7107238" y="5127625"/>
              <a:ext cx="139700" cy="217488"/>
            </a:xfrm>
            <a:custGeom>
              <a:avLst/>
              <a:gdLst>
                <a:gd name="T0" fmla="*/ 112 w 112"/>
                <a:gd name="T1" fmla="*/ 0 h 176"/>
                <a:gd name="T2" fmla="*/ 99 w 112"/>
                <a:gd name="T3" fmla="*/ 24 h 176"/>
                <a:gd name="T4" fmla="*/ 99 w 112"/>
                <a:gd name="T5" fmla="*/ 24 h 176"/>
                <a:gd name="T6" fmla="*/ 93 w 112"/>
                <a:gd name="T7" fmla="*/ 36 h 176"/>
                <a:gd name="T8" fmla="*/ 78 w 112"/>
                <a:gd name="T9" fmla="*/ 51 h 176"/>
                <a:gd name="T10" fmla="*/ 77 w 112"/>
                <a:gd name="T11" fmla="*/ 81 h 176"/>
                <a:gd name="T12" fmla="*/ 63 w 112"/>
                <a:gd name="T13" fmla="*/ 113 h 176"/>
                <a:gd name="T14" fmla="*/ 20 w 112"/>
                <a:gd name="T15" fmla="*/ 117 h 176"/>
                <a:gd name="T16" fmla="*/ 0 w 112"/>
                <a:gd name="T17" fmla="*/ 135 h 176"/>
                <a:gd name="T18" fmla="*/ 54 w 112"/>
                <a:gd name="T19" fmla="*/ 176 h 176"/>
                <a:gd name="T20" fmla="*/ 112 w 112"/>
                <a:gd name="T21" fmla="*/ 117 h 176"/>
                <a:gd name="T22" fmla="*/ 112 w 112"/>
                <a:gd name="T23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76">
                  <a:moveTo>
                    <a:pt x="112" y="0"/>
                  </a:moveTo>
                  <a:cubicBezTo>
                    <a:pt x="108" y="7"/>
                    <a:pt x="104" y="14"/>
                    <a:pt x="99" y="24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7" y="28"/>
                    <a:pt x="95" y="32"/>
                    <a:pt x="93" y="36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82" y="98"/>
                    <a:pt x="77" y="108"/>
                    <a:pt x="63" y="113"/>
                  </a:cubicBezTo>
                  <a:cubicBezTo>
                    <a:pt x="50" y="120"/>
                    <a:pt x="35" y="121"/>
                    <a:pt x="20" y="117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30" y="144"/>
                    <a:pt x="48" y="157"/>
                    <a:pt x="54" y="176"/>
                  </a:cubicBezTo>
                  <a:cubicBezTo>
                    <a:pt x="112" y="117"/>
                    <a:pt x="112" y="117"/>
                    <a:pt x="112" y="117"/>
                  </a:cubicBezTo>
                  <a:cubicBezTo>
                    <a:pt x="105" y="84"/>
                    <a:pt x="105" y="45"/>
                    <a:pt x="112" y="0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7" name="MH_Other_54"/>
            <p:cNvSpPr/>
            <p:nvPr>
              <p:custDataLst>
                <p:tags r:id="rId42"/>
              </p:custDataLst>
            </p:nvPr>
          </p:nvSpPr>
          <p:spPr bwMode="auto">
            <a:xfrm>
              <a:off x="7105650" y="5294313"/>
              <a:ext cx="220663" cy="487362"/>
            </a:xfrm>
            <a:custGeom>
              <a:avLst/>
              <a:gdLst>
                <a:gd name="T0" fmla="*/ 73 w 179"/>
                <a:gd name="T1" fmla="*/ 61 h 393"/>
                <a:gd name="T2" fmla="*/ 57 w 179"/>
                <a:gd name="T3" fmla="*/ 41 h 393"/>
                <a:gd name="T4" fmla="*/ 3 w 179"/>
                <a:gd name="T5" fmla="*/ 0 h 393"/>
                <a:gd name="T6" fmla="*/ 1 w 179"/>
                <a:gd name="T7" fmla="*/ 17 h 393"/>
                <a:gd name="T8" fmla="*/ 6 w 179"/>
                <a:gd name="T9" fmla="*/ 54 h 393"/>
                <a:gd name="T10" fmla="*/ 9 w 179"/>
                <a:gd name="T11" fmla="*/ 62 h 393"/>
                <a:gd name="T12" fmla="*/ 17 w 179"/>
                <a:gd name="T13" fmla="*/ 16 h 393"/>
                <a:gd name="T14" fmla="*/ 63 w 179"/>
                <a:gd name="T15" fmla="*/ 103 h 393"/>
                <a:gd name="T16" fmla="*/ 69 w 179"/>
                <a:gd name="T17" fmla="*/ 260 h 393"/>
                <a:gd name="T18" fmla="*/ 49 w 179"/>
                <a:gd name="T19" fmla="*/ 257 h 393"/>
                <a:gd name="T20" fmla="*/ 70 w 179"/>
                <a:gd name="T21" fmla="*/ 281 h 393"/>
                <a:gd name="T22" fmla="*/ 51 w 179"/>
                <a:gd name="T23" fmla="*/ 340 h 393"/>
                <a:gd name="T24" fmla="*/ 51 w 179"/>
                <a:gd name="T25" fmla="*/ 367 h 393"/>
                <a:gd name="T26" fmla="*/ 83 w 179"/>
                <a:gd name="T27" fmla="*/ 285 h 393"/>
                <a:gd name="T28" fmla="*/ 158 w 179"/>
                <a:gd name="T29" fmla="*/ 262 h 393"/>
                <a:gd name="T30" fmla="*/ 160 w 179"/>
                <a:gd name="T31" fmla="*/ 393 h 393"/>
                <a:gd name="T32" fmla="*/ 170 w 179"/>
                <a:gd name="T33" fmla="*/ 291 h 393"/>
                <a:gd name="T34" fmla="*/ 172 w 179"/>
                <a:gd name="T35" fmla="*/ 254 h 393"/>
                <a:gd name="T36" fmla="*/ 179 w 179"/>
                <a:gd name="T37" fmla="*/ 243 h 393"/>
                <a:gd name="T38" fmla="*/ 170 w 179"/>
                <a:gd name="T39" fmla="*/ 240 h 393"/>
                <a:gd name="T40" fmla="*/ 162 w 179"/>
                <a:gd name="T41" fmla="*/ 250 h 393"/>
                <a:gd name="T42" fmla="*/ 83 w 179"/>
                <a:gd name="T43" fmla="*/ 277 h 393"/>
                <a:gd name="T44" fmla="*/ 74 w 179"/>
                <a:gd name="T45" fmla="*/ 262 h 393"/>
                <a:gd name="T46" fmla="*/ 70 w 179"/>
                <a:gd name="T47" fmla="*/ 79 h 393"/>
                <a:gd name="T48" fmla="*/ 91 w 179"/>
                <a:gd name="T49" fmla="*/ 122 h 393"/>
                <a:gd name="T50" fmla="*/ 99 w 179"/>
                <a:gd name="T51" fmla="*/ 237 h 393"/>
                <a:gd name="T52" fmla="*/ 109 w 179"/>
                <a:gd name="T53" fmla="*/ 188 h 393"/>
                <a:gd name="T54" fmla="*/ 127 w 179"/>
                <a:gd name="T55" fmla="*/ 222 h 393"/>
                <a:gd name="T56" fmla="*/ 156 w 179"/>
                <a:gd name="T57" fmla="*/ 230 h 393"/>
                <a:gd name="T58" fmla="*/ 152 w 179"/>
                <a:gd name="T59" fmla="*/ 223 h 393"/>
                <a:gd name="T60" fmla="*/ 130 w 179"/>
                <a:gd name="T61" fmla="*/ 206 h 393"/>
                <a:gd name="T62" fmla="*/ 109 w 179"/>
                <a:gd name="T63" fmla="*/ 170 h 393"/>
                <a:gd name="T64" fmla="*/ 99 w 179"/>
                <a:gd name="T65" fmla="*/ 118 h 393"/>
                <a:gd name="T66" fmla="*/ 73 w 179"/>
                <a:gd name="T67" fmla="*/ 61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9" h="393">
                  <a:moveTo>
                    <a:pt x="73" y="61"/>
                  </a:moveTo>
                  <a:cubicBezTo>
                    <a:pt x="57" y="41"/>
                    <a:pt x="57" y="41"/>
                    <a:pt x="57" y="41"/>
                  </a:cubicBezTo>
                  <a:cubicBezTo>
                    <a:pt x="51" y="22"/>
                    <a:pt x="33" y="9"/>
                    <a:pt x="3" y="0"/>
                  </a:cubicBezTo>
                  <a:cubicBezTo>
                    <a:pt x="1" y="5"/>
                    <a:pt x="0" y="11"/>
                    <a:pt x="1" y="17"/>
                  </a:cubicBezTo>
                  <a:cubicBezTo>
                    <a:pt x="7" y="14"/>
                    <a:pt x="9" y="26"/>
                    <a:pt x="6" y="54"/>
                  </a:cubicBezTo>
                  <a:cubicBezTo>
                    <a:pt x="7" y="57"/>
                    <a:pt x="8" y="59"/>
                    <a:pt x="9" y="62"/>
                  </a:cubicBezTo>
                  <a:cubicBezTo>
                    <a:pt x="18" y="50"/>
                    <a:pt x="21" y="35"/>
                    <a:pt x="17" y="16"/>
                  </a:cubicBezTo>
                  <a:cubicBezTo>
                    <a:pt x="44" y="42"/>
                    <a:pt x="59" y="71"/>
                    <a:pt x="63" y="103"/>
                  </a:cubicBezTo>
                  <a:cubicBezTo>
                    <a:pt x="69" y="260"/>
                    <a:pt x="69" y="260"/>
                    <a:pt x="69" y="260"/>
                  </a:cubicBezTo>
                  <a:cubicBezTo>
                    <a:pt x="64" y="257"/>
                    <a:pt x="57" y="256"/>
                    <a:pt x="49" y="257"/>
                  </a:cubicBezTo>
                  <a:cubicBezTo>
                    <a:pt x="66" y="262"/>
                    <a:pt x="73" y="271"/>
                    <a:pt x="70" y="281"/>
                  </a:cubicBezTo>
                  <a:cubicBezTo>
                    <a:pt x="51" y="340"/>
                    <a:pt x="51" y="340"/>
                    <a:pt x="51" y="340"/>
                  </a:cubicBezTo>
                  <a:cubicBezTo>
                    <a:pt x="51" y="367"/>
                    <a:pt x="51" y="367"/>
                    <a:pt x="51" y="367"/>
                  </a:cubicBezTo>
                  <a:cubicBezTo>
                    <a:pt x="56" y="338"/>
                    <a:pt x="67" y="311"/>
                    <a:pt x="83" y="285"/>
                  </a:cubicBezTo>
                  <a:cubicBezTo>
                    <a:pt x="107" y="282"/>
                    <a:pt x="132" y="274"/>
                    <a:pt x="158" y="262"/>
                  </a:cubicBezTo>
                  <a:cubicBezTo>
                    <a:pt x="165" y="303"/>
                    <a:pt x="165" y="347"/>
                    <a:pt x="160" y="393"/>
                  </a:cubicBezTo>
                  <a:cubicBezTo>
                    <a:pt x="171" y="363"/>
                    <a:pt x="174" y="329"/>
                    <a:pt x="170" y="291"/>
                  </a:cubicBezTo>
                  <a:cubicBezTo>
                    <a:pt x="168" y="275"/>
                    <a:pt x="169" y="263"/>
                    <a:pt x="172" y="254"/>
                  </a:cubicBezTo>
                  <a:cubicBezTo>
                    <a:pt x="173" y="249"/>
                    <a:pt x="176" y="246"/>
                    <a:pt x="179" y="243"/>
                  </a:cubicBezTo>
                  <a:cubicBezTo>
                    <a:pt x="176" y="242"/>
                    <a:pt x="173" y="241"/>
                    <a:pt x="170" y="240"/>
                  </a:cubicBezTo>
                  <a:cubicBezTo>
                    <a:pt x="162" y="250"/>
                    <a:pt x="162" y="250"/>
                    <a:pt x="162" y="250"/>
                  </a:cubicBezTo>
                  <a:cubicBezTo>
                    <a:pt x="83" y="277"/>
                    <a:pt x="83" y="277"/>
                    <a:pt x="83" y="277"/>
                  </a:cubicBezTo>
                  <a:cubicBezTo>
                    <a:pt x="81" y="270"/>
                    <a:pt x="78" y="266"/>
                    <a:pt x="74" y="262"/>
                  </a:cubicBezTo>
                  <a:cubicBezTo>
                    <a:pt x="84" y="190"/>
                    <a:pt x="83" y="129"/>
                    <a:pt x="70" y="79"/>
                  </a:cubicBezTo>
                  <a:cubicBezTo>
                    <a:pt x="91" y="122"/>
                    <a:pt x="91" y="122"/>
                    <a:pt x="91" y="122"/>
                  </a:cubicBezTo>
                  <a:cubicBezTo>
                    <a:pt x="103" y="166"/>
                    <a:pt x="106" y="204"/>
                    <a:pt x="99" y="237"/>
                  </a:cubicBezTo>
                  <a:cubicBezTo>
                    <a:pt x="105" y="221"/>
                    <a:pt x="108" y="205"/>
                    <a:pt x="109" y="188"/>
                  </a:cubicBezTo>
                  <a:cubicBezTo>
                    <a:pt x="117" y="198"/>
                    <a:pt x="123" y="209"/>
                    <a:pt x="127" y="222"/>
                  </a:cubicBezTo>
                  <a:cubicBezTo>
                    <a:pt x="156" y="230"/>
                    <a:pt x="156" y="230"/>
                    <a:pt x="156" y="230"/>
                  </a:cubicBezTo>
                  <a:cubicBezTo>
                    <a:pt x="154" y="228"/>
                    <a:pt x="153" y="225"/>
                    <a:pt x="152" y="223"/>
                  </a:cubicBezTo>
                  <a:cubicBezTo>
                    <a:pt x="145" y="224"/>
                    <a:pt x="138" y="218"/>
                    <a:pt x="130" y="206"/>
                  </a:cubicBezTo>
                  <a:cubicBezTo>
                    <a:pt x="126" y="190"/>
                    <a:pt x="119" y="178"/>
                    <a:pt x="109" y="170"/>
                  </a:cubicBezTo>
                  <a:cubicBezTo>
                    <a:pt x="108" y="153"/>
                    <a:pt x="105" y="135"/>
                    <a:pt x="99" y="118"/>
                  </a:cubicBezTo>
                  <a:cubicBezTo>
                    <a:pt x="73" y="61"/>
                    <a:pt x="73" y="61"/>
                    <a:pt x="73" y="61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8" name="MH_Other_55"/>
            <p:cNvSpPr/>
            <p:nvPr>
              <p:custDataLst>
                <p:tags r:id="rId43"/>
              </p:custDataLst>
            </p:nvPr>
          </p:nvSpPr>
          <p:spPr bwMode="auto">
            <a:xfrm>
              <a:off x="7308850" y="5278438"/>
              <a:ext cx="12700" cy="47625"/>
            </a:xfrm>
            <a:custGeom>
              <a:avLst/>
              <a:gdLst>
                <a:gd name="T0" fmla="*/ 0 w 9"/>
                <a:gd name="T1" fmla="*/ 22 h 31"/>
                <a:gd name="T2" fmla="*/ 9 w 9"/>
                <a:gd name="T3" fmla="*/ 31 h 31"/>
                <a:gd name="T4" fmla="*/ 4 w 9"/>
                <a:gd name="T5" fmla="*/ 0 h 31"/>
                <a:gd name="T6" fmla="*/ 0 w 9"/>
                <a:gd name="T7" fmla="*/ 22 h 31"/>
                <a:gd name="T8" fmla="*/ 0 w 9"/>
                <a:gd name="T9" fmla="*/ 2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31">
                  <a:moveTo>
                    <a:pt x="0" y="22"/>
                  </a:moveTo>
                  <a:lnTo>
                    <a:pt x="9" y="31"/>
                  </a:lnTo>
                  <a:lnTo>
                    <a:pt x="4" y="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59" name="MH_Other_5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7242175" y="5054600"/>
              <a:ext cx="173038" cy="525463"/>
            </a:xfrm>
            <a:custGeom>
              <a:avLst/>
              <a:gdLst>
                <a:gd name="T0" fmla="*/ 58 w 140"/>
                <a:gd name="T1" fmla="*/ 179 h 422"/>
                <a:gd name="T2" fmla="*/ 65 w 140"/>
                <a:gd name="T3" fmla="*/ 218 h 422"/>
                <a:gd name="T4" fmla="*/ 84 w 140"/>
                <a:gd name="T5" fmla="*/ 265 h 422"/>
                <a:gd name="T6" fmla="*/ 107 w 140"/>
                <a:gd name="T7" fmla="*/ 312 h 422"/>
                <a:gd name="T8" fmla="*/ 80 w 140"/>
                <a:gd name="T9" fmla="*/ 279 h 422"/>
                <a:gd name="T10" fmla="*/ 79 w 140"/>
                <a:gd name="T11" fmla="*/ 370 h 422"/>
                <a:gd name="T12" fmla="*/ 84 w 140"/>
                <a:gd name="T13" fmla="*/ 398 h 422"/>
                <a:gd name="T14" fmla="*/ 98 w 140"/>
                <a:gd name="T15" fmla="*/ 422 h 422"/>
                <a:gd name="T16" fmla="*/ 105 w 140"/>
                <a:gd name="T17" fmla="*/ 412 h 422"/>
                <a:gd name="T18" fmla="*/ 117 w 140"/>
                <a:gd name="T19" fmla="*/ 381 h 422"/>
                <a:gd name="T20" fmla="*/ 131 w 140"/>
                <a:gd name="T21" fmla="*/ 195 h 422"/>
                <a:gd name="T22" fmla="*/ 101 w 140"/>
                <a:gd name="T23" fmla="*/ 154 h 422"/>
                <a:gd name="T24" fmla="*/ 24 w 140"/>
                <a:gd name="T25" fmla="*/ 143 h 422"/>
                <a:gd name="T26" fmla="*/ 69 w 140"/>
                <a:gd name="T27" fmla="*/ 37 h 422"/>
                <a:gd name="T28" fmla="*/ 102 w 140"/>
                <a:gd name="T29" fmla="*/ 0 h 422"/>
                <a:gd name="T30" fmla="*/ 18 w 140"/>
                <a:gd name="T31" fmla="*/ 39 h 422"/>
                <a:gd name="T32" fmla="*/ 33 w 140"/>
                <a:gd name="T33" fmla="*/ 183 h 422"/>
                <a:gd name="T34" fmla="*/ 54 w 140"/>
                <a:gd name="T35" fmla="*/ 207 h 422"/>
                <a:gd name="T36" fmla="*/ 58 w 140"/>
                <a:gd name="T37" fmla="*/ 179 h 422"/>
                <a:gd name="T38" fmla="*/ 90 w 140"/>
                <a:gd name="T39" fmla="*/ 9 h 422"/>
                <a:gd name="T40" fmla="*/ 79 w 140"/>
                <a:gd name="T41" fmla="*/ 22 h 422"/>
                <a:gd name="T42" fmla="*/ 26 w 140"/>
                <a:gd name="T43" fmla="*/ 46 h 422"/>
                <a:gd name="T44" fmla="*/ 21 w 140"/>
                <a:gd name="T45" fmla="*/ 141 h 422"/>
                <a:gd name="T46" fmla="*/ 21 w 140"/>
                <a:gd name="T47" fmla="*/ 141 h 422"/>
                <a:gd name="T48" fmla="*/ 21 w 140"/>
                <a:gd name="T49" fmla="*/ 143 h 422"/>
                <a:gd name="T50" fmla="*/ 22 w 140"/>
                <a:gd name="T51" fmla="*/ 145 h 422"/>
                <a:gd name="T52" fmla="*/ 23 w 140"/>
                <a:gd name="T53" fmla="*/ 146 h 422"/>
                <a:gd name="T54" fmla="*/ 53 w 140"/>
                <a:gd name="T55" fmla="*/ 195 h 422"/>
                <a:gd name="T56" fmla="*/ 52 w 140"/>
                <a:gd name="T57" fmla="*/ 200 h 422"/>
                <a:gd name="T58" fmla="*/ 35 w 140"/>
                <a:gd name="T59" fmla="*/ 181 h 422"/>
                <a:gd name="T60" fmla="*/ 20 w 140"/>
                <a:gd name="T61" fmla="*/ 41 h 422"/>
                <a:gd name="T62" fmla="*/ 90 w 140"/>
                <a:gd name="T63" fmla="*/ 9 h 422"/>
                <a:gd name="T64" fmla="*/ 61 w 140"/>
                <a:gd name="T65" fmla="*/ 178 h 422"/>
                <a:gd name="T66" fmla="*/ 70 w 140"/>
                <a:gd name="T67" fmla="*/ 187 h 422"/>
                <a:gd name="T68" fmla="*/ 109 w 140"/>
                <a:gd name="T69" fmla="*/ 309 h 422"/>
                <a:gd name="T70" fmla="*/ 87 w 140"/>
                <a:gd name="T71" fmla="*/ 264 h 422"/>
                <a:gd name="T72" fmla="*/ 87 w 140"/>
                <a:gd name="T73" fmla="*/ 264 h 422"/>
                <a:gd name="T74" fmla="*/ 67 w 140"/>
                <a:gd name="T75" fmla="*/ 217 h 422"/>
                <a:gd name="T76" fmla="*/ 61 w 140"/>
                <a:gd name="T77" fmla="*/ 178 h 422"/>
                <a:gd name="T78" fmla="*/ 81 w 140"/>
                <a:gd name="T79" fmla="*/ 285 h 422"/>
                <a:gd name="T80" fmla="*/ 87 w 140"/>
                <a:gd name="T81" fmla="*/ 292 h 422"/>
                <a:gd name="T82" fmla="*/ 98 w 140"/>
                <a:gd name="T83" fmla="*/ 417 h 422"/>
                <a:gd name="T84" fmla="*/ 87 w 140"/>
                <a:gd name="T85" fmla="*/ 397 h 422"/>
                <a:gd name="T86" fmla="*/ 82 w 140"/>
                <a:gd name="T87" fmla="*/ 369 h 422"/>
                <a:gd name="T88" fmla="*/ 81 w 140"/>
                <a:gd name="T89" fmla="*/ 285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0" h="422">
                  <a:moveTo>
                    <a:pt x="58" y="179"/>
                  </a:moveTo>
                  <a:cubicBezTo>
                    <a:pt x="65" y="218"/>
                    <a:pt x="65" y="218"/>
                    <a:pt x="65" y="218"/>
                  </a:cubicBezTo>
                  <a:cubicBezTo>
                    <a:pt x="70" y="234"/>
                    <a:pt x="77" y="250"/>
                    <a:pt x="84" y="265"/>
                  </a:cubicBezTo>
                  <a:cubicBezTo>
                    <a:pt x="91" y="281"/>
                    <a:pt x="99" y="297"/>
                    <a:pt x="107" y="312"/>
                  </a:cubicBezTo>
                  <a:cubicBezTo>
                    <a:pt x="80" y="279"/>
                    <a:pt x="80" y="279"/>
                    <a:pt x="80" y="279"/>
                  </a:cubicBezTo>
                  <a:cubicBezTo>
                    <a:pt x="73" y="304"/>
                    <a:pt x="73" y="334"/>
                    <a:pt x="79" y="370"/>
                  </a:cubicBezTo>
                  <a:cubicBezTo>
                    <a:pt x="80" y="379"/>
                    <a:pt x="82" y="388"/>
                    <a:pt x="84" y="398"/>
                  </a:cubicBezTo>
                  <a:cubicBezTo>
                    <a:pt x="98" y="422"/>
                    <a:pt x="98" y="422"/>
                    <a:pt x="98" y="422"/>
                  </a:cubicBezTo>
                  <a:cubicBezTo>
                    <a:pt x="105" y="412"/>
                    <a:pt x="105" y="412"/>
                    <a:pt x="105" y="412"/>
                  </a:cubicBezTo>
                  <a:cubicBezTo>
                    <a:pt x="117" y="381"/>
                    <a:pt x="117" y="381"/>
                    <a:pt x="117" y="381"/>
                  </a:cubicBezTo>
                  <a:cubicBezTo>
                    <a:pt x="135" y="333"/>
                    <a:pt x="140" y="271"/>
                    <a:pt x="131" y="195"/>
                  </a:cubicBezTo>
                  <a:cubicBezTo>
                    <a:pt x="116" y="183"/>
                    <a:pt x="106" y="169"/>
                    <a:pt x="101" y="154"/>
                  </a:cubicBezTo>
                  <a:cubicBezTo>
                    <a:pt x="24" y="143"/>
                    <a:pt x="24" y="143"/>
                    <a:pt x="24" y="143"/>
                  </a:cubicBezTo>
                  <a:cubicBezTo>
                    <a:pt x="69" y="37"/>
                    <a:pt x="69" y="37"/>
                    <a:pt x="69" y="37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0" y="94"/>
                    <a:pt x="5" y="143"/>
                    <a:pt x="33" y="183"/>
                  </a:cubicBezTo>
                  <a:cubicBezTo>
                    <a:pt x="54" y="207"/>
                    <a:pt x="54" y="207"/>
                    <a:pt x="54" y="207"/>
                  </a:cubicBezTo>
                  <a:cubicBezTo>
                    <a:pt x="58" y="179"/>
                    <a:pt x="58" y="179"/>
                    <a:pt x="58" y="179"/>
                  </a:cubicBezTo>
                  <a:close/>
                  <a:moveTo>
                    <a:pt x="90" y="9"/>
                  </a:moveTo>
                  <a:cubicBezTo>
                    <a:pt x="79" y="22"/>
                    <a:pt x="79" y="22"/>
                    <a:pt x="79" y="22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16" y="77"/>
                    <a:pt x="14" y="109"/>
                    <a:pt x="21" y="141"/>
                  </a:cubicBezTo>
                  <a:cubicBezTo>
                    <a:pt x="21" y="141"/>
                    <a:pt x="21" y="141"/>
                    <a:pt x="21" y="141"/>
                  </a:cubicBezTo>
                  <a:cubicBezTo>
                    <a:pt x="21" y="142"/>
                    <a:pt x="21" y="143"/>
                    <a:pt x="21" y="143"/>
                  </a:cubicBezTo>
                  <a:cubicBezTo>
                    <a:pt x="21" y="144"/>
                    <a:pt x="21" y="144"/>
                    <a:pt x="22" y="145"/>
                  </a:cubicBezTo>
                  <a:cubicBezTo>
                    <a:pt x="22" y="145"/>
                    <a:pt x="22" y="146"/>
                    <a:pt x="23" y="146"/>
                  </a:cubicBezTo>
                  <a:cubicBezTo>
                    <a:pt x="30" y="162"/>
                    <a:pt x="40" y="179"/>
                    <a:pt x="53" y="195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8" y="142"/>
                    <a:pt x="3" y="95"/>
                    <a:pt x="20" y="41"/>
                  </a:cubicBezTo>
                  <a:cubicBezTo>
                    <a:pt x="90" y="9"/>
                    <a:pt x="90" y="9"/>
                    <a:pt x="90" y="9"/>
                  </a:cubicBezTo>
                  <a:close/>
                  <a:moveTo>
                    <a:pt x="61" y="178"/>
                  </a:moveTo>
                  <a:cubicBezTo>
                    <a:pt x="70" y="187"/>
                    <a:pt x="70" y="187"/>
                    <a:pt x="70" y="187"/>
                  </a:cubicBezTo>
                  <a:cubicBezTo>
                    <a:pt x="79" y="225"/>
                    <a:pt x="92" y="266"/>
                    <a:pt x="109" y="309"/>
                  </a:cubicBezTo>
                  <a:cubicBezTo>
                    <a:pt x="101" y="294"/>
                    <a:pt x="94" y="279"/>
                    <a:pt x="87" y="264"/>
                  </a:cubicBezTo>
                  <a:cubicBezTo>
                    <a:pt x="87" y="264"/>
                    <a:pt x="87" y="264"/>
                    <a:pt x="87" y="264"/>
                  </a:cubicBezTo>
                  <a:cubicBezTo>
                    <a:pt x="80" y="249"/>
                    <a:pt x="73" y="233"/>
                    <a:pt x="67" y="217"/>
                  </a:cubicBezTo>
                  <a:cubicBezTo>
                    <a:pt x="61" y="178"/>
                    <a:pt x="61" y="178"/>
                    <a:pt x="61" y="178"/>
                  </a:cubicBezTo>
                  <a:close/>
                  <a:moveTo>
                    <a:pt x="81" y="285"/>
                  </a:moveTo>
                  <a:cubicBezTo>
                    <a:pt x="87" y="292"/>
                    <a:pt x="87" y="292"/>
                    <a:pt x="87" y="292"/>
                  </a:cubicBezTo>
                  <a:cubicBezTo>
                    <a:pt x="82" y="332"/>
                    <a:pt x="86" y="374"/>
                    <a:pt x="98" y="417"/>
                  </a:cubicBezTo>
                  <a:cubicBezTo>
                    <a:pt x="87" y="397"/>
                    <a:pt x="87" y="397"/>
                    <a:pt x="87" y="397"/>
                  </a:cubicBezTo>
                  <a:cubicBezTo>
                    <a:pt x="85" y="387"/>
                    <a:pt x="83" y="378"/>
                    <a:pt x="82" y="369"/>
                  </a:cubicBezTo>
                  <a:cubicBezTo>
                    <a:pt x="76" y="337"/>
                    <a:pt x="76" y="309"/>
                    <a:pt x="81" y="285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0" name="MH_Other_57"/>
            <p:cNvSpPr/>
            <p:nvPr>
              <p:custDataLst>
                <p:tags r:id="rId45"/>
              </p:custDataLst>
            </p:nvPr>
          </p:nvSpPr>
          <p:spPr bwMode="auto">
            <a:xfrm>
              <a:off x="7245350" y="5065713"/>
              <a:ext cx="107950" cy="238125"/>
            </a:xfrm>
            <a:custGeom>
              <a:avLst/>
              <a:gdLst>
                <a:gd name="T0" fmla="*/ 76 w 87"/>
                <a:gd name="T1" fmla="*/ 13 h 191"/>
                <a:gd name="T2" fmla="*/ 87 w 87"/>
                <a:gd name="T3" fmla="*/ 0 h 191"/>
                <a:gd name="T4" fmla="*/ 17 w 87"/>
                <a:gd name="T5" fmla="*/ 32 h 191"/>
                <a:gd name="T6" fmla="*/ 32 w 87"/>
                <a:gd name="T7" fmla="*/ 172 h 191"/>
                <a:gd name="T8" fmla="*/ 49 w 87"/>
                <a:gd name="T9" fmla="*/ 191 h 191"/>
                <a:gd name="T10" fmla="*/ 50 w 87"/>
                <a:gd name="T11" fmla="*/ 186 h 191"/>
                <a:gd name="T12" fmla="*/ 20 w 87"/>
                <a:gd name="T13" fmla="*/ 137 h 191"/>
                <a:gd name="T14" fmla="*/ 19 w 87"/>
                <a:gd name="T15" fmla="*/ 136 h 191"/>
                <a:gd name="T16" fmla="*/ 18 w 87"/>
                <a:gd name="T17" fmla="*/ 134 h 191"/>
                <a:gd name="T18" fmla="*/ 18 w 87"/>
                <a:gd name="T19" fmla="*/ 132 h 191"/>
                <a:gd name="T20" fmla="*/ 18 w 87"/>
                <a:gd name="T21" fmla="*/ 132 h 191"/>
                <a:gd name="T22" fmla="*/ 23 w 87"/>
                <a:gd name="T23" fmla="*/ 37 h 191"/>
                <a:gd name="T24" fmla="*/ 76 w 87"/>
                <a:gd name="T25" fmla="*/ 13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191">
                  <a:moveTo>
                    <a:pt x="76" y="13"/>
                  </a:moveTo>
                  <a:cubicBezTo>
                    <a:pt x="87" y="0"/>
                    <a:pt x="87" y="0"/>
                    <a:pt x="87" y="0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0" y="86"/>
                    <a:pt x="5" y="133"/>
                    <a:pt x="32" y="172"/>
                  </a:cubicBezTo>
                  <a:cubicBezTo>
                    <a:pt x="49" y="191"/>
                    <a:pt x="49" y="191"/>
                    <a:pt x="49" y="191"/>
                  </a:cubicBezTo>
                  <a:cubicBezTo>
                    <a:pt x="50" y="186"/>
                    <a:pt x="50" y="186"/>
                    <a:pt x="50" y="186"/>
                  </a:cubicBezTo>
                  <a:cubicBezTo>
                    <a:pt x="37" y="170"/>
                    <a:pt x="27" y="153"/>
                    <a:pt x="20" y="137"/>
                  </a:cubicBezTo>
                  <a:cubicBezTo>
                    <a:pt x="19" y="137"/>
                    <a:pt x="19" y="136"/>
                    <a:pt x="19" y="136"/>
                  </a:cubicBezTo>
                  <a:cubicBezTo>
                    <a:pt x="18" y="135"/>
                    <a:pt x="18" y="135"/>
                    <a:pt x="18" y="134"/>
                  </a:cubicBezTo>
                  <a:cubicBezTo>
                    <a:pt x="18" y="134"/>
                    <a:pt x="18" y="133"/>
                    <a:pt x="18" y="132"/>
                  </a:cubicBezTo>
                  <a:cubicBezTo>
                    <a:pt x="18" y="132"/>
                    <a:pt x="18" y="132"/>
                    <a:pt x="18" y="132"/>
                  </a:cubicBezTo>
                  <a:cubicBezTo>
                    <a:pt x="11" y="100"/>
                    <a:pt x="13" y="68"/>
                    <a:pt x="23" y="37"/>
                  </a:cubicBezTo>
                  <a:cubicBezTo>
                    <a:pt x="76" y="13"/>
                    <a:pt x="76" y="13"/>
                    <a:pt x="76" y="13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1" name="MH_Other_58"/>
            <p:cNvSpPr/>
            <p:nvPr>
              <p:custDataLst>
                <p:tags r:id="rId46"/>
              </p:custDataLst>
            </p:nvPr>
          </p:nvSpPr>
          <p:spPr bwMode="auto">
            <a:xfrm>
              <a:off x="7318375" y="5276850"/>
              <a:ext cx="58738" cy="161925"/>
            </a:xfrm>
            <a:custGeom>
              <a:avLst/>
              <a:gdLst>
                <a:gd name="T0" fmla="*/ 9 w 48"/>
                <a:gd name="T1" fmla="*/ 9 h 131"/>
                <a:gd name="T2" fmla="*/ 0 w 48"/>
                <a:gd name="T3" fmla="*/ 0 h 131"/>
                <a:gd name="T4" fmla="*/ 6 w 48"/>
                <a:gd name="T5" fmla="*/ 39 h 131"/>
                <a:gd name="T6" fmla="*/ 26 w 48"/>
                <a:gd name="T7" fmla="*/ 86 h 131"/>
                <a:gd name="T8" fmla="*/ 26 w 48"/>
                <a:gd name="T9" fmla="*/ 86 h 131"/>
                <a:gd name="T10" fmla="*/ 48 w 48"/>
                <a:gd name="T11" fmla="*/ 131 h 131"/>
                <a:gd name="T12" fmla="*/ 9 w 48"/>
                <a:gd name="T13" fmla="*/ 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31">
                  <a:moveTo>
                    <a:pt x="9" y="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55"/>
                    <a:pt x="19" y="71"/>
                    <a:pt x="26" y="86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33" y="101"/>
                    <a:pt x="40" y="116"/>
                    <a:pt x="48" y="131"/>
                  </a:cubicBezTo>
                  <a:cubicBezTo>
                    <a:pt x="31" y="88"/>
                    <a:pt x="18" y="47"/>
                    <a:pt x="9" y="9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2" name="MH_Other_59"/>
            <p:cNvSpPr/>
            <p:nvPr>
              <p:custDataLst>
                <p:tags r:id="rId47"/>
              </p:custDataLst>
            </p:nvPr>
          </p:nvSpPr>
          <p:spPr bwMode="auto">
            <a:xfrm>
              <a:off x="7335838" y="5410200"/>
              <a:ext cx="28575" cy="161925"/>
            </a:xfrm>
            <a:custGeom>
              <a:avLst/>
              <a:gdLst>
                <a:gd name="T0" fmla="*/ 11 w 22"/>
                <a:gd name="T1" fmla="*/ 7 h 132"/>
                <a:gd name="T2" fmla="*/ 5 w 22"/>
                <a:gd name="T3" fmla="*/ 0 h 132"/>
                <a:gd name="T4" fmla="*/ 6 w 22"/>
                <a:gd name="T5" fmla="*/ 84 h 132"/>
                <a:gd name="T6" fmla="*/ 11 w 22"/>
                <a:gd name="T7" fmla="*/ 112 h 132"/>
                <a:gd name="T8" fmla="*/ 22 w 22"/>
                <a:gd name="T9" fmla="*/ 132 h 132"/>
                <a:gd name="T10" fmla="*/ 11 w 22"/>
                <a:gd name="T11" fmla="*/ 7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32">
                  <a:moveTo>
                    <a:pt x="11" y="7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24"/>
                    <a:pt x="0" y="52"/>
                    <a:pt x="6" y="84"/>
                  </a:cubicBezTo>
                  <a:cubicBezTo>
                    <a:pt x="7" y="93"/>
                    <a:pt x="9" y="102"/>
                    <a:pt x="11" y="112"/>
                  </a:cubicBezTo>
                  <a:cubicBezTo>
                    <a:pt x="22" y="132"/>
                    <a:pt x="22" y="132"/>
                    <a:pt x="22" y="132"/>
                  </a:cubicBezTo>
                  <a:cubicBezTo>
                    <a:pt x="10" y="89"/>
                    <a:pt x="6" y="47"/>
                    <a:pt x="11" y="7"/>
                  </a:cubicBezTo>
                  <a:close/>
                </a:path>
              </a:pathLst>
            </a:custGeom>
            <a:solidFill>
              <a:srgbClr val="E0D3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3" name="MH_Other_60"/>
            <p:cNvSpPr/>
            <p:nvPr>
              <p:custDataLst>
                <p:tags r:id="rId48"/>
              </p:custDataLst>
            </p:nvPr>
          </p:nvSpPr>
          <p:spPr bwMode="auto">
            <a:xfrm>
              <a:off x="7342188" y="5383213"/>
              <a:ext cx="31750" cy="58737"/>
            </a:xfrm>
            <a:custGeom>
              <a:avLst/>
              <a:gdLst>
                <a:gd name="T0" fmla="*/ 4 w 27"/>
                <a:gd name="T1" fmla="*/ 0 h 47"/>
                <a:gd name="T2" fmla="*/ 0 w 27"/>
                <a:gd name="T3" fmla="*/ 14 h 47"/>
                <a:gd name="T4" fmla="*/ 27 w 27"/>
                <a:gd name="T5" fmla="*/ 47 h 47"/>
                <a:gd name="T6" fmla="*/ 4 w 27"/>
                <a:gd name="T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47">
                  <a:moveTo>
                    <a:pt x="4" y="0"/>
                  </a:moveTo>
                  <a:cubicBezTo>
                    <a:pt x="2" y="5"/>
                    <a:pt x="1" y="9"/>
                    <a:pt x="0" y="14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19" y="32"/>
                    <a:pt x="11" y="16"/>
                    <a:pt x="4" y="0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4" name="MH_Other_61"/>
            <p:cNvSpPr/>
            <p:nvPr>
              <p:custDataLst>
                <p:tags r:id="rId49"/>
              </p:custDataLst>
            </p:nvPr>
          </p:nvSpPr>
          <p:spPr bwMode="auto">
            <a:xfrm>
              <a:off x="7383463" y="5481638"/>
              <a:ext cx="122237" cy="98425"/>
            </a:xfrm>
            <a:custGeom>
              <a:avLst/>
              <a:gdLst>
                <a:gd name="T0" fmla="*/ 31 w 99"/>
                <a:gd name="T1" fmla="*/ 0 h 80"/>
                <a:gd name="T2" fmla="*/ 25 w 99"/>
                <a:gd name="T3" fmla="*/ 24 h 80"/>
                <a:gd name="T4" fmla="*/ 57 w 99"/>
                <a:gd name="T5" fmla="*/ 24 h 80"/>
                <a:gd name="T6" fmla="*/ 9 w 99"/>
                <a:gd name="T7" fmla="*/ 66 h 80"/>
                <a:gd name="T8" fmla="*/ 0 w 99"/>
                <a:gd name="T9" fmla="*/ 80 h 80"/>
                <a:gd name="T10" fmla="*/ 8 w 99"/>
                <a:gd name="T11" fmla="*/ 78 h 80"/>
                <a:gd name="T12" fmla="*/ 68 w 99"/>
                <a:gd name="T13" fmla="*/ 39 h 80"/>
                <a:gd name="T14" fmla="*/ 79 w 99"/>
                <a:gd name="T15" fmla="*/ 31 h 80"/>
                <a:gd name="T16" fmla="*/ 99 w 99"/>
                <a:gd name="T17" fmla="*/ 15 h 80"/>
                <a:gd name="T18" fmla="*/ 31 w 99"/>
                <a:gd name="T19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80">
                  <a:moveTo>
                    <a:pt x="31" y="0"/>
                  </a:moveTo>
                  <a:cubicBezTo>
                    <a:pt x="29" y="9"/>
                    <a:pt x="27" y="17"/>
                    <a:pt x="25" y="24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6" y="71"/>
                    <a:pt x="3" y="76"/>
                    <a:pt x="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79" y="31"/>
                    <a:pt x="79" y="31"/>
                    <a:pt x="79" y="31"/>
                  </a:cubicBezTo>
                  <a:cubicBezTo>
                    <a:pt x="86" y="27"/>
                    <a:pt x="92" y="22"/>
                    <a:pt x="99" y="15"/>
                  </a:cubicBezTo>
                  <a:cubicBezTo>
                    <a:pt x="73" y="14"/>
                    <a:pt x="51" y="9"/>
                    <a:pt x="31" y="0"/>
                  </a:cubicBezTo>
                  <a:close/>
                </a:path>
              </a:pathLst>
            </a:custGeom>
            <a:solidFill>
              <a:srgbClr val="9F86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5" name="MH_Other_62"/>
            <p:cNvSpPr>
              <a:spLocks noEditPoints="1"/>
            </p:cNvSpPr>
            <p:nvPr>
              <p:custDataLst>
                <p:tags r:id="rId50"/>
              </p:custDataLst>
            </p:nvPr>
          </p:nvSpPr>
          <p:spPr bwMode="auto">
            <a:xfrm>
              <a:off x="6713538" y="5287963"/>
              <a:ext cx="703262" cy="539750"/>
            </a:xfrm>
            <a:custGeom>
              <a:avLst/>
              <a:gdLst>
                <a:gd name="T0" fmla="*/ 487 w 567"/>
                <a:gd name="T1" fmla="*/ 259 h 435"/>
                <a:gd name="T2" fmla="*/ 475 w 567"/>
                <a:gd name="T3" fmla="*/ 398 h 435"/>
                <a:gd name="T4" fmla="*/ 398 w 567"/>
                <a:gd name="T5" fmla="*/ 290 h 435"/>
                <a:gd name="T6" fmla="*/ 366 w 567"/>
                <a:gd name="T7" fmla="*/ 345 h 435"/>
                <a:gd name="T8" fmla="*/ 364 w 567"/>
                <a:gd name="T9" fmla="*/ 262 h 435"/>
                <a:gd name="T10" fmla="*/ 351 w 567"/>
                <a:gd name="T11" fmla="*/ 274 h 435"/>
                <a:gd name="T12" fmla="*/ 287 w 567"/>
                <a:gd name="T13" fmla="*/ 203 h 435"/>
                <a:gd name="T14" fmla="*/ 274 w 567"/>
                <a:gd name="T15" fmla="*/ 184 h 435"/>
                <a:gd name="T16" fmla="*/ 289 w 567"/>
                <a:gd name="T17" fmla="*/ 187 h 435"/>
                <a:gd name="T18" fmla="*/ 298 w 567"/>
                <a:gd name="T19" fmla="*/ 104 h 435"/>
                <a:gd name="T20" fmla="*/ 256 w 567"/>
                <a:gd name="T21" fmla="*/ 113 h 435"/>
                <a:gd name="T22" fmla="*/ 120 w 567"/>
                <a:gd name="T23" fmla="*/ 36 h 435"/>
                <a:gd name="T24" fmla="*/ 39 w 567"/>
                <a:gd name="T25" fmla="*/ 198 h 435"/>
                <a:gd name="T26" fmla="*/ 36 w 567"/>
                <a:gd name="T27" fmla="*/ 312 h 435"/>
                <a:gd name="T28" fmla="*/ 0 w 567"/>
                <a:gd name="T29" fmla="*/ 435 h 435"/>
                <a:gd name="T30" fmla="*/ 262 w 567"/>
                <a:gd name="T31" fmla="*/ 379 h 435"/>
                <a:gd name="T32" fmla="*/ 294 w 567"/>
                <a:gd name="T33" fmla="*/ 381 h 435"/>
                <a:gd name="T34" fmla="*/ 509 w 567"/>
                <a:gd name="T35" fmla="*/ 382 h 435"/>
                <a:gd name="T36" fmla="*/ 567 w 567"/>
                <a:gd name="T37" fmla="*/ 327 h 435"/>
                <a:gd name="T38" fmla="*/ 509 w 567"/>
                <a:gd name="T39" fmla="*/ 243 h 435"/>
                <a:gd name="T40" fmla="*/ 494 w 567"/>
                <a:gd name="T41" fmla="*/ 248 h 435"/>
                <a:gd name="T42" fmla="*/ 131 w 567"/>
                <a:gd name="T43" fmla="*/ 42 h 435"/>
                <a:gd name="T44" fmla="*/ 56 w 567"/>
                <a:gd name="T45" fmla="*/ 231 h 435"/>
                <a:gd name="T46" fmla="*/ 45 w 567"/>
                <a:gd name="T47" fmla="*/ 402 h 435"/>
                <a:gd name="T48" fmla="*/ 4 w 567"/>
                <a:gd name="T49" fmla="*/ 431 h 435"/>
                <a:gd name="T50" fmla="*/ 28 w 567"/>
                <a:gd name="T51" fmla="*/ 402 h 435"/>
                <a:gd name="T52" fmla="*/ 38 w 567"/>
                <a:gd name="T53" fmla="*/ 313 h 435"/>
                <a:gd name="T54" fmla="*/ 44 w 567"/>
                <a:gd name="T55" fmla="*/ 217 h 435"/>
                <a:gd name="T56" fmla="*/ 42 w 567"/>
                <a:gd name="T57" fmla="*/ 197 h 435"/>
                <a:gd name="T58" fmla="*/ 99 w 567"/>
                <a:gd name="T59" fmla="*/ 63 h 435"/>
                <a:gd name="T60" fmla="*/ 122 w 567"/>
                <a:gd name="T61" fmla="*/ 38 h 435"/>
                <a:gd name="T62" fmla="*/ 154 w 567"/>
                <a:gd name="T63" fmla="*/ 4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7" h="435">
                  <a:moveTo>
                    <a:pt x="494" y="248"/>
                  </a:moveTo>
                  <a:cubicBezTo>
                    <a:pt x="491" y="251"/>
                    <a:pt x="488" y="254"/>
                    <a:pt x="487" y="259"/>
                  </a:cubicBezTo>
                  <a:cubicBezTo>
                    <a:pt x="484" y="268"/>
                    <a:pt x="483" y="280"/>
                    <a:pt x="485" y="296"/>
                  </a:cubicBezTo>
                  <a:cubicBezTo>
                    <a:pt x="489" y="334"/>
                    <a:pt x="486" y="368"/>
                    <a:pt x="475" y="398"/>
                  </a:cubicBezTo>
                  <a:cubicBezTo>
                    <a:pt x="480" y="352"/>
                    <a:pt x="480" y="308"/>
                    <a:pt x="473" y="267"/>
                  </a:cubicBezTo>
                  <a:cubicBezTo>
                    <a:pt x="447" y="279"/>
                    <a:pt x="422" y="287"/>
                    <a:pt x="398" y="290"/>
                  </a:cubicBezTo>
                  <a:cubicBezTo>
                    <a:pt x="382" y="316"/>
                    <a:pt x="371" y="343"/>
                    <a:pt x="366" y="372"/>
                  </a:cubicBezTo>
                  <a:cubicBezTo>
                    <a:pt x="366" y="345"/>
                    <a:pt x="366" y="345"/>
                    <a:pt x="366" y="345"/>
                  </a:cubicBezTo>
                  <a:cubicBezTo>
                    <a:pt x="385" y="286"/>
                    <a:pt x="385" y="286"/>
                    <a:pt x="385" y="286"/>
                  </a:cubicBezTo>
                  <a:cubicBezTo>
                    <a:pt x="388" y="276"/>
                    <a:pt x="381" y="267"/>
                    <a:pt x="364" y="262"/>
                  </a:cubicBezTo>
                  <a:cubicBezTo>
                    <a:pt x="363" y="296"/>
                    <a:pt x="357" y="331"/>
                    <a:pt x="346" y="368"/>
                  </a:cubicBezTo>
                  <a:cubicBezTo>
                    <a:pt x="351" y="274"/>
                    <a:pt x="351" y="274"/>
                    <a:pt x="351" y="274"/>
                  </a:cubicBezTo>
                  <a:cubicBezTo>
                    <a:pt x="332" y="265"/>
                    <a:pt x="332" y="265"/>
                    <a:pt x="332" y="265"/>
                  </a:cubicBezTo>
                  <a:cubicBezTo>
                    <a:pt x="325" y="244"/>
                    <a:pt x="310" y="223"/>
                    <a:pt x="287" y="203"/>
                  </a:cubicBezTo>
                  <a:cubicBezTo>
                    <a:pt x="221" y="173"/>
                    <a:pt x="221" y="173"/>
                    <a:pt x="221" y="173"/>
                  </a:cubicBezTo>
                  <a:cubicBezTo>
                    <a:pt x="274" y="184"/>
                    <a:pt x="274" y="184"/>
                    <a:pt x="274" y="184"/>
                  </a:cubicBezTo>
                  <a:cubicBezTo>
                    <a:pt x="265" y="161"/>
                    <a:pt x="250" y="135"/>
                    <a:pt x="228" y="107"/>
                  </a:cubicBezTo>
                  <a:cubicBezTo>
                    <a:pt x="250" y="122"/>
                    <a:pt x="271" y="149"/>
                    <a:pt x="289" y="187"/>
                  </a:cubicBezTo>
                  <a:cubicBezTo>
                    <a:pt x="296" y="188"/>
                    <a:pt x="303" y="191"/>
                    <a:pt x="308" y="196"/>
                  </a:cubicBezTo>
                  <a:cubicBezTo>
                    <a:pt x="298" y="104"/>
                    <a:pt x="298" y="104"/>
                    <a:pt x="298" y="104"/>
                  </a:cubicBezTo>
                  <a:cubicBezTo>
                    <a:pt x="286" y="90"/>
                    <a:pt x="286" y="90"/>
                    <a:pt x="286" y="90"/>
                  </a:cubicBezTo>
                  <a:cubicBezTo>
                    <a:pt x="256" y="113"/>
                    <a:pt x="256" y="113"/>
                    <a:pt x="256" y="113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36" y="9"/>
                    <a:pt x="125" y="21"/>
                    <a:pt x="120" y="36"/>
                  </a:cubicBezTo>
                  <a:cubicBezTo>
                    <a:pt x="108" y="37"/>
                    <a:pt x="100" y="46"/>
                    <a:pt x="96" y="62"/>
                  </a:cubicBezTo>
                  <a:cubicBezTo>
                    <a:pt x="54" y="89"/>
                    <a:pt x="35" y="135"/>
                    <a:pt x="39" y="198"/>
                  </a:cubicBezTo>
                  <a:cubicBezTo>
                    <a:pt x="40" y="205"/>
                    <a:pt x="41" y="211"/>
                    <a:pt x="41" y="218"/>
                  </a:cubicBezTo>
                  <a:cubicBezTo>
                    <a:pt x="43" y="252"/>
                    <a:pt x="41" y="284"/>
                    <a:pt x="36" y="312"/>
                  </a:cubicBezTo>
                  <a:cubicBezTo>
                    <a:pt x="22" y="348"/>
                    <a:pt x="19" y="378"/>
                    <a:pt x="25" y="401"/>
                  </a:cubicBezTo>
                  <a:cubicBezTo>
                    <a:pt x="11" y="410"/>
                    <a:pt x="3" y="421"/>
                    <a:pt x="0" y="435"/>
                  </a:cubicBezTo>
                  <a:cubicBezTo>
                    <a:pt x="233" y="405"/>
                    <a:pt x="233" y="405"/>
                    <a:pt x="233" y="405"/>
                  </a:cubicBezTo>
                  <a:cubicBezTo>
                    <a:pt x="262" y="379"/>
                    <a:pt x="262" y="379"/>
                    <a:pt x="262" y="379"/>
                  </a:cubicBezTo>
                  <a:cubicBezTo>
                    <a:pt x="112" y="285"/>
                    <a:pt x="112" y="285"/>
                    <a:pt x="112" y="285"/>
                  </a:cubicBezTo>
                  <a:cubicBezTo>
                    <a:pt x="294" y="381"/>
                    <a:pt x="294" y="381"/>
                    <a:pt x="294" y="381"/>
                  </a:cubicBezTo>
                  <a:cubicBezTo>
                    <a:pt x="455" y="423"/>
                    <a:pt x="455" y="423"/>
                    <a:pt x="455" y="423"/>
                  </a:cubicBezTo>
                  <a:cubicBezTo>
                    <a:pt x="509" y="382"/>
                    <a:pt x="509" y="382"/>
                    <a:pt x="509" y="382"/>
                  </a:cubicBezTo>
                  <a:cubicBezTo>
                    <a:pt x="527" y="382"/>
                    <a:pt x="527" y="382"/>
                    <a:pt x="527" y="382"/>
                  </a:cubicBezTo>
                  <a:cubicBezTo>
                    <a:pt x="567" y="327"/>
                    <a:pt x="567" y="327"/>
                    <a:pt x="567" y="327"/>
                  </a:cubicBezTo>
                  <a:cubicBezTo>
                    <a:pt x="549" y="293"/>
                    <a:pt x="538" y="264"/>
                    <a:pt x="533" y="238"/>
                  </a:cubicBezTo>
                  <a:cubicBezTo>
                    <a:pt x="509" y="243"/>
                    <a:pt x="509" y="243"/>
                    <a:pt x="509" y="243"/>
                  </a:cubicBezTo>
                  <a:cubicBezTo>
                    <a:pt x="506" y="243"/>
                    <a:pt x="503" y="243"/>
                    <a:pt x="501" y="244"/>
                  </a:cubicBezTo>
                  <a:cubicBezTo>
                    <a:pt x="498" y="245"/>
                    <a:pt x="496" y="246"/>
                    <a:pt x="494" y="248"/>
                  </a:cubicBezTo>
                  <a:close/>
                  <a:moveTo>
                    <a:pt x="163" y="14"/>
                  </a:moveTo>
                  <a:cubicBezTo>
                    <a:pt x="144" y="18"/>
                    <a:pt x="133" y="27"/>
                    <a:pt x="131" y="42"/>
                  </a:cubicBezTo>
                  <a:cubicBezTo>
                    <a:pt x="118" y="50"/>
                    <a:pt x="110" y="60"/>
                    <a:pt x="106" y="74"/>
                  </a:cubicBezTo>
                  <a:cubicBezTo>
                    <a:pt x="61" y="107"/>
                    <a:pt x="45" y="159"/>
                    <a:pt x="56" y="231"/>
                  </a:cubicBezTo>
                  <a:cubicBezTo>
                    <a:pt x="62" y="272"/>
                    <a:pt x="59" y="311"/>
                    <a:pt x="45" y="349"/>
                  </a:cubicBezTo>
                  <a:cubicBezTo>
                    <a:pt x="36" y="365"/>
                    <a:pt x="36" y="383"/>
                    <a:pt x="45" y="402"/>
                  </a:cubicBezTo>
                  <a:cubicBezTo>
                    <a:pt x="32" y="409"/>
                    <a:pt x="24" y="418"/>
                    <a:pt x="22" y="429"/>
                  </a:cubicBezTo>
                  <a:cubicBezTo>
                    <a:pt x="4" y="431"/>
                    <a:pt x="4" y="431"/>
                    <a:pt x="4" y="431"/>
                  </a:cubicBezTo>
                  <a:cubicBezTo>
                    <a:pt x="8" y="420"/>
                    <a:pt x="15" y="411"/>
                    <a:pt x="27" y="404"/>
                  </a:cubicBezTo>
                  <a:cubicBezTo>
                    <a:pt x="27" y="403"/>
                    <a:pt x="28" y="403"/>
                    <a:pt x="28" y="402"/>
                  </a:cubicBezTo>
                  <a:cubicBezTo>
                    <a:pt x="28" y="402"/>
                    <a:pt x="28" y="401"/>
                    <a:pt x="28" y="400"/>
                  </a:cubicBezTo>
                  <a:cubicBezTo>
                    <a:pt x="22" y="378"/>
                    <a:pt x="25" y="348"/>
                    <a:pt x="38" y="313"/>
                  </a:cubicBezTo>
                  <a:cubicBezTo>
                    <a:pt x="38" y="313"/>
                    <a:pt x="38" y="312"/>
                    <a:pt x="39" y="312"/>
                  </a:cubicBezTo>
                  <a:cubicBezTo>
                    <a:pt x="44" y="284"/>
                    <a:pt x="46" y="253"/>
                    <a:pt x="44" y="217"/>
                  </a:cubicBezTo>
                  <a:cubicBezTo>
                    <a:pt x="44" y="211"/>
                    <a:pt x="43" y="204"/>
                    <a:pt x="42" y="198"/>
                  </a:cubicBezTo>
                  <a:cubicBezTo>
                    <a:pt x="42" y="197"/>
                    <a:pt x="42" y="197"/>
                    <a:pt x="42" y="197"/>
                  </a:cubicBezTo>
                  <a:cubicBezTo>
                    <a:pt x="38" y="136"/>
                    <a:pt x="57" y="92"/>
                    <a:pt x="98" y="65"/>
                  </a:cubicBezTo>
                  <a:cubicBezTo>
                    <a:pt x="98" y="65"/>
                    <a:pt x="99" y="64"/>
                    <a:pt x="99" y="63"/>
                  </a:cubicBezTo>
                  <a:cubicBezTo>
                    <a:pt x="102" y="49"/>
                    <a:pt x="109" y="40"/>
                    <a:pt x="120" y="39"/>
                  </a:cubicBezTo>
                  <a:cubicBezTo>
                    <a:pt x="121" y="39"/>
                    <a:pt x="121" y="38"/>
                    <a:pt x="122" y="38"/>
                  </a:cubicBezTo>
                  <a:cubicBezTo>
                    <a:pt x="122" y="38"/>
                    <a:pt x="122" y="37"/>
                    <a:pt x="123" y="37"/>
                  </a:cubicBezTo>
                  <a:cubicBezTo>
                    <a:pt x="127" y="23"/>
                    <a:pt x="138" y="12"/>
                    <a:pt x="154" y="4"/>
                  </a:cubicBezTo>
                  <a:cubicBezTo>
                    <a:pt x="163" y="14"/>
                    <a:pt x="163" y="14"/>
                    <a:pt x="163" y="14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6" name="MH_Other_63"/>
            <p:cNvSpPr/>
            <p:nvPr>
              <p:custDataLst>
                <p:tags r:id="rId51"/>
              </p:custDataLst>
            </p:nvPr>
          </p:nvSpPr>
          <p:spPr bwMode="auto">
            <a:xfrm>
              <a:off x="6718300" y="5292725"/>
              <a:ext cx="198438" cy="530225"/>
            </a:xfrm>
            <a:custGeom>
              <a:avLst/>
              <a:gdLst>
                <a:gd name="T0" fmla="*/ 127 w 159"/>
                <a:gd name="T1" fmla="*/ 38 h 427"/>
                <a:gd name="T2" fmla="*/ 159 w 159"/>
                <a:gd name="T3" fmla="*/ 10 h 427"/>
                <a:gd name="T4" fmla="*/ 150 w 159"/>
                <a:gd name="T5" fmla="*/ 0 h 427"/>
                <a:gd name="T6" fmla="*/ 119 w 159"/>
                <a:gd name="T7" fmla="*/ 33 h 427"/>
                <a:gd name="T8" fmla="*/ 118 w 159"/>
                <a:gd name="T9" fmla="*/ 34 h 427"/>
                <a:gd name="T10" fmla="*/ 116 w 159"/>
                <a:gd name="T11" fmla="*/ 35 h 427"/>
                <a:gd name="T12" fmla="*/ 95 w 159"/>
                <a:gd name="T13" fmla="*/ 59 h 427"/>
                <a:gd name="T14" fmla="*/ 94 w 159"/>
                <a:gd name="T15" fmla="*/ 61 h 427"/>
                <a:gd name="T16" fmla="*/ 38 w 159"/>
                <a:gd name="T17" fmla="*/ 193 h 427"/>
                <a:gd name="T18" fmla="*/ 38 w 159"/>
                <a:gd name="T19" fmla="*/ 194 h 427"/>
                <a:gd name="T20" fmla="*/ 40 w 159"/>
                <a:gd name="T21" fmla="*/ 213 h 427"/>
                <a:gd name="T22" fmla="*/ 35 w 159"/>
                <a:gd name="T23" fmla="*/ 308 h 427"/>
                <a:gd name="T24" fmla="*/ 34 w 159"/>
                <a:gd name="T25" fmla="*/ 309 h 427"/>
                <a:gd name="T26" fmla="*/ 24 w 159"/>
                <a:gd name="T27" fmla="*/ 396 h 427"/>
                <a:gd name="T28" fmla="*/ 24 w 159"/>
                <a:gd name="T29" fmla="*/ 398 h 427"/>
                <a:gd name="T30" fmla="*/ 23 w 159"/>
                <a:gd name="T31" fmla="*/ 400 h 427"/>
                <a:gd name="T32" fmla="*/ 0 w 159"/>
                <a:gd name="T33" fmla="*/ 427 h 427"/>
                <a:gd name="T34" fmla="*/ 18 w 159"/>
                <a:gd name="T35" fmla="*/ 425 h 427"/>
                <a:gd name="T36" fmla="*/ 41 w 159"/>
                <a:gd name="T37" fmla="*/ 398 h 427"/>
                <a:gd name="T38" fmla="*/ 41 w 159"/>
                <a:gd name="T39" fmla="*/ 345 h 427"/>
                <a:gd name="T40" fmla="*/ 52 w 159"/>
                <a:gd name="T41" fmla="*/ 227 h 427"/>
                <a:gd name="T42" fmla="*/ 102 w 159"/>
                <a:gd name="T43" fmla="*/ 70 h 427"/>
                <a:gd name="T44" fmla="*/ 127 w 159"/>
                <a:gd name="T45" fmla="*/ 3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9" h="427">
                  <a:moveTo>
                    <a:pt x="127" y="38"/>
                  </a:moveTo>
                  <a:cubicBezTo>
                    <a:pt x="129" y="23"/>
                    <a:pt x="140" y="14"/>
                    <a:pt x="159" y="1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34" y="8"/>
                    <a:pt x="123" y="19"/>
                    <a:pt x="119" y="33"/>
                  </a:cubicBezTo>
                  <a:cubicBezTo>
                    <a:pt x="118" y="33"/>
                    <a:pt x="118" y="34"/>
                    <a:pt x="118" y="34"/>
                  </a:cubicBezTo>
                  <a:cubicBezTo>
                    <a:pt x="117" y="34"/>
                    <a:pt x="117" y="35"/>
                    <a:pt x="116" y="35"/>
                  </a:cubicBezTo>
                  <a:cubicBezTo>
                    <a:pt x="105" y="36"/>
                    <a:pt x="98" y="45"/>
                    <a:pt x="95" y="59"/>
                  </a:cubicBezTo>
                  <a:cubicBezTo>
                    <a:pt x="95" y="60"/>
                    <a:pt x="94" y="61"/>
                    <a:pt x="94" y="61"/>
                  </a:cubicBezTo>
                  <a:cubicBezTo>
                    <a:pt x="53" y="88"/>
                    <a:pt x="34" y="132"/>
                    <a:pt x="38" y="193"/>
                  </a:cubicBezTo>
                  <a:cubicBezTo>
                    <a:pt x="38" y="194"/>
                    <a:pt x="38" y="194"/>
                    <a:pt x="38" y="194"/>
                  </a:cubicBezTo>
                  <a:cubicBezTo>
                    <a:pt x="39" y="200"/>
                    <a:pt x="40" y="207"/>
                    <a:pt x="40" y="213"/>
                  </a:cubicBezTo>
                  <a:cubicBezTo>
                    <a:pt x="42" y="249"/>
                    <a:pt x="40" y="280"/>
                    <a:pt x="35" y="308"/>
                  </a:cubicBezTo>
                  <a:cubicBezTo>
                    <a:pt x="34" y="308"/>
                    <a:pt x="34" y="309"/>
                    <a:pt x="34" y="309"/>
                  </a:cubicBezTo>
                  <a:cubicBezTo>
                    <a:pt x="21" y="344"/>
                    <a:pt x="18" y="374"/>
                    <a:pt x="24" y="396"/>
                  </a:cubicBezTo>
                  <a:cubicBezTo>
                    <a:pt x="24" y="397"/>
                    <a:pt x="24" y="398"/>
                    <a:pt x="24" y="398"/>
                  </a:cubicBezTo>
                  <a:cubicBezTo>
                    <a:pt x="24" y="399"/>
                    <a:pt x="23" y="399"/>
                    <a:pt x="23" y="400"/>
                  </a:cubicBezTo>
                  <a:cubicBezTo>
                    <a:pt x="11" y="407"/>
                    <a:pt x="4" y="416"/>
                    <a:pt x="0" y="427"/>
                  </a:cubicBezTo>
                  <a:cubicBezTo>
                    <a:pt x="18" y="425"/>
                    <a:pt x="18" y="425"/>
                    <a:pt x="18" y="425"/>
                  </a:cubicBezTo>
                  <a:cubicBezTo>
                    <a:pt x="20" y="414"/>
                    <a:pt x="28" y="405"/>
                    <a:pt x="41" y="398"/>
                  </a:cubicBezTo>
                  <a:cubicBezTo>
                    <a:pt x="32" y="379"/>
                    <a:pt x="32" y="361"/>
                    <a:pt x="41" y="345"/>
                  </a:cubicBezTo>
                  <a:cubicBezTo>
                    <a:pt x="55" y="307"/>
                    <a:pt x="58" y="268"/>
                    <a:pt x="52" y="227"/>
                  </a:cubicBezTo>
                  <a:cubicBezTo>
                    <a:pt x="41" y="155"/>
                    <a:pt x="57" y="103"/>
                    <a:pt x="102" y="70"/>
                  </a:cubicBezTo>
                  <a:cubicBezTo>
                    <a:pt x="106" y="56"/>
                    <a:pt x="114" y="46"/>
                    <a:pt x="127" y="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7" name="MH_Other_64"/>
            <p:cNvSpPr/>
            <p:nvPr>
              <p:custDataLst>
                <p:tags r:id="rId52"/>
              </p:custDataLst>
            </p:nvPr>
          </p:nvSpPr>
          <p:spPr bwMode="auto">
            <a:xfrm>
              <a:off x="7189788" y="5392738"/>
              <a:ext cx="125412" cy="244475"/>
            </a:xfrm>
            <a:custGeom>
              <a:avLst/>
              <a:gdLst>
                <a:gd name="T0" fmla="*/ 100 w 100"/>
                <a:gd name="T1" fmla="*/ 161 h 198"/>
                <a:gd name="T2" fmla="*/ 86 w 100"/>
                <a:gd name="T3" fmla="*/ 151 h 198"/>
                <a:gd name="T4" fmla="*/ 57 w 100"/>
                <a:gd name="T5" fmla="*/ 143 h 198"/>
                <a:gd name="T6" fmla="*/ 39 w 100"/>
                <a:gd name="T7" fmla="*/ 109 h 198"/>
                <a:gd name="T8" fmla="*/ 29 w 100"/>
                <a:gd name="T9" fmla="*/ 158 h 198"/>
                <a:gd name="T10" fmla="*/ 21 w 100"/>
                <a:gd name="T11" fmla="*/ 43 h 198"/>
                <a:gd name="T12" fmla="*/ 0 w 100"/>
                <a:gd name="T13" fmla="*/ 0 h 198"/>
                <a:gd name="T14" fmla="*/ 4 w 100"/>
                <a:gd name="T15" fmla="*/ 183 h 198"/>
                <a:gd name="T16" fmla="*/ 13 w 100"/>
                <a:gd name="T17" fmla="*/ 198 h 198"/>
                <a:gd name="T18" fmla="*/ 92 w 100"/>
                <a:gd name="T19" fmla="*/ 171 h 198"/>
                <a:gd name="T20" fmla="*/ 100 w 100"/>
                <a:gd name="T21" fmla="*/ 161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198">
                  <a:moveTo>
                    <a:pt x="100" y="161"/>
                  </a:moveTo>
                  <a:cubicBezTo>
                    <a:pt x="94" y="158"/>
                    <a:pt x="89" y="155"/>
                    <a:pt x="86" y="151"/>
                  </a:cubicBezTo>
                  <a:cubicBezTo>
                    <a:pt x="57" y="143"/>
                    <a:pt x="57" y="143"/>
                    <a:pt x="57" y="143"/>
                  </a:cubicBezTo>
                  <a:cubicBezTo>
                    <a:pt x="53" y="130"/>
                    <a:pt x="47" y="119"/>
                    <a:pt x="39" y="109"/>
                  </a:cubicBezTo>
                  <a:cubicBezTo>
                    <a:pt x="38" y="126"/>
                    <a:pt x="35" y="142"/>
                    <a:pt x="29" y="158"/>
                  </a:cubicBezTo>
                  <a:cubicBezTo>
                    <a:pt x="36" y="125"/>
                    <a:pt x="33" y="87"/>
                    <a:pt x="21" y="4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50"/>
                    <a:pt x="14" y="111"/>
                    <a:pt x="4" y="183"/>
                  </a:cubicBezTo>
                  <a:cubicBezTo>
                    <a:pt x="8" y="187"/>
                    <a:pt x="11" y="191"/>
                    <a:pt x="13" y="198"/>
                  </a:cubicBezTo>
                  <a:cubicBezTo>
                    <a:pt x="92" y="171"/>
                    <a:pt x="92" y="171"/>
                    <a:pt x="92" y="171"/>
                  </a:cubicBezTo>
                  <a:cubicBezTo>
                    <a:pt x="100" y="161"/>
                    <a:pt x="100" y="161"/>
                    <a:pt x="100" y="16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8" name="MH_Other_65"/>
            <p:cNvSpPr/>
            <p:nvPr>
              <p:custDataLst>
                <p:tags r:id="rId53"/>
              </p:custDataLst>
            </p:nvPr>
          </p:nvSpPr>
          <p:spPr bwMode="auto">
            <a:xfrm>
              <a:off x="7334250" y="5556250"/>
              <a:ext cx="30163" cy="28575"/>
            </a:xfrm>
            <a:custGeom>
              <a:avLst/>
              <a:gdLst>
                <a:gd name="T0" fmla="*/ 1 w 24"/>
                <a:gd name="T1" fmla="*/ 22 h 22"/>
                <a:gd name="T2" fmla="*/ 24 w 24"/>
                <a:gd name="T3" fmla="*/ 18 h 22"/>
                <a:gd name="T4" fmla="*/ 1 w 24"/>
                <a:gd name="T5" fmla="*/ 0 h 22"/>
                <a:gd name="T6" fmla="*/ 1 w 24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2">
                  <a:moveTo>
                    <a:pt x="1" y="22"/>
                  </a:moveTo>
                  <a:cubicBezTo>
                    <a:pt x="24" y="18"/>
                    <a:pt x="24" y="18"/>
                    <a:pt x="24" y="18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7"/>
                    <a:pt x="0" y="14"/>
                    <a:pt x="1" y="22"/>
                  </a:cubicBezTo>
                  <a:close/>
                </a:path>
              </a:pathLst>
            </a:custGeom>
            <a:solidFill>
              <a:srgbClr val="C5B3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69" name="MH_Other_66"/>
            <p:cNvSpPr/>
            <p:nvPr>
              <p:custDataLst>
                <p:tags r:id="rId54"/>
              </p:custDataLst>
            </p:nvPr>
          </p:nvSpPr>
          <p:spPr bwMode="auto">
            <a:xfrm>
              <a:off x="7334250" y="5513388"/>
              <a:ext cx="30163" cy="66675"/>
            </a:xfrm>
            <a:custGeom>
              <a:avLst/>
              <a:gdLst>
                <a:gd name="T0" fmla="*/ 0 w 23"/>
                <a:gd name="T1" fmla="*/ 34 h 52"/>
                <a:gd name="T2" fmla="*/ 23 w 23"/>
                <a:gd name="T3" fmla="*/ 52 h 52"/>
                <a:gd name="T4" fmla="*/ 9 w 23"/>
                <a:gd name="T5" fmla="*/ 28 h 52"/>
                <a:gd name="T6" fmla="*/ 4 w 23"/>
                <a:gd name="T7" fmla="*/ 0 h 52"/>
                <a:gd name="T8" fmla="*/ 0 w 23"/>
                <a:gd name="T9" fmla="*/ 3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52">
                  <a:moveTo>
                    <a:pt x="0" y="34"/>
                  </a:moveTo>
                  <a:cubicBezTo>
                    <a:pt x="23" y="52"/>
                    <a:pt x="23" y="52"/>
                    <a:pt x="23" y="52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7" y="18"/>
                    <a:pt x="5" y="9"/>
                    <a:pt x="4" y="0"/>
                  </a:cubicBezTo>
                  <a:cubicBezTo>
                    <a:pt x="2" y="9"/>
                    <a:pt x="0" y="20"/>
                    <a:pt x="0" y="34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0" name="MH_Other_67"/>
            <p:cNvSpPr>
              <a:spLocks noEditPoints="1"/>
            </p:cNvSpPr>
            <p:nvPr>
              <p:custDataLst>
                <p:tags r:id="rId55"/>
              </p:custDataLst>
            </p:nvPr>
          </p:nvSpPr>
          <p:spPr bwMode="auto">
            <a:xfrm>
              <a:off x="6713538" y="5519738"/>
              <a:ext cx="827087" cy="317500"/>
            </a:xfrm>
            <a:custGeom>
              <a:avLst/>
              <a:gdLst>
                <a:gd name="T0" fmla="*/ 541 w 668"/>
                <a:gd name="T1" fmla="*/ 49 h 255"/>
                <a:gd name="T2" fmla="*/ 534 w 668"/>
                <a:gd name="T3" fmla="*/ 51 h 255"/>
                <a:gd name="T4" fmla="*/ 568 w 668"/>
                <a:gd name="T5" fmla="*/ 140 h 255"/>
                <a:gd name="T6" fmla="*/ 528 w 668"/>
                <a:gd name="T7" fmla="*/ 195 h 255"/>
                <a:gd name="T8" fmla="*/ 510 w 668"/>
                <a:gd name="T9" fmla="*/ 195 h 255"/>
                <a:gd name="T10" fmla="*/ 456 w 668"/>
                <a:gd name="T11" fmla="*/ 236 h 255"/>
                <a:gd name="T12" fmla="*/ 295 w 668"/>
                <a:gd name="T13" fmla="*/ 194 h 255"/>
                <a:gd name="T14" fmla="*/ 113 w 668"/>
                <a:gd name="T15" fmla="*/ 98 h 255"/>
                <a:gd name="T16" fmla="*/ 263 w 668"/>
                <a:gd name="T17" fmla="*/ 192 h 255"/>
                <a:gd name="T18" fmla="*/ 234 w 668"/>
                <a:gd name="T19" fmla="*/ 218 h 255"/>
                <a:gd name="T20" fmla="*/ 1 w 668"/>
                <a:gd name="T21" fmla="*/ 248 h 255"/>
                <a:gd name="T22" fmla="*/ 0 w 668"/>
                <a:gd name="T23" fmla="*/ 255 h 255"/>
                <a:gd name="T24" fmla="*/ 244 w 668"/>
                <a:gd name="T25" fmla="*/ 255 h 255"/>
                <a:gd name="T26" fmla="*/ 348 w 668"/>
                <a:gd name="T27" fmla="*/ 231 h 255"/>
                <a:gd name="T28" fmla="*/ 466 w 668"/>
                <a:gd name="T29" fmla="*/ 243 h 255"/>
                <a:gd name="T30" fmla="*/ 518 w 668"/>
                <a:gd name="T31" fmla="*/ 206 h 255"/>
                <a:gd name="T32" fmla="*/ 530 w 668"/>
                <a:gd name="T33" fmla="*/ 206 h 255"/>
                <a:gd name="T34" fmla="*/ 534 w 668"/>
                <a:gd name="T35" fmla="*/ 202 h 255"/>
                <a:gd name="T36" fmla="*/ 567 w 668"/>
                <a:gd name="T37" fmla="*/ 198 h 255"/>
                <a:gd name="T38" fmla="*/ 564 w 668"/>
                <a:gd name="T39" fmla="*/ 185 h 255"/>
                <a:gd name="T40" fmla="*/ 569 w 668"/>
                <a:gd name="T41" fmla="*/ 184 h 255"/>
                <a:gd name="T42" fmla="*/ 574 w 668"/>
                <a:gd name="T43" fmla="*/ 183 h 255"/>
                <a:gd name="T44" fmla="*/ 583 w 668"/>
                <a:gd name="T45" fmla="*/ 181 h 255"/>
                <a:gd name="T46" fmla="*/ 588 w 668"/>
                <a:gd name="T47" fmla="*/ 180 h 255"/>
                <a:gd name="T48" fmla="*/ 610 w 668"/>
                <a:gd name="T49" fmla="*/ 174 h 255"/>
                <a:gd name="T50" fmla="*/ 612 w 668"/>
                <a:gd name="T51" fmla="*/ 173 h 255"/>
                <a:gd name="T52" fmla="*/ 612 w 668"/>
                <a:gd name="T53" fmla="*/ 173 h 255"/>
                <a:gd name="T54" fmla="*/ 612 w 668"/>
                <a:gd name="T55" fmla="*/ 173 h 255"/>
                <a:gd name="T56" fmla="*/ 612 w 668"/>
                <a:gd name="T57" fmla="*/ 173 h 255"/>
                <a:gd name="T58" fmla="*/ 613 w 668"/>
                <a:gd name="T59" fmla="*/ 173 h 255"/>
                <a:gd name="T60" fmla="*/ 625 w 668"/>
                <a:gd name="T61" fmla="*/ 169 h 255"/>
                <a:gd name="T62" fmla="*/ 637 w 668"/>
                <a:gd name="T63" fmla="*/ 121 h 255"/>
                <a:gd name="T64" fmla="*/ 637 w 668"/>
                <a:gd name="T65" fmla="*/ 118 h 255"/>
                <a:gd name="T66" fmla="*/ 636 w 668"/>
                <a:gd name="T67" fmla="*/ 118 h 255"/>
                <a:gd name="T68" fmla="*/ 637 w 668"/>
                <a:gd name="T69" fmla="*/ 118 h 255"/>
                <a:gd name="T70" fmla="*/ 668 w 668"/>
                <a:gd name="T71" fmla="*/ 103 h 255"/>
                <a:gd name="T72" fmla="*/ 649 w 668"/>
                <a:gd name="T73" fmla="*/ 82 h 255"/>
                <a:gd name="T74" fmla="*/ 620 w 668"/>
                <a:gd name="T75" fmla="*/ 0 h 255"/>
                <a:gd name="T76" fmla="*/ 609 w 668"/>
                <a:gd name="T77" fmla="*/ 8 h 255"/>
                <a:gd name="T78" fmla="*/ 633 w 668"/>
                <a:gd name="T79" fmla="*/ 99 h 255"/>
                <a:gd name="T80" fmla="*/ 589 w 668"/>
                <a:gd name="T81" fmla="*/ 134 h 255"/>
                <a:gd name="T82" fmla="*/ 549 w 668"/>
                <a:gd name="T83" fmla="*/ 47 h 255"/>
                <a:gd name="T84" fmla="*/ 541 w 668"/>
                <a:gd name="T85" fmla="*/ 49 h 255"/>
                <a:gd name="T86" fmla="*/ 561 w 668"/>
                <a:gd name="T87" fmla="*/ 194 h 255"/>
                <a:gd name="T88" fmla="*/ 536 w 668"/>
                <a:gd name="T89" fmla="*/ 200 h 255"/>
                <a:gd name="T90" fmla="*/ 595 w 668"/>
                <a:gd name="T91" fmla="*/ 141 h 255"/>
                <a:gd name="T92" fmla="*/ 619 w 668"/>
                <a:gd name="T93" fmla="*/ 131 h 255"/>
                <a:gd name="T94" fmla="*/ 614 w 668"/>
                <a:gd name="T95" fmla="*/ 168 h 255"/>
                <a:gd name="T96" fmla="*/ 561 w 668"/>
                <a:gd name="T97" fmla="*/ 182 h 255"/>
                <a:gd name="T98" fmla="*/ 561 w 668"/>
                <a:gd name="T99" fmla="*/ 194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68" h="255">
                  <a:moveTo>
                    <a:pt x="541" y="49"/>
                  </a:moveTo>
                  <a:cubicBezTo>
                    <a:pt x="534" y="51"/>
                    <a:pt x="534" y="51"/>
                    <a:pt x="534" y="51"/>
                  </a:cubicBezTo>
                  <a:cubicBezTo>
                    <a:pt x="539" y="77"/>
                    <a:pt x="550" y="106"/>
                    <a:pt x="568" y="140"/>
                  </a:cubicBezTo>
                  <a:cubicBezTo>
                    <a:pt x="528" y="195"/>
                    <a:pt x="528" y="195"/>
                    <a:pt x="528" y="195"/>
                  </a:cubicBezTo>
                  <a:cubicBezTo>
                    <a:pt x="510" y="195"/>
                    <a:pt x="510" y="195"/>
                    <a:pt x="510" y="195"/>
                  </a:cubicBezTo>
                  <a:cubicBezTo>
                    <a:pt x="456" y="236"/>
                    <a:pt x="456" y="236"/>
                    <a:pt x="456" y="236"/>
                  </a:cubicBezTo>
                  <a:cubicBezTo>
                    <a:pt x="295" y="194"/>
                    <a:pt x="295" y="194"/>
                    <a:pt x="295" y="194"/>
                  </a:cubicBezTo>
                  <a:cubicBezTo>
                    <a:pt x="113" y="98"/>
                    <a:pt x="113" y="98"/>
                    <a:pt x="113" y="98"/>
                  </a:cubicBezTo>
                  <a:cubicBezTo>
                    <a:pt x="263" y="192"/>
                    <a:pt x="263" y="192"/>
                    <a:pt x="263" y="192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1" y="248"/>
                    <a:pt x="1" y="248"/>
                    <a:pt x="1" y="248"/>
                  </a:cubicBezTo>
                  <a:cubicBezTo>
                    <a:pt x="1" y="250"/>
                    <a:pt x="0" y="253"/>
                    <a:pt x="0" y="255"/>
                  </a:cubicBezTo>
                  <a:cubicBezTo>
                    <a:pt x="244" y="255"/>
                    <a:pt x="244" y="255"/>
                    <a:pt x="244" y="255"/>
                  </a:cubicBezTo>
                  <a:cubicBezTo>
                    <a:pt x="348" y="231"/>
                    <a:pt x="348" y="231"/>
                    <a:pt x="348" y="231"/>
                  </a:cubicBezTo>
                  <a:cubicBezTo>
                    <a:pt x="387" y="243"/>
                    <a:pt x="426" y="247"/>
                    <a:pt x="466" y="243"/>
                  </a:cubicBezTo>
                  <a:cubicBezTo>
                    <a:pt x="518" y="206"/>
                    <a:pt x="518" y="206"/>
                    <a:pt x="518" y="206"/>
                  </a:cubicBezTo>
                  <a:cubicBezTo>
                    <a:pt x="530" y="206"/>
                    <a:pt x="530" y="206"/>
                    <a:pt x="530" y="206"/>
                  </a:cubicBezTo>
                  <a:cubicBezTo>
                    <a:pt x="534" y="202"/>
                    <a:pt x="534" y="202"/>
                    <a:pt x="534" y="202"/>
                  </a:cubicBezTo>
                  <a:cubicBezTo>
                    <a:pt x="567" y="198"/>
                    <a:pt x="567" y="198"/>
                    <a:pt x="567" y="198"/>
                  </a:cubicBezTo>
                  <a:cubicBezTo>
                    <a:pt x="564" y="185"/>
                    <a:pt x="564" y="185"/>
                    <a:pt x="564" y="185"/>
                  </a:cubicBezTo>
                  <a:cubicBezTo>
                    <a:pt x="566" y="185"/>
                    <a:pt x="567" y="184"/>
                    <a:pt x="569" y="184"/>
                  </a:cubicBezTo>
                  <a:cubicBezTo>
                    <a:pt x="571" y="184"/>
                    <a:pt x="573" y="183"/>
                    <a:pt x="574" y="183"/>
                  </a:cubicBezTo>
                  <a:cubicBezTo>
                    <a:pt x="577" y="182"/>
                    <a:pt x="580" y="182"/>
                    <a:pt x="583" y="181"/>
                  </a:cubicBezTo>
                  <a:cubicBezTo>
                    <a:pt x="585" y="181"/>
                    <a:pt x="587" y="180"/>
                    <a:pt x="588" y="180"/>
                  </a:cubicBezTo>
                  <a:cubicBezTo>
                    <a:pt x="596" y="178"/>
                    <a:pt x="603" y="176"/>
                    <a:pt x="610" y="174"/>
                  </a:cubicBezTo>
                  <a:cubicBezTo>
                    <a:pt x="612" y="173"/>
                    <a:pt x="612" y="173"/>
                    <a:pt x="612" y="173"/>
                  </a:cubicBezTo>
                  <a:cubicBezTo>
                    <a:pt x="612" y="173"/>
                    <a:pt x="612" y="173"/>
                    <a:pt x="612" y="173"/>
                  </a:cubicBezTo>
                  <a:cubicBezTo>
                    <a:pt x="612" y="173"/>
                    <a:pt x="612" y="173"/>
                    <a:pt x="612" y="173"/>
                  </a:cubicBezTo>
                  <a:cubicBezTo>
                    <a:pt x="612" y="173"/>
                    <a:pt x="612" y="173"/>
                    <a:pt x="612" y="173"/>
                  </a:cubicBezTo>
                  <a:cubicBezTo>
                    <a:pt x="613" y="173"/>
                    <a:pt x="613" y="173"/>
                    <a:pt x="613" y="173"/>
                  </a:cubicBezTo>
                  <a:cubicBezTo>
                    <a:pt x="617" y="172"/>
                    <a:pt x="621" y="171"/>
                    <a:pt x="625" y="169"/>
                  </a:cubicBezTo>
                  <a:cubicBezTo>
                    <a:pt x="624" y="145"/>
                    <a:pt x="628" y="128"/>
                    <a:pt x="637" y="121"/>
                  </a:cubicBezTo>
                  <a:cubicBezTo>
                    <a:pt x="637" y="118"/>
                    <a:pt x="637" y="118"/>
                    <a:pt x="637" y="118"/>
                  </a:cubicBezTo>
                  <a:cubicBezTo>
                    <a:pt x="636" y="118"/>
                    <a:pt x="636" y="118"/>
                    <a:pt x="636" y="118"/>
                  </a:cubicBezTo>
                  <a:cubicBezTo>
                    <a:pt x="637" y="118"/>
                    <a:pt x="637" y="118"/>
                    <a:pt x="637" y="118"/>
                  </a:cubicBezTo>
                  <a:cubicBezTo>
                    <a:pt x="650" y="114"/>
                    <a:pt x="660" y="109"/>
                    <a:pt x="668" y="103"/>
                  </a:cubicBezTo>
                  <a:cubicBezTo>
                    <a:pt x="660" y="96"/>
                    <a:pt x="654" y="89"/>
                    <a:pt x="649" y="82"/>
                  </a:cubicBezTo>
                  <a:cubicBezTo>
                    <a:pt x="631" y="59"/>
                    <a:pt x="622" y="32"/>
                    <a:pt x="620" y="0"/>
                  </a:cubicBezTo>
                  <a:cubicBezTo>
                    <a:pt x="609" y="8"/>
                    <a:pt x="609" y="8"/>
                    <a:pt x="609" y="8"/>
                  </a:cubicBezTo>
                  <a:cubicBezTo>
                    <a:pt x="633" y="99"/>
                    <a:pt x="633" y="99"/>
                    <a:pt x="633" y="99"/>
                  </a:cubicBezTo>
                  <a:cubicBezTo>
                    <a:pt x="589" y="134"/>
                    <a:pt x="589" y="134"/>
                    <a:pt x="589" y="134"/>
                  </a:cubicBezTo>
                  <a:cubicBezTo>
                    <a:pt x="569" y="109"/>
                    <a:pt x="556" y="80"/>
                    <a:pt x="549" y="47"/>
                  </a:cubicBezTo>
                  <a:cubicBezTo>
                    <a:pt x="541" y="49"/>
                    <a:pt x="541" y="49"/>
                    <a:pt x="541" y="49"/>
                  </a:cubicBezTo>
                  <a:close/>
                  <a:moveTo>
                    <a:pt x="561" y="194"/>
                  </a:moveTo>
                  <a:cubicBezTo>
                    <a:pt x="536" y="200"/>
                    <a:pt x="536" y="200"/>
                    <a:pt x="536" y="200"/>
                  </a:cubicBezTo>
                  <a:cubicBezTo>
                    <a:pt x="595" y="141"/>
                    <a:pt x="595" y="141"/>
                    <a:pt x="595" y="141"/>
                  </a:cubicBezTo>
                  <a:cubicBezTo>
                    <a:pt x="603" y="140"/>
                    <a:pt x="611" y="136"/>
                    <a:pt x="619" y="131"/>
                  </a:cubicBezTo>
                  <a:cubicBezTo>
                    <a:pt x="614" y="168"/>
                    <a:pt x="614" y="168"/>
                    <a:pt x="614" y="168"/>
                  </a:cubicBezTo>
                  <a:cubicBezTo>
                    <a:pt x="561" y="182"/>
                    <a:pt x="561" y="182"/>
                    <a:pt x="561" y="182"/>
                  </a:cubicBezTo>
                  <a:cubicBezTo>
                    <a:pt x="561" y="194"/>
                    <a:pt x="561" y="194"/>
                    <a:pt x="561" y="194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1" name="MH_Other_68"/>
            <p:cNvSpPr/>
            <p:nvPr>
              <p:custDataLst>
                <p:tags r:id="rId56"/>
              </p:custDataLst>
            </p:nvPr>
          </p:nvSpPr>
          <p:spPr bwMode="auto">
            <a:xfrm>
              <a:off x="7377113" y="5683250"/>
              <a:ext cx="103187" cy="84138"/>
            </a:xfrm>
            <a:custGeom>
              <a:avLst/>
              <a:gdLst>
                <a:gd name="T0" fmla="*/ 0 w 83"/>
                <a:gd name="T1" fmla="*/ 69 h 69"/>
                <a:gd name="T2" fmla="*/ 25 w 83"/>
                <a:gd name="T3" fmla="*/ 63 h 69"/>
                <a:gd name="T4" fmla="*/ 25 w 83"/>
                <a:gd name="T5" fmla="*/ 51 h 69"/>
                <a:gd name="T6" fmla="*/ 78 w 83"/>
                <a:gd name="T7" fmla="*/ 37 h 69"/>
                <a:gd name="T8" fmla="*/ 83 w 83"/>
                <a:gd name="T9" fmla="*/ 0 h 69"/>
                <a:gd name="T10" fmla="*/ 59 w 83"/>
                <a:gd name="T11" fmla="*/ 10 h 69"/>
                <a:gd name="T12" fmla="*/ 0 w 83"/>
                <a:gd name="T1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69">
                  <a:moveTo>
                    <a:pt x="0" y="69"/>
                  </a:moveTo>
                  <a:cubicBezTo>
                    <a:pt x="25" y="63"/>
                    <a:pt x="25" y="63"/>
                    <a:pt x="25" y="63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78" y="37"/>
                    <a:pt x="78" y="37"/>
                    <a:pt x="78" y="37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75" y="5"/>
                    <a:pt x="67" y="9"/>
                    <a:pt x="59" y="10"/>
                  </a:cubicBezTo>
                  <a:cubicBezTo>
                    <a:pt x="0" y="69"/>
                    <a:pt x="0" y="69"/>
                    <a:pt x="0" y="69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2" name="MH_Other_69"/>
            <p:cNvSpPr/>
            <p:nvPr>
              <p:custDataLst>
                <p:tags r:id="rId57"/>
              </p:custDataLst>
            </p:nvPr>
          </p:nvSpPr>
          <p:spPr bwMode="auto">
            <a:xfrm>
              <a:off x="7394575" y="5511800"/>
              <a:ext cx="58738" cy="52388"/>
            </a:xfrm>
            <a:custGeom>
              <a:avLst/>
              <a:gdLst>
                <a:gd name="T0" fmla="*/ 16 w 48"/>
                <a:gd name="T1" fmla="*/ 0 h 42"/>
                <a:gd name="T2" fmla="*/ 0 w 48"/>
                <a:gd name="T3" fmla="*/ 42 h 42"/>
                <a:gd name="T4" fmla="*/ 48 w 48"/>
                <a:gd name="T5" fmla="*/ 0 h 42"/>
                <a:gd name="T6" fmla="*/ 16 w 48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42">
                  <a:moveTo>
                    <a:pt x="16" y="0"/>
                  </a:moveTo>
                  <a:cubicBezTo>
                    <a:pt x="11" y="16"/>
                    <a:pt x="6" y="30"/>
                    <a:pt x="0" y="42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B6A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3" name="MH_Other_70"/>
            <p:cNvSpPr/>
            <p:nvPr>
              <p:custDataLst>
                <p:tags r:id="rId58"/>
              </p:custDataLst>
            </p:nvPr>
          </p:nvSpPr>
          <p:spPr bwMode="auto">
            <a:xfrm>
              <a:off x="7115175" y="5314950"/>
              <a:ext cx="74613" cy="303213"/>
            </a:xfrm>
            <a:custGeom>
              <a:avLst/>
              <a:gdLst>
                <a:gd name="T0" fmla="*/ 40 w 60"/>
                <a:gd name="T1" fmla="*/ 241 h 244"/>
                <a:gd name="T2" fmla="*/ 60 w 60"/>
                <a:gd name="T3" fmla="*/ 244 h 244"/>
                <a:gd name="T4" fmla="*/ 54 w 60"/>
                <a:gd name="T5" fmla="*/ 87 h 244"/>
                <a:gd name="T6" fmla="*/ 8 w 60"/>
                <a:gd name="T7" fmla="*/ 0 h 244"/>
                <a:gd name="T8" fmla="*/ 0 w 60"/>
                <a:gd name="T9" fmla="*/ 46 h 244"/>
                <a:gd name="T10" fmla="*/ 4 w 60"/>
                <a:gd name="T11" fmla="*/ 69 h 244"/>
                <a:gd name="T12" fmla="*/ 40 w 60"/>
                <a:gd name="T13" fmla="*/ 241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244">
                  <a:moveTo>
                    <a:pt x="40" y="241"/>
                  </a:moveTo>
                  <a:cubicBezTo>
                    <a:pt x="48" y="240"/>
                    <a:pt x="55" y="241"/>
                    <a:pt x="60" y="244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0" y="55"/>
                    <a:pt x="35" y="26"/>
                    <a:pt x="8" y="0"/>
                  </a:cubicBezTo>
                  <a:cubicBezTo>
                    <a:pt x="12" y="19"/>
                    <a:pt x="9" y="34"/>
                    <a:pt x="0" y="46"/>
                  </a:cubicBezTo>
                  <a:cubicBezTo>
                    <a:pt x="2" y="54"/>
                    <a:pt x="4" y="62"/>
                    <a:pt x="4" y="69"/>
                  </a:cubicBezTo>
                  <a:cubicBezTo>
                    <a:pt x="26" y="143"/>
                    <a:pt x="38" y="201"/>
                    <a:pt x="40" y="24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4" name="MH_Other_71"/>
            <p:cNvSpPr/>
            <p:nvPr>
              <p:custDataLst>
                <p:tags r:id="rId59"/>
              </p:custDataLst>
            </p:nvPr>
          </p:nvSpPr>
          <p:spPr bwMode="auto">
            <a:xfrm>
              <a:off x="7412038" y="5749925"/>
              <a:ext cx="284162" cy="63500"/>
            </a:xfrm>
            <a:custGeom>
              <a:avLst/>
              <a:gdLst>
                <a:gd name="T0" fmla="*/ 5 w 229"/>
                <a:gd name="T1" fmla="*/ 0 h 53"/>
                <a:gd name="T2" fmla="*/ 0 w 229"/>
                <a:gd name="T3" fmla="*/ 1 h 53"/>
                <a:gd name="T4" fmla="*/ 3 w 229"/>
                <a:gd name="T5" fmla="*/ 14 h 53"/>
                <a:gd name="T6" fmla="*/ 12 w 229"/>
                <a:gd name="T7" fmla="*/ 53 h 53"/>
                <a:gd name="T8" fmla="*/ 179 w 229"/>
                <a:gd name="T9" fmla="*/ 28 h 53"/>
                <a:gd name="T10" fmla="*/ 229 w 229"/>
                <a:gd name="T11" fmla="*/ 12 h 53"/>
                <a:gd name="T12" fmla="*/ 211 w 229"/>
                <a:gd name="T13" fmla="*/ 16 h 53"/>
                <a:gd name="T14" fmla="*/ 22 w 229"/>
                <a:gd name="T15" fmla="*/ 43 h 53"/>
                <a:gd name="T16" fmla="*/ 5 w 229"/>
                <a:gd name="T1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53">
                  <a:moveTo>
                    <a:pt x="5" y="0"/>
                  </a:moveTo>
                  <a:cubicBezTo>
                    <a:pt x="3" y="0"/>
                    <a:pt x="2" y="1"/>
                    <a:pt x="0" y="1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68" y="47"/>
                    <a:pt x="123" y="39"/>
                    <a:pt x="179" y="28"/>
                  </a:cubicBezTo>
                  <a:cubicBezTo>
                    <a:pt x="197" y="24"/>
                    <a:pt x="213" y="19"/>
                    <a:pt x="229" y="12"/>
                  </a:cubicBezTo>
                  <a:cubicBezTo>
                    <a:pt x="223" y="14"/>
                    <a:pt x="217" y="15"/>
                    <a:pt x="211" y="16"/>
                  </a:cubicBezTo>
                  <a:cubicBezTo>
                    <a:pt x="148" y="31"/>
                    <a:pt x="85" y="40"/>
                    <a:pt x="22" y="43"/>
                  </a:cubicBezTo>
                  <a:cubicBezTo>
                    <a:pt x="5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5" name="MH_Other_72"/>
            <p:cNvSpPr/>
            <p:nvPr>
              <p:custDataLst>
                <p:tags r:id="rId60"/>
              </p:custDataLst>
            </p:nvPr>
          </p:nvSpPr>
          <p:spPr bwMode="auto">
            <a:xfrm>
              <a:off x="7394575" y="5530850"/>
              <a:ext cx="104775" cy="155575"/>
            </a:xfrm>
            <a:custGeom>
              <a:avLst/>
              <a:gdLst>
                <a:gd name="T0" fmla="*/ 0 w 84"/>
                <a:gd name="T1" fmla="*/ 39 h 126"/>
                <a:gd name="T2" fmla="*/ 40 w 84"/>
                <a:gd name="T3" fmla="*/ 126 h 126"/>
                <a:gd name="T4" fmla="*/ 84 w 84"/>
                <a:gd name="T5" fmla="*/ 91 h 126"/>
                <a:gd name="T6" fmla="*/ 60 w 84"/>
                <a:gd name="T7" fmla="*/ 0 h 126"/>
                <a:gd name="T8" fmla="*/ 0 w 84"/>
                <a:gd name="T9" fmla="*/ 3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126">
                  <a:moveTo>
                    <a:pt x="0" y="39"/>
                  </a:moveTo>
                  <a:cubicBezTo>
                    <a:pt x="7" y="72"/>
                    <a:pt x="20" y="101"/>
                    <a:pt x="40" y="126"/>
                  </a:cubicBezTo>
                  <a:cubicBezTo>
                    <a:pt x="84" y="91"/>
                    <a:pt x="84" y="91"/>
                    <a:pt x="84" y="91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0" y="39"/>
                    <a:pt x="0" y="39"/>
                    <a:pt x="0" y="39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6" name="MH_Other_73"/>
            <p:cNvSpPr/>
            <p:nvPr>
              <p:custDataLst>
                <p:tags r:id="rId61"/>
              </p:custDataLst>
            </p:nvPr>
          </p:nvSpPr>
          <p:spPr bwMode="auto">
            <a:xfrm>
              <a:off x="7747000" y="5480050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7" name="MH_Other_74"/>
            <p:cNvSpPr/>
            <p:nvPr>
              <p:custDataLst>
                <p:tags r:id="rId62"/>
              </p:custDataLst>
            </p:nvPr>
          </p:nvSpPr>
          <p:spPr bwMode="auto">
            <a:xfrm>
              <a:off x="7626350" y="5429250"/>
              <a:ext cx="101600" cy="60325"/>
            </a:xfrm>
            <a:custGeom>
              <a:avLst/>
              <a:gdLst>
                <a:gd name="T0" fmla="*/ 42 w 82"/>
                <a:gd name="T1" fmla="*/ 26 h 48"/>
                <a:gd name="T2" fmla="*/ 68 w 82"/>
                <a:gd name="T3" fmla="*/ 16 h 48"/>
                <a:gd name="T4" fmla="*/ 79 w 82"/>
                <a:gd name="T5" fmla="*/ 0 h 48"/>
                <a:gd name="T6" fmla="*/ 12 w 82"/>
                <a:gd name="T7" fmla="*/ 25 h 48"/>
                <a:gd name="T8" fmla="*/ 0 w 82"/>
                <a:gd name="T9" fmla="*/ 48 h 48"/>
                <a:gd name="T10" fmla="*/ 31 w 82"/>
                <a:gd name="T11" fmla="*/ 32 h 48"/>
                <a:gd name="T12" fmla="*/ 42 w 82"/>
                <a:gd name="T13" fmla="*/ 2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48">
                  <a:moveTo>
                    <a:pt x="42" y="26"/>
                  </a:moveTo>
                  <a:cubicBezTo>
                    <a:pt x="49" y="23"/>
                    <a:pt x="57" y="19"/>
                    <a:pt x="68" y="16"/>
                  </a:cubicBezTo>
                  <a:cubicBezTo>
                    <a:pt x="78" y="13"/>
                    <a:pt x="82" y="7"/>
                    <a:pt x="79" y="0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4" y="30"/>
                    <a:pt x="37" y="28"/>
                    <a:pt x="42" y="26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8" name="MH_Other_75"/>
            <p:cNvSpPr/>
            <p:nvPr>
              <p:custDataLst>
                <p:tags r:id="rId63"/>
              </p:custDataLst>
            </p:nvPr>
          </p:nvSpPr>
          <p:spPr bwMode="auto">
            <a:xfrm>
              <a:off x="7626350" y="5462588"/>
              <a:ext cx="57150" cy="26987"/>
            </a:xfrm>
            <a:custGeom>
              <a:avLst/>
              <a:gdLst>
                <a:gd name="T0" fmla="*/ 46 w 46"/>
                <a:gd name="T1" fmla="*/ 7 h 22"/>
                <a:gd name="T2" fmla="*/ 42 w 46"/>
                <a:gd name="T3" fmla="*/ 0 h 22"/>
                <a:gd name="T4" fmla="*/ 31 w 46"/>
                <a:gd name="T5" fmla="*/ 6 h 22"/>
                <a:gd name="T6" fmla="*/ 0 w 46"/>
                <a:gd name="T7" fmla="*/ 22 h 22"/>
                <a:gd name="T8" fmla="*/ 46 w 46"/>
                <a:gd name="T9" fmla="*/ 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22">
                  <a:moveTo>
                    <a:pt x="46" y="7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37" y="2"/>
                    <a:pt x="34" y="4"/>
                    <a:pt x="31" y="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6" y="7"/>
                    <a:pt x="46" y="7"/>
                    <a:pt x="46" y="7"/>
                  </a:cubicBezTo>
                  <a:close/>
                </a:path>
              </a:pathLst>
            </a:custGeom>
            <a:solidFill>
              <a:srgbClr val="B89B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79" name="MH_Other_76"/>
            <p:cNvSpPr/>
            <p:nvPr>
              <p:custDataLst>
                <p:tags r:id="rId64"/>
              </p:custDataLst>
            </p:nvPr>
          </p:nvSpPr>
          <p:spPr bwMode="auto">
            <a:xfrm>
              <a:off x="7650163" y="5491163"/>
              <a:ext cx="111125" cy="55562"/>
            </a:xfrm>
            <a:custGeom>
              <a:avLst/>
              <a:gdLst>
                <a:gd name="T0" fmla="*/ 56 w 90"/>
                <a:gd name="T1" fmla="*/ 25 h 46"/>
                <a:gd name="T2" fmla="*/ 77 w 90"/>
                <a:gd name="T3" fmla="*/ 15 h 46"/>
                <a:gd name="T4" fmla="*/ 89 w 90"/>
                <a:gd name="T5" fmla="*/ 0 h 46"/>
                <a:gd name="T6" fmla="*/ 0 w 90"/>
                <a:gd name="T7" fmla="*/ 46 h 46"/>
                <a:gd name="T8" fmla="*/ 35 w 90"/>
                <a:gd name="T9" fmla="*/ 35 h 46"/>
                <a:gd name="T10" fmla="*/ 56 w 90"/>
                <a:gd name="T11" fmla="*/ 2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" h="46">
                  <a:moveTo>
                    <a:pt x="56" y="25"/>
                  </a:moveTo>
                  <a:cubicBezTo>
                    <a:pt x="77" y="15"/>
                    <a:pt x="77" y="15"/>
                    <a:pt x="77" y="15"/>
                  </a:cubicBezTo>
                  <a:cubicBezTo>
                    <a:pt x="86" y="12"/>
                    <a:pt x="90" y="7"/>
                    <a:pt x="89" y="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56" y="25"/>
                    <a:pt x="56" y="25"/>
                    <a:pt x="56" y="25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0" name="MH_Other_77"/>
            <p:cNvSpPr/>
            <p:nvPr>
              <p:custDataLst>
                <p:tags r:id="rId65"/>
              </p:custDataLst>
            </p:nvPr>
          </p:nvSpPr>
          <p:spPr bwMode="auto">
            <a:xfrm>
              <a:off x="7740650" y="5480050"/>
              <a:ext cx="6350" cy="1588"/>
            </a:xfrm>
            <a:custGeom>
              <a:avLst/>
              <a:gdLst>
                <a:gd name="T0" fmla="*/ 0 w 5"/>
                <a:gd name="T1" fmla="*/ 2 h 2"/>
                <a:gd name="T2" fmla="*/ 5 w 5"/>
                <a:gd name="T3" fmla="*/ 2 h 2"/>
                <a:gd name="T4" fmla="*/ 5 w 5"/>
                <a:gd name="T5" fmla="*/ 0 h 2"/>
                <a:gd name="T6" fmla="*/ 0 w 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cubicBezTo>
                    <a:pt x="2" y="2"/>
                    <a:pt x="4" y="2"/>
                    <a:pt x="5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1" name="MH_Other_78"/>
            <p:cNvSpPr/>
            <p:nvPr>
              <p:custDataLst>
                <p:tags r:id="rId66"/>
              </p:custDataLst>
            </p:nvPr>
          </p:nvSpPr>
          <p:spPr bwMode="auto">
            <a:xfrm>
              <a:off x="7502525" y="5553075"/>
              <a:ext cx="200025" cy="114300"/>
            </a:xfrm>
            <a:custGeom>
              <a:avLst/>
              <a:gdLst>
                <a:gd name="T0" fmla="*/ 160 w 160"/>
                <a:gd name="T1" fmla="*/ 0 h 92"/>
                <a:gd name="T2" fmla="*/ 140 w 160"/>
                <a:gd name="T3" fmla="*/ 9 h 92"/>
                <a:gd name="T4" fmla="*/ 58 w 160"/>
                <a:gd name="T5" fmla="*/ 33 h 92"/>
                <a:gd name="T6" fmla="*/ 12 w 160"/>
                <a:gd name="T7" fmla="*/ 55 h 92"/>
                <a:gd name="T8" fmla="*/ 31 w 160"/>
                <a:gd name="T9" fmla="*/ 76 h 92"/>
                <a:gd name="T10" fmla="*/ 0 w 160"/>
                <a:gd name="T11" fmla="*/ 91 h 92"/>
                <a:gd name="T12" fmla="*/ 0 w 160"/>
                <a:gd name="T13" fmla="*/ 91 h 92"/>
                <a:gd name="T14" fmla="*/ 4 w 160"/>
                <a:gd name="T15" fmla="*/ 92 h 92"/>
                <a:gd name="T16" fmla="*/ 34 w 160"/>
                <a:gd name="T17" fmla="*/ 82 h 92"/>
                <a:gd name="T18" fmla="*/ 60 w 160"/>
                <a:gd name="T19" fmla="*/ 84 h 92"/>
                <a:gd name="T20" fmla="*/ 75 w 160"/>
                <a:gd name="T21" fmla="*/ 82 h 92"/>
                <a:gd name="T22" fmla="*/ 160 w 160"/>
                <a:gd name="T23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0" h="92">
                  <a:moveTo>
                    <a:pt x="160" y="0"/>
                  </a:moveTo>
                  <a:cubicBezTo>
                    <a:pt x="140" y="9"/>
                    <a:pt x="140" y="9"/>
                    <a:pt x="140" y="9"/>
                  </a:cubicBezTo>
                  <a:cubicBezTo>
                    <a:pt x="112" y="26"/>
                    <a:pt x="85" y="34"/>
                    <a:pt x="58" y="33"/>
                  </a:cubicBezTo>
                  <a:cubicBezTo>
                    <a:pt x="40" y="34"/>
                    <a:pt x="24" y="41"/>
                    <a:pt x="12" y="55"/>
                  </a:cubicBezTo>
                  <a:cubicBezTo>
                    <a:pt x="17" y="62"/>
                    <a:pt x="23" y="69"/>
                    <a:pt x="31" y="76"/>
                  </a:cubicBezTo>
                  <a:cubicBezTo>
                    <a:pt x="23" y="82"/>
                    <a:pt x="13" y="87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4" y="92"/>
                    <a:pt x="4" y="92"/>
                    <a:pt x="4" y="92"/>
                  </a:cubicBezTo>
                  <a:cubicBezTo>
                    <a:pt x="34" y="82"/>
                    <a:pt x="34" y="82"/>
                    <a:pt x="34" y="82"/>
                  </a:cubicBezTo>
                  <a:cubicBezTo>
                    <a:pt x="41" y="84"/>
                    <a:pt x="50" y="84"/>
                    <a:pt x="60" y="84"/>
                  </a:cubicBezTo>
                  <a:cubicBezTo>
                    <a:pt x="64" y="84"/>
                    <a:pt x="70" y="83"/>
                    <a:pt x="75" y="82"/>
                  </a:cubicBezTo>
                  <a:cubicBezTo>
                    <a:pt x="101" y="55"/>
                    <a:pt x="130" y="28"/>
                    <a:pt x="160" y="0"/>
                  </a:cubicBezTo>
                  <a:close/>
                </a:path>
              </a:pathLst>
            </a:custGeom>
            <a:solidFill>
              <a:srgbClr val="9F86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2" name="MH_Other_79"/>
            <p:cNvSpPr/>
            <p:nvPr>
              <p:custDataLst>
                <p:tags r:id="rId67"/>
              </p:custDataLst>
            </p:nvPr>
          </p:nvSpPr>
          <p:spPr bwMode="auto">
            <a:xfrm>
              <a:off x="7481888" y="5519738"/>
              <a:ext cx="247650" cy="103187"/>
            </a:xfrm>
            <a:custGeom>
              <a:avLst/>
              <a:gdLst>
                <a:gd name="T0" fmla="*/ 157 w 200"/>
                <a:gd name="T1" fmla="*/ 36 h 82"/>
                <a:gd name="T2" fmla="*/ 177 w 200"/>
                <a:gd name="T3" fmla="*/ 27 h 82"/>
                <a:gd name="T4" fmla="*/ 180 w 200"/>
                <a:gd name="T5" fmla="*/ 26 h 82"/>
                <a:gd name="T6" fmla="*/ 199 w 200"/>
                <a:gd name="T7" fmla="*/ 10 h 82"/>
                <a:gd name="T8" fmla="*/ 200 w 200"/>
                <a:gd name="T9" fmla="*/ 5 h 82"/>
                <a:gd name="T10" fmla="*/ 95 w 200"/>
                <a:gd name="T11" fmla="*/ 44 h 82"/>
                <a:gd name="T12" fmla="*/ 31 w 200"/>
                <a:gd name="T13" fmla="*/ 64 h 82"/>
                <a:gd name="T14" fmla="*/ 0 w 200"/>
                <a:gd name="T15" fmla="*/ 0 h 82"/>
                <a:gd name="T16" fmla="*/ 29 w 200"/>
                <a:gd name="T17" fmla="*/ 82 h 82"/>
                <a:gd name="T18" fmla="*/ 75 w 200"/>
                <a:gd name="T19" fmla="*/ 60 h 82"/>
                <a:gd name="T20" fmla="*/ 157 w 200"/>
                <a:gd name="T21" fmla="*/ 36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0" h="82">
                  <a:moveTo>
                    <a:pt x="157" y="36"/>
                  </a:moveTo>
                  <a:cubicBezTo>
                    <a:pt x="177" y="27"/>
                    <a:pt x="177" y="27"/>
                    <a:pt x="177" y="27"/>
                  </a:cubicBezTo>
                  <a:cubicBezTo>
                    <a:pt x="180" y="26"/>
                    <a:pt x="180" y="26"/>
                    <a:pt x="180" y="26"/>
                  </a:cubicBezTo>
                  <a:cubicBezTo>
                    <a:pt x="189" y="21"/>
                    <a:pt x="195" y="16"/>
                    <a:pt x="199" y="10"/>
                  </a:cubicBezTo>
                  <a:cubicBezTo>
                    <a:pt x="200" y="8"/>
                    <a:pt x="200" y="7"/>
                    <a:pt x="200" y="5"/>
                  </a:cubicBezTo>
                  <a:cubicBezTo>
                    <a:pt x="166" y="23"/>
                    <a:pt x="131" y="36"/>
                    <a:pt x="95" y="44"/>
                  </a:cubicBezTo>
                  <a:cubicBezTo>
                    <a:pt x="70" y="45"/>
                    <a:pt x="49" y="52"/>
                    <a:pt x="31" y="6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2"/>
                    <a:pt x="11" y="59"/>
                    <a:pt x="29" y="82"/>
                  </a:cubicBezTo>
                  <a:cubicBezTo>
                    <a:pt x="41" y="68"/>
                    <a:pt x="57" y="61"/>
                    <a:pt x="75" y="60"/>
                  </a:cubicBezTo>
                  <a:cubicBezTo>
                    <a:pt x="102" y="61"/>
                    <a:pt x="129" y="53"/>
                    <a:pt x="157" y="36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3" name="MH_Other_80"/>
            <p:cNvSpPr/>
            <p:nvPr>
              <p:custDataLst>
                <p:tags r:id="rId68"/>
              </p:custDataLst>
            </p:nvPr>
          </p:nvSpPr>
          <p:spPr bwMode="auto">
            <a:xfrm>
              <a:off x="7548563" y="5656263"/>
              <a:ext cx="47625" cy="55562"/>
            </a:xfrm>
            <a:custGeom>
              <a:avLst/>
              <a:gdLst>
                <a:gd name="T0" fmla="*/ 38 w 38"/>
                <a:gd name="T1" fmla="*/ 0 h 46"/>
                <a:gd name="T2" fmla="*/ 23 w 38"/>
                <a:gd name="T3" fmla="*/ 2 h 46"/>
                <a:gd name="T4" fmla="*/ 13 w 38"/>
                <a:gd name="T5" fmla="*/ 15 h 46"/>
                <a:gd name="T6" fmla="*/ 0 w 38"/>
                <a:gd name="T7" fmla="*/ 5 h 46"/>
                <a:gd name="T8" fmla="*/ 21 w 38"/>
                <a:gd name="T9" fmla="*/ 31 h 46"/>
                <a:gd name="T10" fmla="*/ 12 w 38"/>
                <a:gd name="T11" fmla="*/ 41 h 46"/>
                <a:gd name="T12" fmla="*/ 31 w 38"/>
                <a:gd name="T13" fmla="*/ 43 h 46"/>
                <a:gd name="T14" fmla="*/ 31 w 38"/>
                <a:gd name="T15" fmla="*/ 29 h 46"/>
                <a:gd name="T16" fmla="*/ 20 w 38"/>
                <a:gd name="T17" fmla="*/ 20 h 46"/>
                <a:gd name="T18" fmla="*/ 38 w 38"/>
                <a:gd name="T1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6">
                  <a:moveTo>
                    <a:pt x="38" y="0"/>
                  </a:moveTo>
                  <a:cubicBezTo>
                    <a:pt x="33" y="1"/>
                    <a:pt x="27" y="2"/>
                    <a:pt x="23" y="2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4" y="37"/>
                    <a:pt x="21" y="41"/>
                    <a:pt x="12" y="41"/>
                  </a:cubicBezTo>
                  <a:cubicBezTo>
                    <a:pt x="16" y="46"/>
                    <a:pt x="23" y="46"/>
                    <a:pt x="31" y="43"/>
                  </a:cubicBezTo>
                  <a:cubicBezTo>
                    <a:pt x="38" y="38"/>
                    <a:pt x="38" y="33"/>
                    <a:pt x="31" y="29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7" y="13"/>
                    <a:pt x="33" y="6"/>
                    <a:pt x="38" y="0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4" name="MH_Other_81"/>
            <p:cNvSpPr/>
            <p:nvPr>
              <p:custDataLst>
                <p:tags r:id="rId69"/>
              </p:custDataLst>
            </p:nvPr>
          </p:nvSpPr>
          <p:spPr bwMode="auto">
            <a:xfrm>
              <a:off x="7485063" y="5670550"/>
              <a:ext cx="71437" cy="58738"/>
            </a:xfrm>
            <a:custGeom>
              <a:avLst/>
              <a:gdLst>
                <a:gd name="T0" fmla="*/ 32 w 56"/>
                <a:gd name="T1" fmla="*/ 5 h 48"/>
                <a:gd name="T2" fmla="*/ 41 w 56"/>
                <a:gd name="T3" fmla="*/ 24 h 48"/>
                <a:gd name="T4" fmla="*/ 8 w 56"/>
                <a:gd name="T5" fmla="*/ 37 h 48"/>
                <a:gd name="T6" fmla="*/ 13 w 56"/>
                <a:gd name="T7" fmla="*/ 0 h 48"/>
                <a:gd name="T8" fmla="*/ 1 w 56"/>
                <a:gd name="T9" fmla="*/ 48 h 48"/>
                <a:gd name="T10" fmla="*/ 56 w 56"/>
                <a:gd name="T11" fmla="*/ 25 h 48"/>
                <a:gd name="T12" fmla="*/ 32 w 56"/>
                <a:gd name="T13" fmla="*/ 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48">
                  <a:moveTo>
                    <a:pt x="32" y="5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" y="25"/>
                    <a:pt x="8" y="13"/>
                    <a:pt x="13" y="0"/>
                  </a:cubicBezTo>
                  <a:cubicBezTo>
                    <a:pt x="4" y="7"/>
                    <a:pt x="0" y="24"/>
                    <a:pt x="1" y="48"/>
                  </a:cubicBezTo>
                  <a:cubicBezTo>
                    <a:pt x="21" y="42"/>
                    <a:pt x="39" y="34"/>
                    <a:pt x="56" y="25"/>
                  </a:cubicBezTo>
                  <a:cubicBezTo>
                    <a:pt x="47" y="19"/>
                    <a:pt x="39" y="13"/>
                    <a:pt x="32" y="5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5" name="MH_Other_82"/>
            <p:cNvSpPr/>
            <p:nvPr>
              <p:custDataLst>
                <p:tags r:id="rId70"/>
              </p:custDataLst>
            </p:nvPr>
          </p:nvSpPr>
          <p:spPr bwMode="auto">
            <a:xfrm>
              <a:off x="7494588" y="5656263"/>
              <a:ext cx="82550" cy="58737"/>
            </a:xfrm>
            <a:custGeom>
              <a:avLst/>
              <a:gdLst>
                <a:gd name="T0" fmla="*/ 35 w 68"/>
                <a:gd name="T1" fmla="*/ 36 h 49"/>
                <a:gd name="T2" fmla="*/ 26 w 68"/>
                <a:gd name="T3" fmla="*/ 17 h 49"/>
                <a:gd name="T4" fmla="*/ 50 w 68"/>
                <a:gd name="T5" fmla="*/ 37 h 49"/>
                <a:gd name="T6" fmla="*/ 53 w 68"/>
                <a:gd name="T7" fmla="*/ 39 h 49"/>
                <a:gd name="T8" fmla="*/ 56 w 68"/>
                <a:gd name="T9" fmla="*/ 41 h 49"/>
                <a:gd name="T10" fmla="*/ 65 w 68"/>
                <a:gd name="T11" fmla="*/ 31 h 49"/>
                <a:gd name="T12" fmla="*/ 44 w 68"/>
                <a:gd name="T13" fmla="*/ 5 h 49"/>
                <a:gd name="T14" fmla="*/ 57 w 68"/>
                <a:gd name="T15" fmla="*/ 15 h 49"/>
                <a:gd name="T16" fmla="*/ 67 w 68"/>
                <a:gd name="T17" fmla="*/ 2 h 49"/>
                <a:gd name="T18" fmla="*/ 41 w 68"/>
                <a:gd name="T19" fmla="*/ 0 h 49"/>
                <a:gd name="T20" fmla="*/ 11 w 68"/>
                <a:gd name="T21" fmla="*/ 10 h 49"/>
                <a:gd name="T22" fmla="*/ 7 w 68"/>
                <a:gd name="T23" fmla="*/ 12 h 49"/>
                <a:gd name="T24" fmla="*/ 2 w 68"/>
                <a:gd name="T25" fmla="*/ 49 h 49"/>
                <a:gd name="T26" fmla="*/ 35 w 68"/>
                <a:gd name="T27" fmla="*/ 3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8" h="49">
                  <a:moveTo>
                    <a:pt x="35" y="36"/>
                  </a:moveTo>
                  <a:cubicBezTo>
                    <a:pt x="26" y="17"/>
                    <a:pt x="26" y="17"/>
                    <a:pt x="26" y="17"/>
                  </a:cubicBezTo>
                  <a:cubicBezTo>
                    <a:pt x="33" y="25"/>
                    <a:pt x="41" y="31"/>
                    <a:pt x="50" y="37"/>
                  </a:cubicBezTo>
                  <a:cubicBezTo>
                    <a:pt x="51" y="37"/>
                    <a:pt x="52" y="38"/>
                    <a:pt x="53" y="39"/>
                  </a:cubicBezTo>
                  <a:cubicBezTo>
                    <a:pt x="54" y="40"/>
                    <a:pt x="55" y="41"/>
                    <a:pt x="56" y="41"/>
                  </a:cubicBezTo>
                  <a:cubicBezTo>
                    <a:pt x="65" y="41"/>
                    <a:pt x="68" y="37"/>
                    <a:pt x="65" y="31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67" y="2"/>
                    <a:pt x="67" y="2"/>
                    <a:pt x="67" y="2"/>
                  </a:cubicBezTo>
                  <a:cubicBezTo>
                    <a:pt x="57" y="2"/>
                    <a:pt x="48" y="2"/>
                    <a:pt x="41" y="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2" y="25"/>
                    <a:pt x="0" y="37"/>
                    <a:pt x="2" y="49"/>
                  </a:cubicBezTo>
                  <a:cubicBezTo>
                    <a:pt x="35" y="36"/>
                    <a:pt x="35" y="36"/>
                    <a:pt x="35" y="36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6" name="MH_Other_83"/>
            <p:cNvSpPr/>
            <p:nvPr>
              <p:custDataLst>
                <p:tags r:id="rId71"/>
              </p:custDataLst>
            </p:nvPr>
          </p:nvSpPr>
          <p:spPr bwMode="auto">
            <a:xfrm>
              <a:off x="7502525" y="5667375"/>
              <a:ext cx="4763" cy="3175"/>
            </a:xfrm>
            <a:custGeom>
              <a:avLst/>
              <a:gdLst>
                <a:gd name="T0" fmla="*/ 0 w 3"/>
                <a:gd name="T1" fmla="*/ 2 h 2"/>
                <a:gd name="T2" fmla="*/ 3 w 3"/>
                <a:gd name="T3" fmla="*/ 1 h 2"/>
                <a:gd name="T4" fmla="*/ 0 w 3"/>
                <a:gd name="T5" fmla="*/ 0 h 2"/>
                <a:gd name="T6" fmla="*/ 0 w 3"/>
                <a:gd name="T7" fmla="*/ 2 h 2"/>
                <a:gd name="T8" fmla="*/ 0 w 3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3" y="1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7" name="MH_Other_84"/>
            <p:cNvSpPr/>
            <p:nvPr>
              <p:custDataLst>
                <p:tags r:id="rId72"/>
              </p:custDataLst>
            </p:nvPr>
          </p:nvSpPr>
          <p:spPr bwMode="auto">
            <a:xfrm>
              <a:off x="7500938" y="5667375"/>
              <a:ext cx="1587" cy="0"/>
            </a:xfrm>
            <a:custGeom>
              <a:avLst/>
              <a:gdLst>
                <a:gd name="T0" fmla="*/ 0 w 1"/>
                <a:gd name="T1" fmla="*/ 1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8" name="MH_Other_85"/>
            <p:cNvSpPr/>
            <p:nvPr>
              <p:custDataLst>
                <p:tags r:id="rId73"/>
              </p:custDataLst>
            </p:nvPr>
          </p:nvSpPr>
          <p:spPr bwMode="auto">
            <a:xfrm>
              <a:off x="7583488" y="5419725"/>
              <a:ext cx="53975" cy="34925"/>
            </a:xfrm>
            <a:custGeom>
              <a:avLst/>
              <a:gdLst>
                <a:gd name="T0" fmla="*/ 15 w 43"/>
                <a:gd name="T1" fmla="*/ 14 h 30"/>
                <a:gd name="T2" fmla="*/ 0 w 43"/>
                <a:gd name="T3" fmla="*/ 30 h 30"/>
                <a:gd name="T4" fmla="*/ 30 w 43"/>
                <a:gd name="T5" fmla="*/ 23 h 30"/>
                <a:gd name="T6" fmla="*/ 43 w 43"/>
                <a:gd name="T7" fmla="*/ 0 h 30"/>
                <a:gd name="T8" fmla="*/ 15 w 43"/>
                <a:gd name="T9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0">
                  <a:moveTo>
                    <a:pt x="15" y="14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10" y="28"/>
                    <a:pt x="20" y="26"/>
                    <a:pt x="30" y="23"/>
                  </a:cubicBezTo>
                  <a:cubicBezTo>
                    <a:pt x="39" y="15"/>
                    <a:pt x="43" y="8"/>
                    <a:pt x="43" y="0"/>
                  </a:cubicBezTo>
                  <a:cubicBezTo>
                    <a:pt x="15" y="14"/>
                    <a:pt x="15" y="14"/>
                    <a:pt x="15" y="14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89" name="MH_Other_86"/>
            <p:cNvSpPr/>
            <p:nvPr>
              <p:custDataLst>
                <p:tags r:id="rId74"/>
              </p:custDataLst>
            </p:nvPr>
          </p:nvSpPr>
          <p:spPr bwMode="auto">
            <a:xfrm>
              <a:off x="7015163" y="5167313"/>
              <a:ext cx="92075" cy="33337"/>
            </a:xfrm>
            <a:custGeom>
              <a:avLst/>
              <a:gdLst>
                <a:gd name="T0" fmla="*/ 30 w 72"/>
                <a:gd name="T1" fmla="*/ 3 h 28"/>
                <a:gd name="T2" fmla="*/ 0 w 72"/>
                <a:gd name="T3" fmla="*/ 5 h 28"/>
                <a:gd name="T4" fmla="*/ 45 w 72"/>
                <a:gd name="T5" fmla="*/ 28 h 28"/>
                <a:gd name="T6" fmla="*/ 72 w 72"/>
                <a:gd name="T7" fmla="*/ 8 h 28"/>
                <a:gd name="T8" fmla="*/ 49 w 72"/>
                <a:gd name="T9" fmla="*/ 15 h 28"/>
                <a:gd name="T10" fmla="*/ 30 w 72"/>
                <a:gd name="T1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" h="28">
                  <a:moveTo>
                    <a:pt x="30" y="3"/>
                  </a:moveTo>
                  <a:cubicBezTo>
                    <a:pt x="16" y="1"/>
                    <a:pt x="6" y="2"/>
                    <a:pt x="0" y="5"/>
                  </a:cubicBezTo>
                  <a:cubicBezTo>
                    <a:pt x="19" y="0"/>
                    <a:pt x="35" y="8"/>
                    <a:pt x="45" y="2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46" y="9"/>
                    <a:pt x="39" y="5"/>
                    <a:pt x="30" y="3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0" name="MH_Other_87"/>
            <p:cNvSpPr/>
            <p:nvPr>
              <p:custDataLst>
                <p:tags r:id="rId75"/>
              </p:custDataLst>
            </p:nvPr>
          </p:nvSpPr>
          <p:spPr bwMode="auto">
            <a:xfrm>
              <a:off x="6919913" y="5172075"/>
              <a:ext cx="95250" cy="101600"/>
            </a:xfrm>
            <a:custGeom>
              <a:avLst/>
              <a:gdLst>
                <a:gd name="T0" fmla="*/ 78 w 78"/>
                <a:gd name="T1" fmla="*/ 0 h 83"/>
                <a:gd name="T2" fmla="*/ 60 w 78"/>
                <a:gd name="T3" fmla="*/ 0 h 83"/>
                <a:gd name="T4" fmla="*/ 0 w 78"/>
                <a:gd name="T5" fmla="*/ 38 h 83"/>
                <a:gd name="T6" fmla="*/ 8 w 78"/>
                <a:gd name="T7" fmla="*/ 54 h 83"/>
                <a:gd name="T8" fmla="*/ 12 w 78"/>
                <a:gd name="T9" fmla="*/ 56 h 83"/>
                <a:gd name="T10" fmla="*/ 37 w 78"/>
                <a:gd name="T11" fmla="*/ 83 h 83"/>
                <a:gd name="T12" fmla="*/ 73 w 78"/>
                <a:gd name="T13" fmla="*/ 24 h 83"/>
                <a:gd name="T14" fmla="*/ 78 w 78"/>
                <a:gd name="T15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83">
                  <a:moveTo>
                    <a:pt x="78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50" y="49"/>
                    <a:pt x="30" y="62"/>
                    <a:pt x="0" y="38"/>
                  </a:cubicBezTo>
                  <a:cubicBezTo>
                    <a:pt x="1" y="46"/>
                    <a:pt x="4" y="51"/>
                    <a:pt x="8" y="54"/>
                  </a:cubicBezTo>
                  <a:cubicBezTo>
                    <a:pt x="9" y="54"/>
                    <a:pt x="10" y="55"/>
                    <a:pt x="12" y="56"/>
                  </a:cubicBezTo>
                  <a:cubicBezTo>
                    <a:pt x="19" y="66"/>
                    <a:pt x="27" y="75"/>
                    <a:pt x="37" y="83"/>
                  </a:cubicBezTo>
                  <a:cubicBezTo>
                    <a:pt x="56" y="66"/>
                    <a:pt x="67" y="46"/>
                    <a:pt x="73" y="24"/>
                  </a:cubicBezTo>
                  <a:cubicBezTo>
                    <a:pt x="68" y="12"/>
                    <a:pt x="70" y="4"/>
                    <a:pt x="78" y="0"/>
                  </a:cubicBezTo>
                  <a:close/>
                </a:path>
              </a:pathLst>
            </a:custGeom>
            <a:solidFill>
              <a:srgbClr val="4127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1" name="MH_Other_88"/>
            <p:cNvSpPr/>
            <p:nvPr>
              <p:custDataLst>
                <p:tags r:id="rId76"/>
              </p:custDataLst>
            </p:nvPr>
          </p:nvSpPr>
          <p:spPr bwMode="auto">
            <a:xfrm>
              <a:off x="6965950" y="5200650"/>
              <a:ext cx="107950" cy="73025"/>
            </a:xfrm>
            <a:custGeom>
              <a:avLst/>
              <a:gdLst>
                <a:gd name="T0" fmla="*/ 62 w 88"/>
                <a:gd name="T1" fmla="*/ 29 h 59"/>
                <a:gd name="T2" fmla="*/ 36 w 88"/>
                <a:gd name="T3" fmla="*/ 0 h 59"/>
                <a:gd name="T4" fmla="*/ 0 w 88"/>
                <a:gd name="T5" fmla="*/ 59 h 59"/>
                <a:gd name="T6" fmla="*/ 41 w 88"/>
                <a:gd name="T7" fmla="*/ 30 h 59"/>
                <a:gd name="T8" fmla="*/ 88 w 88"/>
                <a:gd name="T9" fmla="*/ 43 h 59"/>
                <a:gd name="T10" fmla="*/ 88 w 88"/>
                <a:gd name="T11" fmla="*/ 29 h 59"/>
                <a:gd name="T12" fmla="*/ 62 w 88"/>
                <a:gd name="T13" fmla="*/ 2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59">
                  <a:moveTo>
                    <a:pt x="62" y="29"/>
                  </a:moveTo>
                  <a:cubicBezTo>
                    <a:pt x="49" y="25"/>
                    <a:pt x="41" y="15"/>
                    <a:pt x="36" y="0"/>
                  </a:cubicBezTo>
                  <a:cubicBezTo>
                    <a:pt x="30" y="22"/>
                    <a:pt x="19" y="42"/>
                    <a:pt x="0" y="59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51" y="40"/>
                    <a:pt x="67" y="44"/>
                    <a:pt x="88" y="43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4" y="36"/>
                    <a:pt x="75" y="36"/>
                    <a:pt x="62" y="29"/>
                  </a:cubicBezTo>
                  <a:close/>
                </a:path>
              </a:pathLst>
            </a:custGeom>
            <a:solidFill>
              <a:srgbClr val="9E67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2" name="MH_Other_89"/>
            <p:cNvSpPr/>
            <p:nvPr>
              <p:custDataLst>
                <p:tags r:id="rId77"/>
              </p:custDataLst>
            </p:nvPr>
          </p:nvSpPr>
          <p:spPr bwMode="auto">
            <a:xfrm>
              <a:off x="6911975" y="5240338"/>
              <a:ext cx="174625" cy="174625"/>
            </a:xfrm>
            <a:custGeom>
              <a:avLst/>
              <a:gdLst>
                <a:gd name="T0" fmla="*/ 17 w 141"/>
                <a:gd name="T1" fmla="*/ 2 h 141"/>
                <a:gd name="T2" fmla="*/ 13 w 141"/>
                <a:gd name="T3" fmla="*/ 0 h 141"/>
                <a:gd name="T4" fmla="*/ 6 w 141"/>
                <a:gd name="T5" fmla="*/ 16 h 141"/>
                <a:gd name="T6" fmla="*/ 0 w 141"/>
                <a:gd name="T7" fmla="*/ 33 h 141"/>
                <a:gd name="T8" fmla="*/ 98 w 141"/>
                <a:gd name="T9" fmla="*/ 141 h 141"/>
                <a:gd name="T10" fmla="*/ 123 w 141"/>
                <a:gd name="T11" fmla="*/ 110 h 141"/>
                <a:gd name="T12" fmla="*/ 141 w 141"/>
                <a:gd name="T13" fmla="*/ 79 h 141"/>
                <a:gd name="T14" fmla="*/ 124 w 141"/>
                <a:gd name="T15" fmla="*/ 71 h 141"/>
                <a:gd name="T16" fmla="*/ 70 w 141"/>
                <a:gd name="T17" fmla="*/ 47 h 141"/>
                <a:gd name="T18" fmla="*/ 42 w 141"/>
                <a:gd name="T19" fmla="*/ 29 h 141"/>
                <a:gd name="T20" fmla="*/ 17 w 141"/>
                <a:gd name="T21" fmla="*/ 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1" h="141">
                  <a:moveTo>
                    <a:pt x="17" y="2"/>
                  </a:moveTo>
                  <a:cubicBezTo>
                    <a:pt x="15" y="1"/>
                    <a:pt x="14" y="0"/>
                    <a:pt x="13" y="0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98" y="141"/>
                    <a:pt x="98" y="141"/>
                    <a:pt x="98" y="141"/>
                  </a:cubicBezTo>
                  <a:cubicBezTo>
                    <a:pt x="107" y="131"/>
                    <a:pt x="116" y="121"/>
                    <a:pt x="123" y="110"/>
                  </a:cubicBezTo>
                  <a:cubicBezTo>
                    <a:pt x="130" y="100"/>
                    <a:pt x="136" y="90"/>
                    <a:pt x="141" y="79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60" y="42"/>
                    <a:pt x="51" y="36"/>
                    <a:pt x="42" y="29"/>
                  </a:cubicBezTo>
                  <a:cubicBezTo>
                    <a:pt x="32" y="21"/>
                    <a:pt x="24" y="12"/>
                    <a:pt x="17" y="2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3" name="MH_Other_90"/>
            <p:cNvSpPr/>
            <p:nvPr>
              <p:custDataLst>
                <p:tags r:id="rId78"/>
              </p:custDataLst>
            </p:nvPr>
          </p:nvSpPr>
          <p:spPr bwMode="auto">
            <a:xfrm>
              <a:off x="6904038" y="5257800"/>
              <a:ext cx="260350" cy="487363"/>
            </a:xfrm>
            <a:custGeom>
              <a:avLst/>
              <a:gdLst>
                <a:gd name="T0" fmla="*/ 0 w 210"/>
                <a:gd name="T1" fmla="*/ 8 h 392"/>
                <a:gd name="T2" fmla="*/ 0 w 210"/>
                <a:gd name="T3" fmla="*/ 24 h 392"/>
                <a:gd name="T4" fmla="*/ 102 w 210"/>
                <a:gd name="T5" fmla="*/ 137 h 392"/>
                <a:gd name="T6" fmla="*/ 132 w 210"/>
                <a:gd name="T7" fmla="*/ 114 h 392"/>
                <a:gd name="T8" fmla="*/ 144 w 210"/>
                <a:gd name="T9" fmla="*/ 128 h 392"/>
                <a:gd name="T10" fmla="*/ 154 w 210"/>
                <a:gd name="T11" fmla="*/ 220 h 392"/>
                <a:gd name="T12" fmla="*/ 135 w 210"/>
                <a:gd name="T13" fmla="*/ 211 h 392"/>
                <a:gd name="T14" fmla="*/ 74 w 210"/>
                <a:gd name="T15" fmla="*/ 131 h 392"/>
                <a:gd name="T16" fmla="*/ 120 w 210"/>
                <a:gd name="T17" fmla="*/ 208 h 392"/>
                <a:gd name="T18" fmla="*/ 67 w 210"/>
                <a:gd name="T19" fmla="*/ 197 h 392"/>
                <a:gd name="T20" fmla="*/ 133 w 210"/>
                <a:gd name="T21" fmla="*/ 227 h 392"/>
                <a:gd name="T22" fmla="*/ 178 w 210"/>
                <a:gd name="T23" fmla="*/ 289 h 392"/>
                <a:gd name="T24" fmla="*/ 197 w 210"/>
                <a:gd name="T25" fmla="*/ 298 h 392"/>
                <a:gd name="T26" fmla="*/ 192 w 210"/>
                <a:gd name="T27" fmla="*/ 392 h 392"/>
                <a:gd name="T28" fmla="*/ 210 w 210"/>
                <a:gd name="T29" fmla="*/ 286 h 392"/>
                <a:gd name="T30" fmla="*/ 188 w 210"/>
                <a:gd name="T31" fmla="*/ 276 h 392"/>
                <a:gd name="T32" fmla="*/ 187 w 210"/>
                <a:gd name="T33" fmla="*/ 271 h 392"/>
                <a:gd name="T34" fmla="*/ 186 w 210"/>
                <a:gd name="T35" fmla="*/ 269 h 392"/>
                <a:gd name="T36" fmla="*/ 169 w 210"/>
                <a:gd name="T37" fmla="*/ 236 h 392"/>
                <a:gd name="T38" fmla="*/ 153 w 210"/>
                <a:gd name="T39" fmla="*/ 121 h 392"/>
                <a:gd name="T40" fmla="*/ 150 w 210"/>
                <a:gd name="T41" fmla="*/ 117 h 392"/>
                <a:gd name="T42" fmla="*/ 130 w 210"/>
                <a:gd name="T43" fmla="*/ 94 h 392"/>
                <a:gd name="T44" fmla="*/ 105 w 210"/>
                <a:gd name="T45" fmla="*/ 125 h 392"/>
                <a:gd name="T46" fmla="*/ 7 w 210"/>
                <a:gd name="T47" fmla="*/ 17 h 392"/>
                <a:gd name="T48" fmla="*/ 13 w 210"/>
                <a:gd name="T49" fmla="*/ 0 h 392"/>
                <a:gd name="T50" fmla="*/ 0 w 210"/>
                <a:gd name="T51" fmla="*/ 8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10" h="392">
                  <a:moveTo>
                    <a:pt x="0" y="8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44" y="128"/>
                    <a:pt x="144" y="128"/>
                    <a:pt x="144" y="128"/>
                  </a:cubicBezTo>
                  <a:cubicBezTo>
                    <a:pt x="154" y="220"/>
                    <a:pt x="154" y="220"/>
                    <a:pt x="154" y="220"/>
                  </a:cubicBezTo>
                  <a:cubicBezTo>
                    <a:pt x="149" y="215"/>
                    <a:pt x="142" y="212"/>
                    <a:pt x="135" y="211"/>
                  </a:cubicBezTo>
                  <a:cubicBezTo>
                    <a:pt x="117" y="173"/>
                    <a:pt x="96" y="146"/>
                    <a:pt x="74" y="131"/>
                  </a:cubicBezTo>
                  <a:cubicBezTo>
                    <a:pt x="96" y="159"/>
                    <a:pt x="111" y="185"/>
                    <a:pt x="120" y="208"/>
                  </a:cubicBezTo>
                  <a:cubicBezTo>
                    <a:pt x="67" y="197"/>
                    <a:pt x="67" y="197"/>
                    <a:pt x="67" y="197"/>
                  </a:cubicBezTo>
                  <a:cubicBezTo>
                    <a:pt x="133" y="227"/>
                    <a:pt x="133" y="227"/>
                    <a:pt x="133" y="227"/>
                  </a:cubicBezTo>
                  <a:cubicBezTo>
                    <a:pt x="156" y="247"/>
                    <a:pt x="171" y="268"/>
                    <a:pt x="178" y="289"/>
                  </a:cubicBezTo>
                  <a:cubicBezTo>
                    <a:pt x="197" y="298"/>
                    <a:pt x="197" y="298"/>
                    <a:pt x="197" y="298"/>
                  </a:cubicBezTo>
                  <a:cubicBezTo>
                    <a:pt x="192" y="392"/>
                    <a:pt x="192" y="392"/>
                    <a:pt x="192" y="392"/>
                  </a:cubicBezTo>
                  <a:cubicBezTo>
                    <a:pt x="203" y="355"/>
                    <a:pt x="209" y="320"/>
                    <a:pt x="210" y="286"/>
                  </a:cubicBezTo>
                  <a:cubicBezTo>
                    <a:pt x="188" y="276"/>
                    <a:pt x="188" y="276"/>
                    <a:pt x="188" y="276"/>
                  </a:cubicBezTo>
                  <a:cubicBezTo>
                    <a:pt x="188" y="274"/>
                    <a:pt x="187" y="273"/>
                    <a:pt x="187" y="271"/>
                  </a:cubicBezTo>
                  <a:cubicBezTo>
                    <a:pt x="186" y="270"/>
                    <a:pt x="186" y="269"/>
                    <a:pt x="186" y="269"/>
                  </a:cubicBezTo>
                  <a:cubicBezTo>
                    <a:pt x="181" y="256"/>
                    <a:pt x="175" y="245"/>
                    <a:pt x="169" y="236"/>
                  </a:cubicBezTo>
                  <a:cubicBezTo>
                    <a:pt x="161" y="197"/>
                    <a:pt x="155" y="159"/>
                    <a:pt x="153" y="121"/>
                  </a:cubicBezTo>
                  <a:cubicBezTo>
                    <a:pt x="150" y="117"/>
                    <a:pt x="150" y="117"/>
                    <a:pt x="150" y="117"/>
                  </a:cubicBezTo>
                  <a:cubicBezTo>
                    <a:pt x="130" y="94"/>
                    <a:pt x="130" y="94"/>
                    <a:pt x="130" y="94"/>
                  </a:cubicBezTo>
                  <a:cubicBezTo>
                    <a:pt x="123" y="105"/>
                    <a:pt x="114" y="115"/>
                    <a:pt x="105" y="125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4" name="MH_Other_91"/>
            <p:cNvSpPr/>
            <p:nvPr>
              <p:custDataLst>
                <p:tags r:id="rId79"/>
              </p:custDataLst>
            </p:nvPr>
          </p:nvSpPr>
          <p:spPr bwMode="auto">
            <a:xfrm>
              <a:off x="7107238" y="5270500"/>
              <a:ext cx="25400" cy="23813"/>
            </a:xfrm>
            <a:custGeom>
              <a:avLst/>
              <a:gdLst>
                <a:gd name="T0" fmla="*/ 20 w 20"/>
                <a:gd name="T1" fmla="*/ 2 h 20"/>
                <a:gd name="T2" fmla="*/ 14 w 20"/>
                <a:gd name="T3" fmla="*/ 0 h 20"/>
                <a:gd name="T4" fmla="*/ 0 w 20"/>
                <a:gd name="T5" fmla="*/ 20 h 20"/>
                <a:gd name="T6" fmla="*/ 20 w 20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0">
                  <a:moveTo>
                    <a:pt x="20" y="2"/>
                  </a:moveTo>
                  <a:cubicBezTo>
                    <a:pt x="18" y="2"/>
                    <a:pt x="16" y="1"/>
                    <a:pt x="14" y="0"/>
                  </a:cubicBezTo>
                  <a:cubicBezTo>
                    <a:pt x="7" y="6"/>
                    <a:pt x="3" y="13"/>
                    <a:pt x="0" y="20"/>
                  </a:cubicBezTo>
                  <a:cubicBezTo>
                    <a:pt x="20" y="2"/>
                    <a:pt x="20" y="2"/>
                    <a:pt x="20" y="2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5" name="MH_Other_92"/>
            <p:cNvSpPr/>
            <p:nvPr>
              <p:custDataLst>
                <p:tags r:id="rId80"/>
              </p:custDataLst>
            </p:nvPr>
          </p:nvSpPr>
          <p:spPr bwMode="auto">
            <a:xfrm>
              <a:off x="7086600" y="5327650"/>
              <a:ext cx="77788" cy="285750"/>
            </a:xfrm>
            <a:custGeom>
              <a:avLst/>
              <a:gdLst>
                <a:gd name="T0" fmla="*/ 7 w 62"/>
                <a:gd name="T1" fmla="*/ 0 h 231"/>
                <a:gd name="T2" fmla="*/ 0 w 62"/>
                <a:gd name="T3" fmla="*/ 8 h 231"/>
                <a:gd name="T4" fmla="*/ 15 w 62"/>
                <a:gd name="T5" fmla="*/ 51 h 231"/>
                <a:gd name="T6" fmla="*/ 2 w 62"/>
                <a:gd name="T7" fmla="*/ 62 h 231"/>
                <a:gd name="T8" fmla="*/ 5 w 62"/>
                <a:gd name="T9" fmla="*/ 66 h 231"/>
                <a:gd name="T10" fmla="*/ 20 w 62"/>
                <a:gd name="T11" fmla="*/ 61 h 231"/>
                <a:gd name="T12" fmla="*/ 48 w 62"/>
                <a:gd name="T13" fmla="*/ 203 h 231"/>
                <a:gd name="T14" fmla="*/ 39 w 62"/>
                <a:gd name="T15" fmla="*/ 216 h 231"/>
                <a:gd name="T16" fmla="*/ 40 w 62"/>
                <a:gd name="T17" fmla="*/ 221 h 231"/>
                <a:gd name="T18" fmla="*/ 62 w 62"/>
                <a:gd name="T19" fmla="*/ 231 h 231"/>
                <a:gd name="T20" fmla="*/ 26 w 62"/>
                <a:gd name="T21" fmla="*/ 59 h 231"/>
                <a:gd name="T22" fmla="*/ 22 w 62"/>
                <a:gd name="T23" fmla="*/ 36 h 231"/>
                <a:gd name="T24" fmla="*/ 19 w 62"/>
                <a:gd name="T25" fmla="*/ 28 h 231"/>
                <a:gd name="T26" fmla="*/ 7 w 62"/>
                <a:gd name="T27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2" h="231">
                  <a:moveTo>
                    <a:pt x="7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48" y="203"/>
                    <a:pt x="48" y="203"/>
                    <a:pt x="48" y="203"/>
                  </a:cubicBezTo>
                  <a:cubicBezTo>
                    <a:pt x="39" y="216"/>
                    <a:pt x="39" y="216"/>
                    <a:pt x="39" y="216"/>
                  </a:cubicBezTo>
                  <a:cubicBezTo>
                    <a:pt x="39" y="218"/>
                    <a:pt x="40" y="219"/>
                    <a:pt x="40" y="221"/>
                  </a:cubicBezTo>
                  <a:cubicBezTo>
                    <a:pt x="62" y="231"/>
                    <a:pt x="62" y="231"/>
                    <a:pt x="62" y="231"/>
                  </a:cubicBezTo>
                  <a:cubicBezTo>
                    <a:pt x="60" y="191"/>
                    <a:pt x="48" y="133"/>
                    <a:pt x="26" y="59"/>
                  </a:cubicBezTo>
                  <a:cubicBezTo>
                    <a:pt x="26" y="52"/>
                    <a:pt x="24" y="44"/>
                    <a:pt x="22" y="36"/>
                  </a:cubicBezTo>
                  <a:cubicBezTo>
                    <a:pt x="21" y="33"/>
                    <a:pt x="20" y="31"/>
                    <a:pt x="19" y="28"/>
                  </a:cubicBezTo>
                  <a:cubicBezTo>
                    <a:pt x="16" y="18"/>
                    <a:pt x="12" y="9"/>
                    <a:pt x="7" y="0"/>
                  </a:cubicBezTo>
                  <a:close/>
                </a:path>
              </a:pathLst>
            </a:custGeom>
            <a:solidFill>
              <a:srgbClr val="B16A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6" name="MH_Other_93"/>
            <p:cNvSpPr/>
            <p:nvPr>
              <p:custDataLst>
                <p:tags r:id="rId81"/>
              </p:custDataLst>
            </p:nvPr>
          </p:nvSpPr>
          <p:spPr bwMode="auto">
            <a:xfrm>
              <a:off x="7096125" y="5311775"/>
              <a:ext cx="20638" cy="49213"/>
            </a:xfrm>
            <a:custGeom>
              <a:avLst/>
              <a:gdLst>
                <a:gd name="T0" fmla="*/ 7 w 15"/>
                <a:gd name="T1" fmla="*/ 3 h 40"/>
                <a:gd name="T2" fmla="*/ 0 w 15"/>
                <a:gd name="T3" fmla="*/ 12 h 40"/>
                <a:gd name="T4" fmla="*/ 12 w 15"/>
                <a:gd name="T5" fmla="*/ 40 h 40"/>
                <a:gd name="T6" fmla="*/ 7 w 15"/>
                <a:gd name="T7" fmla="*/ 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40">
                  <a:moveTo>
                    <a:pt x="7" y="3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5" y="21"/>
                    <a:pt x="9" y="30"/>
                    <a:pt x="12" y="40"/>
                  </a:cubicBezTo>
                  <a:cubicBezTo>
                    <a:pt x="15" y="12"/>
                    <a:pt x="13" y="0"/>
                    <a:pt x="7" y="3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7" name="MH_Other_94"/>
            <p:cNvSpPr/>
            <p:nvPr>
              <p:custDataLst>
                <p:tags r:id="rId82"/>
              </p:custDataLst>
            </p:nvPr>
          </p:nvSpPr>
          <p:spPr bwMode="auto">
            <a:xfrm>
              <a:off x="7094538" y="5402263"/>
              <a:ext cx="52387" cy="192087"/>
            </a:xfrm>
            <a:custGeom>
              <a:avLst/>
              <a:gdLst>
                <a:gd name="T0" fmla="*/ 15 w 43"/>
                <a:gd name="T1" fmla="*/ 0 h 155"/>
                <a:gd name="T2" fmla="*/ 0 w 43"/>
                <a:gd name="T3" fmla="*/ 5 h 155"/>
                <a:gd name="T4" fmla="*/ 16 w 43"/>
                <a:gd name="T5" fmla="*/ 120 h 155"/>
                <a:gd name="T6" fmla="*/ 33 w 43"/>
                <a:gd name="T7" fmla="*/ 153 h 155"/>
                <a:gd name="T8" fmla="*/ 34 w 43"/>
                <a:gd name="T9" fmla="*/ 155 h 155"/>
                <a:gd name="T10" fmla="*/ 43 w 43"/>
                <a:gd name="T11" fmla="*/ 142 h 155"/>
                <a:gd name="T12" fmla="*/ 15 w 43"/>
                <a:gd name="T13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155">
                  <a:moveTo>
                    <a:pt x="1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43"/>
                    <a:pt x="8" y="81"/>
                    <a:pt x="16" y="120"/>
                  </a:cubicBezTo>
                  <a:cubicBezTo>
                    <a:pt x="22" y="129"/>
                    <a:pt x="28" y="140"/>
                    <a:pt x="33" y="153"/>
                  </a:cubicBezTo>
                  <a:cubicBezTo>
                    <a:pt x="33" y="153"/>
                    <a:pt x="33" y="154"/>
                    <a:pt x="34" y="155"/>
                  </a:cubicBezTo>
                  <a:cubicBezTo>
                    <a:pt x="43" y="142"/>
                    <a:pt x="43" y="142"/>
                    <a:pt x="43" y="142"/>
                  </a:cubicBezTo>
                  <a:cubicBezTo>
                    <a:pt x="15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EC8E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8" name="MH_Other_95"/>
            <p:cNvSpPr/>
            <p:nvPr>
              <p:custDataLst>
                <p:tags r:id="rId83"/>
              </p:custDataLst>
            </p:nvPr>
          </p:nvSpPr>
          <p:spPr bwMode="auto">
            <a:xfrm>
              <a:off x="7067550" y="5337175"/>
              <a:ext cx="39688" cy="66675"/>
            </a:xfrm>
            <a:custGeom>
              <a:avLst/>
              <a:gdLst>
                <a:gd name="T0" fmla="*/ 20 w 33"/>
                <a:gd name="T1" fmla="*/ 54 h 54"/>
                <a:gd name="T2" fmla="*/ 33 w 33"/>
                <a:gd name="T3" fmla="*/ 43 h 54"/>
                <a:gd name="T4" fmla="*/ 18 w 33"/>
                <a:gd name="T5" fmla="*/ 0 h 54"/>
                <a:gd name="T6" fmla="*/ 0 w 33"/>
                <a:gd name="T7" fmla="*/ 31 h 54"/>
                <a:gd name="T8" fmla="*/ 20 w 33"/>
                <a:gd name="T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4">
                  <a:moveTo>
                    <a:pt x="20" y="54"/>
                  </a:moveTo>
                  <a:cubicBezTo>
                    <a:pt x="33" y="43"/>
                    <a:pt x="33" y="43"/>
                    <a:pt x="33" y="4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3" y="11"/>
                    <a:pt x="7" y="21"/>
                    <a:pt x="0" y="31"/>
                  </a:cubicBezTo>
                  <a:cubicBezTo>
                    <a:pt x="20" y="54"/>
                    <a:pt x="20" y="54"/>
                    <a:pt x="20" y="54"/>
                  </a:cubicBezTo>
                  <a:close/>
                </a:path>
              </a:pathLst>
            </a:custGeom>
            <a:solidFill>
              <a:srgbClr val="EC8E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99" name="MH_Other_96"/>
            <p:cNvSpPr/>
            <p:nvPr>
              <p:custDataLst>
                <p:tags r:id="rId84"/>
              </p:custDataLst>
            </p:nvPr>
          </p:nvSpPr>
          <p:spPr bwMode="auto">
            <a:xfrm>
              <a:off x="6704013" y="5534025"/>
              <a:ext cx="60325" cy="25400"/>
            </a:xfrm>
            <a:custGeom>
              <a:avLst/>
              <a:gdLst>
                <a:gd name="T0" fmla="*/ 48 w 48"/>
                <a:gd name="T1" fmla="*/ 20 h 21"/>
                <a:gd name="T2" fmla="*/ 46 w 48"/>
                <a:gd name="T3" fmla="*/ 0 h 21"/>
                <a:gd name="T4" fmla="*/ 0 w 48"/>
                <a:gd name="T5" fmla="*/ 21 h 21"/>
                <a:gd name="T6" fmla="*/ 48 w 48"/>
                <a:gd name="T7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21">
                  <a:moveTo>
                    <a:pt x="48" y="20"/>
                  </a:moveTo>
                  <a:cubicBezTo>
                    <a:pt x="48" y="13"/>
                    <a:pt x="47" y="7"/>
                    <a:pt x="46" y="0"/>
                  </a:cubicBezTo>
                  <a:cubicBezTo>
                    <a:pt x="17" y="4"/>
                    <a:pt x="2" y="11"/>
                    <a:pt x="0" y="21"/>
                  </a:cubicBezTo>
                  <a:cubicBezTo>
                    <a:pt x="14" y="17"/>
                    <a:pt x="30" y="17"/>
                    <a:pt x="48" y="20"/>
                  </a:cubicBezTo>
                  <a:close/>
                </a:path>
              </a:pathLst>
            </a:custGeom>
            <a:solidFill>
              <a:srgbClr val="DCA5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00" name="MH_Other_97"/>
            <p:cNvSpPr/>
            <p:nvPr>
              <p:custDataLst>
                <p:tags r:id="rId85"/>
              </p:custDataLst>
            </p:nvPr>
          </p:nvSpPr>
          <p:spPr bwMode="auto">
            <a:xfrm>
              <a:off x="6588125" y="5554663"/>
              <a:ext cx="177800" cy="282575"/>
            </a:xfrm>
            <a:custGeom>
              <a:avLst/>
              <a:gdLst>
                <a:gd name="T0" fmla="*/ 142 w 144"/>
                <a:gd name="T1" fmla="*/ 3 h 227"/>
                <a:gd name="T2" fmla="*/ 94 w 144"/>
                <a:gd name="T3" fmla="*/ 4 h 227"/>
                <a:gd name="T4" fmla="*/ 4 w 144"/>
                <a:gd name="T5" fmla="*/ 227 h 227"/>
                <a:gd name="T6" fmla="*/ 100 w 144"/>
                <a:gd name="T7" fmla="*/ 227 h 227"/>
                <a:gd name="T8" fmla="*/ 101 w 144"/>
                <a:gd name="T9" fmla="*/ 220 h 227"/>
                <a:gd name="T10" fmla="*/ 126 w 144"/>
                <a:gd name="T11" fmla="*/ 186 h 227"/>
                <a:gd name="T12" fmla="*/ 137 w 144"/>
                <a:gd name="T13" fmla="*/ 97 h 227"/>
                <a:gd name="T14" fmla="*/ 142 w 144"/>
                <a:gd name="T15" fmla="*/ 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" h="227">
                  <a:moveTo>
                    <a:pt x="142" y="3"/>
                  </a:moveTo>
                  <a:cubicBezTo>
                    <a:pt x="124" y="0"/>
                    <a:pt x="108" y="0"/>
                    <a:pt x="94" y="4"/>
                  </a:cubicBezTo>
                  <a:cubicBezTo>
                    <a:pt x="30" y="19"/>
                    <a:pt x="0" y="93"/>
                    <a:pt x="4" y="227"/>
                  </a:cubicBezTo>
                  <a:cubicBezTo>
                    <a:pt x="100" y="227"/>
                    <a:pt x="100" y="227"/>
                    <a:pt x="100" y="227"/>
                  </a:cubicBezTo>
                  <a:cubicBezTo>
                    <a:pt x="100" y="225"/>
                    <a:pt x="101" y="222"/>
                    <a:pt x="101" y="220"/>
                  </a:cubicBezTo>
                  <a:cubicBezTo>
                    <a:pt x="104" y="206"/>
                    <a:pt x="112" y="195"/>
                    <a:pt x="126" y="186"/>
                  </a:cubicBezTo>
                  <a:cubicBezTo>
                    <a:pt x="120" y="163"/>
                    <a:pt x="123" y="133"/>
                    <a:pt x="137" y="97"/>
                  </a:cubicBezTo>
                  <a:cubicBezTo>
                    <a:pt x="142" y="69"/>
                    <a:pt x="144" y="37"/>
                    <a:pt x="142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01" name="MH_Other_98"/>
            <p:cNvSpPr/>
            <p:nvPr>
              <p:custDataLst>
                <p:tags r:id="rId86"/>
              </p:custDataLst>
            </p:nvPr>
          </p:nvSpPr>
          <p:spPr bwMode="auto">
            <a:xfrm>
              <a:off x="7510463" y="5819775"/>
              <a:ext cx="84137" cy="17463"/>
            </a:xfrm>
            <a:custGeom>
              <a:avLst/>
              <a:gdLst>
                <a:gd name="T0" fmla="*/ 0 w 55"/>
                <a:gd name="T1" fmla="*/ 0 h 11"/>
                <a:gd name="T2" fmla="*/ 0 w 55"/>
                <a:gd name="T3" fmla="*/ 11 h 11"/>
                <a:gd name="T4" fmla="*/ 55 w 55"/>
                <a:gd name="T5" fmla="*/ 11 h 11"/>
                <a:gd name="T6" fmla="*/ 0 w 55"/>
                <a:gd name="T7" fmla="*/ 0 h 11"/>
                <a:gd name="T8" fmla="*/ 0 w 55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11">
                  <a:moveTo>
                    <a:pt x="0" y="0"/>
                  </a:moveTo>
                  <a:lnTo>
                    <a:pt x="0" y="11"/>
                  </a:lnTo>
                  <a:lnTo>
                    <a:pt x="55" y="1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51435" tIns="25718" rIns="51435" bIns="2571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5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、运算速度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434742" y="1068516"/>
            <a:ext cx="8319247" cy="5161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主频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是计算机的振荡器输出的脉冲序列的频率，是计算机中一切操作所依据的时间基准信号，其高低决定了计算机工做速度的快慢。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）时钟频率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是主频脉冲经分频后所形成的时钟脉冲序列的频率，两个相邻时钟脉冲之间的间隔时间是一个时钟周期时间，也称为节拍。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/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三、数据通路宽度与数据传输率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324210" y="1052910"/>
            <a:ext cx="8319247" cy="3869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）数据通路宽度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指数据总线一次能并行传送的数据位数。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）数据传输率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指数据总线每秒传送的数据量，也称为数据总线的带宽。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公式：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2044641" y="4390616"/>
            <a:ext cx="5877815" cy="1557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总线数据通路宽度×总线时钟频率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8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Line 5"/>
          <p:cNvSpPr>
            <a:spLocks noChangeShapeType="1"/>
          </p:cNvSpPr>
          <p:nvPr/>
        </p:nvSpPr>
        <p:spPr bwMode="auto">
          <a:xfrm flipV="1">
            <a:off x="2381258" y="5429249"/>
            <a:ext cx="5276380" cy="1622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335896" y="5162289"/>
            <a:ext cx="20411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总线带宽 =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7477584" y="5163707"/>
            <a:ext cx="18860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BPS）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  <p:bldP spid="12" grpId="0"/>
      <p:bldP spid="14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/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四、存储容量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244088" y="918649"/>
            <a:ext cx="7242562" cy="5161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）主存容量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指存储单元个数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×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位数。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表示为：  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字数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×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字长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（按字编址）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或 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字节数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（按字节编址）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）外存容量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常表示为字节数。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外存容量与地址码位数无关。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Line 4"/>
          <p:cNvSpPr>
            <a:spLocks noChangeShapeType="1"/>
          </p:cNvSpPr>
          <p:nvPr/>
        </p:nvSpPr>
        <p:spPr bwMode="auto">
          <a:xfrm flipV="1">
            <a:off x="1265466" y="2208893"/>
            <a:ext cx="2081346" cy="13747"/>
          </a:xfrm>
          <a:prstGeom prst="line">
            <a:avLst/>
          </a:prstGeom>
          <a:noFill/>
          <a:ln w="38100">
            <a:solidFill>
              <a:srgbClr val="0563C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endParaRPr lang="zh-CN" altLang="en-US" sz="2800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 flipH="1">
            <a:off x="2056040" y="2298488"/>
            <a:ext cx="276225" cy="209903"/>
          </a:xfrm>
          <a:prstGeom prst="line">
            <a:avLst/>
          </a:prstGeom>
          <a:noFill/>
          <a:ln w="19050">
            <a:solidFill>
              <a:srgbClr val="0563C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960666" y="2469209"/>
            <a:ext cx="23861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决定地址位数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3770541" y="2208894"/>
            <a:ext cx="657225" cy="0"/>
          </a:xfrm>
          <a:prstGeom prst="line">
            <a:avLst/>
          </a:prstGeom>
          <a:noFill/>
          <a:ln w="38100">
            <a:solidFill>
              <a:srgbClr val="0563C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>
            <a:off x="4170591" y="2279792"/>
            <a:ext cx="401409" cy="209904"/>
          </a:xfrm>
          <a:prstGeom prst="line">
            <a:avLst/>
          </a:prstGeom>
          <a:noFill/>
          <a:ln w="19050">
            <a:solidFill>
              <a:srgbClr val="0563C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3594462" y="2441716"/>
            <a:ext cx="23576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表明编址单位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  <p:bldP spid="16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/>
            <a:r>
              <a:rPr lang="zh-CN" altLang="en-US" sz="2800" b="1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五、其他指标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43AD6D2-E329-49A0-B7DB-4E29F7D6F1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第一章 概论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141166" y="1964884"/>
            <a:ext cx="4196670" cy="2522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）所配置的外围设备及其性能指标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）系统软件配置情况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3" name="MH_Other_2"/>
          <p:cNvCxnSpPr/>
          <p:nvPr>
            <p:custDataLst>
              <p:tags r:id="rId3"/>
            </p:custDataLst>
          </p:nvPr>
        </p:nvCxnSpPr>
        <p:spPr>
          <a:xfrm>
            <a:off x="2950301" y="5861409"/>
            <a:ext cx="3507648" cy="844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MH_Other_3"/>
          <p:cNvCxnSpPr/>
          <p:nvPr>
            <p:custDataLst>
              <p:tags r:id="rId4"/>
            </p:custDataLst>
          </p:nvPr>
        </p:nvCxnSpPr>
        <p:spPr>
          <a:xfrm flipV="1">
            <a:off x="2950301" y="2203809"/>
            <a:ext cx="2076450" cy="3657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MH_Other_4"/>
          <p:cNvCxnSpPr/>
          <p:nvPr>
            <p:custDataLst>
              <p:tags r:id="rId5"/>
            </p:custDataLst>
          </p:nvPr>
        </p:nvCxnSpPr>
        <p:spPr>
          <a:xfrm>
            <a:off x="5026751" y="2203809"/>
            <a:ext cx="411724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H_Other_1"/>
          <p:cNvCxnSpPr/>
          <p:nvPr>
            <p:custDataLst>
              <p:tags r:id="rId6"/>
            </p:custDataLst>
          </p:nvPr>
        </p:nvCxnSpPr>
        <p:spPr>
          <a:xfrm>
            <a:off x="3718560" y="1672042"/>
            <a:ext cx="2717610" cy="419781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H_Picture_2"/>
          <p:cNvSpPr/>
          <p:nvPr>
            <p:custDataLst>
              <p:tags r:id="rId7"/>
            </p:custDataLst>
          </p:nvPr>
        </p:nvSpPr>
        <p:spPr>
          <a:xfrm>
            <a:off x="3302181" y="2400201"/>
            <a:ext cx="5841819" cy="3264815"/>
          </a:xfrm>
          <a:custGeom>
            <a:avLst/>
            <a:gdLst>
              <a:gd name="connsiteX0" fmla="*/ 1415732 w 4333875"/>
              <a:gd name="connsiteY0" fmla="*/ 0 h 2551033"/>
              <a:gd name="connsiteX1" fmla="*/ 4333875 w 4333875"/>
              <a:gd name="connsiteY1" fmla="*/ 0 h 2551033"/>
              <a:gd name="connsiteX2" fmla="*/ 4333875 w 4333875"/>
              <a:gd name="connsiteY2" fmla="*/ 2551033 h 2551033"/>
              <a:gd name="connsiteX3" fmla="*/ 0 w 4333875"/>
              <a:gd name="connsiteY3" fmla="*/ 2551033 h 255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3875" h="2551033">
                <a:moveTo>
                  <a:pt x="1415732" y="0"/>
                </a:moveTo>
                <a:lnTo>
                  <a:pt x="4333875" y="0"/>
                </a:lnTo>
                <a:lnTo>
                  <a:pt x="4333875" y="2551033"/>
                </a:lnTo>
                <a:lnTo>
                  <a:pt x="0" y="2551033"/>
                </a:lnTo>
                <a:close/>
              </a:path>
            </a:pathLst>
          </a:cu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>
                <a:lumMod val="20000"/>
                <a:lumOff val="80000"/>
                <a:alpha val="7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28" name="MH_Other_5"/>
          <p:cNvCxnSpPr/>
          <p:nvPr>
            <p:custDataLst>
              <p:tags r:id="rId9"/>
            </p:custDataLst>
          </p:nvPr>
        </p:nvCxnSpPr>
        <p:spPr>
          <a:xfrm>
            <a:off x="0" y="1672042"/>
            <a:ext cx="371856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MH_Other_2"/>
          <p:cNvCxnSpPr/>
          <p:nvPr>
            <p:custDataLst>
              <p:tags r:id="rId10"/>
            </p:custDataLst>
          </p:nvPr>
        </p:nvCxnSpPr>
        <p:spPr>
          <a:xfrm>
            <a:off x="2723" y="5204368"/>
            <a:ext cx="3507648" cy="844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97631D6-2F3F-4C77-B3DB-8DBE7BBF4BE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计算机组成原理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--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课程介绍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/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/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/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小结：计算机的基本概念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/>
          <p:cNvSpPr txBox="1"/>
          <p:nvPr/>
        </p:nvSpPr>
        <p:spPr>
          <a:xfrm>
            <a:off x="1872698" y="2915655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ísḻiḑe"/>
          <p:cNvSpPr/>
          <p:nvPr/>
        </p:nvSpPr>
        <p:spPr>
          <a:xfrm>
            <a:off x="2526228" y="2927197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存储程序方式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6" name="ïṩľîdé"/>
          <p:cNvSpPr txBox="1"/>
          <p:nvPr/>
        </p:nvSpPr>
        <p:spPr>
          <a:xfrm>
            <a:off x="1872697" y="3600798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îṣ1idè"/>
          <p:cNvSpPr/>
          <p:nvPr/>
        </p:nvSpPr>
        <p:spPr>
          <a:xfrm>
            <a:off x="2526228" y="3612339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诺依曼体制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8" name="işľíďe"/>
          <p:cNvSpPr txBox="1"/>
          <p:nvPr/>
        </p:nvSpPr>
        <p:spPr>
          <a:xfrm>
            <a:off x="1872697" y="4312064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03.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ïşľïdé"/>
          <p:cNvSpPr/>
          <p:nvPr/>
        </p:nvSpPr>
        <p:spPr>
          <a:xfrm>
            <a:off x="2526228" y="4323605"/>
            <a:ext cx="4941372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总线及其组成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0" name="ís1íde"/>
          <p:cNvSpPr txBox="1"/>
          <p:nvPr/>
        </p:nvSpPr>
        <p:spPr>
          <a:xfrm>
            <a:off x="1872697" y="5058171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04.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íṡḻîḓé"/>
          <p:cNvSpPr/>
          <p:nvPr/>
        </p:nvSpPr>
        <p:spPr>
          <a:xfrm>
            <a:off x="2526228" y="5069712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接口的概念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2" name="îṩļíḑé"/>
          <p:cNvSpPr/>
          <p:nvPr/>
        </p:nvSpPr>
        <p:spPr>
          <a:xfrm>
            <a:off x="1524070" y="294421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/>
          <p:cNvSpPr/>
          <p:nvPr/>
        </p:nvSpPr>
        <p:spPr>
          <a:xfrm>
            <a:off x="1524070" y="3629352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íṧļîḓê"/>
          <p:cNvSpPr/>
          <p:nvPr/>
        </p:nvSpPr>
        <p:spPr>
          <a:xfrm>
            <a:off x="1524070" y="4340618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íšḻíḋe"/>
          <p:cNvSpPr/>
          <p:nvPr/>
        </p:nvSpPr>
        <p:spPr>
          <a:xfrm>
            <a:off x="1524070" y="5086725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959428" y="342185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959428" y="411854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959428" y="4841360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</a:t>
            </a:r>
            <a:endParaRPr lang="zh-CN" altLang="en-US" sz="3600" b="1" dirty="0">
              <a:solidFill>
                <a:srgbClr val="0045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计算机组成原理</a:t>
            </a:r>
            <a:endParaRPr lang="zh-CN" altLang="en-US" sz="2800" b="1" dirty="0">
              <a:solidFill>
                <a:srgbClr val="004578"/>
              </a:solidFill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1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A500B9CC-620B-4728-B037-19303720751D}" type="datetime1">
              <a:rPr lang="zh-CN" altLang="en-US" sz="1400" smtClean="0">
                <a:solidFill>
                  <a:schemeClr val="tx1"/>
                </a:solidFill>
              </a:rPr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ags/tag1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2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3.xml><?xml version="1.0" encoding="utf-8"?>
<p:tagLst xmlns:p="http://schemas.openxmlformats.org/presentationml/2006/main">
  <p:tag name="MH" val="20200522132210"/>
  <p:tag name="MH_LIBRARY" val="GRAPHIC"/>
  <p:tag name="MH_TYPE" val="SubTitle"/>
  <p:tag name="MH_ORDER" val="2"/>
</p:tagLst>
</file>

<file path=ppt/tags/tag4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5.xml><?xml version="1.0" encoding="utf-8"?>
<p:tagLst xmlns:p="http://schemas.openxmlformats.org/presentationml/2006/main">
  <p:tag name="MH" val="20200522123938"/>
  <p:tag name="MH_LIBRARY" val="GRAPHIC"/>
  <p:tag name="MH_TYPE" val="Other"/>
  <p:tag name="MH_ORDER" val="3"/>
</p:tagLst>
</file>

<file path=ppt/tags/tag6.xml><?xml version="1.0" encoding="utf-8"?>
<p:tagLst xmlns:p="http://schemas.openxmlformats.org/presentationml/2006/main">
  <p:tag name="MH" val="20200522123938"/>
  <p:tag name="MH_LIBRARY" val="GRAPHIC"/>
  <p:tag name="MH_TYPE" val="Other"/>
  <p:tag name="MH_ORDER" val="2"/>
</p:tagLst>
</file>

<file path=ppt/tags/tag7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8.xml><?xml version="1.0" encoding="utf-8"?>
<p:tagLst xmlns:p="http://schemas.openxmlformats.org/presentationml/2006/main">
  <p:tag name="MH" val="20200522123938"/>
  <p:tag name="MH_LIBRARY" val="GRAPHIC"/>
  <p:tag name="MH_TYPE" val="Other"/>
  <p:tag name="MH_ORDER" val="2"/>
</p:tagLst>
</file>

<file path=ppt/tags/tag9.xml><?xml version="1.0" encoding="utf-8"?>
<p:tagLst xmlns:p="http://schemas.openxmlformats.org/presentationml/2006/main">
  <p:tag name="MH" val="20200522123938"/>
  <p:tag name="MH_LIBRARY" val="GRAPHIC"/>
  <p:tag name="MH_TYPE" val="Other"/>
  <p:tag name="MH_ORDER" val="2"/>
</p:tagLst>
</file>

<file path=ppt/tags/tag10.xml><?xml version="1.0" encoding="utf-8"?>
<p:tagLst xmlns:p="http://schemas.openxmlformats.org/presentationml/2006/main">
  <p:tag name="MH" val="20200522123938"/>
  <p:tag name="MH_LIBRARY" val="GRAPHIC"/>
  <p:tag name="MH_TYPE" val="Other"/>
  <p:tag name="MH_ORDER" val="2"/>
</p:tagLst>
</file>

<file path=ppt/tags/tag11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12.xml><?xml version="1.0" encoding="utf-8"?>
<p:tagLst xmlns:p="http://schemas.openxmlformats.org/presentationml/2006/main">
  <p:tag name="MH" val="20200522123938"/>
  <p:tag name="MH_LIBRARY" val="GRAPHIC"/>
  <p:tag name="MH_TYPE" val="Other"/>
  <p:tag name="MH_ORDER" val="2"/>
</p:tagLst>
</file>

<file path=ppt/tags/tag13.xml><?xml version="1.0" encoding="utf-8"?>
<p:tagLst xmlns:p="http://schemas.openxmlformats.org/presentationml/2006/main">
  <p:tag name="MH" val="20200522123938"/>
  <p:tag name="MH_LIBRARY" val="GRAPHIC"/>
  <p:tag name="MH_TYPE" val="Other"/>
  <p:tag name="MH_ORDER" val="2"/>
</p:tagLst>
</file>

<file path=ppt/tags/tag14.xml><?xml version="1.0" encoding="utf-8"?>
<p:tagLst xmlns:p="http://schemas.openxmlformats.org/presentationml/2006/main">
  <p:tag name="MH" val="20200522162115"/>
  <p:tag name="MH_LIBRARY" val="GRAPHIC"/>
  <p:tag name="MH_TYPE" val="SubTitle"/>
  <p:tag name="MH_ORDER" val="1"/>
</p:tagLst>
</file>

<file path=ppt/tags/tag15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16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17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18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19.xml><?xml version="1.0" encoding="utf-8"?>
<p:tagLst xmlns:p="http://schemas.openxmlformats.org/presentationml/2006/main">
  <p:tag name="MH" val="20200524120254"/>
  <p:tag name="MH_LIBRARY" val="GRAPHIC"/>
  <p:tag name="MH_TYPE" val="Other"/>
  <p:tag name="MH_ORDER" val="1"/>
</p:tagLst>
</file>

<file path=ppt/tags/tag20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21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22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23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24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25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26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27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28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29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30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31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32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33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34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35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36.xml><?xml version="1.0" encoding="utf-8"?>
<p:tagLst xmlns:p="http://schemas.openxmlformats.org/presentationml/2006/main">
  <p:tag name="MH" val="20200522123938"/>
  <p:tag name="MH_LIBRARY" val="GRAPHIC"/>
  <p:tag name="MH_TYPE" val="Other"/>
  <p:tag name="MH_ORDER" val="5"/>
</p:tagLst>
</file>

<file path=ppt/tags/tag37.xml><?xml version="1.0" encoding="utf-8"?>
<p:tagLst xmlns:p="http://schemas.openxmlformats.org/presentationml/2006/main">
  <p:tag name="MH" val="20200524120448"/>
  <p:tag name="MH_LIBRARY" val="GRAPHIC"/>
  <p:tag name="MH_TYPE" val="Other"/>
  <p:tag name="MH_ORDER" val="15"/>
</p:tagLst>
</file>

<file path=ppt/tags/tag38.xml><?xml version="1.0" encoding="utf-8"?>
<p:tagLst xmlns:p="http://schemas.openxmlformats.org/presentationml/2006/main">
  <p:tag name="MH" val="20200524120448"/>
  <p:tag name="MH_LIBRARY" val="GRAPHIC"/>
  <p:tag name="MH_TYPE" val="Other"/>
  <p:tag name="MH_ORDER" val="16"/>
</p:tagLst>
</file>

<file path=ppt/tags/tag39.xml><?xml version="1.0" encoding="utf-8"?>
<p:tagLst xmlns:p="http://schemas.openxmlformats.org/presentationml/2006/main">
  <p:tag name="MH" val="20200524120448"/>
  <p:tag name="MH_LIBRARY" val="GRAPHIC"/>
  <p:tag name="MH_TYPE" val="Other"/>
  <p:tag name="MH_ORDER" val="17"/>
</p:tagLst>
</file>

<file path=ppt/tags/tag40.xml><?xml version="1.0" encoding="utf-8"?>
<p:tagLst xmlns:p="http://schemas.openxmlformats.org/presentationml/2006/main">
  <p:tag name="MH" val="20200524120448"/>
  <p:tag name="MH_LIBRARY" val="GRAPHIC"/>
  <p:tag name="MH_TYPE" val="Other"/>
  <p:tag name="MH_ORDER" val="18"/>
</p:tagLst>
</file>

<file path=ppt/tags/tag41.xml><?xml version="1.0" encoding="utf-8"?>
<p:tagLst xmlns:p="http://schemas.openxmlformats.org/presentationml/2006/main">
  <p:tag name="MH" val="20200524120448"/>
  <p:tag name="MH_LIBRARY" val="GRAPHIC"/>
  <p:tag name="MH_TYPE" val="Other"/>
  <p:tag name="MH_ORDER" val="19"/>
</p:tagLst>
</file>

<file path=ppt/tags/tag42.xml><?xml version="1.0" encoding="utf-8"?>
<p:tagLst xmlns:p="http://schemas.openxmlformats.org/presentationml/2006/main">
  <p:tag name="MH" val="20200524120448"/>
  <p:tag name="MH_LIBRARY" val="GRAPHIC"/>
  <p:tag name="MH_TYPE" val="Other"/>
  <p:tag name="MH_ORDER" val="20"/>
</p:tagLst>
</file>

<file path=ppt/tags/tag43.xml><?xml version="1.0" encoding="utf-8"?>
<p:tagLst xmlns:p="http://schemas.openxmlformats.org/presentationml/2006/main">
  <p:tag name="MH" val="20200524120448"/>
  <p:tag name="MH_LIBRARY" val="GRAPHIC"/>
  <p:tag name="MH_TYPE" val="Other"/>
  <p:tag name="MH_ORDER" val="21"/>
</p:tagLst>
</file>

<file path=ppt/tags/tag44.xml><?xml version="1.0" encoding="utf-8"?>
<p:tagLst xmlns:p="http://schemas.openxmlformats.org/presentationml/2006/main">
  <p:tag name="MH" val="20200524120448"/>
  <p:tag name="MH_LIBRARY" val="GRAPHIC"/>
  <p:tag name="MH_TYPE" val="Other"/>
  <p:tag name="MH_ORDER" val="22"/>
</p:tagLst>
</file>

<file path=ppt/tags/tag45.xml><?xml version="1.0" encoding="utf-8"?>
<p:tagLst xmlns:p="http://schemas.openxmlformats.org/presentationml/2006/main">
  <p:tag name="MH" val="20200524120448"/>
  <p:tag name="MH_LIBRARY" val="GRAPHIC"/>
  <p:tag name="MH_TYPE" val="Other"/>
  <p:tag name="MH_ORDER" val="23"/>
</p:tagLst>
</file>

<file path=ppt/tags/tag46.xml><?xml version="1.0" encoding="utf-8"?>
<p:tagLst xmlns:p="http://schemas.openxmlformats.org/presentationml/2006/main">
  <p:tag name="MH" val="20200524120448"/>
  <p:tag name="MH_LIBRARY" val="GRAPHIC"/>
  <p:tag name="MH_TYPE" val="Other"/>
  <p:tag name="MH_ORDER" val="24"/>
</p:tagLst>
</file>

<file path=ppt/tags/tag47.xml><?xml version="1.0" encoding="utf-8"?>
<p:tagLst xmlns:p="http://schemas.openxmlformats.org/presentationml/2006/main">
  <p:tag name="MH" val="20200524120448"/>
  <p:tag name="MH_LIBRARY" val="GRAPHIC"/>
  <p:tag name="MH_TYPE" val="Other"/>
  <p:tag name="MH_ORDER" val="25"/>
</p:tagLst>
</file>

<file path=ppt/tags/tag48.xml><?xml version="1.0" encoding="utf-8"?>
<p:tagLst xmlns:p="http://schemas.openxmlformats.org/presentationml/2006/main">
  <p:tag name="MH" val="20200524120448"/>
  <p:tag name="MH_LIBRARY" val="GRAPHIC"/>
  <p:tag name="MH_TYPE" val="Other"/>
  <p:tag name="MH_ORDER" val="26"/>
</p:tagLst>
</file>

<file path=ppt/tags/tag49.xml><?xml version="1.0" encoding="utf-8"?>
<p:tagLst xmlns:p="http://schemas.openxmlformats.org/presentationml/2006/main">
  <p:tag name="MH" val="20200524120448"/>
  <p:tag name="MH_LIBRARY" val="GRAPHIC"/>
  <p:tag name="MH_TYPE" val="Other"/>
  <p:tag name="MH_ORDER" val="27"/>
</p:tagLst>
</file>

<file path=ppt/tags/tag50.xml><?xml version="1.0" encoding="utf-8"?>
<p:tagLst xmlns:p="http://schemas.openxmlformats.org/presentationml/2006/main">
  <p:tag name="MH" val="20200524120448"/>
  <p:tag name="MH_LIBRARY" val="GRAPHIC"/>
  <p:tag name="MH_TYPE" val="Other"/>
  <p:tag name="MH_ORDER" val="28"/>
</p:tagLst>
</file>

<file path=ppt/tags/tag51.xml><?xml version="1.0" encoding="utf-8"?>
<p:tagLst xmlns:p="http://schemas.openxmlformats.org/presentationml/2006/main">
  <p:tag name="MH" val="20200524120448"/>
  <p:tag name="MH_LIBRARY" val="GRAPHIC"/>
  <p:tag name="MH_TYPE" val="Other"/>
  <p:tag name="MH_ORDER" val="29"/>
</p:tagLst>
</file>

<file path=ppt/tags/tag52.xml><?xml version="1.0" encoding="utf-8"?>
<p:tagLst xmlns:p="http://schemas.openxmlformats.org/presentationml/2006/main">
  <p:tag name="MH" val="20200524120448"/>
  <p:tag name="MH_LIBRARY" val="GRAPHIC"/>
  <p:tag name="MH_TYPE" val="Other"/>
  <p:tag name="MH_ORDER" val="30"/>
</p:tagLst>
</file>

<file path=ppt/tags/tag53.xml><?xml version="1.0" encoding="utf-8"?>
<p:tagLst xmlns:p="http://schemas.openxmlformats.org/presentationml/2006/main">
  <p:tag name="MH" val="20200524120448"/>
  <p:tag name="MH_LIBRARY" val="GRAPHIC"/>
  <p:tag name="MH_TYPE" val="Other"/>
  <p:tag name="MH_ORDER" val="31"/>
</p:tagLst>
</file>

<file path=ppt/tags/tag54.xml><?xml version="1.0" encoding="utf-8"?>
<p:tagLst xmlns:p="http://schemas.openxmlformats.org/presentationml/2006/main">
  <p:tag name="MH" val="20200524120448"/>
  <p:tag name="MH_LIBRARY" val="GRAPHIC"/>
  <p:tag name="MH_TYPE" val="Other"/>
  <p:tag name="MH_ORDER" val="32"/>
</p:tagLst>
</file>

<file path=ppt/tags/tag55.xml><?xml version="1.0" encoding="utf-8"?>
<p:tagLst xmlns:p="http://schemas.openxmlformats.org/presentationml/2006/main">
  <p:tag name="MH" val="20200524120448"/>
  <p:tag name="MH_LIBRARY" val="GRAPHIC"/>
  <p:tag name="MH_TYPE" val="Other"/>
  <p:tag name="MH_ORDER" val="33"/>
</p:tagLst>
</file>

<file path=ppt/tags/tag56.xml><?xml version="1.0" encoding="utf-8"?>
<p:tagLst xmlns:p="http://schemas.openxmlformats.org/presentationml/2006/main">
  <p:tag name="MH" val="20200524120448"/>
  <p:tag name="MH_LIBRARY" val="GRAPHIC"/>
  <p:tag name="MH_TYPE" val="Other"/>
  <p:tag name="MH_ORDER" val="34"/>
</p:tagLst>
</file>

<file path=ppt/tags/tag57.xml><?xml version="1.0" encoding="utf-8"?>
<p:tagLst xmlns:p="http://schemas.openxmlformats.org/presentationml/2006/main">
  <p:tag name="MH" val="20200524120448"/>
  <p:tag name="MH_LIBRARY" val="GRAPHIC"/>
  <p:tag name="MH_TYPE" val="Other"/>
  <p:tag name="MH_ORDER" val="35"/>
</p:tagLst>
</file>

<file path=ppt/tags/tag58.xml><?xml version="1.0" encoding="utf-8"?>
<p:tagLst xmlns:p="http://schemas.openxmlformats.org/presentationml/2006/main">
  <p:tag name="MH" val="20200524120448"/>
  <p:tag name="MH_LIBRARY" val="GRAPHIC"/>
  <p:tag name="MH_TYPE" val="Other"/>
  <p:tag name="MH_ORDER" val="36"/>
</p:tagLst>
</file>

<file path=ppt/tags/tag59.xml><?xml version="1.0" encoding="utf-8"?>
<p:tagLst xmlns:p="http://schemas.openxmlformats.org/presentationml/2006/main">
  <p:tag name="MH" val="20200524120448"/>
  <p:tag name="MH_LIBRARY" val="GRAPHIC"/>
  <p:tag name="MH_TYPE" val="Other"/>
  <p:tag name="MH_ORDER" val="37"/>
</p:tagLst>
</file>

<file path=ppt/tags/tag60.xml><?xml version="1.0" encoding="utf-8"?>
<p:tagLst xmlns:p="http://schemas.openxmlformats.org/presentationml/2006/main">
  <p:tag name="MH" val="20200524120448"/>
  <p:tag name="MH_LIBRARY" val="GRAPHIC"/>
  <p:tag name="MH_TYPE" val="Other"/>
  <p:tag name="MH_ORDER" val="38"/>
</p:tagLst>
</file>

<file path=ppt/tags/tag61.xml><?xml version="1.0" encoding="utf-8"?>
<p:tagLst xmlns:p="http://schemas.openxmlformats.org/presentationml/2006/main">
  <p:tag name="MH" val="20200524120448"/>
  <p:tag name="MH_LIBRARY" val="GRAPHIC"/>
  <p:tag name="MH_TYPE" val="Other"/>
  <p:tag name="MH_ORDER" val="39"/>
</p:tagLst>
</file>

<file path=ppt/tags/tag62.xml><?xml version="1.0" encoding="utf-8"?>
<p:tagLst xmlns:p="http://schemas.openxmlformats.org/presentationml/2006/main">
  <p:tag name="MH" val="20200524120448"/>
  <p:tag name="MH_LIBRARY" val="GRAPHIC"/>
  <p:tag name="MH_TYPE" val="Other"/>
  <p:tag name="MH_ORDER" val="40"/>
</p:tagLst>
</file>

<file path=ppt/tags/tag63.xml><?xml version="1.0" encoding="utf-8"?>
<p:tagLst xmlns:p="http://schemas.openxmlformats.org/presentationml/2006/main">
  <p:tag name="MH" val="20200524120448"/>
  <p:tag name="MH_LIBRARY" val="GRAPHIC"/>
  <p:tag name="MH_TYPE" val="Other"/>
  <p:tag name="MH_ORDER" val="41"/>
</p:tagLst>
</file>

<file path=ppt/tags/tag64.xml><?xml version="1.0" encoding="utf-8"?>
<p:tagLst xmlns:p="http://schemas.openxmlformats.org/presentationml/2006/main">
  <p:tag name="MH" val="20200524120448"/>
  <p:tag name="MH_LIBRARY" val="GRAPHIC"/>
  <p:tag name="MH_TYPE" val="Other"/>
  <p:tag name="MH_ORDER" val="42"/>
</p:tagLst>
</file>

<file path=ppt/tags/tag65.xml><?xml version="1.0" encoding="utf-8"?>
<p:tagLst xmlns:p="http://schemas.openxmlformats.org/presentationml/2006/main">
  <p:tag name="MH" val="20200524120448"/>
  <p:tag name="MH_LIBRARY" val="GRAPHIC"/>
  <p:tag name="MH_TYPE" val="Other"/>
  <p:tag name="MH_ORDER" val="43"/>
</p:tagLst>
</file>

<file path=ppt/tags/tag66.xml><?xml version="1.0" encoding="utf-8"?>
<p:tagLst xmlns:p="http://schemas.openxmlformats.org/presentationml/2006/main">
  <p:tag name="MH" val="20200524120448"/>
  <p:tag name="MH_LIBRARY" val="GRAPHIC"/>
  <p:tag name="MH_TYPE" val="Other"/>
  <p:tag name="MH_ORDER" val="44"/>
</p:tagLst>
</file>

<file path=ppt/tags/tag67.xml><?xml version="1.0" encoding="utf-8"?>
<p:tagLst xmlns:p="http://schemas.openxmlformats.org/presentationml/2006/main">
  <p:tag name="MH" val="20200524120448"/>
  <p:tag name="MH_LIBRARY" val="GRAPHIC"/>
  <p:tag name="MH_TYPE" val="Other"/>
  <p:tag name="MH_ORDER" val="45"/>
</p:tagLst>
</file>

<file path=ppt/tags/tag68.xml><?xml version="1.0" encoding="utf-8"?>
<p:tagLst xmlns:p="http://schemas.openxmlformats.org/presentationml/2006/main">
  <p:tag name="MH" val="20200524120448"/>
  <p:tag name="MH_LIBRARY" val="GRAPHIC"/>
  <p:tag name="MH_TYPE" val="Other"/>
  <p:tag name="MH_ORDER" val="46"/>
</p:tagLst>
</file>

<file path=ppt/tags/tag69.xml><?xml version="1.0" encoding="utf-8"?>
<p:tagLst xmlns:p="http://schemas.openxmlformats.org/presentationml/2006/main">
  <p:tag name="MH" val="20200524120448"/>
  <p:tag name="MH_LIBRARY" val="GRAPHIC"/>
  <p:tag name="MH_TYPE" val="Other"/>
  <p:tag name="MH_ORDER" val="47"/>
</p:tagLst>
</file>

<file path=ppt/tags/tag70.xml><?xml version="1.0" encoding="utf-8"?>
<p:tagLst xmlns:p="http://schemas.openxmlformats.org/presentationml/2006/main">
  <p:tag name="MH" val="20200524120448"/>
  <p:tag name="MH_LIBRARY" val="GRAPHIC"/>
  <p:tag name="MH_TYPE" val="Other"/>
  <p:tag name="MH_ORDER" val="48"/>
</p:tagLst>
</file>

<file path=ppt/tags/tag71.xml><?xml version="1.0" encoding="utf-8"?>
<p:tagLst xmlns:p="http://schemas.openxmlformats.org/presentationml/2006/main">
  <p:tag name="MH" val="20200524120448"/>
  <p:tag name="MH_LIBRARY" val="GRAPHIC"/>
  <p:tag name="MH_TYPE" val="Other"/>
  <p:tag name="MH_ORDER" val="49"/>
</p:tagLst>
</file>

<file path=ppt/tags/tag72.xml><?xml version="1.0" encoding="utf-8"?>
<p:tagLst xmlns:p="http://schemas.openxmlformats.org/presentationml/2006/main">
  <p:tag name="MH" val="20200524120448"/>
  <p:tag name="MH_LIBRARY" val="GRAPHIC"/>
  <p:tag name="MH_TYPE" val="Other"/>
  <p:tag name="MH_ORDER" val="50"/>
</p:tagLst>
</file>

<file path=ppt/tags/tag73.xml><?xml version="1.0" encoding="utf-8"?>
<p:tagLst xmlns:p="http://schemas.openxmlformats.org/presentationml/2006/main">
  <p:tag name="MH" val="20200524120448"/>
  <p:tag name="MH_LIBRARY" val="GRAPHIC"/>
  <p:tag name="MH_TYPE" val="Other"/>
  <p:tag name="MH_ORDER" val="51"/>
</p:tagLst>
</file>

<file path=ppt/tags/tag74.xml><?xml version="1.0" encoding="utf-8"?>
<p:tagLst xmlns:p="http://schemas.openxmlformats.org/presentationml/2006/main">
  <p:tag name="MH" val="20200524120448"/>
  <p:tag name="MH_LIBRARY" val="GRAPHIC"/>
  <p:tag name="MH_TYPE" val="Other"/>
  <p:tag name="MH_ORDER" val="52"/>
</p:tagLst>
</file>

<file path=ppt/tags/tag75.xml><?xml version="1.0" encoding="utf-8"?>
<p:tagLst xmlns:p="http://schemas.openxmlformats.org/presentationml/2006/main">
  <p:tag name="MH" val="20200524120448"/>
  <p:tag name="MH_LIBRARY" val="GRAPHIC"/>
  <p:tag name="MH_TYPE" val="Other"/>
  <p:tag name="MH_ORDER" val="53"/>
</p:tagLst>
</file>

<file path=ppt/tags/tag76.xml><?xml version="1.0" encoding="utf-8"?>
<p:tagLst xmlns:p="http://schemas.openxmlformats.org/presentationml/2006/main">
  <p:tag name="MH" val="20200524120448"/>
  <p:tag name="MH_LIBRARY" val="GRAPHIC"/>
  <p:tag name="MH_TYPE" val="Other"/>
  <p:tag name="MH_ORDER" val="54"/>
</p:tagLst>
</file>

<file path=ppt/tags/tag77.xml><?xml version="1.0" encoding="utf-8"?>
<p:tagLst xmlns:p="http://schemas.openxmlformats.org/presentationml/2006/main">
  <p:tag name="MH" val="20200524120448"/>
  <p:tag name="MH_LIBRARY" val="GRAPHIC"/>
  <p:tag name="MH_TYPE" val="Other"/>
  <p:tag name="MH_ORDER" val="55"/>
</p:tagLst>
</file>

<file path=ppt/tags/tag78.xml><?xml version="1.0" encoding="utf-8"?>
<p:tagLst xmlns:p="http://schemas.openxmlformats.org/presentationml/2006/main">
  <p:tag name="MH" val="20200524120448"/>
  <p:tag name="MH_LIBRARY" val="GRAPHIC"/>
  <p:tag name="MH_TYPE" val="Other"/>
  <p:tag name="MH_ORDER" val="56"/>
</p:tagLst>
</file>

<file path=ppt/tags/tag79.xml><?xml version="1.0" encoding="utf-8"?>
<p:tagLst xmlns:p="http://schemas.openxmlformats.org/presentationml/2006/main">
  <p:tag name="MH" val="20200524120448"/>
  <p:tag name="MH_LIBRARY" val="GRAPHIC"/>
  <p:tag name="MH_TYPE" val="Other"/>
  <p:tag name="MH_ORDER" val="57"/>
</p:tagLst>
</file>

<file path=ppt/tags/tag80.xml><?xml version="1.0" encoding="utf-8"?>
<p:tagLst xmlns:p="http://schemas.openxmlformats.org/presentationml/2006/main">
  <p:tag name="MH" val="20200524120448"/>
  <p:tag name="MH_LIBRARY" val="GRAPHIC"/>
  <p:tag name="MH_TYPE" val="Other"/>
  <p:tag name="MH_ORDER" val="58"/>
</p:tagLst>
</file>

<file path=ppt/tags/tag81.xml><?xml version="1.0" encoding="utf-8"?>
<p:tagLst xmlns:p="http://schemas.openxmlformats.org/presentationml/2006/main">
  <p:tag name="MH" val="20200524120448"/>
  <p:tag name="MH_LIBRARY" val="GRAPHIC"/>
  <p:tag name="MH_TYPE" val="Other"/>
  <p:tag name="MH_ORDER" val="59"/>
</p:tagLst>
</file>

<file path=ppt/tags/tag82.xml><?xml version="1.0" encoding="utf-8"?>
<p:tagLst xmlns:p="http://schemas.openxmlformats.org/presentationml/2006/main">
  <p:tag name="MH" val="20200524120448"/>
  <p:tag name="MH_LIBRARY" val="GRAPHIC"/>
  <p:tag name="MH_TYPE" val="Other"/>
  <p:tag name="MH_ORDER" val="60"/>
</p:tagLst>
</file>

<file path=ppt/tags/tag83.xml><?xml version="1.0" encoding="utf-8"?>
<p:tagLst xmlns:p="http://schemas.openxmlformats.org/presentationml/2006/main">
  <p:tag name="MH" val="20200524120448"/>
  <p:tag name="MH_LIBRARY" val="GRAPHIC"/>
  <p:tag name="MH_TYPE" val="Other"/>
  <p:tag name="MH_ORDER" val="61"/>
</p:tagLst>
</file>

<file path=ppt/tags/tag84.xml><?xml version="1.0" encoding="utf-8"?>
<p:tagLst xmlns:p="http://schemas.openxmlformats.org/presentationml/2006/main">
  <p:tag name="MH" val="20200524120448"/>
  <p:tag name="MH_LIBRARY" val="GRAPHIC"/>
  <p:tag name="MH_TYPE" val="Other"/>
  <p:tag name="MH_ORDER" val="62"/>
</p:tagLst>
</file>

<file path=ppt/tags/tag85.xml><?xml version="1.0" encoding="utf-8"?>
<p:tagLst xmlns:p="http://schemas.openxmlformats.org/presentationml/2006/main">
  <p:tag name="MH" val="20200524120448"/>
  <p:tag name="MH_LIBRARY" val="GRAPHIC"/>
  <p:tag name="MH_TYPE" val="Other"/>
  <p:tag name="MH_ORDER" val="63"/>
</p:tagLst>
</file>

<file path=ppt/tags/tag86.xml><?xml version="1.0" encoding="utf-8"?>
<p:tagLst xmlns:p="http://schemas.openxmlformats.org/presentationml/2006/main">
  <p:tag name="MH" val="20200524120448"/>
  <p:tag name="MH_LIBRARY" val="GRAPHIC"/>
  <p:tag name="MH_TYPE" val="Other"/>
  <p:tag name="MH_ORDER" val="64"/>
</p:tagLst>
</file>

<file path=ppt/tags/tag87.xml><?xml version="1.0" encoding="utf-8"?>
<p:tagLst xmlns:p="http://schemas.openxmlformats.org/presentationml/2006/main">
  <p:tag name="MH" val="20200524120448"/>
  <p:tag name="MH_LIBRARY" val="GRAPHIC"/>
  <p:tag name="MH_TYPE" val="Other"/>
  <p:tag name="MH_ORDER" val="65"/>
</p:tagLst>
</file>

<file path=ppt/tags/tag88.xml><?xml version="1.0" encoding="utf-8"?>
<p:tagLst xmlns:p="http://schemas.openxmlformats.org/presentationml/2006/main">
  <p:tag name="MH" val="20200524120448"/>
  <p:tag name="MH_LIBRARY" val="GRAPHIC"/>
  <p:tag name="MH_TYPE" val="Other"/>
  <p:tag name="MH_ORDER" val="66"/>
</p:tagLst>
</file>

<file path=ppt/tags/tag89.xml><?xml version="1.0" encoding="utf-8"?>
<p:tagLst xmlns:p="http://schemas.openxmlformats.org/presentationml/2006/main">
  <p:tag name="MH" val="20200524120448"/>
  <p:tag name="MH_LIBRARY" val="GRAPHIC"/>
  <p:tag name="MH_TYPE" val="Other"/>
  <p:tag name="MH_ORDER" val="67"/>
</p:tagLst>
</file>

<file path=ppt/tags/tag90.xml><?xml version="1.0" encoding="utf-8"?>
<p:tagLst xmlns:p="http://schemas.openxmlformats.org/presentationml/2006/main">
  <p:tag name="MH" val="20200524120448"/>
  <p:tag name="MH_LIBRARY" val="GRAPHIC"/>
  <p:tag name="MH_TYPE" val="Other"/>
  <p:tag name="MH_ORDER" val="68"/>
</p:tagLst>
</file>

<file path=ppt/tags/tag91.xml><?xml version="1.0" encoding="utf-8"?>
<p:tagLst xmlns:p="http://schemas.openxmlformats.org/presentationml/2006/main">
  <p:tag name="MH" val="20200524120448"/>
  <p:tag name="MH_LIBRARY" val="GRAPHIC"/>
  <p:tag name="MH_TYPE" val="Other"/>
  <p:tag name="MH_ORDER" val="69"/>
</p:tagLst>
</file>

<file path=ppt/tags/tag92.xml><?xml version="1.0" encoding="utf-8"?>
<p:tagLst xmlns:p="http://schemas.openxmlformats.org/presentationml/2006/main">
  <p:tag name="MH" val="20200524120448"/>
  <p:tag name="MH_LIBRARY" val="GRAPHIC"/>
  <p:tag name="MH_TYPE" val="Other"/>
  <p:tag name="MH_ORDER" val="70"/>
</p:tagLst>
</file>

<file path=ppt/tags/tag93.xml><?xml version="1.0" encoding="utf-8"?>
<p:tagLst xmlns:p="http://schemas.openxmlformats.org/presentationml/2006/main">
  <p:tag name="MH" val="20200524120448"/>
  <p:tag name="MH_LIBRARY" val="GRAPHIC"/>
  <p:tag name="MH_TYPE" val="Other"/>
  <p:tag name="MH_ORDER" val="71"/>
</p:tagLst>
</file>

<file path=ppt/tags/tag94.xml><?xml version="1.0" encoding="utf-8"?>
<p:tagLst xmlns:p="http://schemas.openxmlformats.org/presentationml/2006/main">
  <p:tag name="MH" val="20200524120448"/>
  <p:tag name="MH_LIBRARY" val="GRAPHIC"/>
  <p:tag name="MH_TYPE" val="Other"/>
  <p:tag name="MH_ORDER" val="72"/>
</p:tagLst>
</file>

<file path=ppt/tags/tag95.xml><?xml version="1.0" encoding="utf-8"?>
<p:tagLst xmlns:p="http://schemas.openxmlformats.org/presentationml/2006/main">
  <p:tag name="MH" val="20200524120448"/>
  <p:tag name="MH_LIBRARY" val="GRAPHIC"/>
  <p:tag name="MH_TYPE" val="Other"/>
  <p:tag name="MH_ORDER" val="73"/>
</p:tagLst>
</file>

<file path=ppt/tags/tag96.xml><?xml version="1.0" encoding="utf-8"?>
<p:tagLst xmlns:p="http://schemas.openxmlformats.org/presentationml/2006/main">
  <p:tag name="MH" val="20200524120448"/>
  <p:tag name="MH_LIBRARY" val="GRAPHIC"/>
  <p:tag name="MH_TYPE" val="Other"/>
  <p:tag name="MH_ORDER" val="74"/>
</p:tagLst>
</file>

<file path=ppt/tags/tag97.xml><?xml version="1.0" encoding="utf-8"?>
<p:tagLst xmlns:p="http://schemas.openxmlformats.org/presentationml/2006/main">
  <p:tag name="MH" val="20200524120448"/>
  <p:tag name="MH_LIBRARY" val="GRAPHIC"/>
  <p:tag name="MH_TYPE" val="Other"/>
  <p:tag name="MH_ORDER" val="75"/>
</p:tagLst>
</file>

<file path=ppt/tags/tag98.xml><?xml version="1.0" encoding="utf-8"?>
<p:tagLst xmlns:p="http://schemas.openxmlformats.org/presentationml/2006/main">
  <p:tag name="MH" val="20200524120448"/>
  <p:tag name="MH_LIBRARY" val="GRAPHIC"/>
  <p:tag name="MH_TYPE" val="Other"/>
  <p:tag name="MH_ORDER" val="76"/>
</p:tagLst>
</file>

<file path=ppt/tags/tag99.xml><?xml version="1.0" encoding="utf-8"?>
<p:tagLst xmlns:p="http://schemas.openxmlformats.org/presentationml/2006/main">
  <p:tag name="MH" val="20200524120448"/>
  <p:tag name="MH_LIBRARY" val="GRAPHIC"/>
  <p:tag name="MH_TYPE" val="Other"/>
  <p:tag name="MH_ORDER" val="77"/>
</p:tagLst>
</file>

<file path=ppt/tags/tag100.xml><?xml version="1.0" encoding="utf-8"?>
<p:tagLst xmlns:p="http://schemas.openxmlformats.org/presentationml/2006/main">
  <p:tag name="MH" val="20200524120448"/>
  <p:tag name="MH_LIBRARY" val="GRAPHIC"/>
  <p:tag name="MH_TYPE" val="Other"/>
  <p:tag name="MH_ORDER" val="78"/>
</p:tagLst>
</file>

<file path=ppt/tags/tag101.xml><?xml version="1.0" encoding="utf-8"?>
<p:tagLst xmlns:p="http://schemas.openxmlformats.org/presentationml/2006/main">
  <p:tag name="MH" val="20200524120448"/>
  <p:tag name="MH_LIBRARY" val="GRAPHIC"/>
  <p:tag name="MH_TYPE" val="Other"/>
  <p:tag name="MH_ORDER" val="79"/>
</p:tagLst>
</file>

<file path=ppt/tags/tag102.xml><?xml version="1.0" encoding="utf-8"?>
<p:tagLst xmlns:p="http://schemas.openxmlformats.org/presentationml/2006/main">
  <p:tag name="MH" val="20200524120448"/>
  <p:tag name="MH_LIBRARY" val="GRAPHIC"/>
  <p:tag name="MH_TYPE" val="Other"/>
  <p:tag name="MH_ORDER" val="80"/>
</p:tagLst>
</file>

<file path=ppt/tags/tag103.xml><?xml version="1.0" encoding="utf-8"?>
<p:tagLst xmlns:p="http://schemas.openxmlformats.org/presentationml/2006/main">
  <p:tag name="MH" val="20200524120448"/>
  <p:tag name="MH_LIBRARY" val="GRAPHIC"/>
  <p:tag name="MH_TYPE" val="Other"/>
  <p:tag name="MH_ORDER" val="81"/>
</p:tagLst>
</file>

<file path=ppt/tags/tag104.xml><?xml version="1.0" encoding="utf-8"?>
<p:tagLst xmlns:p="http://schemas.openxmlformats.org/presentationml/2006/main">
  <p:tag name="MH" val="20200524120448"/>
  <p:tag name="MH_LIBRARY" val="GRAPHIC"/>
  <p:tag name="MH_TYPE" val="Other"/>
  <p:tag name="MH_ORDER" val="82"/>
</p:tagLst>
</file>

<file path=ppt/tags/tag105.xml><?xml version="1.0" encoding="utf-8"?>
<p:tagLst xmlns:p="http://schemas.openxmlformats.org/presentationml/2006/main">
  <p:tag name="MH" val="20200524120448"/>
  <p:tag name="MH_LIBRARY" val="GRAPHIC"/>
  <p:tag name="MH_TYPE" val="Other"/>
  <p:tag name="MH_ORDER" val="83"/>
</p:tagLst>
</file>

<file path=ppt/tags/tag106.xml><?xml version="1.0" encoding="utf-8"?>
<p:tagLst xmlns:p="http://schemas.openxmlformats.org/presentationml/2006/main">
  <p:tag name="MH" val="20200524120448"/>
  <p:tag name="MH_LIBRARY" val="GRAPHIC"/>
  <p:tag name="MH_TYPE" val="Other"/>
  <p:tag name="MH_ORDER" val="84"/>
</p:tagLst>
</file>

<file path=ppt/tags/tag107.xml><?xml version="1.0" encoding="utf-8"?>
<p:tagLst xmlns:p="http://schemas.openxmlformats.org/presentationml/2006/main">
  <p:tag name="MH" val="20200524120448"/>
  <p:tag name="MH_LIBRARY" val="GRAPHIC"/>
  <p:tag name="MH_TYPE" val="Other"/>
  <p:tag name="MH_ORDER" val="85"/>
</p:tagLst>
</file>

<file path=ppt/tags/tag108.xml><?xml version="1.0" encoding="utf-8"?>
<p:tagLst xmlns:p="http://schemas.openxmlformats.org/presentationml/2006/main">
  <p:tag name="MH" val="20200524120448"/>
  <p:tag name="MH_LIBRARY" val="GRAPHIC"/>
  <p:tag name="MH_TYPE" val="Other"/>
  <p:tag name="MH_ORDER" val="86"/>
</p:tagLst>
</file>

<file path=ppt/tags/tag109.xml><?xml version="1.0" encoding="utf-8"?>
<p:tagLst xmlns:p="http://schemas.openxmlformats.org/presentationml/2006/main">
  <p:tag name="MH" val="20200524120448"/>
  <p:tag name="MH_LIBRARY" val="GRAPHIC"/>
  <p:tag name="MH_TYPE" val="Other"/>
  <p:tag name="MH_ORDER" val="87"/>
</p:tagLst>
</file>

<file path=ppt/tags/tag110.xml><?xml version="1.0" encoding="utf-8"?>
<p:tagLst xmlns:p="http://schemas.openxmlformats.org/presentationml/2006/main">
  <p:tag name="MH" val="20200524120448"/>
  <p:tag name="MH_LIBRARY" val="GRAPHIC"/>
  <p:tag name="MH_TYPE" val="Other"/>
  <p:tag name="MH_ORDER" val="88"/>
</p:tagLst>
</file>

<file path=ppt/tags/tag111.xml><?xml version="1.0" encoding="utf-8"?>
<p:tagLst xmlns:p="http://schemas.openxmlformats.org/presentationml/2006/main">
  <p:tag name="MH" val="20200524120448"/>
  <p:tag name="MH_LIBRARY" val="GRAPHIC"/>
  <p:tag name="MH_TYPE" val="Other"/>
  <p:tag name="MH_ORDER" val="89"/>
</p:tagLst>
</file>

<file path=ppt/tags/tag112.xml><?xml version="1.0" encoding="utf-8"?>
<p:tagLst xmlns:p="http://schemas.openxmlformats.org/presentationml/2006/main">
  <p:tag name="MH" val="20200524120448"/>
  <p:tag name="MH_LIBRARY" val="GRAPHIC"/>
  <p:tag name="MH_TYPE" val="Other"/>
  <p:tag name="MH_ORDER" val="90"/>
</p:tagLst>
</file>

<file path=ppt/tags/tag113.xml><?xml version="1.0" encoding="utf-8"?>
<p:tagLst xmlns:p="http://schemas.openxmlformats.org/presentationml/2006/main">
  <p:tag name="MH" val="20200524120448"/>
  <p:tag name="MH_LIBRARY" val="GRAPHIC"/>
  <p:tag name="MH_TYPE" val="Other"/>
  <p:tag name="MH_ORDER" val="91"/>
</p:tagLst>
</file>

<file path=ppt/tags/tag114.xml><?xml version="1.0" encoding="utf-8"?>
<p:tagLst xmlns:p="http://schemas.openxmlformats.org/presentationml/2006/main">
  <p:tag name="MH" val="20200524120448"/>
  <p:tag name="MH_LIBRARY" val="GRAPHIC"/>
  <p:tag name="MH_TYPE" val="Other"/>
  <p:tag name="MH_ORDER" val="92"/>
</p:tagLst>
</file>

<file path=ppt/tags/tag115.xml><?xml version="1.0" encoding="utf-8"?>
<p:tagLst xmlns:p="http://schemas.openxmlformats.org/presentationml/2006/main">
  <p:tag name="MH" val="20200524120448"/>
  <p:tag name="MH_LIBRARY" val="GRAPHIC"/>
  <p:tag name="MH_TYPE" val="Other"/>
  <p:tag name="MH_ORDER" val="93"/>
</p:tagLst>
</file>

<file path=ppt/tags/tag116.xml><?xml version="1.0" encoding="utf-8"?>
<p:tagLst xmlns:p="http://schemas.openxmlformats.org/presentationml/2006/main">
  <p:tag name="MH" val="20200524120448"/>
  <p:tag name="MH_LIBRARY" val="GRAPHIC"/>
  <p:tag name="MH_TYPE" val="Other"/>
  <p:tag name="MH_ORDER" val="94"/>
</p:tagLst>
</file>

<file path=ppt/tags/tag117.xml><?xml version="1.0" encoding="utf-8"?>
<p:tagLst xmlns:p="http://schemas.openxmlformats.org/presentationml/2006/main">
  <p:tag name="MH" val="20200524120448"/>
  <p:tag name="MH_LIBRARY" val="GRAPHIC"/>
  <p:tag name="MH_TYPE" val="Other"/>
  <p:tag name="MH_ORDER" val="95"/>
</p:tagLst>
</file>

<file path=ppt/tags/tag118.xml><?xml version="1.0" encoding="utf-8"?>
<p:tagLst xmlns:p="http://schemas.openxmlformats.org/presentationml/2006/main">
  <p:tag name="MH" val="20200524120448"/>
  <p:tag name="MH_LIBRARY" val="GRAPHIC"/>
  <p:tag name="MH_TYPE" val="Other"/>
  <p:tag name="MH_ORDER" val="96"/>
</p:tagLst>
</file>

<file path=ppt/tags/tag119.xml><?xml version="1.0" encoding="utf-8"?>
<p:tagLst xmlns:p="http://schemas.openxmlformats.org/presentationml/2006/main">
  <p:tag name="MH" val="20200524120448"/>
  <p:tag name="MH_LIBRARY" val="GRAPHIC"/>
  <p:tag name="MH_TYPE" val="Other"/>
  <p:tag name="MH_ORDER" val="97"/>
</p:tagLst>
</file>

<file path=ppt/tags/tag120.xml><?xml version="1.0" encoding="utf-8"?>
<p:tagLst xmlns:p="http://schemas.openxmlformats.org/presentationml/2006/main">
  <p:tag name="MH" val="20200524120448"/>
  <p:tag name="MH_LIBRARY" val="GRAPHIC"/>
  <p:tag name="MH_TYPE" val="Other"/>
  <p:tag name="MH_ORDER" val="98"/>
</p:tagLst>
</file>

<file path=ppt/tags/tag121.xml><?xml version="1.0" encoding="utf-8"?>
<p:tagLst xmlns:p="http://schemas.openxmlformats.org/presentationml/2006/main">
  <p:tag name="MH" val="20200524120636"/>
  <p:tag name="MH_LIBRARY" val="GRAPHIC"/>
  <p:tag name="MH_TYPE" val="Other"/>
  <p:tag name="MH_ORDER" val="2"/>
</p:tagLst>
</file>

<file path=ppt/tags/tag122.xml><?xml version="1.0" encoding="utf-8"?>
<p:tagLst xmlns:p="http://schemas.openxmlformats.org/presentationml/2006/main">
  <p:tag name="MH" val="20200524120636"/>
  <p:tag name="MH_LIBRARY" val="GRAPHIC"/>
  <p:tag name="MH_TYPE" val="Other"/>
  <p:tag name="MH_ORDER" val="3"/>
</p:tagLst>
</file>

<file path=ppt/tags/tag123.xml><?xml version="1.0" encoding="utf-8"?>
<p:tagLst xmlns:p="http://schemas.openxmlformats.org/presentationml/2006/main">
  <p:tag name="MH" val="20200524120636"/>
  <p:tag name="MH_LIBRARY" val="GRAPHIC"/>
  <p:tag name="MH_TYPE" val="Other"/>
  <p:tag name="MH_ORDER" val="4"/>
</p:tagLst>
</file>

<file path=ppt/tags/tag124.xml><?xml version="1.0" encoding="utf-8"?>
<p:tagLst xmlns:p="http://schemas.openxmlformats.org/presentationml/2006/main">
  <p:tag name="MH" val="20200524120636"/>
  <p:tag name="MH_LIBRARY" val="GRAPHIC"/>
  <p:tag name="MH_TYPE" val="Other"/>
  <p:tag name="MH_ORDER" val="1"/>
</p:tagLst>
</file>

<file path=ppt/tags/tag125.xml><?xml version="1.0" encoding="utf-8"?>
<p:tagLst xmlns:p="http://schemas.openxmlformats.org/presentationml/2006/main">
  <p:tag name="MH" val="20200524120636"/>
  <p:tag name="MH_LIBRARY" val="GRAPHIC"/>
  <p:tag name="MH_TYPE" val="Picture"/>
  <p:tag name="MH_ORDER" val="2"/>
</p:tagLst>
</file>

<file path=ppt/tags/tag126.xml><?xml version="1.0" encoding="utf-8"?>
<p:tagLst xmlns:p="http://schemas.openxmlformats.org/presentationml/2006/main">
  <p:tag name="MH" val="20200524120636"/>
  <p:tag name="MH_LIBRARY" val="GRAPHIC"/>
  <p:tag name="MH_TYPE" val="Other"/>
  <p:tag name="MH_ORDER" val="5"/>
</p:tagLst>
</file>

<file path=ppt/tags/tag127.xml><?xml version="1.0" encoding="utf-8"?>
<p:tagLst xmlns:p="http://schemas.openxmlformats.org/presentationml/2006/main">
  <p:tag name="MH" val="20200524120636"/>
  <p:tag name="MH_LIBRARY" val="GRAPHIC"/>
  <p:tag name="MH_TYPE" val="Other"/>
  <p:tag name="MH_ORDER" val="2"/>
</p:tagLst>
</file>

<file path=ppt/tags/tag128.xml><?xml version="1.0" encoding="utf-8"?>
<p:tagLst xmlns:p="http://schemas.openxmlformats.org/presentationml/2006/main">
  <p:tag name="ISPRING_PRESENTATION_TITLE" val="蓝色简介大气毕业答辩竞赛演讲PPT模板"/>
  <p:tag name="commondata" val="eyJoZGlkIjoiM2NmY2U0MjQxMjVhMzViM2U2NDc0NTI2ZDMwMzBmZGIifQ==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3920</Words>
  <Application>WPS 演示</Application>
  <PresentationFormat>全屏显示(4:3)</PresentationFormat>
  <Paragraphs>972</Paragraphs>
  <Slides>41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0" baseType="lpstr">
      <vt:lpstr>Arial</vt:lpstr>
      <vt:lpstr>宋体</vt:lpstr>
      <vt:lpstr>Wingdings</vt:lpstr>
      <vt:lpstr>微软雅黑</vt:lpstr>
      <vt:lpstr>等线</vt:lpstr>
      <vt:lpstr>华文行楷</vt:lpstr>
      <vt:lpstr>华文隶书</vt:lpstr>
      <vt:lpstr>楷体</vt:lpstr>
      <vt:lpstr>Tahoma</vt:lpstr>
      <vt:lpstr>楷体_GB2312</vt:lpstr>
      <vt:lpstr>新宋体</vt:lpstr>
      <vt:lpstr>Calibri</vt:lpstr>
      <vt:lpstr>隶书</vt:lpstr>
      <vt:lpstr>Calibri</vt:lpstr>
      <vt:lpstr>Times New Roman</vt:lpstr>
      <vt:lpstr>Arial Unicode MS</vt:lpstr>
      <vt:lpstr>等线 Light</vt:lpstr>
      <vt:lpstr>Calibri Light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蓝色简介大气毕业答辩竞赛演讲PPT模板</dc:title>
  <dc:creator>Windows 用户</dc:creator>
  <cp:lastModifiedBy>贝妈</cp:lastModifiedBy>
  <cp:revision>592</cp:revision>
  <dcterms:created xsi:type="dcterms:W3CDTF">2018-07-22T02:36:00Z</dcterms:created>
  <dcterms:modified xsi:type="dcterms:W3CDTF">2024-09-09T05:43:29Z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1F99B68480E6424B963902318F95053E_12</vt:lpwstr>
  </property>
</Properties>
</file>