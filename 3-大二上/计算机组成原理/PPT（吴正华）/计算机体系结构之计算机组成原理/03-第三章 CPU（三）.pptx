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842" r:id="rId2"/>
    <p:sldId id="843" r:id="rId3"/>
    <p:sldId id="844" r:id="rId4"/>
    <p:sldId id="845" r:id="rId5"/>
    <p:sldId id="846" r:id="rId6"/>
    <p:sldId id="838" r:id="rId7"/>
    <p:sldId id="847" r:id="rId8"/>
    <p:sldId id="839" r:id="rId9"/>
    <p:sldId id="848" r:id="rId10"/>
    <p:sldId id="840" r:id="rId11"/>
    <p:sldId id="849" r:id="rId12"/>
    <p:sldId id="850" r:id="rId13"/>
    <p:sldId id="851" r:id="rId14"/>
    <p:sldId id="841" r:id="rId15"/>
    <p:sldId id="852" r:id="rId16"/>
    <p:sldId id="853" r:id="rId17"/>
    <p:sldId id="854" r:id="rId18"/>
    <p:sldId id="855" r:id="rId19"/>
    <p:sldId id="856" r:id="rId20"/>
    <p:sldId id="857" r:id="rId21"/>
    <p:sldId id="858" r:id="rId22"/>
    <p:sldId id="859" r:id="rId23"/>
    <p:sldId id="860" r:id="rId24"/>
    <p:sldId id="861" r:id="rId25"/>
    <p:sldId id="862" r:id="rId26"/>
    <p:sldId id="863" r:id="rId27"/>
    <p:sldId id="864" r:id="rId28"/>
    <p:sldId id="865" r:id="rId29"/>
    <p:sldId id="866" r:id="rId30"/>
    <p:sldId id="867" r:id="rId31"/>
    <p:sldId id="868" r:id="rId32"/>
    <p:sldId id="869" r:id="rId33"/>
    <p:sldId id="730" r:id="rId34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19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C1"/>
    <a:srgbClr val="FFFFFF"/>
    <a:srgbClr val="ED7D31"/>
    <a:srgbClr val="2F5597"/>
    <a:srgbClr val="4472C4"/>
    <a:srgbClr val="FF0000"/>
    <a:srgbClr val="FF9900"/>
    <a:srgbClr val="F0DADA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2" autoAdjust="0"/>
    <p:restoredTop sz="96000" autoAdjust="0"/>
  </p:normalViewPr>
  <p:slideViewPr>
    <p:cSldViewPr snapToGrid="0" showGuides="1">
      <p:cViewPr varScale="1">
        <p:scale>
          <a:sx n="78" d="100"/>
          <a:sy n="78" d="100"/>
        </p:scale>
        <p:origin x="1747" y="67"/>
      </p:cViewPr>
      <p:guideLst>
        <p:guide orient="horz" pos="2107"/>
        <p:guide pos="1908"/>
      </p:guideLst>
    </p:cSldViewPr>
  </p:slideViewPr>
  <p:outlineViewPr>
    <p:cViewPr>
      <p:scale>
        <a:sx n="33" d="100"/>
        <a:sy n="33" d="100"/>
      </p:scale>
      <p:origin x="0" y="-27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406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665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756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662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612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383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819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205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218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835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124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054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964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1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18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9664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710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973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21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470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3590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606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8726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557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676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2604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8961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6582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4885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612E-3E0E-4677-BD75-C3035F09CF8B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2452-4414-4A67-B06C-4837C797611A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8EB7-07DD-4FAB-99F8-EDA876343D2C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ACAB-1C17-4C81-8E84-4BC1B099DDB3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B67D-DE4A-485B-9DC6-907AA302B6B6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86E9-2264-4CE7-89DC-C1C773EB3590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D547-54F4-4352-808B-20CE77C0E88A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DEE5-FD89-44CA-A729-5164AD3A421C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B0151-3BD9-4887-91D7-BC694D94DD37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788F-638F-420D-B92E-DC41F3CBC6C6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EFAD-2E9E-4200-8350-F282439D6341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D277E-88D0-47EF-B828-8C9E90EDC2AB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第三章 中央处理器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B565E591-3381-4D38-9DF8-0AEAC6FC1F45}" type="datetime1">
              <a:rPr lang="zh-CN" altLang="en-US" sz="1400" smtClean="0">
                <a:solidFill>
                  <a:schemeClr val="tx1"/>
                </a:solidFill>
              </a:rPr>
              <a:t>2026/8/23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2574" y="2340080"/>
            <a:ext cx="1979291" cy="21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3" name="椭圆 12"/>
          <p:cNvSpPr/>
          <p:nvPr/>
        </p:nvSpPr>
        <p:spPr>
          <a:xfrm>
            <a:off x="370477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704772" y="2621617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704772" y="3473785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46638" y="3374660"/>
            <a:ext cx="3389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运算方法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146638" y="1666510"/>
            <a:ext cx="341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模型机的总体设计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46638" y="2520585"/>
            <a:ext cx="3797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算术逻辑运算部件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21ADD485-E0E0-4836-8EE9-6806D8013258}"/>
              </a:ext>
            </a:extLst>
          </p:cNvPr>
          <p:cNvSpPr/>
          <p:nvPr/>
        </p:nvSpPr>
        <p:spPr>
          <a:xfrm>
            <a:off x="3704772" y="4325953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F6B514-A15F-45D7-9EE1-6358302BD334}"/>
              </a:ext>
            </a:extLst>
          </p:cNvPr>
          <p:cNvSpPr txBox="1"/>
          <p:nvPr/>
        </p:nvSpPr>
        <p:spPr>
          <a:xfrm>
            <a:off x="4146638" y="4228735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模型机的组合逻辑控制器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1FC0AE8-6523-40FD-83C7-293D68EBF575}"/>
              </a:ext>
            </a:extLst>
          </p:cNvPr>
          <p:cNvSpPr/>
          <p:nvPr/>
        </p:nvSpPr>
        <p:spPr>
          <a:xfrm>
            <a:off x="3704772" y="5178120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A7C183-A572-42D5-B5A3-898F42879B09}"/>
              </a:ext>
            </a:extLst>
          </p:cNvPr>
          <p:cNvSpPr txBox="1"/>
          <p:nvPr/>
        </p:nvSpPr>
        <p:spPr>
          <a:xfrm>
            <a:off x="4110444" y="5082808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模型机的微程序控制器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运算方法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2931987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/>
          <p:cNvSpPr/>
          <p:nvPr/>
        </p:nvSpPr>
        <p:spPr>
          <a:xfrm>
            <a:off x="2526228" y="2943529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定点加减运算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617130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3628671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定点乘法运算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/>
          <p:cNvSpPr txBox="1"/>
          <p:nvPr/>
        </p:nvSpPr>
        <p:spPr>
          <a:xfrm>
            <a:off x="1872697" y="4328396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ïşľïdé"/>
          <p:cNvSpPr/>
          <p:nvPr/>
        </p:nvSpPr>
        <p:spPr>
          <a:xfrm>
            <a:off x="2526228" y="4339937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定点除法运算</a:t>
            </a:r>
          </a:p>
        </p:txBody>
      </p:sp>
      <p:sp>
        <p:nvSpPr>
          <p:cNvPr id="22" name="îṩļíḑé"/>
          <p:cNvSpPr/>
          <p:nvPr/>
        </p:nvSpPr>
        <p:spPr>
          <a:xfrm>
            <a:off x="1524070" y="296054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645684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/>
          <p:cNvSpPr/>
          <p:nvPr/>
        </p:nvSpPr>
        <p:spPr>
          <a:xfrm>
            <a:off x="1524070" y="435695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438189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59428" y="4134879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一、定点加减运算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5" name="Text Box 5"/>
          <p:cNvSpPr txBox="1"/>
          <p:nvPr/>
        </p:nvSpPr>
        <p:spPr>
          <a:xfrm>
            <a:off x="137141" y="728887"/>
            <a:ext cx="8867447" cy="58083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、补码加减运算的基本关系式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补码加减：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操作数用补码表示，连同符号位一起运算，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结果也用补码表示。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补码加减所依据的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基本关系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(X + Y)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(X - Y)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 Y)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式（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表明：当操作码为“加”时，可直接将补码表示的两个操作数（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补）相加，不必考虑它们的数符是正或负，所得结果即为补码表示的和。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77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一、定点加减运算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5" name="Text Box 5"/>
          <p:cNvSpPr txBox="1"/>
          <p:nvPr/>
        </p:nvSpPr>
        <p:spPr>
          <a:xfrm>
            <a:off x="137141" y="798559"/>
            <a:ext cx="8867447" cy="55297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(X + Y)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(X - Y)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 Y)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式（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表明：当操作码为“减”时，可转换为与减数的负数相加，从而化“减”为“加”。（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 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）补是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补的机器负数。由于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补本身可正可负，（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 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）补也可能为负或为正。由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补求（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 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）补，称为对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补求补或变补，即将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补连同符号位一起变反，并在末位加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（不论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补本身为正或负）。如果减数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为正，则变补后可转换为加一个负数；如果减数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为负，则变补后可转换为加一个正数。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830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一、定点加减运算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D8F57757-1B57-44CE-BC9A-9FA7CB53A281}"/>
              </a:ext>
            </a:extLst>
          </p:cNvPr>
          <p:cNvSpPr txBox="1"/>
          <p:nvPr/>
        </p:nvSpPr>
        <p:spPr>
          <a:xfrm>
            <a:off x="137141" y="789850"/>
            <a:ext cx="8867447" cy="312604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、补码加减运算规则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① 参与运算的操作数用补码表示，符号位作为数的一部分直接参与运算，所得运算结果即为补码表示形式；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② 若操作码为加，则两数直接相加；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③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若操作码为减，则将减数变补后再与被减数相加。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、补码加减运算的逻辑实现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3626E067-47CA-4924-8373-713516BC4AD7}"/>
              </a:ext>
            </a:extLst>
          </p:cNvPr>
          <p:cNvSpPr txBox="1"/>
          <p:nvPr/>
        </p:nvSpPr>
        <p:spPr>
          <a:xfrm>
            <a:off x="130794" y="3902813"/>
            <a:ext cx="8867447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补码加减法所需控制命令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C852F23C-4449-4126-AB6E-AC586F9C6B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6056048"/>
                  </p:ext>
                </p:extLst>
              </p:nvPr>
            </p:nvGraphicFramePr>
            <p:xfrm>
              <a:off x="628650" y="4462581"/>
              <a:ext cx="7886700" cy="1893768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1391739">
                      <a:extLst>
                        <a:ext uri="{9D8B030D-6E8A-4147-A177-3AD203B41FA5}">
                          <a16:colId xmlns:a16="http://schemas.microsoft.com/office/drawing/2014/main" val="3862789213"/>
                        </a:ext>
                      </a:extLst>
                    </a:gridCol>
                    <a:gridCol w="6494961">
                      <a:extLst>
                        <a:ext uri="{9D8B030D-6E8A-4147-A177-3AD203B41FA5}">
                          <a16:colId xmlns:a16="http://schemas.microsoft.com/office/drawing/2014/main" val="1407227771"/>
                        </a:ext>
                      </a:extLst>
                    </a:gridCol>
                  </a:tblGrid>
                  <a:tr h="6312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所需控制命令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018861"/>
                      </a:ext>
                    </a:extLst>
                  </a:tr>
                  <a:tr h="6312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加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altLang="zh-CN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+A    +B        Σ→A    CPA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4629753"/>
                      </a:ext>
                    </a:extLst>
                  </a:tr>
                  <a:tr h="6312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altLang="zh-CN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 +A    +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CN" altLang="en-US" sz="2100" b="1" i="1" baseline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100" b="1" i="1" baseline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𝑩</m:t>
                                  </m:r>
                                </m:e>
                              </m:acc>
                            </m:oMath>
                          </a14:m>
                          <a:r>
                            <a:rPr lang="pt-BR" altLang="zh-CN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  +1   Σ→A    CPA</a:t>
                          </a:r>
                          <a:endParaRPr lang="zh-CN" altLang="en-US" sz="24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47210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C852F23C-4449-4126-AB6E-AC586F9C6B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6056048"/>
                  </p:ext>
                </p:extLst>
              </p:nvPr>
            </p:nvGraphicFramePr>
            <p:xfrm>
              <a:off x="628650" y="4462581"/>
              <a:ext cx="7886700" cy="1893768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1391739">
                      <a:extLst>
                        <a:ext uri="{9D8B030D-6E8A-4147-A177-3AD203B41FA5}">
                          <a16:colId xmlns:a16="http://schemas.microsoft.com/office/drawing/2014/main" val="3862789213"/>
                        </a:ext>
                      </a:extLst>
                    </a:gridCol>
                    <a:gridCol w="6494961">
                      <a:extLst>
                        <a:ext uri="{9D8B030D-6E8A-4147-A177-3AD203B41FA5}">
                          <a16:colId xmlns:a16="http://schemas.microsoft.com/office/drawing/2014/main" val="1407227771"/>
                        </a:ext>
                      </a:extLst>
                    </a:gridCol>
                  </a:tblGrid>
                  <a:tr h="6312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所需控制命令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018861"/>
                      </a:ext>
                    </a:extLst>
                  </a:tr>
                  <a:tr h="6312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加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altLang="zh-CN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+A    +B        Σ→A    CPA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4629753"/>
                      </a:ext>
                    </a:extLst>
                  </a:tr>
                  <a:tr h="6312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388" t="-200000" r="-94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47210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159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一、定点加减运算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125D0A-E94F-4F8A-B96D-99A565244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492" y="884687"/>
            <a:ext cx="5623016" cy="4997555"/>
          </a:xfrm>
          <a:prstGeom prst="rect">
            <a:avLst/>
          </a:prstGeom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2CBD60DD-DA01-4B3F-B0BF-02B236D67D27}"/>
              </a:ext>
            </a:extLst>
          </p:cNvPr>
          <p:cNvSpPr txBox="1"/>
          <p:nvPr/>
        </p:nvSpPr>
        <p:spPr>
          <a:xfrm>
            <a:off x="1975159" y="5810531"/>
            <a:ext cx="519368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补码加减法运算器粗框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592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3730FBA6-D61F-4F9B-B6DE-BCFF68A5C226}"/>
              </a:ext>
            </a:extLst>
          </p:cNvPr>
          <p:cNvSpPr txBox="1"/>
          <p:nvPr/>
        </p:nvSpPr>
        <p:spPr>
          <a:xfrm>
            <a:off x="67288" y="764085"/>
            <a:ext cx="6314462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手算乘法如何实现？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例：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0.1101×0.1011 =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B39854FB-8B9F-40E5-A0B4-798A2ADBACD5}"/>
              </a:ext>
            </a:extLst>
          </p:cNvPr>
          <p:cNvSpPr txBox="1"/>
          <p:nvPr/>
        </p:nvSpPr>
        <p:spPr>
          <a:xfrm>
            <a:off x="171532" y="3058702"/>
            <a:ext cx="8819537" cy="33738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由手算到机器实现，要解决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三个问题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① 符号问题如何处理？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② 多项部分积相加，如何解决进位传递问题？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③ 乘数权值每高一位，新部分积需左移一位，才能保持两次部分积之间的位权对应关系，这导致加法器位数增加。为了保持加法器位数不变，能否改变移位方法？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C757DD9-3432-428E-98E8-E5136378225D}"/>
              </a:ext>
            </a:extLst>
          </p:cNvPr>
          <p:cNvGrpSpPr/>
          <p:nvPr/>
        </p:nvGrpSpPr>
        <p:grpSpPr>
          <a:xfrm>
            <a:off x="4860536" y="905682"/>
            <a:ext cx="3873889" cy="3135858"/>
            <a:chOff x="4860536" y="905682"/>
            <a:chExt cx="3873889" cy="3135858"/>
          </a:xfrm>
        </p:grpSpPr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E14CA358-76E9-4BD5-B0A7-F5EB2963A4D0}"/>
                </a:ext>
              </a:extLst>
            </p:cNvPr>
            <p:cNvSpPr txBox="1"/>
            <p:nvPr/>
          </p:nvSpPr>
          <p:spPr>
            <a:xfrm>
              <a:off x="4860536" y="905682"/>
              <a:ext cx="3873889" cy="31358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     0.1101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  × 0.1011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       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      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     0000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    1101     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 0.10001111</a:t>
              </a:r>
            </a:p>
          </p:txBody>
        </p:sp>
        <p:cxnSp>
          <p:nvCxnSpPr>
            <p:cNvPr id="16" name="直接连接符 18">
              <a:extLst>
                <a:ext uri="{FF2B5EF4-FFF2-40B4-BE49-F238E27FC236}">
                  <a16:creationId xmlns:a16="http://schemas.microsoft.com/office/drawing/2014/main" id="{F415266C-89B9-462B-B4C4-908087464B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27473" y="1824598"/>
              <a:ext cx="1673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直接连接符 18">
              <a:extLst>
                <a:ext uri="{FF2B5EF4-FFF2-40B4-BE49-F238E27FC236}">
                  <a16:creationId xmlns:a16="http://schemas.microsoft.com/office/drawing/2014/main" id="{ADAB79AC-0BB4-476F-AC93-BE62F835D6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27473" y="3558148"/>
              <a:ext cx="1673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5297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3730FBA6-D61F-4F9B-B6DE-BCFF68A5C226}"/>
              </a:ext>
            </a:extLst>
          </p:cNvPr>
          <p:cNvSpPr txBox="1"/>
          <p:nvPr/>
        </p:nvSpPr>
        <p:spPr>
          <a:xfrm>
            <a:off x="143487" y="910814"/>
            <a:ext cx="8819537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对于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的处理方法：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可采用原码乘法或补码乘法。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对于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后两种问题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的处理方法：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一种乘法器是将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位乘法转换为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次累加与移位循环，因而可用常规加法器实现。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另一类乘法器结构，称为阵列乘法器。</a:t>
            </a: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本节主要讨论如何通过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累加、移位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实现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分步乘法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运算。</a:t>
            </a:r>
          </a:p>
        </p:txBody>
      </p:sp>
    </p:spTree>
    <p:extLst>
      <p:ext uri="{BB962C8B-B14F-4D97-AF65-F5344CB8AC3E}">
        <p14:creationId xmlns:p14="http://schemas.microsoft.com/office/powerpoint/2010/main" val="275828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DDB779D-9D9C-480C-B88A-5070C5DBE42D}"/>
              </a:ext>
            </a:extLst>
          </p:cNvPr>
          <p:cNvSpPr txBox="1"/>
          <p:nvPr/>
        </p:nvSpPr>
        <p:spPr>
          <a:xfrm>
            <a:off x="137141" y="843187"/>
            <a:ext cx="8867447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、原码一位乘法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取两个操作数的绝对值相乘，每步处理一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位乘法，符号位单独处理。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）运算规则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① 寄存器分配与初始值：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A,B,C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三个寄存器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存放部分积累加和，初始值为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0(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双符号位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存放被乘数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（绝对值），此时，符号位为双符号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（在乘的过程中，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中的值一直保持不变）；</a:t>
            </a:r>
          </a:p>
        </p:txBody>
      </p:sp>
    </p:spTree>
    <p:extLst>
      <p:ext uri="{BB962C8B-B14F-4D97-AF65-F5344CB8AC3E}">
        <p14:creationId xmlns:p14="http://schemas.microsoft.com/office/powerpoint/2010/main" val="357640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DDB779D-9D9C-480C-B88A-5070C5DBE42D}"/>
              </a:ext>
            </a:extLst>
          </p:cNvPr>
          <p:cNvSpPr txBox="1"/>
          <p:nvPr/>
        </p:nvSpPr>
        <p:spPr>
          <a:xfrm>
            <a:off x="137141" y="900337"/>
            <a:ext cx="8867447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存放乘数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（绝对值），将符号位去掉；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寄存器的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初始值是乘数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的尾数（有效位数），以后每乘一次，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将已处理的低位乘数右移舍去，同时将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寄存器的末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位移入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寄存器的高位。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② 符号位：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A,B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均设置双符号位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③ 基本操作：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在原码一位乘中，每步只处理一位乘数，即位于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存器末位的乘数，也称之为判断位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56592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DDB779D-9D9C-480C-B88A-5070C5DBE42D}"/>
              </a:ext>
            </a:extLst>
          </p:cNvPr>
          <p:cNvSpPr txBox="1"/>
          <p:nvPr/>
        </p:nvSpPr>
        <p:spPr>
          <a:xfrm>
            <a:off x="137141" y="766987"/>
            <a:ext cx="8867447" cy="4515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Cn=1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，则部分积为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操作，然后将累加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和右移一位，用“→”表示，（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Cn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位去掉）；   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Cn=0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，则部分积为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A+0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操作，然后右移。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或直接让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右移一位，（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Cn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位去掉）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：右移时，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的末位移入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的高位，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的第二符号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位移入尾数最高位，第一符号位移入第二符号位，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而第一符号位本身则补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951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DDB779D-9D9C-480C-B88A-5070C5DBE42D}"/>
              </a:ext>
            </a:extLst>
          </p:cNvPr>
          <p:cNvSpPr txBox="1"/>
          <p:nvPr/>
        </p:nvSpPr>
        <p:spPr>
          <a:xfrm>
            <a:off x="137141" y="900337"/>
            <a:ext cx="8867447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④ 操作步骤：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次累加与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次移位（最后一次累加后要移位）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⑤ 加符号位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）举例：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X = 0.1101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 = -0.1011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，求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XY =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设寄存器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 = 00.0000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B =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｜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｜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00.1101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C =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｜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｜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.1011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430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14</a:t>
            </a:fld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4455A5D-6710-4A91-8CE0-60976123B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86459"/>
              </p:ext>
            </p:extLst>
          </p:nvPr>
        </p:nvGraphicFramePr>
        <p:xfrm>
          <a:off x="209550" y="855841"/>
          <a:ext cx="8743950" cy="510768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748790">
                  <a:extLst>
                    <a:ext uri="{9D8B030D-6E8A-4147-A177-3AD203B41FA5}">
                      <a16:colId xmlns:a16="http://schemas.microsoft.com/office/drawing/2014/main" val="196596806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1597188015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1990814674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43945503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3304499781"/>
                    </a:ext>
                  </a:extLst>
                </a:gridCol>
              </a:tblGrid>
              <a:tr h="55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步数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C </a:t>
                      </a:r>
                      <a:r>
                        <a:rPr lang="en-US" altLang="zh-CN" sz="2400" b="1" baseline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endParaRPr lang="zh-CN" altLang="en-US" sz="24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052116"/>
                  </a:ext>
                </a:extLst>
              </a:tr>
              <a:tr h="390247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00.0000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.101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895604"/>
                  </a:ext>
                </a:extLst>
              </a:tr>
              <a:tr h="575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第一步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0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300919"/>
                  </a:ext>
                </a:extLst>
              </a:tr>
              <a:tr h="390247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00.0110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1.10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818775"/>
                  </a:ext>
                </a:extLst>
              </a:tr>
              <a:tr h="638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第二步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0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522514"/>
                  </a:ext>
                </a:extLst>
              </a:tr>
              <a:tr h="390247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00.1001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11.1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375303"/>
                  </a:ext>
                </a:extLst>
              </a:tr>
              <a:tr h="6132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第三步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0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46489"/>
                  </a:ext>
                </a:extLst>
              </a:tr>
              <a:tr h="390247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00.0100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111.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4039"/>
                  </a:ext>
                </a:extLst>
              </a:tr>
              <a:tr h="6732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第四步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0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50935"/>
                  </a:ext>
                </a:extLst>
              </a:tr>
              <a:tr h="471739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00.1000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011074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42C1C55A-6B17-413B-8C2C-4F34517D6246}"/>
              </a:ext>
            </a:extLst>
          </p:cNvPr>
          <p:cNvGrpSpPr/>
          <p:nvPr/>
        </p:nvGrpSpPr>
        <p:grpSpPr>
          <a:xfrm>
            <a:off x="5412884" y="1653359"/>
            <a:ext cx="1628775" cy="781945"/>
            <a:chOff x="3080164" y="2918334"/>
            <a:chExt cx="1628775" cy="781945"/>
          </a:xfrm>
        </p:grpSpPr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5E08A89F-50F6-4A3A-9D9C-EED0EEBA45B8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00.1101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00.1101</a:t>
              </a:r>
            </a:p>
          </p:txBody>
        </p:sp>
        <p:cxnSp>
          <p:nvCxnSpPr>
            <p:cNvPr id="14" name="直接连接符 18">
              <a:extLst>
                <a:ext uri="{FF2B5EF4-FFF2-40B4-BE49-F238E27FC236}">
                  <a16:creationId xmlns:a16="http://schemas.microsoft.com/office/drawing/2014/main" id="{F08F01CC-71FB-48C7-BC31-C2D3A5F6A7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7" name="Text Box 5">
            <a:extLst>
              <a:ext uri="{FF2B5EF4-FFF2-40B4-BE49-F238E27FC236}">
                <a16:creationId xmlns:a16="http://schemas.microsoft.com/office/drawing/2014/main" id="{4007E3BC-2848-4ED3-B833-4265255AD1C4}"/>
              </a:ext>
            </a:extLst>
          </p:cNvPr>
          <p:cNvSpPr txBox="1"/>
          <p:nvPr/>
        </p:nvSpPr>
        <p:spPr>
          <a:xfrm>
            <a:off x="8211086" y="677369"/>
            <a:ext cx="1164244" cy="48186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判断位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24C6BB9-E7EF-4168-8945-C57BE7A2C7F3}"/>
              </a:ext>
            </a:extLst>
          </p:cNvPr>
          <p:cNvGrpSpPr/>
          <p:nvPr/>
        </p:nvGrpSpPr>
        <p:grpSpPr>
          <a:xfrm>
            <a:off x="5411565" y="2681880"/>
            <a:ext cx="1628775" cy="781945"/>
            <a:chOff x="3080164" y="2918334"/>
            <a:chExt cx="1628775" cy="781945"/>
          </a:xfrm>
        </p:grpSpPr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C79FE2CC-1891-4CD5-8938-5BD3F374FB0D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00.1101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01.0011</a:t>
              </a:r>
            </a:p>
          </p:txBody>
        </p:sp>
        <p:cxnSp>
          <p:nvCxnSpPr>
            <p:cNvPr id="23" name="直接连接符 18">
              <a:extLst>
                <a:ext uri="{FF2B5EF4-FFF2-40B4-BE49-F238E27FC236}">
                  <a16:creationId xmlns:a16="http://schemas.microsoft.com/office/drawing/2014/main" id="{8C33BA31-75B2-4BF4-AF41-0A17CE6828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227ECB9-9E71-4028-91AF-6143E40DD4F2}"/>
              </a:ext>
            </a:extLst>
          </p:cNvPr>
          <p:cNvGrpSpPr/>
          <p:nvPr/>
        </p:nvGrpSpPr>
        <p:grpSpPr>
          <a:xfrm>
            <a:off x="5402856" y="3708067"/>
            <a:ext cx="1628775" cy="781945"/>
            <a:chOff x="3080164" y="2918334"/>
            <a:chExt cx="1628775" cy="781945"/>
          </a:xfrm>
        </p:grpSpPr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815FBF6B-53DD-47BE-82CF-FB02893F767F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00.0000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00.1001</a:t>
              </a:r>
            </a:p>
          </p:txBody>
        </p:sp>
        <p:cxnSp>
          <p:nvCxnSpPr>
            <p:cNvPr id="26" name="直接连接符 18">
              <a:extLst>
                <a:ext uri="{FF2B5EF4-FFF2-40B4-BE49-F238E27FC236}">
                  <a16:creationId xmlns:a16="http://schemas.microsoft.com/office/drawing/2014/main" id="{1A7F3F07-084E-4996-9627-A669B1C26D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9887752-9800-4AE3-95A5-F733856299F6}"/>
              </a:ext>
            </a:extLst>
          </p:cNvPr>
          <p:cNvGrpSpPr/>
          <p:nvPr/>
        </p:nvGrpSpPr>
        <p:grpSpPr>
          <a:xfrm>
            <a:off x="5427664" y="4757005"/>
            <a:ext cx="1628775" cy="781945"/>
            <a:chOff x="3080164" y="2918334"/>
            <a:chExt cx="1628775" cy="781945"/>
          </a:xfrm>
        </p:grpSpPr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07399C77-4FF7-4F6D-9DD6-88F6E2C3EFF0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00.1101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01.0001</a:t>
              </a:r>
            </a:p>
          </p:txBody>
        </p:sp>
        <p:cxnSp>
          <p:nvCxnSpPr>
            <p:cNvPr id="29" name="直接连接符 18">
              <a:extLst>
                <a:ext uri="{FF2B5EF4-FFF2-40B4-BE49-F238E27FC236}">
                  <a16:creationId xmlns:a16="http://schemas.microsoft.com/office/drawing/2014/main" id="{37263FFF-29F8-46E1-BB25-BAFC8AE8ED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" name="Text Box 5">
            <a:extLst>
              <a:ext uri="{FF2B5EF4-FFF2-40B4-BE49-F238E27FC236}">
                <a16:creationId xmlns:a16="http://schemas.microsoft.com/office/drawing/2014/main" id="{8CA7890A-962B-4DE2-AC45-7EF271051C69}"/>
              </a:ext>
            </a:extLst>
          </p:cNvPr>
          <p:cNvSpPr txBox="1"/>
          <p:nvPr/>
        </p:nvSpPr>
        <p:spPr>
          <a:xfrm>
            <a:off x="190500" y="5835406"/>
            <a:ext cx="6650968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加符号位，则乘积为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1.10001111</a:t>
            </a:r>
          </a:p>
        </p:txBody>
      </p:sp>
    </p:spTree>
    <p:extLst>
      <p:ext uri="{BB962C8B-B14F-4D97-AF65-F5344CB8AC3E}">
        <p14:creationId xmlns:p14="http://schemas.microsoft.com/office/powerpoint/2010/main" val="67815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301ADDB0-D832-4993-B019-E040751D142E}"/>
              </a:ext>
            </a:extLst>
          </p:cNvPr>
          <p:cNvSpPr txBox="1"/>
          <p:nvPr/>
        </p:nvSpPr>
        <p:spPr>
          <a:xfrm>
            <a:off x="87158" y="728350"/>
            <a:ext cx="4954742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硬件逻辑框图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B8D5AC-6272-43AE-90EC-7FEEA652A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8329" y="985764"/>
            <a:ext cx="6118513" cy="37513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Box 5">
                <a:extLst>
                  <a:ext uri="{FF2B5EF4-FFF2-40B4-BE49-F238E27FC236}">
                    <a16:creationId xmlns:a16="http://schemas.microsoft.com/office/drawing/2014/main" id="{6426DAA4-1228-4C2E-B8FD-C034F50D6374}"/>
                  </a:ext>
                </a:extLst>
              </p:cNvPr>
              <p:cNvSpPr txBox="1"/>
              <p:nvPr/>
            </p:nvSpPr>
            <p:spPr>
              <a:xfrm>
                <a:off x="87158" y="4368914"/>
                <a:ext cx="8969684" cy="2106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(5)</a:t>
                </a: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微命令设置</a:t>
                </a:r>
                <a:endParaRPr lang="en-US" altLang="zh-CN" sz="2800" b="1" dirty="0">
                  <a:solidFill>
                    <a:srgbClr val="ED7D3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n 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 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 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+B, A+B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l-GR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Σ/2→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𝑪</m:t>
                        </m:r>
                      </m:e>
                    </m:acc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n 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 0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 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A+0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l-GR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Σ/2→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𝑪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</a:p>
            </p:txBody>
          </p:sp>
        </mc:Choice>
        <mc:Fallback>
          <p:sp>
            <p:nvSpPr>
              <p:cNvPr id="23" name="Text Box 5">
                <a:extLst>
                  <a:ext uri="{FF2B5EF4-FFF2-40B4-BE49-F238E27FC236}">
                    <a16:creationId xmlns:a16="http://schemas.microsoft.com/office/drawing/2014/main" id="{6426DAA4-1228-4C2E-B8FD-C034F50D6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8" y="4368914"/>
                <a:ext cx="8969684" cy="2106346"/>
              </a:xfrm>
              <a:prstGeom prst="rect">
                <a:avLst/>
              </a:prstGeom>
              <a:blipFill>
                <a:blip r:embed="rId6"/>
                <a:stretch>
                  <a:fillRect l="-1359" b="-5797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98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A16ED7F-0027-4C88-83CD-3C1FF2F401E8}"/>
              </a:ext>
            </a:extLst>
          </p:cNvPr>
          <p:cNvSpPr txBox="1"/>
          <p:nvPr/>
        </p:nvSpPr>
        <p:spPr>
          <a:xfrm>
            <a:off x="137141" y="741587"/>
            <a:ext cx="8867447" cy="58083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、补码一位乘法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操作数与结果均以补码表示，连同符号位一起，按相应算法运算。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）运算方法及关系式：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比较法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[XY]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[A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(Y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)[X]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注意：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为低位，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为高位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）运算规则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① 寄存器分配、初始值及符号位：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A,B,C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三个寄存器</a:t>
            </a:r>
          </a:p>
        </p:txBody>
      </p:sp>
    </p:spTree>
    <p:extLst>
      <p:ext uri="{BB962C8B-B14F-4D97-AF65-F5344CB8AC3E}">
        <p14:creationId xmlns:p14="http://schemas.microsoft.com/office/powerpoint/2010/main" val="427836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DDB779D-9D9C-480C-B88A-5070C5DBE42D}"/>
              </a:ext>
            </a:extLst>
          </p:cNvPr>
          <p:cNvSpPr txBox="1"/>
          <p:nvPr/>
        </p:nvSpPr>
        <p:spPr>
          <a:xfrm>
            <a:off x="137141" y="760637"/>
            <a:ext cx="8867447" cy="58083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存放部分积累加和，初始值为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0(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双符号位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存放被乘数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，（双符号位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、或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表示）；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存放乘数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，单符号位（符号位参与运算），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末位添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，称为附加位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基本操作：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寄存器最末两位（含增加的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）作判断位，即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(Y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为判断位。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若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A+0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，右移，实际上可直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接让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右移一位；</a:t>
            </a:r>
          </a:p>
        </p:txBody>
      </p:sp>
    </p:spTree>
    <p:extLst>
      <p:ext uri="{BB962C8B-B14F-4D97-AF65-F5344CB8AC3E}">
        <p14:creationId xmlns:p14="http://schemas.microsoft.com/office/powerpoint/2010/main" val="281376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DDB779D-9D9C-480C-B88A-5070C5DBE42D}"/>
              </a:ext>
            </a:extLst>
          </p:cNvPr>
          <p:cNvSpPr txBox="1"/>
          <p:nvPr/>
        </p:nvSpPr>
        <p:spPr>
          <a:xfrm>
            <a:off x="137141" y="722537"/>
            <a:ext cx="8867447" cy="58083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若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A+X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，右移；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若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Y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A+[-X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，右移。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在右移时，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寄存器中的第二符号位值移入尾数的最高数位（有效位的最高位），第一符号位值移入第二符号位，第一符号位本身不变，而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寄存器末位移入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操作步数：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为有效位位数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）举例：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 = -0.1101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 = -0.1011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[XY]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设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 = 00.0000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 = 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11.0011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-B = -X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00.1101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 = 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1.0101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479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726712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92FD09D-177C-4484-9AD3-F06A58234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76625"/>
              </p:ext>
            </p:extLst>
          </p:nvPr>
        </p:nvGraphicFramePr>
        <p:xfrm>
          <a:off x="209550" y="855841"/>
          <a:ext cx="8743950" cy="552764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748790">
                  <a:extLst>
                    <a:ext uri="{9D8B030D-6E8A-4147-A177-3AD203B41FA5}">
                      <a16:colId xmlns:a16="http://schemas.microsoft.com/office/drawing/2014/main" val="196596806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1597188015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1990814674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43945503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3304499781"/>
                    </a:ext>
                  </a:extLst>
                </a:gridCol>
              </a:tblGrid>
              <a:tr h="5043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步数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条件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n+1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C </a:t>
                      </a:r>
                      <a:r>
                        <a:rPr lang="en-US" altLang="zh-CN" sz="2400" b="1" baseline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2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n+1</a:t>
                      </a:r>
                      <a:endParaRPr lang="zh-CN" altLang="en-US" sz="24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052116"/>
                  </a:ext>
                </a:extLst>
              </a:tr>
              <a:tr h="399264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00.0000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1.010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en-US" altLang="zh-CN" sz="20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895604"/>
                  </a:ext>
                </a:extLst>
              </a:tr>
              <a:tr h="5274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第一步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300919"/>
                  </a:ext>
                </a:extLst>
              </a:tr>
              <a:tr h="399264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00.0110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11.01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818775"/>
                  </a:ext>
                </a:extLst>
              </a:tr>
              <a:tr h="5857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第二步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522514"/>
                  </a:ext>
                </a:extLst>
              </a:tr>
              <a:tr h="399264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11.1100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111.0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375303"/>
                  </a:ext>
                </a:extLst>
              </a:tr>
              <a:tr h="5622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第三步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46489"/>
                  </a:ext>
                </a:extLst>
              </a:tr>
              <a:tr h="399264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00.0100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1111.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4039"/>
                  </a:ext>
                </a:extLst>
              </a:tr>
              <a:tr h="6172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第四步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50935"/>
                  </a:ext>
                </a:extLst>
              </a:tr>
              <a:tr h="432478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→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11.1011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1111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 </a:t>
                      </a:r>
                      <a:r>
                        <a:rPr lang="en-US" altLang="zh-CN" sz="20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20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011074"/>
                  </a:ext>
                </a:extLst>
              </a:tr>
              <a:tr h="6878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第五步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0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1111</a:t>
                      </a:r>
                      <a:endParaRPr lang="zh-CN" altLang="en-US" sz="20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154906"/>
                  </a:ext>
                </a:extLst>
              </a:tr>
            </a:tbl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D573D509-3A46-4BAA-B520-02E6DF197E4F}"/>
              </a:ext>
            </a:extLst>
          </p:cNvPr>
          <p:cNvGrpSpPr/>
          <p:nvPr/>
        </p:nvGrpSpPr>
        <p:grpSpPr>
          <a:xfrm>
            <a:off x="5412884" y="1653359"/>
            <a:ext cx="1628775" cy="781945"/>
            <a:chOff x="3080164" y="2918334"/>
            <a:chExt cx="1628775" cy="781945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585DB8C0-BC9B-4D07-AD78-E636441BC33E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00.1101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00.1101</a:t>
              </a:r>
            </a:p>
          </p:txBody>
        </p:sp>
        <p:cxnSp>
          <p:nvCxnSpPr>
            <p:cNvPr id="16" name="直接连接符 18">
              <a:extLst>
                <a:ext uri="{FF2B5EF4-FFF2-40B4-BE49-F238E27FC236}">
                  <a16:creationId xmlns:a16="http://schemas.microsoft.com/office/drawing/2014/main" id="{E776EFFD-0CCB-419C-8851-8C24F74328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699B875-50D3-4CA4-92AC-FDA434CD0AD9}"/>
              </a:ext>
            </a:extLst>
          </p:cNvPr>
          <p:cNvGrpSpPr/>
          <p:nvPr/>
        </p:nvGrpSpPr>
        <p:grpSpPr>
          <a:xfrm>
            <a:off x="5411565" y="2681880"/>
            <a:ext cx="1628775" cy="781945"/>
            <a:chOff x="3080164" y="2918334"/>
            <a:chExt cx="1628775" cy="781945"/>
          </a:xfrm>
        </p:grpSpPr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94F4ADA7-A5C1-4C5A-8E00-2E42098F20EF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11.0011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11.1001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5CD50A1-B765-443D-BDF6-DCB484D5E5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00D652D-B17C-41B0-8C1B-45B905139483}"/>
              </a:ext>
            </a:extLst>
          </p:cNvPr>
          <p:cNvGrpSpPr/>
          <p:nvPr/>
        </p:nvGrpSpPr>
        <p:grpSpPr>
          <a:xfrm>
            <a:off x="5402856" y="3708067"/>
            <a:ext cx="1628775" cy="781945"/>
            <a:chOff x="3080164" y="2918334"/>
            <a:chExt cx="1628775" cy="781945"/>
          </a:xfrm>
        </p:grpSpPr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083FEB39-B25F-44F9-ACA9-8EF64FD3CC4B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00.1101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00.1001</a:t>
              </a:r>
            </a:p>
          </p:txBody>
        </p:sp>
        <p:cxnSp>
          <p:nvCxnSpPr>
            <p:cNvPr id="24" name="直接连接符 18">
              <a:extLst>
                <a:ext uri="{FF2B5EF4-FFF2-40B4-BE49-F238E27FC236}">
                  <a16:creationId xmlns:a16="http://schemas.microsoft.com/office/drawing/2014/main" id="{6E7828C1-7CA8-4EDF-A874-11E1FD3A13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C1AC223-5007-4081-B18A-FF587A4E716C}"/>
              </a:ext>
            </a:extLst>
          </p:cNvPr>
          <p:cNvGrpSpPr/>
          <p:nvPr/>
        </p:nvGrpSpPr>
        <p:grpSpPr>
          <a:xfrm>
            <a:off x="5427664" y="4757005"/>
            <a:ext cx="1628775" cy="781945"/>
            <a:chOff x="3080164" y="2918334"/>
            <a:chExt cx="1628775" cy="781945"/>
          </a:xfrm>
        </p:grpSpPr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3F73BDF7-D0DE-4371-8E46-3FBF604169C7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11.0011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11.0111</a:t>
              </a:r>
            </a:p>
          </p:txBody>
        </p:sp>
        <p:cxnSp>
          <p:nvCxnSpPr>
            <p:cNvPr id="27" name="直接连接符 18">
              <a:extLst>
                <a:ext uri="{FF2B5EF4-FFF2-40B4-BE49-F238E27FC236}">
                  <a16:creationId xmlns:a16="http://schemas.microsoft.com/office/drawing/2014/main" id="{26394EF4-F4E6-41CD-8837-45A5ED5565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ED8F5D7-4249-4AE5-B5EB-D45C2F193541}"/>
              </a:ext>
            </a:extLst>
          </p:cNvPr>
          <p:cNvGrpSpPr/>
          <p:nvPr/>
        </p:nvGrpSpPr>
        <p:grpSpPr>
          <a:xfrm>
            <a:off x="5402855" y="5847455"/>
            <a:ext cx="1628775" cy="781945"/>
            <a:chOff x="3080164" y="2918334"/>
            <a:chExt cx="1628775" cy="781945"/>
          </a:xfrm>
        </p:grpSpPr>
        <p:sp>
          <p:nvSpPr>
            <p:cNvPr id="33" name="Text Box 5">
              <a:extLst>
                <a:ext uri="{FF2B5EF4-FFF2-40B4-BE49-F238E27FC236}">
                  <a16:creationId xmlns:a16="http://schemas.microsoft.com/office/drawing/2014/main" id="{23AEDFC8-D22C-44F0-A3B1-1C2660C39D21}"/>
                </a:ext>
              </a:extLst>
            </p:cNvPr>
            <p:cNvSpPr txBox="1"/>
            <p:nvPr/>
          </p:nvSpPr>
          <p:spPr>
            <a:xfrm>
              <a:off x="3080164" y="2918334"/>
              <a:ext cx="1628775" cy="781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00.1101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00.1000</a:t>
              </a:r>
            </a:p>
          </p:txBody>
        </p:sp>
        <p:cxnSp>
          <p:nvCxnSpPr>
            <p:cNvPr id="34" name="直接连接符 18">
              <a:extLst>
                <a:ext uri="{FF2B5EF4-FFF2-40B4-BE49-F238E27FC236}">
                  <a16:creationId xmlns:a16="http://schemas.microsoft.com/office/drawing/2014/main" id="{4372DE42-2A09-4C00-B8BB-C341BB3AA4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332385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" name="Text Box 5">
            <a:extLst>
              <a:ext uri="{FF2B5EF4-FFF2-40B4-BE49-F238E27FC236}">
                <a16:creationId xmlns:a16="http://schemas.microsoft.com/office/drawing/2014/main" id="{CB28D174-A8D1-4919-A9E9-40317FAE496F}"/>
              </a:ext>
            </a:extLst>
          </p:cNvPr>
          <p:cNvSpPr txBox="1"/>
          <p:nvPr/>
        </p:nvSpPr>
        <p:spPr>
          <a:xfrm>
            <a:off x="1519873" y="6261506"/>
            <a:ext cx="3232552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[XY]</a:t>
            </a:r>
            <a:r>
              <a:rPr lang="zh-CN" altLang="en-US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=0.10001111</a:t>
            </a:r>
          </a:p>
        </p:txBody>
      </p:sp>
    </p:spTree>
    <p:extLst>
      <p:ext uri="{BB962C8B-B14F-4D97-AF65-F5344CB8AC3E}">
        <p14:creationId xmlns:p14="http://schemas.microsoft.com/office/powerpoint/2010/main" val="276747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二、定点乘法运算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20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 Box 5">
                <a:extLst>
                  <a:ext uri="{FF2B5EF4-FFF2-40B4-BE49-F238E27FC236}">
                    <a16:creationId xmlns:a16="http://schemas.microsoft.com/office/drawing/2014/main" id="{878AB24D-FC3B-4882-9783-B450BB7A1DD8}"/>
                  </a:ext>
                </a:extLst>
              </p:cNvPr>
              <p:cNvSpPr txBox="1"/>
              <p:nvPr/>
            </p:nvSpPr>
            <p:spPr>
              <a:xfrm>
                <a:off x="189395" y="779779"/>
                <a:ext cx="8867447" cy="47743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5</a:t>
                </a: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）微命令设置</a:t>
                </a:r>
                <a:endPara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Y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Y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n+1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00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11: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l-GR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Σ/2→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zh-CN" altLang="en-US" sz="2800" b="1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𝑪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Y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Y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n+1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01: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l-GR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Σ/2→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zh-CN" altLang="en-US" sz="2800" b="1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𝑪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Y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Y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n+1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10: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en-US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l-GR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Σ/2→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zh-CN" altLang="en-US" sz="2800" b="1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𝑪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endParaRPr lang="zh-CN" altLang="en-US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6" name="Text Box 5">
                <a:extLst>
                  <a:ext uri="{FF2B5EF4-FFF2-40B4-BE49-F238E27FC236}">
                    <a16:creationId xmlns:a16="http://schemas.microsoft.com/office/drawing/2014/main" id="{878AB24D-FC3B-4882-9783-B450BB7A1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95" y="779779"/>
                <a:ext cx="8867447" cy="4774320"/>
              </a:xfrm>
              <a:prstGeom prst="rect">
                <a:avLst/>
              </a:prstGeom>
              <a:blipFill>
                <a:blip r:embed="rId5"/>
                <a:stretch>
                  <a:fillRect l="-1375" b="-204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81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A16ED7F-0027-4C88-83CD-3C1FF2F401E8}"/>
              </a:ext>
            </a:extLst>
          </p:cNvPr>
          <p:cNvSpPr txBox="1"/>
          <p:nvPr/>
        </p:nvSpPr>
        <p:spPr>
          <a:xfrm>
            <a:off x="137141" y="805814"/>
            <a:ext cx="6911359" cy="10577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手工变为机器实现时，需要解决三个问题：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如何判断够减</a:t>
            </a:r>
            <a:endParaRPr lang="en-US" altLang="zh-CN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AutoShape 16">
            <a:extLst>
              <a:ext uri="{FF2B5EF4-FFF2-40B4-BE49-F238E27FC236}">
                <a16:creationId xmlns:a16="http://schemas.microsoft.com/office/drawing/2014/main" id="{BDC61B0C-C804-4361-ABE1-F64ABFF7DE70}"/>
              </a:ext>
            </a:extLst>
          </p:cNvPr>
          <p:cNvSpPr/>
          <p:nvPr/>
        </p:nvSpPr>
        <p:spPr bwMode="auto">
          <a:xfrm>
            <a:off x="1069975" y="2063921"/>
            <a:ext cx="123825" cy="698329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A7B67C19-4945-46EA-811A-90B2DBFD7673}"/>
              </a:ext>
            </a:extLst>
          </p:cNvPr>
          <p:cNvSpPr txBox="1"/>
          <p:nvPr/>
        </p:nvSpPr>
        <p:spPr>
          <a:xfrm>
            <a:off x="180003" y="2050411"/>
            <a:ext cx="105665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D2ED292F-1FD1-4629-8C08-60CBAE21E7C2}"/>
              </a:ext>
            </a:extLst>
          </p:cNvPr>
          <p:cNvSpPr txBox="1"/>
          <p:nvPr/>
        </p:nvSpPr>
        <p:spPr>
          <a:xfrm>
            <a:off x="1300844" y="1699215"/>
            <a:ext cx="343661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先判后减（硬件方式）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DF549BBA-9421-4E3D-A24F-CF204E561B24}"/>
              </a:ext>
            </a:extLst>
          </p:cNvPr>
          <p:cNvSpPr txBox="1"/>
          <p:nvPr/>
        </p:nvSpPr>
        <p:spPr>
          <a:xfrm>
            <a:off x="1300843" y="2338146"/>
            <a:ext cx="343661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先减后判（软件方式）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6EB09FE-0F85-46D6-B89F-C0084D2A61DA}"/>
              </a:ext>
            </a:extLst>
          </p:cNvPr>
          <p:cNvSpPr/>
          <p:nvPr/>
        </p:nvSpPr>
        <p:spPr bwMode="auto">
          <a:xfrm>
            <a:off x="4932226" y="2255491"/>
            <a:ext cx="123825" cy="905333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D0AE2E0F-5E75-4FFE-9167-4257E55573FE}"/>
              </a:ext>
            </a:extLst>
          </p:cNvPr>
          <p:cNvSpPr txBox="1"/>
          <p:nvPr/>
        </p:nvSpPr>
        <p:spPr>
          <a:xfrm>
            <a:off x="5166370" y="1881041"/>
            <a:ext cx="220108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恢复余数法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C69B486B-FCB4-4E47-8B34-980187A764C8}"/>
              </a:ext>
            </a:extLst>
          </p:cNvPr>
          <p:cNvSpPr txBox="1"/>
          <p:nvPr/>
        </p:nvSpPr>
        <p:spPr>
          <a:xfrm>
            <a:off x="5166370" y="2488043"/>
            <a:ext cx="3890472" cy="95410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不恢复余数法（加减交替除法）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A7563C11-D10C-4656-B881-045779B7A978}"/>
              </a:ext>
            </a:extLst>
          </p:cNvPr>
          <p:cNvSpPr txBox="1"/>
          <p:nvPr/>
        </p:nvSpPr>
        <p:spPr>
          <a:xfrm>
            <a:off x="137140" y="3281495"/>
            <a:ext cx="4918911" cy="167180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如何处理符号位</a:t>
            </a:r>
            <a:endParaRPr lang="en-US" altLang="zh-CN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</a:t>
            </a: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如何提高除法运算速度</a:t>
            </a:r>
            <a:endParaRPr lang="en-US" altLang="zh-CN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除法器分类：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AutoShape 16">
            <a:extLst>
              <a:ext uri="{FF2B5EF4-FFF2-40B4-BE49-F238E27FC236}">
                <a16:creationId xmlns:a16="http://schemas.microsoft.com/office/drawing/2014/main" id="{643F2EE6-3F05-4F63-B06D-6A29092410C8}"/>
              </a:ext>
            </a:extLst>
          </p:cNvPr>
          <p:cNvSpPr/>
          <p:nvPr/>
        </p:nvSpPr>
        <p:spPr bwMode="auto">
          <a:xfrm>
            <a:off x="3618884" y="4796305"/>
            <a:ext cx="123825" cy="1449734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CAB55DF5-7323-4BFC-8EBA-9AA8AB022FF0}"/>
              </a:ext>
            </a:extLst>
          </p:cNvPr>
          <p:cNvSpPr txBox="1"/>
          <p:nvPr/>
        </p:nvSpPr>
        <p:spPr>
          <a:xfrm>
            <a:off x="2676525" y="5123086"/>
            <a:ext cx="105665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41563776-E545-4208-A572-5B49EC8CC52E}"/>
              </a:ext>
            </a:extLst>
          </p:cNvPr>
          <p:cNvSpPr txBox="1"/>
          <p:nvPr/>
        </p:nvSpPr>
        <p:spPr>
          <a:xfrm>
            <a:off x="3764299" y="4459204"/>
            <a:ext cx="343661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常规除法器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38CB2624-0203-4116-83A8-50A765DC0077}"/>
              </a:ext>
            </a:extLst>
          </p:cNvPr>
          <p:cNvSpPr txBox="1"/>
          <p:nvPr/>
        </p:nvSpPr>
        <p:spPr>
          <a:xfrm>
            <a:off x="3764299" y="5121895"/>
            <a:ext cx="343661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迭代除法器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F8F8F8C7-8175-4872-8705-0348A367005A}"/>
              </a:ext>
            </a:extLst>
          </p:cNvPr>
          <p:cNvSpPr txBox="1"/>
          <p:nvPr/>
        </p:nvSpPr>
        <p:spPr>
          <a:xfrm>
            <a:off x="3764299" y="5784585"/>
            <a:ext cx="343661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阵列除法器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92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animBg="1"/>
      <p:bldP spid="13" grpId="0"/>
      <p:bldP spid="14" grpId="0"/>
      <p:bldP spid="16" grpId="0" animBg="1"/>
      <p:bldP spid="17" grpId="0"/>
      <p:bldP spid="18" grpId="0"/>
      <p:bldP spid="19" grpId="0" build="p"/>
      <p:bldP spid="23" grpId="0" animBg="1"/>
      <p:bldP spid="24" grpId="0"/>
      <p:bldP spid="25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AA16ED7F-0027-4C88-83CD-3C1FF2F401E8}"/>
                  </a:ext>
                </a:extLst>
              </p:cNvPr>
              <p:cNvSpPr txBox="1"/>
              <p:nvPr/>
            </p:nvSpPr>
            <p:spPr>
              <a:xfrm>
                <a:off x="137141" y="741587"/>
                <a:ext cx="8867447" cy="58083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srgbClr val="0563C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800" b="1" dirty="0">
                    <a:solidFill>
                      <a:srgbClr val="0563C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、原码不恢复余数除法</a:t>
                </a:r>
                <a:endParaRPr lang="en-US" altLang="zh-CN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）定义：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取两个操作数的绝对值相除，符号位单独</a:t>
                </a:r>
                <a:b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</a:b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处理。</a:t>
                </a:r>
                <a:endPara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）运算关系式：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根据余数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符号判断是否够减：</a:t>
                </a:r>
                <a:endPara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为正表示够减，上商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= 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为负表示不够减，上商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= 0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通式：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𝒊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𝒀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endPara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若第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步够减，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，则第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步应做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-Y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若第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步不够减，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=0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，则第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步应做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+Y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AA16ED7F-0027-4C88-83CD-3C1FF2F40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41" y="741587"/>
                <a:ext cx="8867447" cy="5808321"/>
              </a:xfrm>
              <a:prstGeom prst="rect">
                <a:avLst/>
              </a:prstGeom>
              <a:blipFill>
                <a:blip r:embed="rId5"/>
                <a:stretch>
                  <a:fillRect l="-1375" b="-210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86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A16ED7F-0027-4C88-83CD-3C1FF2F401E8}"/>
              </a:ext>
            </a:extLst>
          </p:cNvPr>
          <p:cNvSpPr txBox="1"/>
          <p:nvPr/>
        </p:nvSpPr>
        <p:spPr>
          <a:xfrm>
            <a:off x="76178" y="732878"/>
            <a:ext cx="9006859" cy="58083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）运算规则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寄存器分配与符号位：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A,B,C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三个寄存器；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初始值存放被除数（绝对值），以后存放各次余数，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取双符号位，从第一符号位判断是否够减，从而决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定商值；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寄存器存放除数的绝对值，取双符号位；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存放商，取单符号位；商由末位置入，在每次置入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新商时，原商同时左移一位。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800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A16ED7F-0027-4C88-83CD-3C1FF2F401E8}"/>
              </a:ext>
            </a:extLst>
          </p:cNvPr>
          <p:cNvSpPr txBox="1"/>
          <p:nvPr/>
        </p:nvSpPr>
        <p:spPr>
          <a:xfrm>
            <a:off x="76178" y="880930"/>
            <a:ext cx="9006859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基本操作与上商：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a.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第一步操作必为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-Y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b.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以后各步根据如下条件进行：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为正表示够减，即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，则第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步应为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为负表示不够减，即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，则第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步应为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c.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最后一步：若第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步（最后一步）余数为负，则需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增加一步恢复余数，这增加的一步不移位，操作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+Y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164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A16ED7F-0027-4C88-83CD-3C1FF2F401E8}"/>
              </a:ext>
            </a:extLst>
          </p:cNvPr>
          <p:cNvSpPr txBox="1"/>
          <p:nvPr/>
        </p:nvSpPr>
        <p:spPr>
          <a:xfrm>
            <a:off x="76178" y="819966"/>
            <a:ext cx="9006859" cy="4515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操作步数：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要求得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位商（不含符号位），则需做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步（次）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“左移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---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加减”循环。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同号相除为正，异号反之。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）举例：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X÷Y = 0.10110÷0.11111 = ?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设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 = |X| = 00.10110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 = |Y| = 00.11111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-B = 11.00001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 = |Q| = 0.00000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75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60A8855-A103-4D5A-B35B-AC1BAA1BE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69593"/>
              </p:ext>
            </p:extLst>
          </p:nvPr>
        </p:nvGraphicFramePr>
        <p:xfrm>
          <a:off x="209326" y="822920"/>
          <a:ext cx="8743950" cy="5791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94486">
                  <a:extLst>
                    <a:ext uri="{9D8B030D-6E8A-4147-A177-3AD203B41FA5}">
                      <a16:colId xmlns:a16="http://schemas.microsoft.com/office/drawing/2014/main" val="196596806"/>
                    </a:ext>
                  </a:extLst>
                </a:gridCol>
                <a:gridCol w="1501089">
                  <a:extLst>
                    <a:ext uri="{9D8B030D-6E8A-4147-A177-3AD203B41FA5}">
                      <a16:colId xmlns:a16="http://schemas.microsoft.com/office/drawing/2014/main" val="159718801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90814674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439455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40320057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330449978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348205575"/>
                    </a:ext>
                  </a:extLst>
                </a:gridCol>
              </a:tblGrid>
              <a:tr h="293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步数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条件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n+1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4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C  </a:t>
                      </a:r>
                      <a:r>
                        <a:rPr lang="en-US" altLang="zh-CN" sz="1400" b="1" baseline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</a:t>
                      </a:r>
                      <a:endParaRPr lang="zh-CN" altLang="en-US" sz="14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4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052116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00.10110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0</a:t>
                      </a:r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</a:t>
                      </a:r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0.00000</a:t>
                      </a:r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895604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第一步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01.01100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0</a:t>
                      </a:r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300919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+ 11.00001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818775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</a:t>
                      </a:r>
                      <a:r>
                        <a:rPr lang="en-US" altLang="zh-CN" sz="14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00.01101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0.0000</a:t>
                      </a:r>
                      <a:r>
                        <a:rPr lang="en-US" altLang="zh-CN" sz="14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522514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第二步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00.11010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375303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+ 11.00001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46489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11.11011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0.0001</a:t>
                      </a:r>
                      <a:r>
                        <a:rPr lang="en-US" altLang="zh-CN" sz="14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4039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第三步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11.10110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50935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+ 00.11111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011074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00.10101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0.0010</a:t>
                      </a:r>
                      <a:r>
                        <a:rPr lang="en-US" altLang="zh-CN" sz="14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055781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第四步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01.01010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244557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+ 11.00001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491103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00.01011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0.0101</a:t>
                      </a:r>
                      <a:r>
                        <a:rPr lang="en-US" altLang="zh-CN" sz="14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852441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第五步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00.10110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438299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+ 11.00001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014955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11.10111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5</a:t>
                      </a:r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’</a:t>
                      </a:r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0.1011</a:t>
                      </a:r>
                      <a:r>
                        <a:rPr lang="en-US" altLang="zh-CN" sz="14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5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416962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第六步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</a:t>
                      </a:r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+ 00.11111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437937"/>
                  </a:ext>
                </a:extLst>
              </a:tr>
              <a:tr h="293684"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恢复余数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00.10110</a:t>
                      </a:r>
                      <a:endParaRPr lang="zh-CN" altLang="en-US" sz="1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4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5</a:t>
                      </a:r>
                      <a:endParaRPr lang="zh-CN" altLang="en-US" sz="14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18632"/>
                  </a:ext>
                </a:extLst>
              </a:tr>
            </a:tbl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0FE078E8-1E92-46EB-880D-9EF6784D4287}"/>
              </a:ext>
            </a:extLst>
          </p:cNvPr>
          <p:cNvGrpSpPr/>
          <p:nvPr/>
        </p:nvGrpSpPr>
        <p:grpSpPr>
          <a:xfrm>
            <a:off x="4289730" y="38152"/>
            <a:ext cx="1628775" cy="646331"/>
            <a:chOff x="3080164" y="2787699"/>
            <a:chExt cx="1628775" cy="646331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5CF02A3D-635E-4262-ACC8-AB976BD35DC2}"/>
                </a:ext>
              </a:extLst>
            </p:cNvPr>
            <p:cNvSpPr txBox="1"/>
            <p:nvPr/>
          </p:nvSpPr>
          <p:spPr>
            <a:xfrm>
              <a:off x="3080164" y="2787699"/>
              <a:ext cx="1628775" cy="646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+  11.00001</a:t>
              </a:r>
            </a:p>
            <a:p>
              <a:r>
                <a:rPr lang="en-US" altLang="zh-CN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00.01101</a:t>
              </a:r>
            </a:p>
          </p:txBody>
        </p:sp>
        <p:cxnSp>
          <p:nvCxnSpPr>
            <p:cNvPr id="15" name="直接连接符 18">
              <a:extLst>
                <a:ext uri="{FF2B5EF4-FFF2-40B4-BE49-F238E27FC236}">
                  <a16:creationId xmlns:a16="http://schemas.microsoft.com/office/drawing/2014/main" id="{79F3E7E1-1D30-48BA-9DFC-16CD8689E9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6263" y="3137118"/>
              <a:ext cx="1476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8" name="直接连接符 18">
            <a:extLst>
              <a:ext uri="{FF2B5EF4-FFF2-40B4-BE49-F238E27FC236}">
                <a16:creationId xmlns:a16="http://schemas.microsoft.com/office/drawing/2014/main" id="{8987D810-898F-4109-9F42-01C1B998BF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94513" y="1698211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18">
            <a:extLst>
              <a:ext uri="{FF2B5EF4-FFF2-40B4-BE49-F238E27FC236}">
                <a16:creationId xmlns:a16="http://schemas.microsoft.com/office/drawing/2014/main" id="{A968AF7B-AF35-4519-842A-5D25732DD3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94513" y="2612611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直接连接符 18">
            <a:extLst>
              <a:ext uri="{FF2B5EF4-FFF2-40B4-BE49-F238E27FC236}">
                <a16:creationId xmlns:a16="http://schemas.microsoft.com/office/drawing/2014/main" id="{41DC6C74-E221-4950-8DA1-3F95B36FB20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94513" y="3544428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直接连接符 18">
            <a:extLst>
              <a:ext uri="{FF2B5EF4-FFF2-40B4-BE49-F238E27FC236}">
                <a16:creationId xmlns:a16="http://schemas.microsoft.com/office/drawing/2014/main" id="{4FD355AC-1435-45FB-85B3-331ED1AB89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94513" y="4450120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直接连接符 18">
            <a:extLst>
              <a:ext uri="{FF2B5EF4-FFF2-40B4-BE49-F238E27FC236}">
                <a16:creationId xmlns:a16="http://schemas.microsoft.com/office/drawing/2014/main" id="{C86F693A-EFE5-49DE-8627-4F318D447C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94513" y="6035079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18">
            <a:extLst>
              <a:ext uri="{FF2B5EF4-FFF2-40B4-BE49-F238E27FC236}">
                <a16:creationId xmlns:a16="http://schemas.microsoft.com/office/drawing/2014/main" id="{11AF5B59-BCC5-4591-85E8-563DA1292F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94513" y="5699800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 Box 5">
                <a:extLst>
                  <a:ext uri="{FF2B5EF4-FFF2-40B4-BE49-F238E27FC236}">
                    <a16:creationId xmlns:a16="http://schemas.microsoft.com/office/drawing/2014/main" id="{A178FE1F-F057-4A15-9202-5772E827C17D}"/>
                  </a:ext>
                </a:extLst>
              </p:cNvPr>
              <p:cNvSpPr txBox="1"/>
              <p:nvPr/>
            </p:nvSpPr>
            <p:spPr>
              <a:xfrm>
                <a:off x="200024" y="6682781"/>
                <a:ext cx="4716105" cy="50821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商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=0.10110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余数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=0.10110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-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𝟓</m:t>
                        </m:r>
                      </m:sup>
                    </m:sSup>
                  </m:oMath>
                </a14:m>
                <a:endParaRPr lang="en-US" altLang="zh-CN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7" name="Text Box 5">
                <a:extLst>
                  <a:ext uri="{FF2B5EF4-FFF2-40B4-BE49-F238E27FC236}">
                    <a16:creationId xmlns:a16="http://schemas.microsoft.com/office/drawing/2014/main" id="{A178FE1F-F057-4A15-9202-5772E827C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4" y="6682781"/>
                <a:ext cx="4716105" cy="508216"/>
              </a:xfrm>
              <a:prstGeom prst="rect">
                <a:avLst/>
              </a:prstGeom>
              <a:blipFill>
                <a:blip r:embed="rId5"/>
                <a:stretch>
                  <a:fillRect l="-1423" b="-16667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99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AA16ED7F-0027-4C88-83CD-3C1FF2F401E8}"/>
                  </a:ext>
                </a:extLst>
              </p:cNvPr>
              <p:cNvSpPr txBox="1"/>
              <p:nvPr/>
            </p:nvSpPr>
            <p:spPr>
              <a:xfrm>
                <a:off x="76178" y="819966"/>
                <a:ext cx="9006859" cy="51619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5</a:t>
                </a: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）微命令设置</a:t>
                </a:r>
                <a:endParaRPr lang="en-US" altLang="zh-CN" sz="2800" b="1" dirty="0">
                  <a:solidFill>
                    <a:srgbClr val="ED7D3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=0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= 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-Y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+2A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b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</a:b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</a:t>
                </a:r>
                <a:r>
                  <a:rPr lang="el-GR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Σ→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 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→C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=1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= 0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2r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+Y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+2A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b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</a:b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</a:t>
                </a:r>
                <a:r>
                  <a:rPr lang="el-GR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Σ→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 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→C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最后一步中，若余数为负，则需要恢复余数操作，即？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 Y : ??</a:t>
                </a:r>
              </a:p>
            </p:txBody>
          </p:sp>
        </mc:Choice>
        <mc:Fallback xmlns=""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AA16ED7F-0027-4C88-83CD-3C1FF2F40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8" y="819966"/>
                <a:ext cx="9006859" cy="5161991"/>
              </a:xfrm>
              <a:prstGeom prst="rect">
                <a:avLst/>
              </a:prstGeom>
              <a:blipFill>
                <a:blip r:embed="rId5"/>
                <a:stretch>
                  <a:fillRect l="-1353" r="-609" b="-2482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D0F9A29F-CC61-4ADA-BD4E-79143E4B1B01}"/>
              </a:ext>
            </a:extLst>
          </p:cNvPr>
          <p:cNvSpPr txBox="1"/>
          <p:nvPr/>
        </p:nvSpPr>
        <p:spPr>
          <a:xfrm>
            <a:off x="137141" y="741587"/>
            <a:ext cx="8867447" cy="58083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、补码不恢复余数除法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指被除数、除数，所求得的商，余数等都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用补码表示，连同符号位一起运算。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）运算规则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寄存器分配与符号位：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A,B,C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三个寄存器；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初始值存放被除数（补码表示），以后存放各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次余数，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取双符号位；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寄存器存放除数（补码表示），取双符号位；</a:t>
            </a:r>
          </a:p>
        </p:txBody>
      </p:sp>
    </p:spTree>
    <p:extLst>
      <p:ext uri="{BB962C8B-B14F-4D97-AF65-F5344CB8AC3E}">
        <p14:creationId xmlns:p14="http://schemas.microsoft.com/office/powerpoint/2010/main" val="108216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D0F9A29F-CC61-4ADA-BD4E-79143E4B1B01}"/>
              </a:ext>
            </a:extLst>
          </p:cNvPr>
          <p:cNvSpPr txBox="1"/>
          <p:nvPr/>
        </p:nvSpPr>
        <p:spPr>
          <a:xfrm>
            <a:off x="137141" y="741587"/>
            <a:ext cx="8867447" cy="58083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存放商，取单符号位，初始值为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假商符：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在第一步操作之前，先根据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符号比较确定假商符（与真商符相反），即：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、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同号为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、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异号为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基本操作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a.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第一步操作，假商符为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1(r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、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同号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假商符为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0(r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、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异号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2X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其余操作根据如下规则进行：</a:t>
            </a:r>
          </a:p>
        </p:txBody>
      </p:sp>
    </p:spTree>
    <p:extLst>
      <p:ext uri="{BB962C8B-B14F-4D97-AF65-F5344CB8AC3E}">
        <p14:creationId xmlns:p14="http://schemas.microsoft.com/office/powerpoint/2010/main" val="94045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D0F9A29F-CC61-4ADA-BD4E-79143E4B1B01}"/>
              </a:ext>
            </a:extLst>
          </p:cNvPr>
          <p:cNvSpPr txBox="1"/>
          <p:nvPr/>
        </p:nvSpPr>
        <p:spPr>
          <a:xfrm>
            <a:off x="137141" y="805087"/>
            <a:ext cx="8867447" cy="561442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en-US" altLang="zh-CN" sz="2800" b="1" baseline="-250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baseline="-250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同号：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同号（够减），上商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，下一步，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异号（不够减），上商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，下一步，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en-US" altLang="zh-CN" sz="2800" b="1" baseline="-250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，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baseline="-250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异号：  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同号（不够减），上商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，下一步，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异号（够减），上商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，下一步，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2r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+Y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最后一步要对假商校正。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（三）举例：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X÷Y = 0.1000÷(-0.1010)=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设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 = X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00.1000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 = Y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11.0110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B = 00.1010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 = Q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0.0000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500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31</a:t>
            </a:fld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FEDB91A-0E67-4AF1-B7E9-5F9B9A187CEC}"/>
              </a:ext>
            </a:extLst>
          </p:cNvPr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E1DBC7E6-D84C-4E7F-8FB8-D0118691D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999041"/>
              </p:ext>
            </p:extLst>
          </p:nvPr>
        </p:nvGraphicFramePr>
        <p:xfrm>
          <a:off x="209550" y="855842"/>
          <a:ext cx="8743952" cy="46939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49136">
                  <a:extLst>
                    <a:ext uri="{9D8B030D-6E8A-4147-A177-3AD203B41FA5}">
                      <a16:colId xmlns:a16="http://schemas.microsoft.com/office/drawing/2014/main" val="196596806"/>
                    </a:ext>
                  </a:extLst>
                </a:gridCol>
                <a:gridCol w="1500414">
                  <a:extLst>
                    <a:ext uri="{9D8B030D-6E8A-4147-A177-3AD203B41FA5}">
                      <a16:colId xmlns:a16="http://schemas.microsoft.com/office/drawing/2014/main" val="1597188015"/>
                    </a:ext>
                  </a:extLst>
                </a:gridCol>
                <a:gridCol w="997858">
                  <a:extLst>
                    <a:ext uri="{9D8B030D-6E8A-4147-A177-3AD203B41FA5}">
                      <a16:colId xmlns:a16="http://schemas.microsoft.com/office/drawing/2014/main" val="1990814674"/>
                    </a:ext>
                  </a:extLst>
                </a:gridCol>
                <a:gridCol w="1821542">
                  <a:extLst>
                    <a:ext uri="{9D8B030D-6E8A-4147-A177-3AD203B41FA5}">
                      <a16:colId xmlns:a16="http://schemas.microsoft.com/office/drawing/2014/main" val="4394550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78321590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3304499781"/>
                    </a:ext>
                  </a:extLst>
                </a:gridCol>
                <a:gridCol w="673102">
                  <a:extLst>
                    <a:ext uri="{9D8B030D-6E8A-4147-A177-3AD203B41FA5}">
                      <a16:colId xmlns:a16="http://schemas.microsoft.com/office/drawing/2014/main" val="3191389358"/>
                    </a:ext>
                  </a:extLst>
                </a:gridCol>
              </a:tblGrid>
              <a:tr h="3318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步数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   </a:t>
                      </a:r>
                      <a:r>
                        <a:rPr lang="en-US" altLang="zh-CN" sz="1600" b="1" baseline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6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n-1</a:t>
                      </a:r>
                      <a:endParaRPr lang="zh-CN" altLang="en-US" sz="16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-25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052116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0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Y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异号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求商符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00.1000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</a:t>
                      </a:r>
                      <a:r>
                        <a:rPr lang="en-US" altLang="zh-CN" sz="16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16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895604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第一步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600" b="1" baseline="-25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n-1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01.0000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300919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+ 11.0110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818775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Y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异号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00.0110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</a:t>
                      </a:r>
                      <a:r>
                        <a:rPr lang="en-US" altLang="zh-CN" sz="16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16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522514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第二步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n-1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00.1100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375303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  11.0110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46489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Y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异号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00.0010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</a:t>
                      </a:r>
                      <a:r>
                        <a:rPr lang="en-US" altLang="zh-CN" sz="16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endParaRPr lang="zh-CN" altLang="en-US" sz="16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4039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第三步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n-1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00.0100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50935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+ 11.0110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011074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Y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异号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11.1010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0.00</a:t>
                      </a:r>
                      <a:r>
                        <a:rPr lang="en-US" altLang="zh-CN" sz="1600" b="1" u="sng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1600" b="1" u="sng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800910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第四步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n-1</a:t>
                      </a:r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=0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11.0100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02086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+ 00.1010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616645"/>
                  </a:ext>
                </a:extLst>
              </a:tr>
              <a:tr h="331843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11.1110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none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none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785010"/>
                  </a:ext>
                </a:extLst>
              </a:tr>
            </a:tbl>
          </a:graphicData>
        </a:graphic>
      </p:graphicFrame>
      <p:cxnSp>
        <p:nvCxnSpPr>
          <p:cNvPr id="50" name="直接连接符 18">
            <a:extLst>
              <a:ext uri="{FF2B5EF4-FFF2-40B4-BE49-F238E27FC236}">
                <a16:creationId xmlns:a16="http://schemas.microsoft.com/office/drawing/2014/main" id="{BEE52F7E-8F3A-4F46-AD35-8904147C5B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73115" y="1861173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直接连接符 18">
            <a:extLst>
              <a:ext uri="{FF2B5EF4-FFF2-40B4-BE49-F238E27FC236}">
                <a16:creationId xmlns:a16="http://schemas.microsoft.com/office/drawing/2014/main" id="{87186906-0725-47EF-85BA-6D2D5F11AC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73115" y="2866108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连接符 18">
            <a:extLst>
              <a:ext uri="{FF2B5EF4-FFF2-40B4-BE49-F238E27FC236}">
                <a16:creationId xmlns:a16="http://schemas.microsoft.com/office/drawing/2014/main" id="{35BC8BBA-BFFC-4F4A-B1BC-7C400F4C9F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73115" y="3880097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直接连接符 18">
            <a:extLst>
              <a:ext uri="{FF2B5EF4-FFF2-40B4-BE49-F238E27FC236}">
                <a16:creationId xmlns:a16="http://schemas.microsoft.com/office/drawing/2014/main" id="{D228D304-5B6B-46F7-AF5C-A687001C91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73115" y="4866924"/>
            <a:ext cx="1476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 Box 5">
            <a:extLst>
              <a:ext uri="{FF2B5EF4-FFF2-40B4-BE49-F238E27FC236}">
                <a16:creationId xmlns:a16="http://schemas.microsoft.com/office/drawing/2014/main" id="{06BF34C9-A089-490F-9EAA-61879DD22719}"/>
              </a:ext>
            </a:extLst>
          </p:cNvPr>
          <p:cNvSpPr txBox="1"/>
          <p:nvPr/>
        </p:nvSpPr>
        <p:spPr>
          <a:xfrm>
            <a:off x="209550" y="5496357"/>
            <a:ext cx="8743952" cy="96988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假商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0.001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，真商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0.001 + 1.0001 = 1.0011</a:t>
            </a:r>
            <a:r>
              <a:rPr lang="zh-CN" altLang="en-US" sz="20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0.1101</a:t>
            </a:r>
            <a:r>
              <a:rPr lang="zh-CN" altLang="en-US" sz="20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真值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余数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=2</a:t>
            </a:r>
            <a:r>
              <a:rPr lang="en-US" altLang="zh-CN" sz="20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-4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0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= 1.11111110</a:t>
            </a:r>
            <a:r>
              <a:rPr lang="zh-CN" altLang="en-US" sz="20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-2</a:t>
            </a:r>
            <a:r>
              <a:rPr lang="en-US" altLang="zh-CN" sz="20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-4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×0.0010</a:t>
            </a:r>
            <a:r>
              <a:rPr lang="zh-CN" altLang="en-US" sz="20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真值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98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三、定点除法运算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32</a:t>
            </a:fld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FEDB91A-0E67-4AF1-B7E9-5F9B9A187CEC}"/>
              </a:ext>
            </a:extLst>
          </p:cNvPr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">
                <a:extLst>
                  <a:ext uri="{FF2B5EF4-FFF2-40B4-BE49-F238E27FC236}">
                    <a16:creationId xmlns:a16="http://schemas.microsoft.com/office/drawing/2014/main" id="{77DE5F71-9EAF-4094-A5F9-70C3AA886192}"/>
                  </a:ext>
                </a:extLst>
              </p:cNvPr>
              <p:cNvSpPr txBox="1"/>
              <p:nvPr/>
            </p:nvSpPr>
            <p:spPr>
              <a:xfrm>
                <a:off x="137141" y="827312"/>
                <a:ext cx="8867447" cy="32387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4</a:t>
                </a: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）微命令设置</a:t>
                </a:r>
                <a:endParaRPr lang="en-US" altLang="zh-CN" sz="2800" b="1" dirty="0">
                  <a:solidFill>
                    <a:srgbClr val="ED7D3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r</a:t>
                </a:r>
                <a:r>
                  <a:rPr lang="en-US" altLang="zh-CN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Y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同号，即</a:t>
                </a: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2r</a:t>
                </a:r>
                <a:r>
                  <a:rPr lang="en-US" altLang="zh-CN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-Y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endParaRPr lang="en-US" altLang="zh-CN" sz="2800" b="1" dirty="0">
                  <a:solidFill>
                    <a:schemeClr val="accent6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+2A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Σ→A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→C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r</a:t>
                </a:r>
                <a:r>
                  <a:rPr lang="en-US" altLang="zh-CN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Y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异号，即</a:t>
                </a: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2r</a:t>
                </a:r>
                <a:r>
                  <a:rPr lang="en-US" altLang="zh-CN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en-US" altLang="zh-CN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+Y</a:t>
                </a:r>
                <a:r>
                  <a:rPr lang="zh-CN" altLang="en-US" sz="2800" b="1" baseline="-25000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补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endParaRPr lang="en-US" altLang="zh-CN" sz="2800" b="1" dirty="0">
                  <a:solidFill>
                    <a:schemeClr val="accent6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+2A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+B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800" b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en-US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</m:e>
                    </m:acc>
                    <m:r>
                      <a:rPr lang="en-US" altLang="zh-CN" sz="2800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+1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Σ→A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→C</a:t>
                </a:r>
                <a:r>
                  <a:rPr lang="en-US" altLang="zh-CN" sz="2800" b="1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n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CP</a:t>
                </a:r>
                <a:r>
                  <a:rPr lang="en-US" altLang="zh-CN" sz="2800" b="1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endParaRPr lang="zh-CN" altLang="en-US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Text Box 5">
                <a:extLst>
                  <a:ext uri="{FF2B5EF4-FFF2-40B4-BE49-F238E27FC236}">
                    <a16:creationId xmlns:a16="http://schemas.microsoft.com/office/drawing/2014/main" id="{77DE5F71-9EAF-4094-A5F9-70C3AA88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41" y="827312"/>
                <a:ext cx="8867447" cy="3238772"/>
              </a:xfrm>
              <a:prstGeom prst="rect">
                <a:avLst/>
              </a:prstGeom>
              <a:blipFill>
                <a:blip r:embed="rId5"/>
                <a:stretch>
                  <a:fillRect l="-1375" b="-395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613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88D359CD-C887-4460-A350-FDDE9A47B3D8}" type="datetime1">
              <a:rPr lang="zh-CN" altLang="en-US" sz="1400" smtClean="0">
                <a:solidFill>
                  <a:schemeClr val="tx1"/>
                </a:solidFill>
              </a:rPr>
              <a:t>2026/8/23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介大气毕业答辩竞赛演讲PPT模板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11689</TotalTime>
  <Words>3607</Words>
  <Application>Microsoft Office PowerPoint</Application>
  <PresentationFormat>全屏显示(4:3)</PresentationFormat>
  <Paragraphs>564</Paragraphs>
  <Slides>33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等线</vt:lpstr>
      <vt:lpstr>华文隶书</vt:lpstr>
      <vt:lpstr>华文行楷</vt:lpstr>
      <vt:lpstr>楷体</vt:lpstr>
      <vt:lpstr>隶书</vt:lpstr>
      <vt:lpstr>微软雅黑</vt:lpstr>
      <vt:lpstr>Arial</vt:lpstr>
      <vt:lpstr>Calibri</vt:lpstr>
      <vt:lpstr>Calibri Light</vt:lpstr>
      <vt:lpstr>Cambria Math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正华 吴</cp:lastModifiedBy>
  <cp:revision>1157</cp:revision>
  <dcterms:created xsi:type="dcterms:W3CDTF">2018-07-22T02:36:00Z</dcterms:created>
  <dcterms:modified xsi:type="dcterms:W3CDTF">2026-08-24T03:11:46Z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