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842" r:id="rId2"/>
    <p:sldId id="843" r:id="rId3"/>
    <p:sldId id="844" r:id="rId4"/>
    <p:sldId id="732" r:id="rId5"/>
    <p:sldId id="838" r:id="rId6"/>
    <p:sldId id="845" r:id="rId7"/>
    <p:sldId id="846" r:id="rId8"/>
    <p:sldId id="847" r:id="rId9"/>
    <p:sldId id="848" r:id="rId10"/>
    <p:sldId id="850" r:id="rId11"/>
    <p:sldId id="851" r:id="rId12"/>
    <p:sldId id="852" r:id="rId13"/>
    <p:sldId id="853" r:id="rId14"/>
    <p:sldId id="858" r:id="rId15"/>
    <p:sldId id="855" r:id="rId16"/>
    <p:sldId id="859" r:id="rId17"/>
    <p:sldId id="857" r:id="rId18"/>
    <p:sldId id="861" r:id="rId19"/>
    <p:sldId id="839" r:id="rId20"/>
    <p:sldId id="860" r:id="rId21"/>
    <p:sldId id="730" r:id="rId22"/>
  </p:sldIdLst>
  <p:sldSz cx="9144000" cy="6858000" type="screen4x3"/>
  <p:notesSz cx="6858000" cy="9144000"/>
  <p:custDataLst>
    <p:tags r:id="rId2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7">
          <p15:clr>
            <a:srgbClr val="A4A3A4"/>
          </p15:clr>
        </p15:guide>
        <p15:guide id="2" pos="190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Offic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63C1"/>
    <a:srgbClr val="FF0000"/>
    <a:srgbClr val="ED7D31"/>
    <a:srgbClr val="2F5597"/>
    <a:srgbClr val="4472C4"/>
    <a:srgbClr val="FF9900"/>
    <a:srgbClr val="F0DADA"/>
    <a:srgbClr val="668CCF"/>
    <a:srgbClr val="0045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39" autoAdjust="0"/>
    <p:restoredTop sz="96046" autoAdjust="0"/>
  </p:normalViewPr>
  <p:slideViewPr>
    <p:cSldViewPr snapToGrid="0" showGuides="1">
      <p:cViewPr>
        <p:scale>
          <a:sx n="95" d="100"/>
          <a:sy n="95" d="100"/>
        </p:scale>
        <p:origin x="1248" y="-235"/>
      </p:cViewPr>
      <p:guideLst>
        <p:guide orient="horz" pos="2107"/>
        <p:guide pos="19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5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A1862-72E1-426C-855A-D48747319FD8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0BC9D-12F8-4D67-BEC5-611AE33D2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95E01-A3AA-414B-AC91-6247B051C58A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8026A4-9EE3-4D0D-8D3A-764529D129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l" eaLnBrk="1" hangingPunct="1">
              <a:lnSpc>
                <a:spcPct val="115000"/>
              </a:lnSpc>
              <a:spcBef>
                <a:spcPct val="10000"/>
              </a:spcBef>
              <a:buFont typeface="Wingdings" panose="05000000000000000000" pitchFamily="2" charset="2"/>
              <a:buChar char="n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756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804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849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733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1465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6135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9576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5862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6290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6120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6004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400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1297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6120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F612E-3E0E-4677-BD75-C3035F09CF8B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82452-4414-4A67-B06C-4837C797611A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8EB7-07DD-4FAB-99F8-EDA876343D2C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ACAB-1C17-4C81-8E84-4BC1B099DDB3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B67D-DE4A-485B-9DC6-907AA302B6B6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86E9-2264-4CE7-89DC-C1C773EB3590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D547-54F4-4352-808B-20CE77C0E88A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DEE5-FD89-44CA-A729-5164AD3A421C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B0151-3BD9-4887-91D7-BC694D94DD37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788F-638F-420D-B92E-DC41F3CBC6C6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EFAD-2E9E-4200-8350-F282439D6341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D277E-88D0-47EF-B828-8C9E90EDC2AB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11990" y="8050"/>
            <a:ext cx="9181652" cy="6901031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298198" y="3054281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293131" y="3196018"/>
            <a:ext cx="45791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3600" b="1" dirty="0">
                <a:solidFill>
                  <a:srgbClr val="0045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计算机组成原理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2293131" y="3977456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293131" y="4121256"/>
            <a:ext cx="4579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b="1" dirty="0">
                <a:solidFill>
                  <a:srgbClr val="004578"/>
                </a:solidFill>
              </a:rPr>
              <a:t>第三章 中央处理器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238316" y="6407901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100" y="1398382"/>
            <a:ext cx="1591799" cy="1584000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954" y="6236297"/>
            <a:ext cx="621635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6"/>
          <p:cNvSpPr txBox="1">
            <a:spLocks noChangeArrowheads="1"/>
          </p:cNvSpPr>
          <p:nvPr/>
        </p:nvSpPr>
        <p:spPr bwMode="auto">
          <a:xfrm>
            <a:off x="6715450" y="6274229"/>
            <a:ext cx="3092999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  <a:endParaRPr lang="en-US" altLang="zh-CN" sz="1600" b="1" dirty="0">
              <a:solidFill>
                <a:srgbClr val="0070C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 b="1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School of Information and Software Engineering</a:t>
            </a:r>
            <a:endParaRPr lang="zh-CN" altLang="en-US" sz="1000" b="1" dirty="0">
              <a:solidFill>
                <a:srgbClr val="0070C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235731" y="6474676"/>
            <a:ext cx="2057400" cy="365125"/>
          </a:xfrm>
        </p:spPr>
        <p:txBody>
          <a:bodyPr/>
          <a:lstStyle/>
          <a:p>
            <a:fld id="{B565E591-3381-4D38-9DF8-0AEAC6FC1F45}" type="datetime1">
              <a:rPr lang="zh-CN" altLang="en-US" sz="1400" smtClean="0">
                <a:solidFill>
                  <a:schemeClr val="tx1"/>
                </a:solidFill>
              </a:rPr>
              <a:t>2026/8/23</a:t>
            </a:fld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37" t="623" r="9645" b="-623"/>
          <a:stretch>
            <a:fillRect/>
          </a:stretch>
        </p:blipFill>
        <p:spPr>
          <a:xfrm>
            <a:off x="2939643" y="0"/>
            <a:ext cx="6220936" cy="6904284"/>
          </a:xfrm>
          <a:prstGeom prst="rect">
            <a:avLst/>
          </a:prstGeom>
          <a:solidFill>
            <a:schemeClr val="bg1">
              <a:alpha val="43000"/>
            </a:schemeClr>
          </a:solidFill>
        </p:spPr>
      </p:pic>
      <p:sp>
        <p:nvSpPr>
          <p:cNvPr id="7" name="矩形 6"/>
          <p:cNvSpPr/>
          <p:nvPr/>
        </p:nvSpPr>
        <p:spPr>
          <a:xfrm>
            <a:off x="2939643" y="0"/>
            <a:ext cx="6220936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2939644" cy="6858000"/>
          </a:xfrm>
          <a:prstGeom prst="rect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2574" y="2340080"/>
            <a:ext cx="1979291" cy="217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lnSpc>
                <a:spcPct val="150000"/>
              </a:lnSpc>
              <a:defRPr/>
            </a:pPr>
            <a:r>
              <a:rPr lang="zh-CN" altLang="en-US" sz="4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3" name="椭圆 12"/>
          <p:cNvSpPr/>
          <p:nvPr/>
        </p:nvSpPr>
        <p:spPr>
          <a:xfrm>
            <a:off x="3704772" y="1769449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704772" y="2621617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3704772" y="3473785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146638" y="3374660"/>
            <a:ext cx="3389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运算方法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146638" y="1666510"/>
            <a:ext cx="3415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模型机的总体设计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146638" y="2520585"/>
            <a:ext cx="3797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算术逻辑运算部件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  <p:sp>
        <p:nvSpPr>
          <p:cNvPr id="22" name="椭圆 21">
            <a:extLst>
              <a:ext uri="{FF2B5EF4-FFF2-40B4-BE49-F238E27FC236}">
                <a16:creationId xmlns:a16="http://schemas.microsoft.com/office/drawing/2014/main" id="{21ADD485-E0E0-4836-8EE9-6806D8013258}"/>
              </a:ext>
            </a:extLst>
          </p:cNvPr>
          <p:cNvSpPr/>
          <p:nvPr/>
        </p:nvSpPr>
        <p:spPr>
          <a:xfrm>
            <a:off x="3704772" y="4325953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6F6B514-A15F-45D7-9EE1-6358302BD334}"/>
              </a:ext>
            </a:extLst>
          </p:cNvPr>
          <p:cNvSpPr txBox="1"/>
          <p:nvPr/>
        </p:nvSpPr>
        <p:spPr>
          <a:xfrm>
            <a:off x="4146638" y="4228735"/>
            <a:ext cx="4481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模型机的组合逻辑控制器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A1FC0AE8-6523-40FD-83C7-293D68EBF575}"/>
              </a:ext>
            </a:extLst>
          </p:cNvPr>
          <p:cNvSpPr/>
          <p:nvPr/>
        </p:nvSpPr>
        <p:spPr>
          <a:xfrm>
            <a:off x="3704772" y="5178120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2A7C183-A572-42D5-B5A3-898F42879B09}"/>
              </a:ext>
            </a:extLst>
          </p:cNvPr>
          <p:cNvSpPr txBox="1"/>
          <p:nvPr/>
        </p:nvSpPr>
        <p:spPr>
          <a:xfrm>
            <a:off x="4110444" y="5082808"/>
            <a:ext cx="4481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模型机的微程序控制器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-21515" y="-1475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iSľídé"/>
          <p:cNvSpPr/>
          <p:nvPr/>
        </p:nvSpPr>
        <p:spPr>
          <a:xfrm>
            <a:off x="502444" y="1275597"/>
            <a:ext cx="8137922" cy="114259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" name="iṧḷïḋê"/>
          <p:cNvGrpSpPr/>
          <p:nvPr/>
        </p:nvGrpSpPr>
        <p:grpSpPr>
          <a:xfrm>
            <a:off x="502444" y="1639807"/>
            <a:ext cx="6032468" cy="556314"/>
            <a:chOff x="669925" y="1609562"/>
            <a:chExt cx="3530781" cy="741752"/>
          </a:xfrm>
        </p:grpSpPr>
        <p:sp>
          <p:nvSpPr>
            <p:cNvPr id="12" name="ïšḻïdê"/>
            <p:cNvSpPr txBox="1"/>
            <p:nvPr/>
          </p:nvSpPr>
          <p:spPr bwMode="auto">
            <a:xfrm>
              <a:off x="669925" y="1609562"/>
              <a:ext cx="3527606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3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.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2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 </a:t>
              </a:r>
              <a:r>
                <a:rPr lang="zh-CN" altLang="en-US" sz="2800" dirty="0">
                  <a:solidFill>
                    <a:prstClr val="white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算术逻辑运算部件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673100" y="2351314"/>
              <a:ext cx="3527606" cy="0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îsḻíḋé"/>
          <p:cNvSpPr txBox="1"/>
          <p:nvPr/>
        </p:nvSpPr>
        <p:spPr>
          <a:xfrm>
            <a:off x="1872698" y="2923279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01.</a:t>
            </a:r>
          </a:p>
        </p:txBody>
      </p:sp>
      <p:sp>
        <p:nvSpPr>
          <p:cNvPr id="15" name="ísḻiḑe"/>
          <p:cNvSpPr/>
          <p:nvPr/>
        </p:nvSpPr>
        <p:spPr>
          <a:xfrm>
            <a:off x="2526228" y="2934821"/>
            <a:ext cx="4941372" cy="288513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加法单元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6" name="ïṩľîdé"/>
          <p:cNvSpPr txBox="1"/>
          <p:nvPr/>
        </p:nvSpPr>
        <p:spPr>
          <a:xfrm>
            <a:off x="1872697" y="3608422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02.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îṣ1idè"/>
          <p:cNvSpPr/>
          <p:nvPr/>
        </p:nvSpPr>
        <p:spPr>
          <a:xfrm>
            <a:off x="2526228" y="3619963"/>
            <a:ext cx="5220772" cy="296571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ct val="10000"/>
              </a:spcBef>
            </a:pPr>
            <a:r>
              <a:rPr lang="en-US" altLang="zh-CN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串行加法器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8" name="işľíďe"/>
          <p:cNvSpPr txBox="1"/>
          <p:nvPr/>
        </p:nvSpPr>
        <p:spPr>
          <a:xfrm>
            <a:off x="1872697" y="4319688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03.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ïşľïdé"/>
          <p:cNvSpPr/>
          <p:nvPr/>
        </p:nvSpPr>
        <p:spPr>
          <a:xfrm>
            <a:off x="2526228" y="4331229"/>
            <a:ext cx="4158035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ct val="10000"/>
              </a:spcBef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并行加法器</a:t>
            </a:r>
          </a:p>
        </p:txBody>
      </p:sp>
      <p:sp>
        <p:nvSpPr>
          <p:cNvPr id="20" name="ís1íde"/>
          <p:cNvSpPr txBox="1"/>
          <p:nvPr/>
        </p:nvSpPr>
        <p:spPr>
          <a:xfrm>
            <a:off x="1872697" y="5077222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04.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íṡḻîḓé"/>
          <p:cNvSpPr/>
          <p:nvPr/>
        </p:nvSpPr>
        <p:spPr>
          <a:xfrm>
            <a:off x="2526228" y="5078199"/>
            <a:ext cx="4557302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lvl="0">
              <a:defRPr/>
            </a:pPr>
            <a:r>
              <a:rPr lang="en-US" altLang="zh-CN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ALU</a:t>
            </a: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单元与多位</a:t>
            </a:r>
            <a:r>
              <a:rPr lang="en-US" altLang="zh-CN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部件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2" name="îṩļíḑé"/>
          <p:cNvSpPr/>
          <p:nvPr/>
        </p:nvSpPr>
        <p:spPr>
          <a:xfrm>
            <a:off x="1524070" y="2951834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ïśľîḋê"/>
          <p:cNvSpPr/>
          <p:nvPr/>
        </p:nvSpPr>
        <p:spPr>
          <a:xfrm>
            <a:off x="1524070" y="3636976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íṧļîḓê"/>
          <p:cNvSpPr/>
          <p:nvPr/>
        </p:nvSpPr>
        <p:spPr>
          <a:xfrm>
            <a:off x="1524070" y="4348242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íšḻíḋe"/>
          <p:cNvSpPr/>
          <p:nvPr/>
        </p:nvSpPr>
        <p:spPr>
          <a:xfrm>
            <a:off x="1524070" y="5105776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1959428" y="3429481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959428" y="4126171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959428" y="4848984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3906" y="-225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259978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4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引言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92B76C7-5F57-424F-A137-8F843BE3951F}"/>
              </a:ext>
            </a:extLst>
          </p:cNvPr>
          <p:cNvSpPr txBox="1"/>
          <p:nvPr/>
        </p:nvSpPr>
        <p:spPr>
          <a:xfrm>
            <a:off x="2757603" y="794075"/>
            <a:ext cx="2554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位全加器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DB3570-A4B4-4CAA-93BC-88E54D7F7E48}"/>
              </a:ext>
            </a:extLst>
          </p:cNvPr>
          <p:cNvSpPr txBox="1"/>
          <p:nvPr/>
        </p:nvSpPr>
        <p:spPr>
          <a:xfrm>
            <a:off x="2757603" y="2089110"/>
            <a:ext cx="2554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位并行加法器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8E9266-42EE-436C-AB4D-91BEB6DE709C}"/>
              </a:ext>
            </a:extLst>
          </p:cNvPr>
          <p:cNvSpPr txBox="1"/>
          <p:nvPr/>
        </p:nvSpPr>
        <p:spPr>
          <a:xfrm>
            <a:off x="2757603" y="3384145"/>
            <a:ext cx="2554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单元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571C9D-F3E1-4D67-AB75-7B76997356FE}"/>
              </a:ext>
            </a:extLst>
          </p:cNvPr>
          <p:cNvSpPr txBox="1"/>
          <p:nvPr/>
        </p:nvSpPr>
        <p:spPr>
          <a:xfrm>
            <a:off x="2757603" y="4679180"/>
            <a:ext cx="2554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乘、除法器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7CCB1C0-AE96-40D6-B52B-823C6688B92A}"/>
              </a:ext>
            </a:extLst>
          </p:cNvPr>
          <p:cNvSpPr txBox="1"/>
          <p:nvPr/>
        </p:nvSpPr>
        <p:spPr>
          <a:xfrm>
            <a:off x="2757603" y="5974214"/>
            <a:ext cx="2554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运算器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C977690-5C3F-4BC6-9C31-2A18E1BD98FB}"/>
              </a:ext>
            </a:extLst>
          </p:cNvPr>
          <p:cNvGrpSpPr/>
          <p:nvPr/>
        </p:nvGrpSpPr>
        <p:grpSpPr>
          <a:xfrm>
            <a:off x="4034918" y="1211032"/>
            <a:ext cx="3051024" cy="954107"/>
            <a:chOff x="4034918" y="1211032"/>
            <a:chExt cx="3051024" cy="954107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D523D1BE-5343-4A53-BB19-9896D49AB81C}"/>
                </a:ext>
              </a:extLst>
            </p:cNvPr>
            <p:cNvCxnSpPr>
              <a:cxnSpLocks/>
              <a:stCxn id="12" idx="2"/>
              <a:endCxn id="13" idx="0"/>
            </p:cNvCxnSpPr>
            <p:nvPr/>
          </p:nvCxnSpPr>
          <p:spPr>
            <a:xfrm>
              <a:off x="4034918" y="1317295"/>
              <a:ext cx="0" cy="77181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824AF56-C9AF-4B0E-B2E2-187F18E4B504}"/>
                </a:ext>
              </a:extLst>
            </p:cNvPr>
            <p:cNvSpPr txBox="1"/>
            <p:nvPr/>
          </p:nvSpPr>
          <p:spPr>
            <a:xfrm>
              <a:off x="4531312" y="1211032"/>
              <a:ext cx="255463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800" b="1" dirty="0">
                  <a:solidFill>
                    <a:srgbClr val="0563C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进位链</a:t>
              </a:r>
              <a:endPara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lvl="0">
                <a:defRPr/>
              </a:pPr>
              <a:r>
                <a:rPr lang="en-US" altLang="zh-CN" sz="2800" b="1" dirty="0">
                  <a:solidFill>
                    <a:srgbClr val="0563C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n</a:t>
              </a:r>
              <a:r>
                <a:rPr lang="zh-CN" altLang="en-US" sz="2800" b="1" dirty="0">
                  <a:solidFill>
                    <a:srgbClr val="0563C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个</a:t>
              </a:r>
              <a:r>
                <a:rPr lang="en-US" altLang="zh-CN" sz="2800" b="1" dirty="0">
                  <a:solidFill>
                    <a:srgbClr val="0563C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1</a:t>
              </a:r>
              <a:r>
                <a:rPr lang="zh-CN" altLang="en-US" sz="2800" b="1" dirty="0">
                  <a:solidFill>
                    <a:srgbClr val="0563C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位全加器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E07F8E17-05AC-4441-8714-4BFF4AF1B5BB}"/>
              </a:ext>
            </a:extLst>
          </p:cNvPr>
          <p:cNvGrpSpPr/>
          <p:nvPr/>
        </p:nvGrpSpPr>
        <p:grpSpPr>
          <a:xfrm>
            <a:off x="4034918" y="2606843"/>
            <a:ext cx="3051024" cy="771815"/>
            <a:chOff x="4034918" y="2606843"/>
            <a:chExt cx="3051024" cy="771815"/>
          </a:xfrm>
        </p:grpSpPr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115CBB9C-B99D-4CDC-A4E2-0F483D1C264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918" y="2606843"/>
              <a:ext cx="0" cy="77181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1551B4F-5BC1-4F5B-8DEE-7E20C45A9AEA}"/>
                </a:ext>
              </a:extLst>
            </p:cNvPr>
            <p:cNvSpPr txBox="1"/>
            <p:nvPr/>
          </p:nvSpPr>
          <p:spPr>
            <a:xfrm>
              <a:off x="4531312" y="2727202"/>
              <a:ext cx="255463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800" b="1" dirty="0">
                  <a:solidFill>
                    <a:srgbClr val="0563C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选择逻辑控制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DD3D86C-F8B0-4632-95FA-70A8DA746DBB}"/>
              </a:ext>
            </a:extLst>
          </p:cNvPr>
          <p:cNvGrpSpPr/>
          <p:nvPr/>
        </p:nvGrpSpPr>
        <p:grpSpPr>
          <a:xfrm>
            <a:off x="4034918" y="3915043"/>
            <a:ext cx="3051024" cy="771815"/>
            <a:chOff x="4034918" y="3915043"/>
            <a:chExt cx="3051024" cy="771815"/>
          </a:xfrm>
        </p:grpSpPr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C517B749-40BA-4376-B4B9-7B8F047651A6}"/>
                </a:ext>
              </a:extLst>
            </p:cNvPr>
            <p:cNvCxnSpPr>
              <a:cxnSpLocks/>
            </p:cNvCxnSpPr>
            <p:nvPr/>
          </p:nvCxnSpPr>
          <p:spPr>
            <a:xfrm>
              <a:off x="4034918" y="3915043"/>
              <a:ext cx="0" cy="77181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FEAF9D2-3BAF-44D1-8D90-ACE610BF0A43}"/>
                </a:ext>
              </a:extLst>
            </p:cNvPr>
            <p:cNvSpPr txBox="1"/>
            <p:nvPr/>
          </p:nvSpPr>
          <p:spPr>
            <a:xfrm>
              <a:off x="4531312" y="3964885"/>
              <a:ext cx="255463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800" b="1" dirty="0">
                  <a:solidFill>
                    <a:srgbClr val="0563C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30306D7-8C40-45A0-AEFC-88A96DC67104}"/>
              </a:ext>
            </a:extLst>
          </p:cNvPr>
          <p:cNvGrpSpPr/>
          <p:nvPr/>
        </p:nvGrpSpPr>
        <p:grpSpPr>
          <a:xfrm>
            <a:off x="4034918" y="5126369"/>
            <a:ext cx="3051024" cy="954107"/>
            <a:chOff x="4034918" y="5126369"/>
            <a:chExt cx="3051024" cy="954107"/>
          </a:xfrm>
        </p:grpSpPr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DA394A60-2BA2-4D1C-8D5E-C60F5E8EC27D}"/>
                </a:ext>
              </a:extLst>
            </p:cNvPr>
            <p:cNvCxnSpPr>
              <a:cxnSpLocks/>
            </p:cNvCxnSpPr>
            <p:nvPr/>
          </p:nvCxnSpPr>
          <p:spPr>
            <a:xfrm>
              <a:off x="4034918" y="5232632"/>
              <a:ext cx="0" cy="77181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2AD130B1-F16B-4508-8A53-AB1D1AE0E135}"/>
                </a:ext>
              </a:extLst>
            </p:cNvPr>
            <p:cNvSpPr txBox="1"/>
            <p:nvPr/>
          </p:nvSpPr>
          <p:spPr>
            <a:xfrm>
              <a:off x="4531312" y="5126369"/>
              <a:ext cx="255463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800" b="1" dirty="0">
                  <a:solidFill>
                    <a:srgbClr val="0563C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选择器</a:t>
              </a:r>
              <a:endPara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lvl="0">
                <a:defRPr/>
              </a:pPr>
              <a:r>
                <a:rPr lang="zh-CN" altLang="en-US" sz="2800" b="1" dirty="0">
                  <a:solidFill>
                    <a:srgbClr val="0563C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寄存器组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一、加法单元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59AC15-7791-42A4-8EEE-348DB0841955}"/>
              </a:ext>
            </a:extLst>
          </p:cNvPr>
          <p:cNvSpPr txBox="1"/>
          <p:nvPr/>
        </p:nvSpPr>
        <p:spPr>
          <a:xfrm>
            <a:off x="177024" y="841142"/>
            <a:ext cx="87753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若：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+1101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+1111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两数相加，且分别放入到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两个寄 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存器。（补码、双符号位表示）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6921508-8C56-4E16-AB5C-586EF6655C71}"/>
              </a:ext>
            </a:extLst>
          </p:cNvPr>
          <p:cNvGrpSpPr/>
          <p:nvPr/>
        </p:nvGrpSpPr>
        <p:grpSpPr>
          <a:xfrm>
            <a:off x="1549239" y="3518183"/>
            <a:ext cx="6116378" cy="3145061"/>
            <a:chOff x="10919" y="3304256"/>
            <a:chExt cx="6116378" cy="3145061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04019F61-838A-4179-9825-8A0DB6A81CCA}"/>
                </a:ext>
              </a:extLst>
            </p:cNvPr>
            <p:cNvSpPr/>
            <p:nvPr/>
          </p:nvSpPr>
          <p:spPr>
            <a:xfrm>
              <a:off x="10919" y="3304256"/>
              <a:ext cx="6072833" cy="31450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Group 1046">
              <a:extLst>
                <a:ext uri="{FF2B5EF4-FFF2-40B4-BE49-F238E27FC236}">
                  <a16:creationId xmlns:a16="http://schemas.microsoft.com/office/drawing/2014/main" id="{44992290-E595-49E3-A4DA-8A43EFC8A2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0" y="3394285"/>
              <a:ext cx="6096007" cy="3014663"/>
              <a:chOff x="-113" y="1651"/>
              <a:chExt cx="3840" cy="1899"/>
            </a:xfrm>
          </p:grpSpPr>
          <p:sp>
            <p:nvSpPr>
              <p:cNvPr id="15" name="Rectangle 1027">
                <a:extLst>
                  <a:ext uri="{FF2B5EF4-FFF2-40B4-BE49-F238E27FC236}">
                    <a16:creationId xmlns:a16="http://schemas.microsoft.com/office/drawing/2014/main" id="{71F67C61-B525-411C-8AF3-93D854EB45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" y="2106"/>
                <a:ext cx="1892" cy="622"/>
              </a:xfrm>
              <a:prstGeom prst="rect">
                <a:avLst/>
              </a:prstGeom>
              <a:solidFill>
                <a:srgbClr val="F0DADA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 sz="2800" b="1">
                  <a:solidFill>
                    <a:srgbClr val="000099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6" name="Text Box 1028">
                <a:extLst>
                  <a:ext uri="{FF2B5EF4-FFF2-40B4-BE49-F238E27FC236}">
                    <a16:creationId xmlns:a16="http://schemas.microsoft.com/office/drawing/2014/main" id="{AE23F806-787E-4413-B621-D5BB30F32A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2262"/>
                <a:ext cx="177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rgbClr val="000099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加法单元 </a:t>
                </a:r>
                <a:r>
                  <a:rPr lang="en-US" altLang="zh-CN" sz="2800" b="1" dirty="0">
                    <a:solidFill>
                      <a:srgbClr val="000099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</a:p>
            </p:txBody>
          </p:sp>
          <p:sp>
            <p:nvSpPr>
              <p:cNvPr id="17" name="Line 1029">
                <a:extLst>
                  <a:ext uri="{FF2B5EF4-FFF2-40B4-BE49-F238E27FC236}">
                    <a16:creationId xmlns:a16="http://schemas.microsoft.com/office/drawing/2014/main" id="{8399DC3E-02FF-49B9-B50D-22B7342E1C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48" y="2728"/>
                <a:ext cx="0" cy="2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8" name="Line 1030">
                <a:extLst>
                  <a:ext uri="{FF2B5EF4-FFF2-40B4-BE49-F238E27FC236}">
                    <a16:creationId xmlns:a16="http://schemas.microsoft.com/office/drawing/2014/main" id="{B560497A-C817-4DE1-9EA6-461FA37C8B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1731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9" name="Line 1031">
                <a:extLst>
                  <a:ext uri="{FF2B5EF4-FFF2-40B4-BE49-F238E27FC236}">
                    <a16:creationId xmlns:a16="http://schemas.microsoft.com/office/drawing/2014/main" id="{E29A090C-B8AC-45B6-B844-15B8ECD593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54" y="2728"/>
                <a:ext cx="0" cy="2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0" name="Line 1032">
                <a:extLst>
                  <a:ext uri="{FF2B5EF4-FFF2-40B4-BE49-F238E27FC236}">
                    <a16:creationId xmlns:a16="http://schemas.microsoft.com/office/drawing/2014/main" id="{4446DBF0-EF84-45B1-96F6-C2DC4134C3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02" y="2728"/>
                <a:ext cx="0" cy="2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3" name="Line 1033">
                <a:extLst>
                  <a:ext uri="{FF2B5EF4-FFF2-40B4-BE49-F238E27FC236}">
                    <a16:creationId xmlns:a16="http://schemas.microsoft.com/office/drawing/2014/main" id="{F5A2ACED-53DF-4B67-98F8-DAC96FEAAE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2" y="3006"/>
                <a:ext cx="48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4" name="Line 1034">
                <a:extLst>
                  <a:ext uri="{FF2B5EF4-FFF2-40B4-BE49-F238E27FC236}">
                    <a16:creationId xmlns:a16="http://schemas.microsoft.com/office/drawing/2014/main" id="{8BA3FACA-911E-46C4-B9BA-9EE5FFCBBA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7" y="1810"/>
                <a:ext cx="0" cy="288"/>
              </a:xfrm>
              <a:prstGeom prst="line">
                <a:avLst/>
              </a:prstGeom>
              <a:noFill/>
              <a:ln w="5715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5" name="Line 1035">
                <a:extLst>
                  <a:ext uri="{FF2B5EF4-FFF2-40B4-BE49-F238E27FC236}">
                    <a16:creationId xmlns:a16="http://schemas.microsoft.com/office/drawing/2014/main" id="{9D853273-5A62-41F0-9F2E-45D0E828F7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115" y="1821"/>
                <a:ext cx="347" cy="4"/>
              </a:xfrm>
              <a:prstGeom prst="line">
                <a:avLst/>
              </a:prstGeom>
              <a:noFill/>
              <a:ln w="57150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6" name="Text Box 1036">
                <a:extLst>
                  <a:ext uri="{FF2B5EF4-FFF2-40B4-BE49-F238E27FC236}">
                    <a16:creationId xmlns:a16="http://schemas.microsoft.com/office/drawing/2014/main" id="{C2324943-385E-4314-AA84-0D99FDFEA6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5" y="2975"/>
                <a:ext cx="223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</a:t>
                </a:r>
                <a:r>
                  <a:rPr lang="en-US" altLang="zh-CN" sz="2800" b="1" dirty="0">
                    <a:solidFill>
                      <a:schemeClr val="folHlin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en-US" altLang="zh-CN" sz="2800" b="1" baseline="-25000" dirty="0">
                    <a:solidFill>
                      <a:schemeClr val="folHlin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en-US" altLang="zh-CN" sz="2800" b="1" dirty="0">
                    <a:solidFill>
                      <a:schemeClr val="folHlin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B</a:t>
                </a:r>
                <a:r>
                  <a:rPr lang="en-US" altLang="zh-CN" sz="2800" b="1" baseline="-25000" dirty="0">
                    <a:solidFill>
                      <a:schemeClr val="folHlin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</a:t>
                </a:r>
                <a:r>
                  <a:rPr lang="en-US" altLang="zh-CN" sz="2800" b="1" dirty="0">
                    <a:solidFill>
                      <a:schemeClr val="folHlin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en-US" altLang="zh-CN" sz="2800" b="1" baseline="-25000" dirty="0">
                    <a:solidFill>
                      <a:schemeClr val="folHlin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i-1</a:t>
                </a:r>
              </a:p>
            </p:txBody>
          </p:sp>
          <p:sp>
            <p:nvSpPr>
              <p:cNvPr id="27" name="Text Box 1037">
                <a:extLst>
                  <a:ext uri="{FF2B5EF4-FFF2-40B4-BE49-F238E27FC236}">
                    <a16:creationId xmlns:a16="http://schemas.microsoft.com/office/drawing/2014/main" id="{A15D47FC-A1E4-41AE-886B-7788AE0F58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8" y="1653"/>
                <a:ext cx="57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folHlin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en-US" altLang="zh-CN" sz="2800" b="1" baseline="-25000" dirty="0">
                    <a:solidFill>
                      <a:schemeClr val="folHlin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</a:p>
            </p:txBody>
          </p:sp>
          <p:sp>
            <p:nvSpPr>
              <p:cNvPr id="28" name="Text Box 1038">
                <a:extLst>
                  <a:ext uri="{FF2B5EF4-FFF2-40B4-BE49-F238E27FC236}">
                    <a16:creationId xmlns:a16="http://schemas.microsoft.com/office/drawing/2014/main" id="{AD4673A0-8492-4FF4-9A3B-84905E16A0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9" y="1656"/>
                <a:ext cx="528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chemeClr val="folHlin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∑</a:t>
                </a:r>
                <a:r>
                  <a:rPr lang="en-US" altLang="zh-CN" sz="2800" b="1" baseline="-25000" dirty="0">
                    <a:solidFill>
                      <a:schemeClr val="folHlin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</a:p>
            </p:txBody>
          </p:sp>
          <p:sp>
            <p:nvSpPr>
              <p:cNvPr id="33" name="Text Box 1040">
                <a:extLst>
                  <a:ext uri="{FF2B5EF4-FFF2-40B4-BE49-F238E27FC236}">
                    <a16:creationId xmlns:a16="http://schemas.microsoft.com/office/drawing/2014/main" id="{B7459AC6-4A34-44BF-B04A-116FEB76B6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1" y="3221"/>
                <a:ext cx="129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chemeClr val="tx2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本位操作数</a:t>
                </a:r>
                <a:endPara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34" name="Text Box 1041">
                <a:extLst>
                  <a:ext uri="{FF2B5EF4-FFF2-40B4-BE49-F238E27FC236}">
                    <a16:creationId xmlns:a16="http://schemas.microsoft.com/office/drawing/2014/main" id="{DCCBA53A-FDC1-4082-9215-75E7F11B78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0" y="3223"/>
                <a:ext cx="102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chemeClr val="tx2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低位进位</a:t>
                </a:r>
                <a:endPara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36" name="Text Box 1042">
                <a:extLst>
                  <a:ext uri="{FF2B5EF4-FFF2-40B4-BE49-F238E27FC236}">
                    <a16:creationId xmlns:a16="http://schemas.microsoft.com/office/drawing/2014/main" id="{8E7A97E7-D6DA-4842-AEAF-854BB43063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13" y="1653"/>
                <a:ext cx="105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本位进位</a:t>
                </a:r>
              </a:p>
            </p:txBody>
          </p:sp>
          <p:sp>
            <p:nvSpPr>
              <p:cNvPr id="37" name="Text Box 1043">
                <a:extLst>
                  <a:ext uri="{FF2B5EF4-FFF2-40B4-BE49-F238E27FC236}">
                    <a16:creationId xmlns:a16="http://schemas.microsoft.com/office/drawing/2014/main" id="{8F8D5DE8-C5BE-4C7A-87D1-D6F4597DCE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2" y="1651"/>
                <a:ext cx="93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本位和</a:t>
                </a:r>
              </a:p>
            </p:txBody>
          </p:sp>
        </p:grpSp>
      </p:grpSp>
      <p:sp>
        <p:nvSpPr>
          <p:cNvPr id="39" name="Text Box 1042">
            <a:extLst>
              <a:ext uri="{FF2B5EF4-FFF2-40B4-BE49-F238E27FC236}">
                <a16:creationId xmlns:a16="http://schemas.microsoft.com/office/drawing/2014/main" id="{966C18F3-10C5-44A2-8F84-D7DDCCBC0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7195" y="1804377"/>
            <a:ext cx="5025766" cy="1574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输入量：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(1),B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(1), 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i-1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输出量：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∑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C</a:t>
            </a:r>
            <a:r>
              <a:rPr lang="en-US" altLang="zh-CN" sz="2800" b="1" baseline="-25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endParaRPr lang="en-US" altLang="zh-CN" sz="2800" b="1" baseline="-25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C7F89C2-64D9-40DE-B560-65692390A8C8}"/>
              </a:ext>
            </a:extLst>
          </p:cNvPr>
          <p:cNvGrpSpPr/>
          <p:nvPr/>
        </p:nvGrpSpPr>
        <p:grpSpPr>
          <a:xfrm>
            <a:off x="-8977" y="1838202"/>
            <a:ext cx="4049754" cy="1631216"/>
            <a:chOff x="-8977" y="1838202"/>
            <a:chExt cx="4049754" cy="1631216"/>
          </a:xfrm>
        </p:grpSpPr>
        <p:cxnSp>
          <p:nvCxnSpPr>
            <p:cNvPr id="13" name="直接连接符 18">
              <a:extLst>
                <a:ext uri="{FF2B5EF4-FFF2-40B4-BE49-F238E27FC236}">
                  <a16:creationId xmlns:a16="http://schemas.microsoft.com/office/drawing/2014/main" id="{0130CE0A-B679-4EF6-B92A-D52FC23F5F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5887" y="2920671"/>
              <a:ext cx="2740025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24D32E2-0586-4EED-9927-E7AB40B1CB0D}"/>
                </a:ext>
              </a:extLst>
            </p:cNvPr>
            <p:cNvSpPr txBox="1"/>
            <p:nvPr/>
          </p:nvSpPr>
          <p:spPr>
            <a:xfrm>
              <a:off x="-8977" y="1838202"/>
              <a:ext cx="4049754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kumimoji="1" lang="en-US" altLang="zh-CN" sz="2800" b="1" noProof="1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      0 0 1 1 0 1</a:t>
              </a:r>
              <a:b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</a:br>
              <a:r>
                <a:rPr kumimoji="1" lang="zh-CN" altLang="en-US" sz="3600" b="1" noProof="1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   </a:t>
              </a:r>
              <a:r>
                <a:rPr kumimoji="1" lang="en-US" altLang="zh-CN" sz="2800" b="1" noProof="1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+</a:t>
              </a:r>
              <a:r>
                <a:rPr kumimoji="1" lang="zh-CN" altLang="en-US" sz="3600" b="1" noProof="1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 </a:t>
              </a:r>
              <a:r>
                <a:rPr kumimoji="1" lang="en-US" altLang="zh-CN" sz="2800" b="1" noProof="1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0 0 1 1 1 1</a:t>
              </a:r>
            </a:p>
            <a:p>
              <a:pPr lvl="0">
                <a:defRPr/>
              </a:pPr>
              <a:r>
                <a:rPr kumimoji="1" lang="en-US" altLang="zh-CN" sz="3600" b="1" noProof="1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   </a:t>
              </a:r>
              <a:r>
                <a:rPr kumimoji="1" lang="en-US" altLang="zh-CN" sz="2800" b="1" noProof="1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 </a:t>
              </a:r>
              <a:r>
                <a:rPr kumimoji="1" lang="en-US" altLang="zh-CN" sz="3600" b="1" noProof="1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 </a:t>
              </a:r>
              <a:r>
                <a:rPr kumimoji="1" lang="zh-CN" altLang="en-US" sz="2800" b="1" noProof="1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0 </a:t>
              </a:r>
              <a:r>
                <a:rPr kumimoji="1" lang="en-US" altLang="zh-CN" sz="2800" b="1" noProof="1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1</a:t>
              </a:r>
              <a:r>
                <a:rPr kumimoji="1" lang="zh-CN" altLang="en-US" sz="2800" b="1" noProof="1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 1 1 0 </a:t>
              </a:r>
              <a:r>
                <a:rPr kumimoji="1" lang="en-US" altLang="zh-CN" sz="2800" b="1" noProof="1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0</a:t>
              </a:r>
              <a:r>
                <a:rPr kumimoji="1" lang="zh-CN" altLang="en-US" sz="3600" b="1" noProof="1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  </a:t>
              </a:r>
              <a:endPara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159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一、加法单元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6</a:t>
            </a:fld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6921508-8C56-4E16-AB5C-586EF6655C71}"/>
              </a:ext>
            </a:extLst>
          </p:cNvPr>
          <p:cNvGrpSpPr/>
          <p:nvPr/>
        </p:nvGrpSpPr>
        <p:grpSpPr>
          <a:xfrm>
            <a:off x="1513811" y="949153"/>
            <a:ext cx="6116378" cy="3145061"/>
            <a:chOff x="10919" y="3304256"/>
            <a:chExt cx="6116378" cy="3145061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04019F61-838A-4179-9825-8A0DB6A81CCA}"/>
                </a:ext>
              </a:extLst>
            </p:cNvPr>
            <p:cNvSpPr/>
            <p:nvPr/>
          </p:nvSpPr>
          <p:spPr>
            <a:xfrm>
              <a:off x="10919" y="3304256"/>
              <a:ext cx="6072833" cy="31450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Group 1046">
              <a:extLst>
                <a:ext uri="{FF2B5EF4-FFF2-40B4-BE49-F238E27FC236}">
                  <a16:creationId xmlns:a16="http://schemas.microsoft.com/office/drawing/2014/main" id="{44992290-E595-49E3-A4DA-8A43EFC8A2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0" y="3394285"/>
              <a:ext cx="6096007" cy="3014663"/>
              <a:chOff x="-113" y="1651"/>
              <a:chExt cx="3840" cy="1899"/>
            </a:xfrm>
          </p:grpSpPr>
          <p:sp>
            <p:nvSpPr>
              <p:cNvPr id="15" name="Rectangle 1027">
                <a:extLst>
                  <a:ext uri="{FF2B5EF4-FFF2-40B4-BE49-F238E27FC236}">
                    <a16:creationId xmlns:a16="http://schemas.microsoft.com/office/drawing/2014/main" id="{71F67C61-B525-411C-8AF3-93D854EB45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" y="2106"/>
                <a:ext cx="1892" cy="622"/>
              </a:xfrm>
              <a:prstGeom prst="rect">
                <a:avLst/>
              </a:prstGeom>
              <a:solidFill>
                <a:srgbClr val="F0DADA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en-US" sz="2800" b="1">
                  <a:solidFill>
                    <a:srgbClr val="000099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6" name="Text Box 1028">
                <a:extLst>
                  <a:ext uri="{FF2B5EF4-FFF2-40B4-BE49-F238E27FC236}">
                    <a16:creationId xmlns:a16="http://schemas.microsoft.com/office/drawing/2014/main" id="{AE23F806-787E-4413-B621-D5BB30F32A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2262"/>
                <a:ext cx="177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rgbClr val="000099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加法单元 </a:t>
                </a:r>
                <a:r>
                  <a:rPr lang="en-US" altLang="zh-CN" sz="2800" b="1" dirty="0">
                    <a:solidFill>
                      <a:srgbClr val="000099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</a:p>
            </p:txBody>
          </p:sp>
          <p:sp>
            <p:nvSpPr>
              <p:cNvPr id="17" name="Line 1029">
                <a:extLst>
                  <a:ext uri="{FF2B5EF4-FFF2-40B4-BE49-F238E27FC236}">
                    <a16:creationId xmlns:a16="http://schemas.microsoft.com/office/drawing/2014/main" id="{8399DC3E-02FF-49B9-B50D-22B7342E1C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48" y="2728"/>
                <a:ext cx="0" cy="2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8" name="Line 1030">
                <a:extLst>
                  <a:ext uri="{FF2B5EF4-FFF2-40B4-BE49-F238E27FC236}">
                    <a16:creationId xmlns:a16="http://schemas.microsoft.com/office/drawing/2014/main" id="{B560497A-C817-4DE1-9EA6-461FA37C8B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1731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9" name="Line 1031">
                <a:extLst>
                  <a:ext uri="{FF2B5EF4-FFF2-40B4-BE49-F238E27FC236}">
                    <a16:creationId xmlns:a16="http://schemas.microsoft.com/office/drawing/2014/main" id="{E29A090C-B8AC-45B6-B844-15B8ECD593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54" y="2728"/>
                <a:ext cx="0" cy="2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0" name="Line 1032">
                <a:extLst>
                  <a:ext uri="{FF2B5EF4-FFF2-40B4-BE49-F238E27FC236}">
                    <a16:creationId xmlns:a16="http://schemas.microsoft.com/office/drawing/2014/main" id="{4446DBF0-EF84-45B1-96F6-C2DC4134C3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02" y="2728"/>
                <a:ext cx="0" cy="2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3" name="Line 1033">
                <a:extLst>
                  <a:ext uri="{FF2B5EF4-FFF2-40B4-BE49-F238E27FC236}">
                    <a16:creationId xmlns:a16="http://schemas.microsoft.com/office/drawing/2014/main" id="{F5A2ACED-53DF-4B67-98F8-DAC96FEAAE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2" y="3006"/>
                <a:ext cx="48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4" name="Line 1034">
                <a:extLst>
                  <a:ext uri="{FF2B5EF4-FFF2-40B4-BE49-F238E27FC236}">
                    <a16:creationId xmlns:a16="http://schemas.microsoft.com/office/drawing/2014/main" id="{8BA3FACA-911E-46C4-B9BA-9EE5FFCBBA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7" y="1810"/>
                <a:ext cx="0" cy="288"/>
              </a:xfrm>
              <a:prstGeom prst="line">
                <a:avLst/>
              </a:prstGeom>
              <a:noFill/>
              <a:ln w="5715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5" name="Line 1035">
                <a:extLst>
                  <a:ext uri="{FF2B5EF4-FFF2-40B4-BE49-F238E27FC236}">
                    <a16:creationId xmlns:a16="http://schemas.microsoft.com/office/drawing/2014/main" id="{9D853273-5A62-41F0-9F2E-45D0E828F7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115" y="1821"/>
                <a:ext cx="347" cy="4"/>
              </a:xfrm>
              <a:prstGeom prst="line">
                <a:avLst/>
              </a:prstGeom>
              <a:noFill/>
              <a:ln w="57150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6" name="Text Box 1036">
                <a:extLst>
                  <a:ext uri="{FF2B5EF4-FFF2-40B4-BE49-F238E27FC236}">
                    <a16:creationId xmlns:a16="http://schemas.microsoft.com/office/drawing/2014/main" id="{C2324943-385E-4314-AA84-0D99FDFEA6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5" y="2975"/>
                <a:ext cx="223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</a:t>
                </a:r>
                <a:r>
                  <a:rPr lang="en-US" altLang="zh-CN" sz="2800" b="1" dirty="0">
                    <a:solidFill>
                      <a:schemeClr val="folHlin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en-US" altLang="zh-CN" sz="2800" b="1" baseline="-25000" dirty="0">
                    <a:solidFill>
                      <a:schemeClr val="folHlin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en-US" altLang="zh-CN" sz="2800" b="1" dirty="0">
                    <a:solidFill>
                      <a:schemeClr val="folHlin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B</a:t>
                </a:r>
                <a:r>
                  <a:rPr lang="en-US" altLang="zh-CN" sz="2800" b="1" baseline="-25000" dirty="0">
                    <a:solidFill>
                      <a:schemeClr val="folHlin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</a:t>
                </a:r>
                <a:r>
                  <a:rPr lang="en-US" altLang="zh-CN" sz="2800" b="1" dirty="0">
                    <a:solidFill>
                      <a:schemeClr val="folHlin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en-US" altLang="zh-CN" sz="2800" b="1" baseline="-25000" dirty="0">
                    <a:solidFill>
                      <a:schemeClr val="folHlin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i-1</a:t>
                </a:r>
              </a:p>
            </p:txBody>
          </p:sp>
          <p:sp>
            <p:nvSpPr>
              <p:cNvPr id="27" name="Text Box 1037">
                <a:extLst>
                  <a:ext uri="{FF2B5EF4-FFF2-40B4-BE49-F238E27FC236}">
                    <a16:creationId xmlns:a16="http://schemas.microsoft.com/office/drawing/2014/main" id="{A15D47FC-A1E4-41AE-886B-7788AE0F58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8" y="1653"/>
                <a:ext cx="57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folHlin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en-US" altLang="zh-CN" sz="2800" b="1" baseline="-25000" dirty="0">
                    <a:solidFill>
                      <a:schemeClr val="folHlin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</a:p>
            </p:txBody>
          </p:sp>
          <p:sp>
            <p:nvSpPr>
              <p:cNvPr id="28" name="Text Box 1038">
                <a:extLst>
                  <a:ext uri="{FF2B5EF4-FFF2-40B4-BE49-F238E27FC236}">
                    <a16:creationId xmlns:a16="http://schemas.microsoft.com/office/drawing/2014/main" id="{AD4673A0-8492-4FF4-9A3B-84905E16A0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9" y="1656"/>
                <a:ext cx="528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chemeClr val="folHlin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∑</a:t>
                </a:r>
                <a:r>
                  <a:rPr lang="en-US" altLang="zh-CN" sz="2800" b="1" baseline="-25000" dirty="0">
                    <a:solidFill>
                      <a:schemeClr val="folHlin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</a:p>
            </p:txBody>
          </p:sp>
          <p:sp>
            <p:nvSpPr>
              <p:cNvPr id="33" name="Text Box 1040">
                <a:extLst>
                  <a:ext uri="{FF2B5EF4-FFF2-40B4-BE49-F238E27FC236}">
                    <a16:creationId xmlns:a16="http://schemas.microsoft.com/office/drawing/2014/main" id="{B7459AC6-4A34-44BF-B04A-116FEB76B6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1" y="3221"/>
                <a:ext cx="129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chemeClr val="tx2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本位操作数</a:t>
                </a:r>
                <a:endPara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34" name="Text Box 1041">
                <a:extLst>
                  <a:ext uri="{FF2B5EF4-FFF2-40B4-BE49-F238E27FC236}">
                    <a16:creationId xmlns:a16="http://schemas.microsoft.com/office/drawing/2014/main" id="{DCCBA53A-FDC1-4082-9215-75E7F11B78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0" y="3223"/>
                <a:ext cx="102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chemeClr val="tx2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低位进位</a:t>
                </a:r>
                <a:endPara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36" name="Text Box 1042">
                <a:extLst>
                  <a:ext uri="{FF2B5EF4-FFF2-40B4-BE49-F238E27FC236}">
                    <a16:creationId xmlns:a16="http://schemas.microsoft.com/office/drawing/2014/main" id="{8E7A97E7-D6DA-4842-AEAF-854BB43063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13" y="1653"/>
                <a:ext cx="105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本位进位</a:t>
                </a:r>
              </a:p>
            </p:txBody>
          </p:sp>
          <p:sp>
            <p:nvSpPr>
              <p:cNvPr id="37" name="Text Box 1043">
                <a:extLst>
                  <a:ext uri="{FF2B5EF4-FFF2-40B4-BE49-F238E27FC236}">
                    <a16:creationId xmlns:a16="http://schemas.microsoft.com/office/drawing/2014/main" id="{8F8D5DE8-C5BE-4C7A-87D1-D6F4597DCE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2" y="1651"/>
                <a:ext cx="93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本位和</a:t>
                </a:r>
              </a:p>
            </p:txBody>
          </p:sp>
        </p:grp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34DC8D91-993E-4ADF-BA68-A12ED47C5075}"/>
              </a:ext>
            </a:extLst>
          </p:cNvPr>
          <p:cNvSpPr txBox="1"/>
          <p:nvPr/>
        </p:nvSpPr>
        <p:spPr>
          <a:xfrm>
            <a:off x="162533" y="4192849"/>
            <a:ext cx="8775387" cy="1930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输入、输出量之间的关系式：    根据真值表、卡诺图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el-GR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Σ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⊕ B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⊕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i-1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(1)               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= 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B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⊕ B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i-1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(2) </a:t>
            </a:r>
          </a:p>
        </p:txBody>
      </p:sp>
    </p:spTree>
    <p:extLst>
      <p:ext uri="{BB962C8B-B14F-4D97-AF65-F5344CB8AC3E}">
        <p14:creationId xmlns:p14="http://schemas.microsoft.com/office/powerpoint/2010/main" val="77691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一、加法单元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4DC8D91-993E-4ADF-BA68-A12ED47C5075}"/>
              </a:ext>
            </a:extLst>
          </p:cNvPr>
          <p:cNvSpPr txBox="1"/>
          <p:nvPr/>
        </p:nvSpPr>
        <p:spPr>
          <a:xfrm>
            <a:off x="162533" y="752955"/>
            <a:ext cx="8775387" cy="1930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el-GR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Σ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⊕ B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⊕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i-1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(1)               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= 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B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⊕ B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i-1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(2) 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根据上式，得出一位全加器的逻辑电路图：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32F38D5-8D6F-4CDA-979B-C6D86AD01E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577" y="2712155"/>
            <a:ext cx="4166252" cy="258781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DCA99CD-710E-42A4-AA34-A7A387F762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703" y="2712155"/>
            <a:ext cx="4166252" cy="2587814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C7556DA3-E1B9-4253-AADC-D2BCD2189A75}"/>
              </a:ext>
            </a:extLst>
          </p:cNvPr>
          <p:cNvSpPr txBox="1"/>
          <p:nvPr/>
        </p:nvSpPr>
        <p:spPr>
          <a:xfrm>
            <a:off x="237065" y="5222500"/>
            <a:ext cx="8775387" cy="1284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根据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式得：如果三个输入中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的个数为奇数，则本位和为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，否则为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187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一、加法单元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4DC8D91-993E-4ADF-BA68-A12ED47C5075}"/>
              </a:ext>
            </a:extLst>
          </p:cNvPr>
          <p:cNvSpPr txBox="1"/>
          <p:nvPr/>
        </p:nvSpPr>
        <p:spPr>
          <a:xfrm>
            <a:off x="162533" y="752955"/>
            <a:ext cx="8775387" cy="1284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el-GR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Σ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⊕ B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⊕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i-1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(1)               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= 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B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⊕ B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i-1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(2) 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7556DA3-E1B9-4253-AADC-D2BCD2189A75}"/>
              </a:ext>
            </a:extLst>
          </p:cNvPr>
          <p:cNvSpPr txBox="1"/>
          <p:nvPr/>
        </p:nvSpPr>
        <p:spPr>
          <a:xfrm>
            <a:off x="70129" y="1960235"/>
            <a:ext cx="8775388" cy="4515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根据</a:t>
            </a:r>
            <a:r>
              <a:rPr lang="en-US" alt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式得：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如果三个输入中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的个数为奇数，则本位和为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，否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则为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根据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式得：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当本位的两个输入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均为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时，不管低位有无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进位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i-1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传来，都必然产生进位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；若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i-1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，只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中有一个为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，也必然产生进位。</a:t>
            </a:r>
          </a:p>
        </p:txBody>
      </p:sp>
    </p:spTree>
    <p:extLst>
      <p:ext uri="{BB962C8B-B14F-4D97-AF65-F5344CB8AC3E}">
        <p14:creationId xmlns:p14="http://schemas.microsoft.com/office/powerpoint/2010/main" val="155826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二、串行加法器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7556DA3-E1B9-4253-AADC-D2BCD2189A75}"/>
              </a:ext>
            </a:extLst>
          </p:cNvPr>
          <p:cNvSpPr txBox="1"/>
          <p:nvPr/>
        </p:nvSpPr>
        <p:spPr>
          <a:xfrm>
            <a:off x="70129" y="775039"/>
            <a:ext cx="8775388" cy="1057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如果每步只求一位和，将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位加分成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步实现，这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样的加法器称为串行加法器。</a:t>
            </a:r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0847C366-FB6E-4D66-A977-D74EF1C4FF85}"/>
              </a:ext>
            </a:extLst>
          </p:cNvPr>
          <p:cNvSpPr/>
          <p:nvPr/>
        </p:nvSpPr>
        <p:spPr bwMode="auto">
          <a:xfrm>
            <a:off x="1152526" y="1981200"/>
            <a:ext cx="157134" cy="1790183"/>
          </a:xfrm>
          <a:prstGeom prst="leftBrace">
            <a:avLst>
              <a:gd name="adj1" fmla="val 63817"/>
              <a:gd name="adj2" fmla="val 50000"/>
            </a:avLst>
          </a:prstGeom>
          <a:noFill/>
          <a:ln w="25400" cap="sq">
            <a:solidFill>
              <a:schemeClr val="accent1">
                <a:lumMod val="75000"/>
              </a:scheme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2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C723A991-B2CB-49B4-B048-33F42CA5704C}"/>
              </a:ext>
            </a:extLst>
          </p:cNvPr>
          <p:cNvSpPr txBox="1"/>
          <p:nvPr/>
        </p:nvSpPr>
        <p:spPr>
          <a:xfrm>
            <a:off x="1377350" y="1657040"/>
            <a:ext cx="7343668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个一位全加器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Text Box 5">
            <a:extLst>
              <a:ext uri="{FF2B5EF4-FFF2-40B4-BE49-F238E27FC236}">
                <a16:creationId xmlns:a16="http://schemas.microsoft.com/office/drawing/2014/main" id="{0CA49A60-E8B1-476A-8508-725760F02965}"/>
              </a:ext>
            </a:extLst>
          </p:cNvPr>
          <p:cNvSpPr txBox="1"/>
          <p:nvPr/>
        </p:nvSpPr>
        <p:spPr>
          <a:xfrm>
            <a:off x="1377350" y="2195357"/>
            <a:ext cx="7788429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个移位寄存器：从低到高串行提供操作数相加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Text Box 5">
            <a:extLst>
              <a:ext uri="{FF2B5EF4-FFF2-40B4-BE49-F238E27FC236}">
                <a16:creationId xmlns:a16="http://schemas.microsoft.com/office/drawing/2014/main" id="{77CECE32-AFEA-41F9-A62D-0208592EE975}"/>
              </a:ext>
            </a:extLst>
          </p:cNvPr>
          <p:cNvSpPr txBox="1"/>
          <p:nvPr/>
        </p:nvSpPr>
        <p:spPr>
          <a:xfrm>
            <a:off x="1377350" y="3271992"/>
            <a:ext cx="7509474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个触发器：记录进位信号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449C8EB0-0DBA-4571-ABA0-8929D2D74BD6}"/>
              </a:ext>
            </a:extLst>
          </p:cNvPr>
          <p:cNvSpPr txBox="1"/>
          <p:nvPr/>
        </p:nvSpPr>
        <p:spPr>
          <a:xfrm>
            <a:off x="1377350" y="2733674"/>
            <a:ext cx="7343668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个寄存器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A99BB2E-D9EF-482C-9954-2549014B0521}"/>
              </a:ext>
            </a:extLst>
          </p:cNvPr>
          <p:cNvSpPr txBox="1"/>
          <p:nvPr/>
        </p:nvSpPr>
        <p:spPr>
          <a:xfrm>
            <a:off x="70129" y="2512758"/>
            <a:ext cx="1771734" cy="540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组成：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CCA5219-8BE1-4B58-BF50-62628DD3564E}"/>
              </a:ext>
            </a:extLst>
          </p:cNvPr>
          <p:cNvSpPr txBox="1"/>
          <p:nvPr/>
        </p:nvSpPr>
        <p:spPr>
          <a:xfrm>
            <a:off x="70129" y="3826016"/>
            <a:ext cx="2057400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组成图：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B5304AD7-104D-4595-8A14-B4E335712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0677" y="3950418"/>
            <a:ext cx="5197892" cy="245701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27400E9B-F769-4F43-ABCB-A274578DF4B4}"/>
              </a:ext>
            </a:extLst>
          </p:cNvPr>
          <p:cNvSpPr txBox="1"/>
          <p:nvPr/>
        </p:nvSpPr>
        <p:spPr>
          <a:xfrm>
            <a:off x="7048803" y="3826015"/>
            <a:ext cx="2006264" cy="1930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特点：</a:t>
            </a:r>
            <a:endParaRPr lang="en-US" altLang="zh-CN" sz="2800" b="1" dirty="0">
              <a:solidFill>
                <a:schemeClr val="accent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结构简单，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速度极慢。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854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14" grpId="0" animBg="1"/>
      <p:bldP spid="15" grpId="0"/>
      <p:bldP spid="17" grpId="0"/>
      <p:bldP spid="18" grpId="0"/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三、并行加法器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7556DA3-E1B9-4253-AADC-D2BCD2189A75}"/>
              </a:ext>
            </a:extLst>
          </p:cNvPr>
          <p:cNvSpPr txBox="1"/>
          <p:nvPr/>
        </p:nvSpPr>
        <p:spPr>
          <a:xfrm>
            <a:off x="70128" y="791646"/>
            <a:ext cx="8986713" cy="1284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、定义：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如果用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位全加器一步实现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位相加，即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位同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步相加，这样的加法器称为并行加法器。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1894F0-4E07-44E0-9C02-6718B49F9478}"/>
              </a:ext>
            </a:extLst>
          </p:cNvPr>
          <p:cNvSpPr txBox="1"/>
          <p:nvPr/>
        </p:nvSpPr>
        <p:spPr>
          <a:xfrm>
            <a:off x="78837" y="2482072"/>
            <a:ext cx="1651848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、组成：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D95194FD-7DD1-4775-A8AD-01D9DA2C3F55}"/>
              </a:ext>
            </a:extLst>
          </p:cNvPr>
          <p:cNvSpPr txBox="1"/>
          <p:nvPr/>
        </p:nvSpPr>
        <p:spPr>
          <a:xfrm>
            <a:off x="1599172" y="2500487"/>
            <a:ext cx="2061696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并行加法器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CE078A51-7BCC-418B-8B89-BFAD6CC981CB}"/>
              </a:ext>
            </a:extLst>
          </p:cNvPr>
          <p:cNvSpPr/>
          <p:nvPr/>
        </p:nvSpPr>
        <p:spPr bwMode="auto">
          <a:xfrm>
            <a:off x="3556092" y="2239284"/>
            <a:ext cx="157134" cy="1284006"/>
          </a:xfrm>
          <a:prstGeom prst="leftBrace">
            <a:avLst>
              <a:gd name="adj1" fmla="val 63817"/>
              <a:gd name="adj2" fmla="val 50000"/>
            </a:avLst>
          </a:prstGeom>
          <a:noFill/>
          <a:ln w="25400" cap="sq">
            <a:solidFill>
              <a:schemeClr val="accent1">
                <a:lumMod val="75000"/>
              </a:scheme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2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" name="Text Box 5">
            <a:extLst>
              <a:ext uri="{FF2B5EF4-FFF2-40B4-BE49-F238E27FC236}">
                <a16:creationId xmlns:a16="http://schemas.microsoft.com/office/drawing/2014/main" id="{9E7D2C87-3C41-41D4-B9EF-1360BE03FA22}"/>
              </a:ext>
            </a:extLst>
          </p:cNvPr>
          <p:cNvSpPr txBox="1"/>
          <p:nvPr/>
        </p:nvSpPr>
        <p:spPr>
          <a:xfrm>
            <a:off x="3737068" y="2017942"/>
            <a:ext cx="2061696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位加法器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53EEC8D4-B266-45FF-8E87-4AA6C17B5BE9}"/>
              </a:ext>
            </a:extLst>
          </p:cNvPr>
          <p:cNvSpPr txBox="1"/>
          <p:nvPr/>
        </p:nvSpPr>
        <p:spPr>
          <a:xfrm>
            <a:off x="3737068" y="2920498"/>
            <a:ext cx="2061696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进位链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AutoShape 5">
            <a:extLst>
              <a:ext uri="{FF2B5EF4-FFF2-40B4-BE49-F238E27FC236}">
                <a16:creationId xmlns:a16="http://schemas.microsoft.com/office/drawing/2014/main" id="{1FB48BC3-6244-4CCD-BBAA-A2175CE729BE}"/>
              </a:ext>
            </a:extLst>
          </p:cNvPr>
          <p:cNvSpPr/>
          <p:nvPr/>
        </p:nvSpPr>
        <p:spPr bwMode="auto">
          <a:xfrm>
            <a:off x="5100151" y="2711218"/>
            <a:ext cx="157134" cy="1284006"/>
          </a:xfrm>
          <a:prstGeom prst="leftBrace">
            <a:avLst>
              <a:gd name="adj1" fmla="val 63817"/>
              <a:gd name="adj2" fmla="val 50000"/>
            </a:avLst>
          </a:prstGeom>
          <a:noFill/>
          <a:ln w="25400" cap="sq">
            <a:solidFill>
              <a:schemeClr val="accent1">
                <a:lumMod val="75000"/>
              </a:scheme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2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3" name="Text Box 5">
            <a:extLst>
              <a:ext uri="{FF2B5EF4-FFF2-40B4-BE49-F238E27FC236}">
                <a16:creationId xmlns:a16="http://schemas.microsoft.com/office/drawing/2014/main" id="{45A452D2-7656-4E28-989B-2653742393D5}"/>
              </a:ext>
            </a:extLst>
          </p:cNvPr>
          <p:cNvSpPr txBox="1"/>
          <p:nvPr/>
        </p:nvSpPr>
        <p:spPr>
          <a:xfrm>
            <a:off x="5271933" y="2473337"/>
            <a:ext cx="2061696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串行进位链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4" name="Text Box 5">
            <a:extLst>
              <a:ext uri="{FF2B5EF4-FFF2-40B4-BE49-F238E27FC236}">
                <a16:creationId xmlns:a16="http://schemas.microsoft.com/office/drawing/2014/main" id="{FCEF9AC9-7A42-4B6F-B534-688F7AC7E1DE}"/>
              </a:ext>
            </a:extLst>
          </p:cNvPr>
          <p:cNvSpPr txBox="1"/>
          <p:nvPr/>
        </p:nvSpPr>
        <p:spPr>
          <a:xfrm>
            <a:off x="5271933" y="3375893"/>
            <a:ext cx="2061696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并行进位链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4B4680A-DB0F-448B-A693-1D56D2EB3B4B}"/>
              </a:ext>
            </a:extLst>
          </p:cNvPr>
          <p:cNvSpPr txBox="1"/>
          <p:nvPr/>
        </p:nvSpPr>
        <p:spPr>
          <a:xfrm>
            <a:off x="1237435" y="4045167"/>
            <a:ext cx="7906566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根据（指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i-1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）输入量提供时间的不同，将进位链分为带串行进位链的并行加法器，带并行进位链的并行加法器。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加法器的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运算速度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不仅与全加器的运算速度有关，更主要的因素是取决于进位传递速度。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8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14" grpId="0"/>
      <p:bldP spid="15" grpId="0"/>
      <p:bldP spid="16" grpId="0" animBg="1"/>
      <p:bldP spid="17" grpId="0"/>
      <p:bldP spid="18" grpId="0"/>
      <p:bldP spid="20" grpId="0" animBg="1"/>
      <p:bldP spid="23" grpId="0"/>
      <p:bldP spid="24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三、并行加法器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7556DA3-E1B9-4253-AADC-D2BCD2189A75}"/>
              </a:ext>
            </a:extLst>
          </p:cNvPr>
          <p:cNvSpPr txBox="1"/>
          <p:nvPr/>
        </p:nvSpPr>
        <p:spPr>
          <a:xfrm>
            <a:off x="70128" y="791646"/>
            <a:ext cx="8986713" cy="3933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-US" alt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、进位信号的基本逻辑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30000"/>
              </a:lnSpc>
              <a:defRPr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= 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B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⊕ B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i-1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  <a:p>
            <a:pPr lvl="0">
              <a:lnSpc>
                <a:spcPct val="13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令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 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B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进位产生函数  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 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⊕ B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，进位传递函数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、串行进位链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3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定义：各级进位信号直接依赖于低一级的进位信号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3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关系式：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Text Box 3">
            <a:extLst>
              <a:ext uri="{FF2B5EF4-FFF2-40B4-BE49-F238E27FC236}">
                <a16:creationId xmlns:a16="http://schemas.microsoft.com/office/drawing/2014/main" id="{65AEAF29-CCFF-4FBC-9D2B-9EE2B9ED9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450" y="4339520"/>
            <a:ext cx="5029200" cy="1772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n-1</a:t>
            </a:r>
          </a:p>
        </p:txBody>
      </p:sp>
    </p:spTree>
    <p:extLst>
      <p:ext uri="{BB962C8B-B14F-4D97-AF65-F5344CB8AC3E}">
        <p14:creationId xmlns:p14="http://schemas.microsoft.com/office/powerpoint/2010/main" val="3759842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uild="p"/>
      <p:bldP spid="2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三、并行加法器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7556DA3-E1B9-4253-AADC-D2BCD2189A75}"/>
              </a:ext>
            </a:extLst>
          </p:cNvPr>
          <p:cNvSpPr txBox="1"/>
          <p:nvPr/>
        </p:nvSpPr>
        <p:spPr>
          <a:xfrm>
            <a:off x="70128" y="791646"/>
            <a:ext cx="2758797" cy="573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结构图：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EE5DA01-9C79-463A-AA94-F60CA7A7BC9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76"/>
          <a:stretch/>
        </p:blipFill>
        <p:spPr>
          <a:xfrm>
            <a:off x="2167092" y="910815"/>
            <a:ext cx="6813989" cy="182762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3D7829D-A498-4B9B-9E10-924FCBADBDBA}"/>
              </a:ext>
            </a:extLst>
          </p:cNvPr>
          <p:cNvSpPr txBox="1"/>
          <p:nvPr/>
        </p:nvSpPr>
        <p:spPr>
          <a:xfrm>
            <a:off x="70127" y="2639537"/>
            <a:ext cx="8986713" cy="573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特点：结构比较简单，运算速度比较慢。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BDF681A-0696-4144-8E07-2B08BCF7A017}"/>
              </a:ext>
            </a:extLst>
          </p:cNvPr>
          <p:cNvSpPr txBox="1"/>
          <p:nvPr/>
        </p:nvSpPr>
        <p:spPr>
          <a:xfrm>
            <a:off x="63780" y="3102847"/>
            <a:ext cx="8986713" cy="1693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、并行进位链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3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定义：各级进位信号是并行（同时）形成的。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3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关系式：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4EB0A665-00FF-4F89-966D-7A96D40D6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9288" y="4340748"/>
            <a:ext cx="4643472" cy="180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= </a:t>
            </a:r>
            <a:r>
              <a:rPr lang="en-US" altLang="zh-CN" sz="24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4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n-1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+ …+ </a:t>
            </a:r>
            <a:r>
              <a:rPr lang="en-US" altLang="zh-CN" sz="24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4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…P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40D3ADB-2C79-4B43-B715-77F5B511394B}"/>
              </a:ext>
            </a:extLst>
          </p:cNvPr>
          <p:cNvGrpSpPr/>
          <p:nvPr/>
        </p:nvGrpSpPr>
        <p:grpSpPr>
          <a:xfrm>
            <a:off x="6633861" y="4128310"/>
            <a:ext cx="2063115" cy="2367392"/>
            <a:chOff x="6633861" y="4128310"/>
            <a:chExt cx="2063115" cy="2367392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59A3D4B-ACEC-448D-A29D-2F8B59B43A4E}"/>
                </a:ext>
              </a:extLst>
            </p:cNvPr>
            <p:cNvSpPr txBox="1"/>
            <p:nvPr/>
          </p:nvSpPr>
          <p:spPr>
            <a:xfrm>
              <a:off x="6633861" y="4128310"/>
              <a:ext cx="2063115" cy="573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30000"/>
                </a:lnSpc>
                <a:defRPr/>
              </a:pPr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(A</a:t>
              </a:r>
              <a:r>
                <a:rPr lang="en-US" altLang="zh-CN" sz="2800" b="1" baseline="-25000" dirty="0">
                  <a:latin typeface="楷体" panose="02010609060101010101" pitchFamily="49" charset="-122"/>
                  <a:ea typeface="楷体" panose="02010609060101010101" pitchFamily="49" charset="-122"/>
                </a:rPr>
                <a:t>i</a:t>
              </a:r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,B</a:t>
              </a:r>
              <a:r>
                <a:rPr lang="en-US" altLang="zh-CN" sz="2800" b="1" baseline="-25000" dirty="0">
                  <a:latin typeface="楷体" panose="02010609060101010101" pitchFamily="49" charset="-122"/>
                  <a:ea typeface="楷体" panose="02010609060101010101" pitchFamily="49" charset="-122"/>
                </a:rPr>
                <a:t>i</a:t>
              </a:r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,C</a:t>
              </a:r>
              <a:r>
                <a:rPr lang="en-US" altLang="zh-CN" sz="2800" b="1" baseline="-25000" dirty="0">
                  <a:latin typeface="楷体" panose="02010609060101010101" pitchFamily="49" charset="-122"/>
                  <a:ea typeface="楷体" panose="02010609060101010101" pitchFamily="49" charset="-122"/>
                </a:rPr>
                <a:t>0</a:t>
              </a:r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)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8E23135-D247-4CAF-A0C7-0D0F6C5C911D}"/>
                </a:ext>
              </a:extLst>
            </p:cNvPr>
            <p:cNvSpPr txBox="1"/>
            <p:nvPr/>
          </p:nvSpPr>
          <p:spPr>
            <a:xfrm>
              <a:off x="6633861" y="5922660"/>
              <a:ext cx="2063115" cy="573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30000"/>
                </a:lnSpc>
                <a:defRPr/>
              </a:pPr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C</a:t>
              </a:r>
              <a:r>
                <a:rPr lang="en-US" altLang="zh-CN" sz="2800" b="1" baseline="-25000" dirty="0">
                  <a:latin typeface="楷体" panose="02010609060101010101" pitchFamily="49" charset="-122"/>
                  <a:ea typeface="楷体" panose="02010609060101010101" pitchFamily="49" charset="-122"/>
                </a:rPr>
                <a:t>i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635C39E-63E4-4654-95BB-0894775469AB}"/>
                </a:ext>
              </a:extLst>
            </p:cNvPr>
            <p:cNvSpPr txBox="1"/>
            <p:nvPr/>
          </p:nvSpPr>
          <p:spPr>
            <a:xfrm>
              <a:off x="6633861" y="5091127"/>
              <a:ext cx="2063115" cy="573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30000"/>
                </a:lnSpc>
                <a:defRPr/>
              </a:pPr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(G</a:t>
              </a:r>
              <a:r>
                <a:rPr lang="en-US" altLang="zh-CN" sz="2800" b="1" baseline="-25000" dirty="0">
                  <a:latin typeface="楷体" panose="02010609060101010101" pitchFamily="49" charset="-122"/>
                  <a:ea typeface="楷体" panose="02010609060101010101" pitchFamily="49" charset="-122"/>
                </a:rPr>
                <a:t>i</a:t>
              </a:r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,P</a:t>
              </a:r>
              <a:r>
                <a:rPr lang="en-US" altLang="zh-CN" sz="2800" b="1" baseline="-25000" dirty="0">
                  <a:latin typeface="楷体" panose="02010609060101010101" pitchFamily="49" charset="-122"/>
                  <a:ea typeface="楷体" panose="02010609060101010101" pitchFamily="49" charset="-122"/>
                </a:rPr>
                <a:t>i</a:t>
              </a:r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,C</a:t>
              </a:r>
              <a:r>
                <a:rPr lang="en-US" altLang="zh-CN" sz="2800" b="1" baseline="-25000" dirty="0">
                  <a:latin typeface="楷体" panose="02010609060101010101" pitchFamily="49" charset="-122"/>
                  <a:ea typeface="楷体" panose="02010609060101010101" pitchFamily="49" charset="-122"/>
                </a:rPr>
                <a:t>0</a:t>
              </a:r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)</a:t>
              </a:r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BE433926-2CAE-49D9-B7CA-A830C2DE10A3}"/>
                </a:ext>
              </a:extLst>
            </p:cNvPr>
            <p:cNvCxnSpPr>
              <a:cxnSpLocks/>
            </p:cNvCxnSpPr>
            <p:nvPr/>
          </p:nvCxnSpPr>
          <p:spPr>
            <a:xfrm>
              <a:off x="7665418" y="4739452"/>
              <a:ext cx="1" cy="3897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40E5181A-97B1-4490-AA70-785DACDAED02}"/>
                </a:ext>
              </a:extLst>
            </p:cNvPr>
            <p:cNvCxnSpPr>
              <a:cxnSpLocks/>
            </p:cNvCxnSpPr>
            <p:nvPr/>
          </p:nvCxnSpPr>
          <p:spPr>
            <a:xfrm>
              <a:off x="7657495" y="5683758"/>
              <a:ext cx="1" cy="3897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39EA0BD-38ED-4313-9CF8-43BDA9B846A6}"/>
                </a:ext>
              </a:extLst>
            </p:cNvPr>
            <p:cNvSpPr txBox="1"/>
            <p:nvPr/>
          </p:nvSpPr>
          <p:spPr>
            <a:xfrm>
              <a:off x="7719202" y="4678121"/>
              <a:ext cx="91044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800" b="1" dirty="0">
                  <a:solidFill>
                    <a:srgbClr val="0563C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稳定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163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15" grpId="0" build="p"/>
      <p:bldP spid="1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三、并行加法器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7556DA3-E1B9-4253-AADC-D2BCD2189A75}"/>
              </a:ext>
            </a:extLst>
          </p:cNvPr>
          <p:cNvSpPr txBox="1"/>
          <p:nvPr/>
        </p:nvSpPr>
        <p:spPr>
          <a:xfrm>
            <a:off x="70128" y="965821"/>
            <a:ext cx="2758797" cy="573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结构图：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C7AAD32-B1E4-48BD-8A4B-8546E98CAD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63" y="1592092"/>
            <a:ext cx="9023739" cy="264898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19DECF2-62BF-43D2-9D02-93AA365998DB}"/>
              </a:ext>
            </a:extLst>
          </p:cNvPr>
          <p:cNvSpPr txBox="1"/>
          <p:nvPr/>
        </p:nvSpPr>
        <p:spPr>
          <a:xfrm>
            <a:off x="73938" y="4452987"/>
            <a:ext cx="5978247" cy="573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特点：结构复杂，运算速度快。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2654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三、并行加法器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6F64E3B-C4D6-4573-B785-C736E60EBE83}"/>
              </a:ext>
            </a:extLst>
          </p:cNvPr>
          <p:cNvSpPr txBox="1"/>
          <p:nvPr/>
        </p:nvSpPr>
        <p:spPr>
          <a:xfrm>
            <a:off x="157287" y="864762"/>
            <a:ext cx="8986713" cy="1693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、组内并行，组间串行的进位链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3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例如：加法器字长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位，设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位为一组，则将进位链分为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两级。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360B921-1139-4B86-A1AD-6F3286E88EC9}"/>
              </a:ext>
            </a:extLst>
          </p:cNvPr>
          <p:cNvGrpSpPr/>
          <p:nvPr/>
        </p:nvGrpSpPr>
        <p:grpSpPr>
          <a:xfrm>
            <a:off x="437601" y="2780221"/>
            <a:ext cx="8610600" cy="3047213"/>
            <a:chOff x="437601" y="2780221"/>
            <a:chExt cx="8610600" cy="3047213"/>
          </a:xfrm>
        </p:grpSpPr>
        <p:sp>
          <p:nvSpPr>
            <p:cNvPr id="16" name="Rectangle 4">
              <a:extLst>
                <a:ext uri="{FF2B5EF4-FFF2-40B4-BE49-F238E27FC236}">
                  <a16:creationId xmlns:a16="http://schemas.microsoft.com/office/drawing/2014/main" id="{21524402-6A4E-4D3F-A8A5-D5C9AFF73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801" y="3618421"/>
              <a:ext cx="1295400" cy="9144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2CBAA391-AFA3-4655-9646-96284621E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7401" y="3618421"/>
              <a:ext cx="1295400" cy="9144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" name="Rectangle 6">
              <a:extLst>
                <a:ext uri="{FF2B5EF4-FFF2-40B4-BE49-F238E27FC236}">
                  <a16:creationId xmlns:a16="http://schemas.microsoft.com/office/drawing/2014/main" id="{7F9499E7-4881-456E-9D64-8C0486C2B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1001" y="3618421"/>
              <a:ext cx="1295400" cy="9144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550CD29A-E457-4C23-B15D-7747D1A2B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4601" y="3618421"/>
              <a:ext cx="1295400" cy="9144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" name="Text Box 8">
              <a:extLst>
                <a:ext uri="{FF2B5EF4-FFF2-40B4-BE49-F238E27FC236}">
                  <a16:creationId xmlns:a16="http://schemas.microsoft.com/office/drawing/2014/main" id="{62D5DE64-9FC4-41FB-804C-3155569DD2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9601" y="3770821"/>
              <a:ext cx="1219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rPr>
                <a:t>4位</a:t>
              </a:r>
            </a:p>
          </p:txBody>
        </p:sp>
        <p:sp>
          <p:nvSpPr>
            <p:cNvPr id="25" name="Text Box 9">
              <a:extLst>
                <a:ext uri="{FF2B5EF4-FFF2-40B4-BE49-F238E27FC236}">
                  <a16:creationId xmlns:a16="http://schemas.microsoft.com/office/drawing/2014/main" id="{31E6896E-0199-43A2-8C48-4ADB5B14E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401" y="3770821"/>
              <a:ext cx="1219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rPr>
                <a:t>4位</a:t>
              </a:r>
            </a:p>
          </p:txBody>
        </p:sp>
        <p:sp>
          <p:nvSpPr>
            <p:cNvPr id="26" name="Text Box 10">
              <a:extLst>
                <a:ext uri="{FF2B5EF4-FFF2-40B4-BE49-F238E27FC236}">
                  <a16:creationId xmlns:a16="http://schemas.microsoft.com/office/drawing/2014/main" id="{01177626-8268-497D-B047-73C38F5FF4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6001" y="3770821"/>
              <a:ext cx="1219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rPr>
                <a:t>4位</a:t>
              </a:r>
            </a:p>
          </p:txBody>
        </p:sp>
        <p:sp>
          <p:nvSpPr>
            <p:cNvPr id="27" name="Text Box 11">
              <a:extLst>
                <a:ext uri="{FF2B5EF4-FFF2-40B4-BE49-F238E27FC236}">
                  <a16:creationId xmlns:a16="http://schemas.microsoft.com/office/drawing/2014/main" id="{FEDFF5C7-979E-4B75-9C0F-C41DF217A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43201" y="3770821"/>
              <a:ext cx="1219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latin typeface="楷体" panose="02010609060101010101" pitchFamily="49" charset="-122"/>
                  <a:ea typeface="楷体" panose="02010609060101010101" pitchFamily="49" charset="-122"/>
                </a:rPr>
                <a:t>4位</a:t>
              </a:r>
            </a:p>
          </p:txBody>
        </p:sp>
        <p:sp>
          <p:nvSpPr>
            <p:cNvPr id="28" name="Text Box 12">
              <a:extLst>
                <a:ext uri="{FF2B5EF4-FFF2-40B4-BE49-F238E27FC236}">
                  <a16:creationId xmlns:a16="http://schemas.microsoft.com/office/drawing/2014/main" id="{1CEDC517-7C5D-4E97-8491-31EF3A0D63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280" y="4623665"/>
              <a:ext cx="830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第4组       第3组       第2组       第1组</a:t>
              </a:r>
            </a:p>
          </p:txBody>
        </p:sp>
        <p:sp>
          <p:nvSpPr>
            <p:cNvPr id="29" name="Text Box 13">
              <a:extLst>
                <a:ext uri="{FF2B5EF4-FFF2-40B4-BE49-F238E27FC236}">
                  <a16:creationId xmlns:a16="http://schemas.microsoft.com/office/drawing/2014/main" id="{923F082E-3F05-42D9-9053-FC6E3181AE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601" y="2780221"/>
              <a:ext cx="838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C16 ~ C13      C12 ~ C9     C8 ~ C5       C4 ~ C1</a:t>
              </a:r>
            </a:p>
          </p:txBody>
        </p:sp>
        <p:sp>
          <p:nvSpPr>
            <p:cNvPr id="33" name="Text Box 14">
              <a:extLst>
                <a:ext uri="{FF2B5EF4-FFF2-40B4-BE49-F238E27FC236}">
                  <a16:creationId xmlns:a16="http://schemas.microsoft.com/office/drawing/2014/main" id="{38FC3DEA-BC11-48AB-9404-BC4BAB473F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0001" y="3542221"/>
              <a:ext cx="8382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latin typeface="楷体" panose="02010609060101010101" pitchFamily="49" charset="-122"/>
                  <a:ea typeface="楷体" panose="02010609060101010101" pitchFamily="49" charset="-122"/>
                </a:rPr>
                <a:t>C0</a:t>
              </a:r>
            </a:p>
          </p:txBody>
        </p:sp>
        <p:sp>
          <p:nvSpPr>
            <p:cNvPr id="34" name="Line 15">
              <a:extLst>
                <a:ext uri="{FF2B5EF4-FFF2-40B4-BE49-F238E27FC236}">
                  <a16:creationId xmlns:a16="http://schemas.microsoft.com/office/drawing/2014/main" id="{682B430B-1BFC-4160-9924-06A3AAC195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10001" y="4075621"/>
              <a:ext cx="609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5" name="Line 16">
              <a:extLst>
                <a:ext uri="{FF2B5EF4-FFF2-40B4-BE49-F238E27FC236}">
                  <a16:creationId xmlns:a16="http://schemas.microsoft.com/office/drawing/2014/main" id="{D816C964-A456-40AB-B678-6F8D42C525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76401" y="3999421"/>
              <a:ext cx="457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6" name="Line 17">
              <a:extLst>
                <a:ext uri="{FF2B5EF4-FFF2-40B4-BE49-F238E27FC236}">
                  <a16:creationId xmlns:a16="http://schemas.microsoft.com/office/drawing/2014/main" id="{3A44C7C6-5ACD-4693-A28A-6A87EEF40C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33601" y="3008821"/>
              <a:ext cx="38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7" name="Line 18">
              <a:extLst>
                <a:ext uri="{FF2B5EF4-FFF2-40B4-BE49-F238E27FC236}">
                  <a16:creationId xmlns:a16="http://schemas.microsoft.com/office/drawing/2014/main" id="{E4DF1429-01AE-4CB1-8221-E5FEF05B69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33601" y="3008821"/>
              <a:ext cx="0" cy="990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8" name="Line 19">
              <a:extLst>
                <a:ext uri="{FF2B5EF4-FFF2-40B4-BE49-F238E27FC236}">
                  <a16:creationId xmlns:a16="http://schemas.microsoft.com/office/drawing/2014/main" id="{8AB33ABA-5119-4734-90C2-B7A798D673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0001" y="3008821"/>
              <a:ext cx="0" cy="990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0" name="Line 20">
              <a:extLst>
                <a:ext uri="{FF2B5EF4-FFF2-40B4-BE49-F238E27FC236}">
                  <a16:creationId xmlns:a16="http://schemas.microsoft.com/office/drawing/2014/main" id="{AC360D81-44CE-4AE9-89AA-2363AD035E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6401" y="3008821"/>
              <a:ext cx="0" cy="990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1" name="Line 21">
              <a:extLst>
                <a:ext uri="{FF2B5EF4-FFF2-40B4-BE49-F238E27FC236}">
                  <a16:creationId xmlns:a16="http://schemas.microsoft.com/office/drawing/2014/main" id="{6634A8EF-41EC-48BE-A05E-A1B1A460F8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2801" y="3999421"/>
              <a:ext cx="457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2" name="Line 22">
              <a:extLst>
                <a:ext uri="{FF2B5EF4-FFF2-40B4-BE49-F238E27FC236}">
                  <a16:creationId xmlns:a16="http://schemas.microsoft.com/office/drawing/2014/main" id="{CC258996-A801-4C5A-B8E0-F9A6657CE1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9201" y="3999421"/>
              <a:ext cx="457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3" name="Line 23">
              <a:extLst>
                <a:ext uri="{FF2B5EF4-FFF2-40B4-BE49-F238E27FC236}">
                  <a16:creationId xmlns:a16="http://schemas.microsoft.com/office/drawing/2014/main" id="{AF76F289-BBE5-4AE5-BB9D-46CAD8BD61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0001" y="3008821"/>
              <a:ext cx="38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4" name="Line 24">
              <a:extLst>
                <a:ext uri="{FF2B5EF4-FFF2-40B4-BE49-F238E27FC236}">
                  <a16:creationId xmlns:a16="http://schemas.microsoft.com/office/drawing/2014/main" id="{429F4386-79D2-4B41-BFD5-BBBC3CD467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6401" y="3008821"/>
              <a:ext cx="38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6" name="Text Box 26">
              <a:extLst>
                <a:ext uri="{FF2B5EF4-FFF2-40B4-BE49-F238E27FC236}">
                  <a16:creationId xmlns:a16="http://schemas.microsoft.com/office/drawing/2014/main" id="{324CCFA2-1DE7-48CA-9FAB-29D2195D1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0751" y="5304214"/>
              <a:ext cx="375285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分级（</a:t>
              </a:r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</a:t>
              </a: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级）同时进位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440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三、并行加法器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7556DA3-E1B9-4253-AADC-D2BCD2189A75}"/>
              </a:ext>
            </a:extLst>
          </p:cNvPr>
          <p:cNvSpPr txBox="1"/>
          <p:nvPr/>
        </p:nvSpPr>
        <p:spPr>
          <a:xfrm>
            <a:off x="-65949" y="1218368"/>
            <a:ext cx="5057751" cy="573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第一小组：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F94CE3-F11E-4FB3-A1F3-72B3E31DD8CC}"/>
              </a:ext>
            </a:extLst>
          </p:cNvPr>
          <p:cNvSpPr txBox="1"/>
          <p:nvPr/>
        </p:nvSpPr>
        <p:spPr>
          <a:xfrm>
            <a:off x="1662764" y="1225283"/>
            <a:ext cx="7512541" cy="2253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57F6E7C-FF75-4C5A-88C7-A8C10A1F868E}"/>
              </a:ext>
            </a:extLst>
          </p:cNvPr>
          <p:cNvSpPr txBox="1"/>
          <p:nvPr/>
        </p:nvSpPr>
        <p:spPr>
          <a:xfrm>
            <a:off x="-758547" y="3700056"/>
            <a:ext cx="6759297" cy="573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第二小组：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6DEFFCE-F451-41FB-B5A2-1F665C86906E}"/>
              </a:ext>
            </a:extLst>
          </p:cNvPr>
          <p:cNvSpPr txBox="1"/>
          <p:nvPr/>
        </p:nvSpPr>
        <p:spPr>
          <a:xfrm>
            <a:off x="1662764" y="3680842"/>
            <a:ext cx="7512541" cy="2253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zh-CN" altLang="en-US" sz="28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注意，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中“</a:t>
            </a:r>
            <a:r>
              <a:rPr lang="en-US" altLang="zh-CN" sz="28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I”</a:t>
            </a:r>
            <a:r>
              <a:rPr lang="zh-CN" altLang="en-US" sz="28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不是“</a:t>
            </a:r>
            <a:r>
              <a:rPr lang="en-US" altLang="zh-CN" sz="28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”，表示第一组）</a:t>
            </a:r>
            <a:endParaRPr lang="en-US" altLang="zh-CN" sz="2800" b="1" baseline="-25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cxnSp>
        <p:nvCxnSpPr>
          <p:cNvPr id="20" name="直接连接符 18">
            <a:extLst>
              <a:ext uri="{FF2B5EF4-FFF2-40B4-BE49-F238E27FC236}">
                <a16:creationId xmlns:a16="http://schemas.microsoft.com/office/drawing/2014/main" id="{CB2830AA-D745-42C4-9AAC-727542E8375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70814" y="3508473"/>
            <a:ext cx="4591986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4D31C97-AB2E-4DF5-847B-3FA439C53EDA}"/>
              </a:ext>
            </a:extLst>
          </p:cNvPr>
          <p:cNvSpPr txBox="1"/>
          <p:nvPr/>
        </p:nvSpPr>
        <p:spPr>
          <a:xfrm>
            <a:off x="4408516" y="3406739"/>
            <a:ext cx="583286" cy="573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5" name="直接连接符 18">
            <a:extLst>
              <a:ext uri="{FF2B5EF4-FFF2-40B4-BE49-F238E27FC236}">
                <a16:creationId xmlns:a16="http://schemas.microsoft.com/office/drawing/2014/main" id="{2D52F724-A218-4A3B-BB02-82C12AA2CFF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95347" y="3510082"/>
            <a:ext cx="1092873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E79B0192-C1EC-432B-8DC2-042B5E65C418}"/>
              </a:ext>
            </a:extLst>
          </p:cNvPr>
          <p:cNvSpPr txBox="1"/>
          <p:nvPr/>
        </p:nvSpPr>
        <p:spPr>
          <a:xfrm>
            <a:off x="8035263" y="3387842"/>
            <a:ext cx="583286" cy="573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直接连接符 18">
            <a:extLst>
              <a:ext uri="{FF2B5EF4-FFF2-40B4-BE49-F238E27FC236}">
                <a16:creationId xmlns:a16="http://schemas.microsoft.com/office/drawing/2014/main" id="{C6DE9375-2B28-47A9-92F1-29EC717A99B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70814" y="5953558"/>
            <a:ext cx="4591986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A7DA12C1-74E1-4E92-89B0-0B0A186A4A78}"/>
              </a:ext>
            </a:extLst>
          </p:cNvPr>
          <p:cNvSpPr txBox="1"/>
          <p:nvPr/>
        </p:nvSpPr>
        <p:spPr>
          <a:xfrm>
            <a:off x="4417229" y="5851826"/>
            <a:ext cx="651159" cy="573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7" name="直接连接符 18">
            <a:extLst>
              <a:ext uri="{FF2B5EF4-FFF2-40B4-BE49-F238E27FC236}">
                <a16:creationId xmlns:a16="http://schemas.microsoft.com/office/drawing/2014/main" id="{41F32008-191A-4210-9753-EB89D3F715D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60511" y="5953558"/>
            <a:ext cx="1201936" cy="161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6DFF2A55-0B65-4FA9-BD6B-900BA373B879}"/>
              </a:ext>
            </a:extLst>
          </p:cNvPr>
          <p:cNvSpPr txBox="1"/>
          <p:nvPr/>
        </p:nvSpPr>
        <p:spPr>
          <a:xfrm>
            <a:off x="8043976" y="5832929"/>
            <a:ext cx="753307" cy="573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 err="1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 err="1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440138E-6940-463B-A291-BAF02A3A07D8}"/>
              </a:ext>
            </a:extLst>
          </p:cNvPr>
          <p:cNvSpPr txBox="1"/>
          <p:nvPr/>
        </p:nvSpPr>
        <p:spPr>
          <a:xfrm>
            <a:off x="-217255" y="739497"/>
            <a:ext cx="6759297" cy="573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）第一级：小组内并行进位链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945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15" grpId="0" build="p"/>
      <p:bldP spid="18" grpId="0"/>
      <p:bldP spid="19" grpId="0" build="p"/>
      <p:bldP spid="24" grpId="0"/>
      <p:bldP spid="33" grpId="0"/>
      <p:bldP spid="36" grpId="0"/>
      <p:bldP spid="40" grpId="0"/>
      <p:bldP spid="4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三、并行加法器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7556DA3-E1B9-4253-AADC-D2BCD2189A75}"/>
              </a:ext>
            </a:extLst>
          </p:cNvPr>
          <p:cNvSpPr txBox="1"/>
          <p:nvPr/>
        </p:nvSpPr>
        <p:spPr>
          <a:xfrm>
            <a:off x="-65949" y="713259"/>
            <a:ext cx="5057751" cy="573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第三小组：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F94CE3-F11E-4FB3-A1F3-72B3E31DD8CC}"/>
              </a:ext>
            </a:extLst>
          </p:cNvPr>
          <p:cNvSpPr txBox="1"/>
          <p:nvPr/>
        </p:nvSpPr>
        <p:spPr>
          <a:xfrm>
            <a:off x="2381" y="1098446"/>
            <a:ext cx="9266493" cy="2253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57F6E7C-FF75-4C5A-88C7-A8C10A1F868E}"/>
              </a:ext>
            </a:extLst>
          </p:cNvPr>
          <p:cNvSpPr txBox="1"/>
          <p:nvPr/>
        </p:nvSpPr>
        <p:spPr>
          <a:xfrm>
            <a:off x="-68563" y="3349064"/>
            <a:ext cx="2636763" cy="573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第四小组：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6DEFFCE-F451-41FB-B5A2-1F665C86906E}"/>
              </a:ext>
            </a:extLst>
          </p:cNvPr>
          <p:cNvSpPr txBox="1"/>
          <p:nvPr/>
        </p:nvSpPr>
        <p:spPr>
          <a:xfrm>
            <a:off x="1033" y="3781691"/>
            <a:ext cx="9569686" cy="2253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13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13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13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14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14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14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13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14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13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14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14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13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14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13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14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14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13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+P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14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13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</a:p>
        </p:txBody>
      </p:sp>
      <p:cxnSp>
        <p:nvCxnSpPr>
          <p:cNvPr id="20" name="直接连接符 18">
            <a:extLst>
              <a:ext uri="{FF2B5EF4-FFF2-40B4-BE49-F238E27FC236}">
                <a16:creationId xmlns:a16="http://schemas.microsoft.com/office/drawing/2014/main" id="{CB2830AA-D745-42C4-9AAC-727542E8375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38705" y="3357725"/>
            <a:ext cx="573302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4D31C97-AB2E-4DF5-847B-3FA439C53EDA}"/>
              </a:ext>
            </a:extLst>
          </p:cNvPr>
          <p:cNvSpPr txBox="1"/>
          <p:nvPr/>
        </p:nvSpPr>
        <p:spPr>
          <a:xfrm>
            <a:off x="3703718" y="3202460"/>
            <a:ext cx="583286" cy="573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5" name="直接连接符 18">
            <a:extLst>
              <a:ext uri="{FF2B5EF4-FFF2-40B4-BE49-F238E27FC236}">
                <a16:creationId xmlns:a16="http://schemas.microsoft.com/office/drawing/2014/main" id="{2D52F724-A218-4A3B-BB02-82C12AA2CFF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68606" y="3351949"/>
            <a:ext cx="1552327" cy="960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E79B0192-C1EC-432B-8DC2-042B5E65C418}"/>
              </a:ext>
            </a:extLst>
          </p:cNvPr>
          <p:cNvSpPr txBox="1"/>
          <p:nvPr/>
        </p:nvSpPr>
        <p:spPr>
          <a:xfrm>
            <a:off x="7648928" y="3200144"/>
            <a:ext cx="583286" cy="573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直接连接符 18">
            <a:extLst>
              <a:ext uri="{FF2B5EF4-FFF2-40B4-BE49-F238E27FC236}">
                <a16:creationId xmlns:a16="http://schemas.microsoft.com/office/drawing/2014/main" id="{C6DE9375-2B28-47A9-92F1-29EC717A99B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03273" y="6066769"/>
            <a:ext cx="5776050" cy="111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A7DA12C1-74E1-4E92-89B0-0B0A186A4A78}"/>
              </a:ext>
            </a:extLst>
          </p:cNvPr>
          <p:cNvSpPr txBox="1"/>
          <p:nvPr/>
        </p:nvSpPr>
        <p:spPr>
          <a:xfrm>
            <a:off x="3579637" y="5916133"/>
            <a:ext cx="651159" cy="573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7" name="直接连接符 18">
            <a:extLst>
              <a:ext uri="{FF2B5EF4-FFF2-40B4-BE49-F238E27FC236}">
                <a16:creationId xmlns:a16="http://schemas.microsoft.com/office/drawing/2014/main" id="{41F32008-191A-4210-9753-EB89D3F715D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020243" y="6077905"/>
            <a:ext cx="1600690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6DFF2A55-0B65-4FA9-BD6B-900BA373B879}"/>
              </a:ext>
            </a:extLst>
          </p:cNvPr>
          <p:cNvSpPr txBox="1"/>
          <p:nvPr/>
        </p:nvSpPr>
        <p:spPr>
          <a:xfrm>
            <a:off x="7631889" y="5883195"/>
            <a:ext cx="753307" cy="573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 err="1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 err="1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6790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uild="p"/>
      <p:bldP spid="15" grpId="0" build="p"/>
      <p:bldP spid="18" grpId="0"/>
      <p:bldP spid="19" grpId="0" build="p"/>
      <p:bldP spid="24" grpId="0"/>
      <p:bldP spid="33" grpId="0"/>
      <p:bldP spid="36" grpId="0"/>
      <p:bldP spid="4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三、并行加法器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608B656-4FEA-4601-B846-FBDC99A0DD5C}"/>
              </a:ext>
            </a:extLst>
          </p:cNvPr>
          <p:cNvSpPr txBox="1"/>
          <p:nvPr/>
        </p:nvSpPr>
        <p:spPr>
          <a:xfrm>
            <a:off x="-21412" y="816069"/>
            <a:ext cx="6759297" cy="573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）第二级：小组间串行进位链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Text Box 3">
            <a:extLst>
              <a:ext uri="{FF2B5EF4-FFF2-40B4-BE49-F238E27FC236}">
                <a16:creationId xmlns:a16="http://schemas.microsoft.com/office/drawing/2014/main" id="{0DA0FF3F-B419-494A-B0F3-185963537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50" y="1435923"/>
            <a:ext cx="7853500" cy="3556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  <a:p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r>
              <a:rPr lang="en-US" altLang="zh-CN" sz="2800" b="1" dirty="0" err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 err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endParaRPr lang="en-US" altLang="zh-CN" sz="2800" b="1" baseline="-25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  <a:r>
              <a:rPr lang="en-US" altLang="zh-CN" sz="2800" b="1" dirty="0" err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 err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endParaRPr lang="en-US" altLang="zh-CN" sz="2800" b="1" baseline="-25000" dirty="0">
              <a:solidFill>
                <a:schemeClr val="accent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105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Ⅳ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Ⅳ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Ⅳ</a:t>
            </a:r>
            <a:r>
              <a:rPr lang="en-US" altLang="zh-CN" sz="2800" b="1" dirty="0" err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 err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  <a:endParaRPr lang="en-US" altLang="zh-CN" sz="2800" b="1" baseline="-25000" dirty="0">
              <a:solidFill>
                <a:schemeClr val="accent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60409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F28240F1-AE45-B913-23D8-3BCCD0663F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417" y="765109"/>
            <a:ext cx="7389844" cy="5038531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、组内并行，组间并行的进位链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G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  <a:p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r>
              <a:rPr lang="en-US" altLang="zh-CN" sz="2800" b="1" dirty="0" err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 err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endParaRPr lang="en-US" altLang="zh-CN" sz="2800" b="1" baseline="-25000" dirty="0">
              <a:solidFill>
                <a:schemeClr val="accent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=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  <a:p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  <a:r>
              <a:rPr lang="en-US" altLang="zh-CN" sz="2800" b="1" dirty="0" err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 err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endParaRPr lang="en-US" altLang="zh-CN" sz="2800" b="1" baseline="-25000" dirty="0">
              <a:solidFill>
                <a:schemeClr val="accent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=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  <a:p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Ⅳ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=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Ⅳ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Ⅳ</a:t>
            </a:r>
            <a:r>
              <a:rPr lang="en-US" altLang="zh-CN" sz="2800" b="1" dirty="0" err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 err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  <a:endParaRPr lang="en-US" altLang="zh-CN" sz="2800" b="1" baseline="-25000" dirty="0">
              <a:solidFill>
                <a:schemeClr val="accent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=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Ⅳ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Ⅳ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Ⅳ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+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Ⅳ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+ 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Ⅳ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Ⅲ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Ⅱ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078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ALU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单元与多位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ALU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部件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A8BC59D-5D7D-44E7-AC99-226300B81041}"/>
              </a:ext>
            </a:extLst>
          </p:cNvPr>
          <p:cNvSpPr txBox="1"/>
          <p:nvPr/>
        </p:nvSpPr>
        <p:spPr>
          <a:xfrm>
            <a:off x="87158" y="759859"/>
            <a:ext cx="8829424" cy="2253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定义：若干位全加器，并行进位链，输入选择门集成在一块芯片上。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、一位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组成：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BED93CD9-1DC2-4C8D-987A-582EFA10D891}"/>
              </a:ext>
            </a:extLst>
          </p:cNvPr>
          <p:cNvSpPr>
            <a:spLocks/>
          </p:cNvSpPr>
          <p:nvPr/>
        </p:nvSpPr>
        <p:spPr bwMode="auto">
          <a:xfrm>
            <a:off x="1389536" y="2555174"/>
            <a:ext cx="169226" cy="1562159"/>
          </a:xfrm>
          <a:prstGeom prst="leftBrace">
            <a:avLst>
              <a:gd name="adj1" fmla="val 58876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EDB5AA1F-6CB1-4D12-97BF-641826839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1877" y="2264461"/>
            <a:ext cx="5804773" cy="193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1位加法器（</a:t>
            </a:r>
            <a:r>
              <a:rPr lang="zh-CN" altLang="en-US" sz="28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求和、进位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1位输入选择器（</a:t>
            </a:r>
            <a:r>
              <a:rPr lang="zh-CN" altLang="en-US" sz="28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1对与或非门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）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1个公共控制门（</a:t>
            </a:r>
            <a:r>
              <a:rPr lang="zh-CN" altLang="en-US" sz="28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算术或逻辑运算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41D096E-85E0-4E3F-86C6-60AEFA004ED9}"/>
              </a:ext>
            </a:extLst>
          </p:cNvPr>
          <p:cNvSpPr txBox="1"/>
          <p:nvPr/>
        </p:nvSpPr>
        <p:spPr>
          <a:xfrm>
            <a:off x="157288" y="4163061"/>
            <a:ext cx="7596062" cy="1574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逻辑关系式：</a:t>
            </a:r>
            <a:endParaRPr lang="en-US" altLang="zh-CN" sz="2800" b="1" dirty="0">
              <a:solidFill>
                <a:schemeClr val="accent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Σ</a:t>
            </a:r>
            <a:r>
              <a:rPr lang="en-US" altLang="zh-CN" sz="2800" b="1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=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⊕ B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⊕ 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i-1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  <a:p>
            <a:pPr lvl="0">
              <a:lnSpc>
                <a:spcPct val="12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36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 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B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+ (A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⊕ B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) C</a:t>
            </a:r>
            <a:r>
              <a:rPr lang="en-US" altLang="zh-CN" sz="28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i-1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00E56FD-5531-4CB3-92A2-5CD5C284987A}"/>
              </a:ext>
            </a:extLst>
          </p:cNvPr>
          <p:cNvSpPr txBox="1"/>
          <p:nvPr/>
        </p:nvSpPr>
        <p:spPr>
          <a:xfrm>
            <a:off x="157288" y="5752618"/>
            <a:ext cx="4414712" cy="573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、四位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芯片举例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971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3" grpId="0" animBg="1"/>
      <p:bldP spid="14" grpId="0" build="p" advAuto="0"/>
      <p:bldP spid="15" grpId="0" build="p"/>
      <p:bldP spid="1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D2497-5AF8-867D-84DE-6164F6C49B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E26FB54-5671-F534-BE75-3150EE67C7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29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11990" y="8050"/>
            <a:ext cx="9181652" cy="6901031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298198" y="3054281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293131" y="3196018"/>
            <a:ext cx="45791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3600" b="1" dirty="0">
                <a:solidFill>
                  <a:srgbClr val="0045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谢谢观看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2293131" y="3977456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293131" y="4121256"/>
            <a:ext cx="4579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b="1" dirty="0">
                <a:solidFill>
                  <a:srgbClr val="004578"/>
                </a:solidFill>
              </a:rPr>
              <a:t>计算机组成原理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238316" y="6407901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100" y="1398382"/>
            <a:ext cx="1591799" cy="1584000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954" y="6236297"/>
            <a:ext cx="621635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6"/>
          <p:cNvSpPr txBox="1">
            <a:spLocks noChangeArrowheads="1"/>
          </p:cNvSpPr>
          <p:nvPr/>
        </p:nvSpPr>
        <p:spPr bwMode="auto">
          <a:xfrm>
            <a:off x="6715450" y="6274229"/>
            <a:ext cx="3092999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  <a:endParaRPr lang="en-US" altLang="zh-CN" sz="1600" b="1" dirty="0">
              <a:solidFill>
                <a:srgbClr val="0070C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 b="1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School of Information and Software Engineering</a:t>
            </a:r>
            <a:endParaRPr lang="zh-CN" altLang="en-US" sz="1000" b="1" dirty="0">
              <a:solidFill>
                <a:srgbClr val="0070C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21" name="日期占位符 2"/>
          <p:cNvSpPr>
            <a:spLocks noGrp="1"/>
          </p:cNvSpPr>
          <p:nvPr>
            <p:ph type="dt" sz="half" idx="10"/>
          </p:nvPr>
        </p:nvSpPr>
        <p:spPr>
          <a:xfrm>
            <a:off x="235731" y="6474676"/>
            <a:ext cx="2057400" cy="365125"/>
          </a:xfrm>
        </p:spPr>
        <p:txBody>
          <a:bodyPr/>
          <a:lstStyle/>
          <a:p>
            <a:fld id="{88D359CD-C887-4460-A350-FDDE9A47B3D8}" type="datetime1">
              <a:rPr lang="zh-CN" altLang="en-US" sz="1400" smtClean="0">
                <a:solidFill>
                  <a:schemeClr val="tx1"/>
                </a:solidFill>
              </a:rPr>
              <a:t>2026/8/23</a:t>
            </a:fld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色简介大气毕业答辩竞赛演讲PPT模板"/>
</p:tagLst>
</file>

<file path=ppt/theme/theme1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2932</TotalTime>
  <Words>1453</Words>
  <Application>Microsoft Office PowerPoint</Application>
  <PresentationFormat>全屏显示(4:3)</PresentationFormat>
  <Paragraphs>269</Paragraphs>
  <Slides>21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等线</vt:lpstr>
      <vt:lpstr>黑体</vt:lpstr>
      <vt:lpstr>华文隶书</vt:lpstr>
      <vt:lpstr>华文行楷</vt:lpstr>
      <vt:lpstr>楷体</vt:lpstr>
      <vt:lpstr>隶书</vt:lpstr>
      <vt:lpstr>宋体</vt:lpstr>
      <vt:lpstr>微软雅黑</vt:lpstr>
      <vt:lpstr>Arial</vt:lpstr>
      <vt:lpstr>Calibri</vt:lpstr>
      <vt:lpstr>Calibri Light</vt:lpstr>
      <vt:lpstr>Wingdings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蓝色简介大气毕业答辩竞赛演讲PPT模板</dc:title>
  <dc:creator>Windows 用户</dc:creator>
  <cp:lastModifiedBy>正华 吴</cp:lastModifiedBy>
  <cp:revision>1154</cp:revision>
  <dcterms:created xsi:type="dcterms:W3CDTF">2018-07-22T02:36:00Z</dcterms:created>
  <dcterms:modified xsi:type="dcterms:W3CDTF">2026-08-23T01:50:01Z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2052-11.1.0.9740</vt:lpwstr>
  </property>
</Properties>
</file>