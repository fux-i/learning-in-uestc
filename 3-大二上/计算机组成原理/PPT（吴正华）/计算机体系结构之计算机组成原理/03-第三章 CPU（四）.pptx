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842" r:id="rId2"/>
    <p:sldId id="843" r:id="rId3"/>
    <p:sldId id="844" r:id="rId4"/>
    <p:sldId id="838" r:id="rId5"/>
    <p:sldId id="861" r:id="rId6"/>
    <p:sldId id="873" r:id="rId7"/>
    <p:sldId id="846" r:id="rId8"/>
    <p:sldId id="847" r:id="rId9"/>
    <p:sldId id="862" r:id="rId10"/>
    <p:sldId id="849" r:id="rId11"/>
    <p:sldId id="850" r:id="rId12"/>
    <p:sldId id="851" r:id="rId13"/>
    <p:sldId id="864" r:id="rId14"/>
    <p:sldId id="852" r:id="rId15"/>
    <p:sldId id="853" r:id="rId16"/>
    <p:sldId id="854" r:id="rId17"/>
    <p:sldId id="855" r:id="rId18"/>
    <p:sldId id="856" r:id="rId19"/>
    <p:sldId id="857" r:id="rId20"/>
    <p:sldId id="858" r:id="rId21"/>
    <p:sldId id="859" r:id="rId22"/>
    <p:sldId id="860" r:id="rId23"/>
    <p:sldId id="866" r:id="rId24"/>
    <p:sldId id="867" r:id="rId25"/>
    <p:sldId id="868" r:id="rId26"/>
    <p:sldId id="869" r:id="rId27"/>
    <p:sldId id="870" r:id="rId28"/>
    <p:sldId id="871" r:id="rId29"/>
    <p:sldId id="872" r:id="rId30"/>
    <p:sldId id="730" r:id="rId31"/>
  </p:sldIdLst>
  <p:sldSz cx="9144000" cy="6858000" type="screen4x3"/>
  <p:notesSz cx="6858000" cy="9144000"/>
  <p:custDataLst>
    <p:tags r:id="rId3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>
          <p15:clr>
            <a:srgbClr val="A4A3A4"/>
          </p15:clr>
        </p15:guide>
        <p15:guide id="2" pos="19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63C1"/>
    <a:srgbClr val="ED7D31"/>
    <a:srgbClr val="FF0000"/>
    <a:srgbClr val="2F5597"/>
    <a:srgbClr val="4472C4"/>
    <a:srgbClr val="FF9900"/>
    <a:srgbClr val="F0DADA"/>
    <a:srgbClr val="668CCF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39" autoAdjust="0"/>
    <p:restoredTop sz="96046" autoAdjust="0"/>
  </p:normalViewPr>
  <p:slideViewPr>
    <p:cSldViewPr snapToGrid="0" showGuides="1">
      <p:cViewPr varScale="1">
        <p:scale>
          <a:sx n="82" d="100"/>
          <a:sy n="82" d="100"/>
        </p:scale>
        <p:origin x="1632" y="62"/>
      </p:cViewPr>
      <p:guideLst>
        <p:guide orient="horz" pos="2107"/>
        <p:guide pos="19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756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160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318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53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36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827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605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005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574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543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15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352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903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908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2504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015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883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6595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2290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7272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052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4325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1650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69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5542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486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612E-3E0E-4677-BD75-C3035F09CF8B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2452-4414-4A67-B06C-4837C797611A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8EB7-07DD-4FAB-99F8-EDA876343D2C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ACAB-1C17-4C81-8E84-4BC1B099DDB3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B67D-DE4A-485B-9DC6-907AA302B6B6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86E9-2264-4CE7-89DC-C1C773EB3590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D547-54F4-4352-808B-20CE77C0E88A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DEE5-FD89-44CA-A729-5164AD3A421C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B0151-3BD9-4887-91D7-BC694D94DD37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788F-638F-420D-B92E-DC41F3CBC6C6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EFAD-2E9E-4200-8350-F282439D6341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D277E-88D0-47EF-B828-8C9E90EDC2AB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计算机组成原理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第三章 中央处理器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B565E591-3381-4D38-9DF8-0AEAC6FC1F45}" type="datetime1">
              <a:rPr lang="zh-CN" altLang="en-US" sz="1400" smtClean="0">
                <a:solidFill>
                  <a:schemeClr val="tx1"/>
                </a:solidFill>
              </a:rPr>
              <a:t>2026/8/24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7" t="623" r="9645" b="-623"/>
          <a:stretch>
            <a:fillRect/>
          </a:stretch>
        </p:blipFill>
        <p:spPr>
          <a:xfrm>
            <a:off x="2939643" y="0"/>
            <a:ext cx="6220936" cy="6904284"/>
          </a:xfrm>
          <a:prstGeom prst="rect">
            <a:avLst/>
          </a:prstGeom>
          <a:solidFill>
            <a:schemeClr val="bg1">
              <a:alpha val="43000"/>
            </a:schemeClr>
          </a:solidFill>
        </p:spPr>
      </p:pic>
      <p:sp>
        <p:nvSpPr>
          <p:cNvPr id="7" name="矩形 6"/>
          <p:cNvSpPr/>
          <p:nvPr/>
        </p:nvSpPr>
        <p:spPr>
          <a:xfrm>
            <a:off x="2939643" y="0"/>
            <a:ext cx="6220936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2939644" cy="685800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2574" y="2340080"/>
            <a:ext cx="1979291" cy="217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lnSpc>
                <a:spcPct val="150000"/>
              </a:lnSpc>
              <a:defRPr/>
            </a:pPr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3" name="椭圆 12"/>
          <p:cNvSpPr/>
          <p:nvPr/>
        </p:nvSpPr>
        <p:spPr>
          <a:xfrm>
            <a:off x="3704772" y="176944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704772" y="2621617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704772" y="3473785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46638" y="3374660"/>
            <a:ext cx="3389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运算方法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146638" y="1666510"/>
            <a:ext cx="341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模型机的总体设计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46638" y="2520585"/>
            <a:ext cx="3797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算术逻辑运算部件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21ADD485-E0E0-4836-8EE9-6806D8013258}"/>
              </a:ext>
            </a:extLst>
          </p:cNvPr>
          <p:cNvSpPr/>
          <p:nvPr/>
        </p:nvSpPr>
        <p:spPr>
          <a:xfrm>
            <a:off x="3704772" y="4325953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F6B514-A15F-45D7-9EE1-6358302BD334}"/>
              </a:ext>
            </a:extLst>
          </p:cNvPr>
          <p:cNvSpPr txBox="1"/>
          <p:nvPr/>
        </p:nvSpPr>
        <p:spPr>
          <a:xfrm>
            <a:off x="4146638" y="4228735"/>
            <a:ext cx="448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模型机的组合逻辑控制器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1FC0AE8-6523-40FD-83C7-293D68EBF575}"/>
              </a:ext>
            </a:extLst>
          </p:cNvPr>
          <p:cNvSpPr/>
          <p:nvPr/>
        </p:nvSpPr>
        <p:spPr>
          <a:xfrm>
            <a:off x="3704772" y="5178120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A7C183-A572-42D5-B5A3-898F42879B09}"/>
              </a:ext>
            </a:extLst>
          </p:cNvPr>
          <p:cNvSpPr txBox="1"/>
          <p:nvPr/>
        </p:nvSpPr>
        <p:spPr>
          <a:xfrm>
            <a:off x="4110444" y="5082808"/>
            <a:ext cx="448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模型机的微程序控制器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/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/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/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</a:t>
              </a:r>
              <a:r>
                <a:rPr lang="en-US" altLang="zh-CN" sz="2800" b="1" dirty="0">
                  <a:solidFill>
                    <a:prstClr val="white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4 </a:t>
              </a:r>
              <a:r>
                <a:rPr lang="zh-CN" altLang="en-US" sz="2800" dirty="0">
                  <a:solidFill>
                    <a:prstClr val="white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模型机的组合逻辑控制器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/>
          <p:cNvSpPr txBox="1"/>
          <p:nvPr/>
        </p:nvSpPr>
        <p:spPr>
          <a:xfrm>
            <a:off x="1872698" y="2923279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</a:t>
            </a:r>
          </a:p>
        </p:txBody>
      </p:sp>
      <p:sp>
        <p:nvSpPr>
          <p:cNvPr id="15" name="ísḻiḑe"/>
          <p:cNvSpPr/>
          <p:nvPr/>
        </p:nvSpPr>
        <p:spPr>
          <a:xfrm>
            <a:off x="2526228" y="2934821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组合逻辑控制器概述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/>
          <p:cNvSpPr txBox="1"/>
          <p:nvPr/>
        </p:nvSpPr>
        <p:spPr>
          <a:xfrm>
            <a:off x="1872697" y="3608422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îṣ1idè"/>
          <p:cNvSpPr/>
          <p:nvPr/>
        </p:nvSpPr>
        <p:spPr>
          <a:xfrm>
            <a:off x="2702874" y="3594033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组合逻辑控制器时序系统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" name="işľíďe"/>
          <p:cNvSpPr txBox="1"/>
          <p:nvPr/>
        </p:nvSpPr>
        <p:spPr>
          <a:xfrm>
            <a:off x="1872697" y="431968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ïşľïdé"/>
          <p:cNvSpPr/>
          <p:nvPr/>
        </p:nvSpPr>
        <p:spPr>
          <a:xfrm>
            <a:off x="2702874" y="4316268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15000"/>
              </a:lnSpc>
              <a:spcBef>
                <a:spcPct val="10000"/>
              </a:spcBef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指令流程与操作时间表</a:t>
            </a:r>
          </a:p>
        </p:txBody>
      </p:sp>
      <p:sp>
        <p:nvSpPr>
          <p:cNvPr id="20" name="ís1íde"/>
          <p:cNvSpPr txBox="1"/>
          <p:nvPr/>
        </p:nvSpPr>
        <p:spPr>
          <a:xfrm>
            <a:off x="1872697" y="5077222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íṡḻîḓé"/>
          <p:cNvSpPr/>
          <p:nvPr/>
        </p:nvSpPr>
        <p:spPr>
          <a:xfrm>
            <a:off x="2702874" y="5065680"/>
            <a:ext cx="4557302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组合逻辑控制方式的优缺点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2" name="îṩļíḑé"/>
          <p:cNvSpPr/>
          <p:nvPr/>
        </p:nvSpPr>
        <p:spPr>
          <a:xfrm>
            <a:off x="1524070" y="2951834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/>
          <p:cNvSpPr/>
          <p:nvPr/>
        </p:nvSpPr>
        <p:spPr>
          <a:xfrm>
            <a:off x="1524070" y="3636976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/>
          <p:cNvSpPr/>
          <p:nvPr/>
        </p:nvSpPr>
        <p:spPr>
          <a:xfrm>
            <a:off x="1524070" y="434824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íšḻíḋe"/>
          <p:cNvSpPr/>
          <p:nvPr/>
        </p:nvSpPr>
        <p:spPr>
          <a:xfrm>
            <a:off x="1524070" y="5105776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959428" y="3429481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959428" y="4126171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959428" y="4848984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一、组合逻辑控制器概述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701800"/>
            <a:ext cx="8775387" cy="2576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组合逻辑控制器的微命令是由组合逻辑电路来实现。每种微命令都需要一组逻辑电路，全机所有微命令所需的逻辑电路就构成了微命令发生器。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、硬件组成：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26" name="图片 43" descr="3T8">
            <a:extLst>
              <a:ext uri="{FF2B5EF4-FFF2-40B4-BE49-F238E27FC236}">
                <a16:creationId xmlns:a16="http://schemas.microsoft.com/office/drawing/2014/main" id="{F0542EAD-32C2-4BAD-BA0D-ACB92839B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13" y="3324920"/>
            <a:ext cx="5166978" cy="3021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D6D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自选图形 447">
            <a:extLst>
              <a:ext uri="{FF2B5EF4-FFF2-40B4-BE49-F238E27FC236}">
                <a16:creationId xmlns:a16="http://schemas.microsoft.com/office/drawing/2014/main" id="{BA9786EB-07F1-45CA-A118-12CB95FC2717}"/>
              </a:ext>
            </a:extLst>
          </p:cNvPr>
          <p:cNvSpPr>
            <a:spLocks/>
          </p:cNvSpPr>
          <p:nvPr/>
        </p:nvSpPr>
        <p:spPr bwMode="auto">
          <a:xfrm>
            <a:off x="5661360" y="3347926"/>
            <a:ext cx="140921" cy="2998899"/>
          </a:xfrm>
          <a:prstGeom prst="leftBrace">
            <a:avLst>
              <a:gd name="adj1" fmla="val 72222"/>
              <a:gd name="adj2" fmla="val 50000"/>
            </a:avLst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EE4823-47A5-466F-B7D5-C8ADBEBF9586}"/>
              </a:ext>
            </a:extLst>
          </p:cNvPr>
          <p:cNvSpPr txBox="1"/>
          <p:nvPr/>
        </p:nvSpPr>
        <p:spPr>
          <a:xfrm>
            <a:off x="5793002" y="3216159"/>
            <a:ext cx="30619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程序计数器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  <a:p>
            <a:pPr lvl="0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指令寄存器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</a:p>
          <a:p>
            <a:pPr lvl="0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状态寄存器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PSW</a:t>
            </a:r>
          </a:p>
          <a:p>
            <a:pPr lvl="0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时序系统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微命令发生器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译码器、地址形成部件等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159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4" grpId="0" animBg="1"/>
      <p:bldP spid="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一、组合逻辑控制器概述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1615E7-9B78-4BF4-9329-B76854763DF4}"/>
              </a:ext>
            </a:extLst>
          </p:cNvPr>
          <p:cNvSpPr txBox="1"/>
          <p:nvPr/>
        </p:nvSpPr>
        <p:spPr>
          <a:xfrm>
            <a:off x="197726" y="762107"/>
            <a:ext cx="8767150" cy="4515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、工作原理：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从主存读取的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现行指令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存放在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中，其中，操作码与寻址方式代码分别经译码电路形成一些中间逻辑信号，送入微命令发生器，作为产生微命令的基本逻辑依据。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微命令的形成还需考虑各种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状态信息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，如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PSW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所反映的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内部运行状态、由控制台（如键盘）产生的操作员控制命令、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设备与接口的有关状态、外部请求等等。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27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一、组合逻辑控制器概述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1615E7-9B78-4BF4-9329-B76854763DF4}"/>
              </a:ext>
            </a:extLst>
          </p:cNvPr>
          <p:cNvSpPr txBox="1"/>
          <p:nvPr/>
        </p:nvSpPr>
        <p:spPr>
          <a:xfrm>
            <a:off x="188425" y="887298"/>
            <a:ext cx="8767150" cy="5161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微命令是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分时产生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的，所以还需引入时序系统提供的周期、节拍、脉冲等时序信号。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中的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地址段信息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送往地址形成部件，按照寻址方式码形成实际地址，或送主存以访问主存单元；或送往运算器，按指定的寄存器号选取相应的寄存器。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当程序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顺序执行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增量计数，形成后续指令的地址；当程序需要转移时，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中的地址段信息经地址形成部件产生转移地址，送入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，使程序发生转移。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079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二、组合逻辑控制器时序系统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841142"/>
            <a:ext cx="8775387" cy="1574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组合逻辑控制器依靠不同的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时间标志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，使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分步工作，模型机按常规采用工作周期、时钟周期、工作脉冲三级时序。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146365-4BBF-4C08-AC3E-B20F9C066500}"/>
              </a:ext>
            </a:extLst>
          </p:cNvPr>
          <p:cNvSpPr txBox="1"/>
          <p:nvPr/>
        </p:nvSpPr>
        <p:spPr>
          <a:xfrm>
            <a:off x="177024" y="2366252"/>
            <a:ext cx="8775387" cy="4160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、工作周期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模型机设置了六种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工作周期状态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，用六个周期状态触发器作为它们的标志。其中，四个工作周期（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取指、源、目的、执行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）用于指令的正常执行，两个工作周期（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中断、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）用于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传送控制。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某一时期内只有其中一个周期状态触发器为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，指明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现在所处的工作周期状态，为该阶段的工作提供时间标志与依据。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090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二、组合逻辑控制器时序系统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146365-4BBF-4C08-AC3E-B20F9C066500}"/>
              </a:ext>
            </a:extLst>
          </p:cNvPr>
          <p:cNvSpPr txBox="1"/>
          <p:nvPr/>
        </p:nvSpPr>
        <p:spPr>
          <a:xfrm>
            <a:off x="184306" y="762495"/>
            <a:ext cx="8775387" cy="5614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取指周期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FT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FT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中完成的操作是公共性操作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lvl="0"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源周期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如果需要从主存中读取源操作数（非寄存器寻址），则进入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目的周期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DT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如果需要从主存中读取目的地址或目的操作数（非寄存器寻址），则进入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④ 执行周期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ET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取得操作数后，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进入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ET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，这也是各类指令都需经历的最后一个工作阶段。</a:t>
            </a:r>
          </a:p>
          <a:p>
            <a:pPr lvl="0"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⑤ 中断周期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IT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除了考虑指令的正常执行，还需考虑外部请求带来的变化。在响应中断请求之后，到执行中断服务程序之前，需要一个过渡期，称为中断周期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4384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二、组合逻辑控制器时序系统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146365-4BBF-4C08-AC3E-B20F9C066500}"/>
              </a:ext>
            </a:extLst>
          </p:cNvPr>
          <p:cNvSpPr txBox="1"/>
          <p:nvPr/>
        </p:nvSpPr>
        <p:spPr>
          <a:xfrm>
            <a:off x="227712" y="752406"/>
            <a:ext cx="5170677" cy="5808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⑥ 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周期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DMAT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响应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请求之后，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进入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交出系统总线的控制权，即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与系统总线断开（呈高阻态），改由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控制器控制系统总线，实现主存与外围设备间的数据直传。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各工作周期状态之间的转换示意图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</p:txBody>
      </p:sp>
      <p:pic>
        <p:nvPicPr>
          <p:cNvPr id="12" name="图片 51" descr="3T34">
            <a:extLst>
              <a:ext uri="{FF2B5EF4-FFF2-40B4-BE49-F238E27FC236}">
                <a16:creationId xmlns:a16="http://schemas.microsoft.com/office/drawing/2014/main" id="{B162B2B2-EB4C-4673-BD00-E4D5841BD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614" y="950785"/>
            <a:ext cx="2990736" cy="544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D6D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8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二、组合逻辑控制器时序系统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146365-4BBF-4C08-AC3E-B20F9C066500}"/>
              </a:ext>
            </a:extLst>
          </p:cNvPr>
          <p:cNvSpPr txBox="1"/>
          <p:nvPr/>
        </p:nvSpPr>
        <p:spPr>
          <a:xfrm>
            <a:off x="93046" y="827541"/>
            <a:ext cx="8979671" cy="571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、时钟周期（节拍）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指令的读取与执行既有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内部数据通路操作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，也包含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访问主存的操作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。为简化时序控制，模型机将两类操作周期统一起来，即以主存访问周期所需时间为时钟周期的宽度，这里设为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微秒。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、工作脉冲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钟周期表示一个时间段，在这段时间内可以进行某种数据通路操作，如两数相加。但有些操作需要同步定时脉冲进行控制，如将稳定的运算结果打入寄存器，又如进行周期状态切换。模型机在每个时钟周期的末尾发一个工作脉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，作为各种同步脉冲的来源，如下页图所示。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390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二、组合逻辑控制器时序系统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146365-4BBF-4C08-AC3E-B20F9C066500}"/>
              </a:ext>
            </a:extLst>
          </p:cNvPr>
          <p:cNvSpPr txBox="1"/>
          <p:nvPr/>
        </p:nvSpPr>
        <p:spPr>
          <a:xfrm>
            <a:off x="164329" y="800138"/>
            <a:ext cx="8775387" cy="3126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工作脉冲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的前沿作为打入寄存器的定时，它标志着一次数据通路操作的完成。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的后沿作为时序转换的定时，在此刻如果本工作周期未结束，则对时钟周期计数器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计数，进入新的节拍；如果本工作周期结束，则将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清零，并清除本工作周期状态标志，设置新的工作周期状态标志。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7814E3-6582-4A80-A0DE-A6A1747C6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29" y="4047208"/>
            <a:ext cx="8775387" cy="23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9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701442"/>
            <a:ext cx="8775387" cy="5808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通过有关讨论应能较深人地了解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执行指令的工作机制。分两个层次进行讨论：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① 在寄存器传送级拟定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各类指令的执行流程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，也就是确定指令执行的具体步骤，即各类信息如何分步地按要求流动。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② 拟定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操作时间表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，即给出实现上述流程所需的微操作命令序列。其中包含维持一个时钟周期的电位型微命令，以及短暂的脉冲型微命令。操作时间表还将表明出现各种微命令的逻辑条件与时间条件。</a:t>
            </a:r>
          </a:p>
        </p:txBody>
      </p:sp>
    </p:spTree>
    <p:extLst>
      <p:ext uri="{BB962C8B-B14F-4D97-AF65-F5344CB8AC3E}">
        <p14:creationId xmlns:p14="http://schemas.microsoft.com/office/powerpoint/2010/main" val="103899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917342"/>
            <a:ext cx="8775387" cy="38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通过这两种层次的工程化描述，我们就清晰地确定了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在什么时间、根据什么条件、发出什么命令、做什么事。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这里是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以指令为线索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，按指令类型分别拟定操作流程。这种方法的优点是对指令的执行过程拟出了清晰的线索，便于理解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的工作过程。</a:t>
            </a:r>
          </a:p>
        </p:txBody>
      </p:sp>
    </p:spTree>
    <p:extLst>
      <p:ext uri="{BB962C8B-B14F-4D97-AF65-F5344CB8AC3E}">
        <p14:creationId xmlns:p14="http://schemas.microsoft.com/office/powerpoint/2010/main" val="317076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752242"/>
            <a:ext cx="8775387" cy="5808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、取指周期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FT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进入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FT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的方式和条件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由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端异步置入：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a.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上电初始化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b.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复位初始化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运算过程中同步打入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FT(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端打入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a.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程序正常执行，应进入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FT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b. 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周期执行后，应进入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FT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c. IT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周期执行后，应进入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FT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136790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841142"/>
            <a:ext cx="8799335" cy="386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取指流程：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M→IR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PC+1→PC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操作时间表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	EMAR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SIR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PC→A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，经过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ALU+1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 ,CPPC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① 1→ST,CPST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② 1→DT,CPDT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③ 1→ET,CPET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7EB8313-A8AF-4FED-B369-FD1B739DB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3486" y="2893796"/>
            <a:ext cx="6273356" cy="348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3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87158" y="662883"/>
            <a:ext cx="8775387" cy="128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周期（按寻址方式不同，流程不同）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）型：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C6A7E2-AD88-4E70-8DBB-B0532C2AE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135913"/>
              </p:ext>
            </p:extLst>
          </p:nvPr>
        </p:nvGraphicFramePr>
        <p:xfrm>
          <a:off x="2289196" y="1413495"/>
          <a:ext cx="6582872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718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1645718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645718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645718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ST0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r>
                        <a:rPr lang="en-US" altLang="zh-CN" sz="1800" b="1" kern="1200" baseline="-250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i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 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r>
                        <a:rPr lang="en-US" altLang="zh-CN" sz="1800" b="1" kern="1200" baseline="-250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i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64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2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CPMAR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7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81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ST1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EMAR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SMBR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DM 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CPC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DT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CPDT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ET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CPET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62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79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5872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459AC15-7791-42A4-8EEE-348DB0841955}"/>
                  </a:ext>
                </a:extLst>
              </p:cNvPr>
              <p:cNvSpPr txBox="1"/>
              <p:nvPr/>
            </p:nvSpPr>
            <p:spPr>
              <a:xfrm>
                <a:off x="177024" y="841142"/>
                <a:ext cx="87753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ED7D3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②</m:t>
                    </m:r>
                  </m:oMath>
                </a14:m>
                <a:r>
                  <a:rPr lang="en-US" altLang="zh-CN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-(R)</a:t>
                </a:r>
                <a:r>
                  <a:rPr lang="zh-CN" altLang="en-US" sz="2800" b="1" dirty="0">
                    <a:solidFill>
                      <a:srgbClr val="ED7D3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型：</a:t>
                </a:r>
                <a:endParaRPr lang="en-US" altLang="zh-CN" sz="2800" b="1" dirty="0">
                  <a:solidFill>
                    <a:srgbClr val="ED7D3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459AC15-7791-42A4-8EEE-348DB0841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24" y="841142"/>
                <a:ext cx="8775387" cy="523220"/>
              </a:xfrm>
              <a:prstGeom prst="rect">
                <a:avLst/>
              </a:prstGeom>
              <a:blipFill>
                <a:blip r:embed="rId5"/>
                <a:stretch>
                  <a:fillRect t="-15116" b="-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C6A7E2-AD88-4E70-8DBB-B0532C2AE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406672"/>
              </p:ext>
            </p:extLst>
          </p:nvPr>
        </p:nvGraphicFramePr>
        <p:xfrm>
          <a:off x="2211977" y="910814"/>
          <a:ext cx="6303374" cy="5533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905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1883781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575844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575844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ST0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R</a:t>
                      </a:r>
                      <a:r>
                        <a:rPr lang="en-US" altLang="zh-CN" sz="1800" b="1" kern="1200" baseline="-250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i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-1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，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641620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在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中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-1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23360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DM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CPMAR,CPR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79014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T+1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81245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ST1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EMAR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SMBR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CPC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DT?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CPDT?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  <a:tr h="425656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ET?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CPET?</a:t>
                      </a:r>
                      <a:endParaRPr lang="zh-CN" altLang="en-US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62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18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841142"/>
            <a:ext cx="877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I/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型：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C6A7E2-AD88-4E70-8DBB-B0532C2AE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30114"/>
              </p:ext>
            </p:extLst>
          </p:nvPr>
        </p:nvGraphicFramePr>
        <p:xfrm>
          <a:off x="2695575" y="839691"/>
          <a:ext cx="6086474" cy="5962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277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1818959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521619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521619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22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ST0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i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250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i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641620"/>
                  </a:ext>
                </a:extLst>
              </a:tr>
              <a:tr h="32687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23360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79014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81245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SMBR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ST2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Ri+1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625389"/>
                  </a:ext>
                </a:extLst>
              </a:tr>
              <a:tr h="250477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在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中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808609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CPRi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26385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DT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CPDT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808112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ET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CPET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0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59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841142"/>
            <a:ext cx="877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④ @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型：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C6A7E2-AD88-4E70-8DBB-B0532C2AE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135181"/>
              </p:ext>
            </p:extLst>
          </p:nvPr>
        </p:nvGraphicFramePr>
        <p:xfrm>
          <a:off x="2695575" y="839691"/>
          <a:ext cx="5819774" cy="5604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631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1739255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454944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454944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413980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4139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</a:t>
                      </a:r>
                      <a:r>
                        <a:rPr lang="zh-CN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</a:t>
                      </a:r>
                      <a:r>
                        <a:rPr lang="zh-CN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641620"/>
                  </a:ext>
                </a:extLst>
              </a:tr>
              <a:tr h="73242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23360"/>
                  </a:ext>
                </a:extLst>
              </a:tr>
              <a:tr h="413980"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CPMAR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79014"/>
                  </a:ext>
                </a:extLst>
              </a:tr>
              <a:tr h="413980"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81245"/>
                  </a:ext>
                </a:extLst>
              </a:tr>
              <a:tr h="4139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</a:t>
                      </a:r>
                      <a:r>
                        <a:rPr lang="zh-CN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EMAR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413980"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413980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SMBR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413980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73242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413980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CPC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413980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841142"/>
            <a:ext cx="877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④ @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型：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C6A7E2-AD88-4E70-8DBB-B0532C2AE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636828"/>
              </p:ext>
            </p:extLst>
          </p:nvPr>
        </p:nvGraphicFramePr>
        <p:xfrm>
          <a:off x="2558005" y="839691"/>
          <a:ext cx="5889310" cy="5893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619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1760035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472328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472328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ST2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Ri+1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625389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在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中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+1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808609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 err="1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CPRi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26385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808112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ST3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C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C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0714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在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中传送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663864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CPMAR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48124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CDT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878422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ST4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EMAR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64301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548942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SMBR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843963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572026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87209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CPC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31458"/>
                  </a:ext>
                </a:extLst>
              </a:tr>
              <a:tr h="368367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DT? 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CPDT?</a:t>
                      </a:r>
                      <a:endParaRPr lang="zh-CN" altLang="en-US" sz="18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851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22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841142"/>
            <a:ext cx="877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⑤ X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）型：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C6A7E2-AD88-4E70-8DBB-B0532C2AE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711402"/>
              </p:ext>
            </p:extLst>
          </p:nvPr>
        </p:nvGraphicFramePr>
        <p:xfrm>
          <a:off x="2500604" y="933595"/>
          <a:ext cx="6014746" cy="5610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849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1797523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503687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503687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PC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641620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23360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 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CPMAR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79014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 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81245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EMAR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SMBR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经过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CPC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06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59AC15-7791-42A4-8EEE-348DB0841955}"/>
              </a:ext>
            </a:extLst>
          </p:cNvPr>
          <p:cNvSpPr txBox="1"/>
          <p:nvPr/>
        </p:nvSpPr>
        <p:spPr>
          <a:xfrm>
            <a:off x="177024" y="841142"/>
            <a:ext cx="877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⑤ X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）型：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C6A7E2-AD88-4E70-8DBB-B0532C2AE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49184"/>
              </p:ext>
            </p:extLst>
          </p:nvPr>
        </p:nvGraphicFramePr>
        <p:xfrm>
          <a:off x="2407298" y="841142"/>
          <a:ext cx="5977896" cy="5980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787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1727966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776669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494474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22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ST2 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PC+1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641620"/>
                  </a:ext>
                </a:extLst>
              </a:tr>
              <a:tr h="32687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在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中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23360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CPPC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79014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181245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ST3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Ri+C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Ri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A/B,C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B/A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在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中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A+B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ST4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 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SMBR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0596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经过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3694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706282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DT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CPDT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69396"/>
                  </a:ext>
                </a:extLst>
              </a:tr>
              <a:tr h="354018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ET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CPET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？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808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27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42294D-ED7C-4865-A53A-06BAAAE3F728}"/>
              </a:ext>
            </a:extLst>
          </p:cNvPr>
          <p:cNvSpPr txBox="1"/>
          <p:nvPr/>
        </p:nvSpPr>
        <p:spPr>
          <a:xfrm>
            <a:off x="87158" y="662883"/>
            <a:ext cx="8775387" cy="342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例题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拟定指令“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ADD  @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）”的执行流程及操作时间表的安排；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）表示源寻址，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@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表示目的寻址。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FT: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M→IR          EMAR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SIR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PC+1→PC       PC→A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A+1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DM ,CPPC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      1→ST,CPST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2A640E6-825C-4419-91F1-0E8514AFF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282249"/>
              </p:ext>
            </p:extLst>
          </p:nvPr>
        </p:nvGraphicFramePr>
        <p:xfrm>
          <a:off x="930226" y="4084974"/>
          <a:ext cx="7790793" cy="225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096">
                  <a:extLst>
                    <a:ext uri="{9D8B030D-6E8A-4147-A177-3AD203B41FA5}">
                      <a16:colId xmlns:a16="http://schemas.microsoft.com/office/drawing/2014/main" val="1144551667"/>
                    </a:ext>
                  </a:extLst>
                </a:gridCol>
                <a:gridCol w="2328299">
                  <a:extLst>
                    <a:ext uri="{9D8B030D-6E8A-4147-A177-3AD203B41FA5}">
                      <a16:colId xmlns:a16="http://schemas.microsoft.com/office/drawing/2014/main" val="1749802020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4163346023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4158257425"/>
                    </a:ext>
                  </a:extLst>
                </a:gridCol>
              </a:tblGrid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449247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ST0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 PC</a:t>
                      </a:r>
                      <a:r>
                        <a:rPr lang="zh-CN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925072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450686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 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CPMAR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94426"/>
                  </a:ext>
                </a:extLst>
              </a:tr>
              <a:tr h="451896">
                <a:tc>
                  <a:txBody>
                    <a:bodyPr/>
                    <a:lstStyle/>
                    <a:p>
                      <a:pPr algn="ctr"/>
                      <a:endParaRPr lang="zh-CN" altLang="en-US" sz="20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 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013386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223C4A19-B7CB-41B2-9C6B-324E1BA4E7F8}"/>
              </a:ext>
            </a:extLst>
          </p:cNvPr>
          <p:cNvSpPr txBox="1"/>
          <p:nvPr/>
        </p:nvSpPr>
        <p:spPr>
          <a:xfrm>
            <a:off x="80811" y="3929162"/>
            <a:ext cx="614384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</a:t>
            </a:r>
            <a:r>
              <a:rPr lang="zh-CN" altLang="en-US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388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24</a:t>
            </a:fld>
            <a:endParaRPr lang="zh-CN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180CA9A-7849-4B3E-A6A5-DAB637B90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686567"/>
              </p:ext>
            </p:extLst>
          </p:nvPr>
        </p:nvGraphicFramePr>
        <p:xfrm>
          <a:off x="685904" y="901988"/>
          <a:ext cx="7790793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096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2328299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86968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SMBR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MBR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ALU</a:t>
                      </a:r>
                      <a:r>
                        <a:rPr lang="zh-CN" altLang="en-US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传送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ST2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PC+1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404617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852364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CPPC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705484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314709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ST3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R3+C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R3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A/B,C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B/A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583565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A+B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654293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91311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65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95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endParaRPr lang="zh-CN" altLang="zh-CN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25</a:t>
            </a:fld>
            <a:endParaRPr lang="zh-CN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180CA9A-7849-4B3E-A6A5-DAB637B90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530016"/>
              </p:ext>
            </p:extLst>
          </p:nvPr>
        </p:nvGraphicFramePr>
        <p:xfrm>
          <a:off x="685904" y="901988"/>
          <a:ext cx="779079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096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2328299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86968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ST4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MDR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SMDR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MDR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ALU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传送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CPDT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4FD3104-A5D7-4AD5-B945-41FAF36BD023}"/>
              </a:ext>
            </a:extLst>
          </p:cNvPr>
          <p:cNvSpPr txBox="1"/>
          <p:nvPr/>
        </p:nvSpPr>
        <p:spPr>
          <a:xfrm>
            <a:off x="71520" y="3645188"/>
            <a:ext cx="614384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DT</a:t>
            </a:r>
            <a:r>
              <a:rPr lang="zh-CN" altLang="en-US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7D3DD59-74B4-4DD3-A949-09EC10DF0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468325"/>
              </p:ext>
            </p:extLst>
          </p:nvPr>
        </p:nvGraphicFramePr>
        <p:xfrm>
          <a:off x="694285" y="3795713"/>
          <a:ext cx="779079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096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2328299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86968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DT0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ALU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传送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DT1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MDR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SMDR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17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endParaRPr lang="zh-CN" altLang="zh-CN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26</a:t>
            </a:fld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91B6A01-33A3-45CE-B5AE-A40C142B7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606937"/>
              </p:ext>
            </p:extLst>
          </p:nvPr>
        </p:nvGraphicFramePr>
        <p:xfrm>
          <a:off x="685904" y="901988"/>
          <a:ext cx="7790793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096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2328299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86968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MDR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ALU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传送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CPC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DT2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R1+1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ALU+1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CPR1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404617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DT3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852364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ALU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传送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705484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314709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583565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DT4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MDR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D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654293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91311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SMDR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65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82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endParaRPr lang="zh-CN" altLang="zh-CN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27</a:t>
            </a:fld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91B6A01-33A3-45CE-B5AE-A40C142B7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502728"/>
              </p:ext>
            </p:extLst>
          </p:nvPr>
        </p:nvGraphicFramePr>
        <p:xfrm>
          <a:off x="685904" y="814898"/>
          <a:ext cx="779079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096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2328299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86968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MDR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ALU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传送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CPD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CPET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228D8344-38C1-4F63-9256-3E36CC053092}"/>
              </a:ext>
            </a:extLst>
          </p:cNvPr>
          <p:cNvSpPr txBox="1"/>
          <p:nvPr/>
        </p:nvSpPr>
        <p:spPr>
          <a:xfrm>
            <a:off x="71520" y="2452101"/>
            <a:ext cx="614384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ET</a:t>
            </a:r>
            <a:r>
              <a:rPr lang="zh-CN" altLang="en-US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EFC4663-EEFF-44E1-BD51-6C5C1330C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986825"/>
              </p:ext>
            </p:extLst>
          </p:nvPr>
        </p:nvGraphicFramePr>
        <p:xfrm>
          <a:off x="694285" y="2628752"/>
          <a:ext cx="7790793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096">
                  <a:extLst>
                    <a:ext uri="{9D8B030D-6E8A-4147-A177-3AD203B41FA5}">
                      <a16:colId xmlns:a16="http://schemas.microsoft.com/office/drawing/2014/main" val="1630952323"/>
                    </a:ext>
                  </a:extLst>
                </a:gridCol>
                <a:gridCol w="2328299">
                  <a:extLst>
                    <a:ext uri="{9D8B030D-6E8A-4147-A177-3AD203B41FA5}">
                      <a16:colId xmlns:a16="http://schemas.microsoft.com/office/drawing/2014/main" val="3889443608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2807240513"/>
                    </a:ext>
                  </a:extLst>
                </a:gridCol>
                <a:gridCol w="1947699">
                  <a:extLst>
                    <a:ext uri="{9D8B030D-6E8A-4147-A177-3AD203B41FA5}">
                      <a16:colId xmlns:a16="http://schemas.microsoft.com/office/drawing/2014/main" val="4130772977"/>
                    </a:ext>
                  </a:extLst>
                </a:gridCol>
              </a:tblGrid>
              <a:tr h="386968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电平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脉冲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7353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ET0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C+D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MDR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A/B,D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B/A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04656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A+B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4163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CPMDR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658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439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ET1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MDR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809402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W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99710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T+1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CPT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5939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ET2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PC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→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A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49186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ALU</a:t>
                      </a:r>
                      <a:r>
                        <a:rPr lang="zh-CN" altLang="en-US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传送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081"/>
                  </a:ext>
                </a:extLst>
              </a:tr>
              <a:tr h="328900"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DM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CPMAR</a:t>
                      </a:r>
                      <a:endParaRPr lang="zh-CN" altLang="en-US" sz="16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158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7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5872" y="-43031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endParaRPr lang="zh-CN" altLang="zh-CN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三、指令流程与操作时间表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6FD948-92FF-47BF-A1F7-3EF6FC9217E5}"/>
              </a:ext>
            </a:extLst>
          </p:cNvPr>
          <p:cNvSpPr txBox="1"/>
          <p:nvPr/>
        </p:nvSpPr>
        <p:spPr>
          <a:xfrm>
            <a:off x="87158" y="706428"/>
            <a:ext cx="5237317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(1) 1→FT           CPFT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(2) 1→DMAT         CPDMAT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(3) 1→IT           CPIT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C39321-D930-4B08-BF84-0A7BA03C1376}"/>
              </a:ext>
            </a:extLst>
          </p:cNvPr>
          <p:cNvSpPr txBox="1"/>
          <p:nvPr/>
        </p:nvSpPr>
        <p:spPr>
          <a:xfrm>
            <a:off x="87158" y="2282530"/>
            <a:ext cx="2830213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、中断周期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IT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467296-64F5-4351-B27A-4556EA52D902}"/>
              </a:ext>
            </a:extLst>
          </p:cNvPr>
          <p:cNvSpPr txBox="1"/>
          <p:nvPr/>
        </p:nvSpPr>
        <p:spPr>
          <a:xfrm>
            <a:off x="4634872" y="2282530"/>
            <a:ext cx="2830213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DMAT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周期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8690A0-29A9-4639-925A-2DB799787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871" y="3007563"/>
            <a:ext cx="3870307" cy="2713967"/>
          </a:xfrm>
          <a:prstGeom prst="rect">
            <a:avLst/>
          </a:prstGeom>
        </p:spPr>
      </p:pic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C3DF23D2-EA17-E935-DDAF-8B1EB6F14A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23" y="3002898"/>
            <a:ext cx="2539877" cy="344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7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endParaRPr lang="zh-CN" altLang="zh-CN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四、组合逻辑控制方式的优缺点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6FD948-92FF-47BF-A1F7-3EF6FC9217E5}"/>
              </a:ext>
            </a:extLst>
          </p:cNvPr>
          <p:cNvSpPr txBox="1"/>
          <p:nvPr/>
        </p:nvSpPr>
        <p:spPr>
          <a:xfrm>
            <a:off x="195979" y="985080"/>
            <a:ext cx="8752042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缺点：</a:t>
            </a:r>
            <a:endParaRPr lang="en-US" altLang="zh-CN" sz="24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设计不规整。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组合逻辑控制方式是用许多门电路产生微命令的，而这些门电路所需的逻辑形态很不规整，因此组合逻辑控制器的核心部分比较繁琐、零乱，设计效率较低，检查调试也比较困难。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不易修改或扩展。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组合逻辑控制方式的另一缺点是不易修改或扩展指令功能。这是因为设计结果用印制电路板（硬连逻辑）固定下来以后，就很难再修改与扩展。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70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计算机组成原理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1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88D359CD-C887-4460-A350-FDDE9A47B3D8}" type="datetime1">
              <a:rPr lang="zh-CN" altLang="en-US" sz="1400" smtClean="0">
                <a:solidFill>
                  <a:schemeClr val="tx1"/>
                </a:solidFill>
              </a:rPr>
              <a:t>2026/8/24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介大气毕业答辩竞赛演讲PPT模板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3349</TotalTime>
  <Words>2622</Words>
  <Application>Microsoft Office PowerPoint</Application>
  <PresentationFormat>全屏显示(4:3)</PresentationFormat>
  <Paragraphs>543</Paragraphs>
  <Slides>30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等线</vt:lpstr>
      <vt:lpstr>华文隶书</vt:lpstr>
      <vt:lpstr>华文行楷</vt:lpstr>
      <vt:lpstr>楷体</vt:lpstr>
      <vt:lpstr>隶书</vt:lpstr>
      <vt:lpstr>微软雅黑</vt:lpstr>
      <vt:lpstr>Arial</vt:lpstr>
      <vt:lpstr>Calibri</vt:lpstr>
      <vt:lpstr>Calibri Light</vt:lpstr>
      <vt:lpstr>Cambria Math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正华 吴</cp:lastModifiedBy>
  <cp:revision>1232</cp:revision>
  <dcterms:created xsi:type="dcterms:W3CDTF">2018-07-22T02:36:00Z</dcterms:created>
  <dcterms:modified xsi:type="dcterms:W3CDTF">2026-08-24T06:46:51Z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