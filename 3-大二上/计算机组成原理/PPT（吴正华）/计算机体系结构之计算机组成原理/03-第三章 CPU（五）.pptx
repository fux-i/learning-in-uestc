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4"/>
  </p:notesMasterIdLst>
  <p:handoutMasterIdLst>
    <p:handoutMasterId r:id="rId25"/>
  </p:handoutMasterIdLst>
  <p:sldIdLst>
    <p:sldId id="842" r:id="rId2"/>
    <p:sldId id="843" r:id="rId3"/>
    <p:sldId id="844" r:id="rId4"/>
    <p:sldId id="838" r:id="rId5"/>
    <p:sldId id="875" r:id="rId6"/>
    <p:sldId id="876" r:id="rId7"/>
    <p:sldId id="877" r:id="rId8"/>
    <p:sldId id="878" r:id="rId9"/>
    <p:sldId id="879" r:id="rId10"/>
    <p:sldId id="880" r:id="rId11"/>
    <p:sldId id="881" r:id="rId12"/>
    <p:sldId id="882" r:id="rId13"/>
    <p:sldId id="883" r:id="rId14"/>
    <p:sldId id="884" r:id="rId15"/>
    <p:sldId id="885" r:id="rId16"/>
    <p:sldId id="886" r:id="rId17"/>
    <p:sldId id="887" r:id="rId18"/>
    <p:sldId id="888" r:id="rId19"/>
    <p:sldId id="889" r:id="rId20"/>
    <p:sldId id="890" r:id="rId21"/>
    <p:sldId id="891" r:id="rId22"/>
    <p:sldId id="730" r:id="rId23"/>
  </p:sldIdLst>
  <p:sldSz cx="9144000" cy="6858000" type="screen4x3"/>
  <p:notesSz cx="6858000" cy="9144000"/>
  <p:custDataLst>
    <p:tags r:id="rId2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7">
          <p15:clr>
            <a:srgbClr val="A4A3A4"/>
          </p15:clr>
        </p15:guide>
        <p15:guide id="2" pos="1908">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563C1"/>
    <a:srgbClr val="FF9900"/>
    <a:srgbClr val="ED7D31"/>
    <a:srgbClr val="FF0000"/>
    <a:srgbClr val="2F5597"/>
    <a:srgbClr val="4472C4"/>
    <a:srgbClr val="F0DADA"/>
    <a:srgbClr val="668CCF"/>
    <a:srgbClr val="0045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39" autoAdjust="0"/>
    <p:restoredTop sz="96046" autoAdjust="0"/>
  </p:normalViewPr>
  <p:slideViewPr>
    <p:cSldViewPr snapToGrid="0" showGuides="1">
      <p:cViewPr varScale="1">
        <p:scale>
          <a:sx n="82" d="100"/>
          <a:sy n="82" d="100"/>
        </p:scale>
        <p:origin x="1632" y="62"/>
      </p:cViewPr>
      <p:guideLst>
        <p:guide orient="horz" pos="2107"/>
        <p:guide pos="1908"/>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80" d="100"/>
          <a:sy n="80" d="100"/>
        </p:scale>
        <p:origin x="355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5A1862-72E1-426C-855A-D48747319FD8}" type="datetimeFigureOut">
              <a:rPr lang="zh-CN" altLang="en-US" smtClean="0"/>
              <a:t>2026/8/24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3B0BC9D-12F8-4D67-BEC5-611AE33D2FA7}"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A95E01-A3AA-414B-AC91-6247B051C58A}" type="datetimeFigureOut">
              <a:rPr lang="zh-CN" altLang="en-US" smtClean="0"/>
              <a:t>2026/8/24</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8026A4-9EE3-4D0D-8D3A-764529D129E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D8026A4-9EE3-4D0D-8D3A-764529D129E6}"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342900" indent="-342900" algn="l" eaLnBrk="1" hangingPunct="1">
              <a:lnSpc>
                <a:spcPct val="115000"/>
              </a:lnSpc>
              <a:spcBef>
                <a:spcPct val="10000"/>
              </a:spcBef>
              <a:buFont typeface="Wingdings" panose="05000000000000000000" pitchFamily="2" charset="2"/>
              <a:buChar char="n"/>
            </a:pPr>
            <a:endParaRPr lang="zh-CN" altLang="en-US" dirty="0"/>
          </a:p>
        </p:txBody>
      </p:sp>
      <p:sp>
        <p:nvSpPr>
          <p:cNvPr id="4" name="灯片编号占位符 3"/>
          <p:cNvSpPr>
            <a:spLocks noGrp="1"/>
          </p:cNvSpPr>
          <p:nvPr>
            <p:ph type="sldNum" sz="quarter" idx="10"/>
          </p:nvPr>
        </p:nvSpPr>
        <p:spPr/>
        <p:txBody>
          <a:bodyPr/>
          <a:lstStyle/>
          <a:p>
            <a:fld id="{FD8026A4-9EE3-4D0D-8D3A-764529D129E6}"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4</a:t>
            </a:fld>
            <a:endParaRPr lang="zh-CN" altLang="en-US"/>
          </a:p>
        </p:txBody>
      </p:sp>
    </p:spTree>
    <p:extLst>
      <p:ext uri="{BB962C8B-B14F-4D97-AF65-F5344CB8AC3E}">
        <p14:creationId xmlns:p14="http://schemas.microsoft.com/office/powerpoint/2010/main" val="3734756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5</a:t>
            </a:fld>
            <a:endParaRPr lang="zh-CN" altLang="en-US"/>
          </a:p>
        </p:txBody>
      </p:sp>
    </p:spTree>
    <p:extLst>
      <p:ext uri="{BB962C8B-B14F-4D97-AF65-F5344CB8AC3E}">
        <p14:creationId xmlns:p14="http://schemas.microsoft.com/office/powerpoint/2010/main" val="16028747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6</a:t>
            </a:fld>
            <a:endParaRPr lang="zh-CN" altLang="en-US"/>
          </a:p>
        </p:txBody>
      </p:sp>
    </p:spTree>
    <p:extLst>
      <p:ext uri="{BB962C8B-B14F-4D97-AF65-F5344CB8AC3E}">
        <p14:creationId xmlns:p14="http://schemas.microsoft.com/office/powerpoint/2010/main" val="3386625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7</a:t>
            </a:fld>
            <a:endParaRPr lang="zh-CN" altLang="en-US"/>
          </a:p>
        </p:txBody>
      </p:sp>
    </p:spTree>
    <p:extLst>
      <p:ext uri="{BB962C8B-B14F-4D97-AF65-F5344CB8AC3E}">
        <p14:creationId xmlns:p14="http://schemas.microsoft.com/office/powerpoint/2010/main" val="5328698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8</a:t>
            </a:fld>
            <a:endParaRPr lang="zh-CN" altLang="en-US"/>
          </a:p>
        </p:txBody>
      </p:sp>
    </p:spTree>
    <p:extLst>
      <p:ext uri="{BB962C8B-B14F-4D97-AF65-F5344CB8AC3E}">
        <p14:creationId xmlns:p14="http://schemas.microsoft.com/office/powerpoint/2010/main" val="13385357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9</a:t>
            </a:fld>
            <a:endParaRPr lang="zh-CN" altLang="en-US"/>
          </a:p>
        </p:txBody>
      </p:sp>
    </p:spTree>
    <p:extLst>
      <p:ext uri="{BB962C8B-B14F-4D97-AF65-F5344CB8AC3E}">
        <p14:creationId xmlns:p14="http://schemas.microsoft.com/office/powerpoint/2010/main" val="1648971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10</a:t>
            </a:fld>
            <a:endParaRPr lang="zh-CN" altLang="en-US"/>
          </a:p>
        </p:txBody>
      </p:sp>
    </p:spTree>
    <p:extLst>
      <p:ext uri="{BB962C8B-B14F-4D97-AF65-F5344CB8AC3E}">
        <p14:creationId xmlns:p14="http://schemas.microsoft.com/office/powerpoint/2010/main" val="31923618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11</a:t>
            </a:fld>
            <a:endParaRPr lang="zh-CN" altLang="en-US"/>
          </a:p>
        </p:txBody>
      </p:sp>
    </p:spTree>
    <p:extLst>
      <p:ext uri="{BB962C8B-B14F-4D97-AF65-F5344CB8AC3E}">
        <p14:creationId xmlns:p14="http://schemas.microsoft.com/office/powerpoint/2010/main" val="20661625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12</a:t>
            </a:fld>
            <a:endParaRPr lang="zh-CN" altLang="en-US"/>
          </a:p>
        </p:txBody>
      </p:sp>
    </p:spTree>
    <p:extLst>
      <p:ext uri="{BB962C8B-B14F-4D97-AF65-F5344CB8AC3E}">
        <p14:creationId xmlns:p14="http://schemas.microsoft.com/office/powerpoint/2010/main" val="5771022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13</a:t>
            </a:fld>
            <a:endParaRPr lang="zh-CN" altLang="en-US"/>
          </a:p>
        </p:txBody>
      </p:sp>
    </p:spTree>
    <p:extLst>
      <p:ext uri="{BB962C8B-B14F-4D97-AF65-F5344CB8AC3E}">
        <p14:creationId xmlns:p14="http://schemas.microsoft.com/office/powerpoint/2010/main" val="5726042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14</a:t>
            </a:fld>
            <a:endParaRPr lang="zh-CN" altLang="en-US"/>
          </a:p>
        </p:txBody>
      </p:sp>
    </p:spTree>
    <p:extLst>
      <p:ext uri="{BB962C8B-B14F-4D97-AF65-F5344CB8AC3E}">
        <p14:creationId xmlns:p14="http://schemas.microsoft.com/office/powerpoint/2010/main" val="4021728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15</a:t>
            </a:fld>
            <a:endParaRPr lang="zh-CN" altLang="en-US"/>
          </a:p>
        </p:txBody>
      </p:sp>
    </p:spTree>
    <p:extLst>
      <p:ext uri="{BB962C8B-B14F-4D97-AF65-F5344CB8AC3E}">
        <p14:creationId xmlns:p14="http://schemas.microsoft.com/office/powerpoint/2010/main" val="3836303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16</a:t>
            </a:fld>
            <a:endParaRPr lang="zh-CN" altLang="en-US"/>
          </a:p>
        </p:txBody>
      </p:sp>
    </p:spTree>
    <p:extLst>
      <p:ext uri="{BB962C8B-B14F-4D97-AF65-F5344CB8AC3E}">
        <p14:creationId xmlns:p14="http://schemas.microsoft.com/office/powerpoint/2010/main" val="28019098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17</a:t>
            </a:fld>
            <a:endParaRPr lang="zh-CN" altLang="en-US"/>
          </a:p>
        </p:txBody>
      </p:sp>
    </p:spTree>
    <p:extLst>
      <p:ext uri="{BB962C8B-B14F-4D97-AF65-F5344CB8AC3E}">
        <p14:creationId xmlns:p14="http://schemas.microsoft.com/office/powerpoint/2010/main" val="14150611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18</a:t>
            </a:fld>
            <a:endParaRPr lang="zh-CN" altLang="en-US"/>
          </a:p>
        </p:txBody>
      </p:sp>
    </p:spTree>
    <p:extLst>
      <p:ext uri="{BB962C8B-B14F-4D97-AF65-F5344CB8AC3E}">
        <p14:creationId xmlns:p14="http://schemas.microsoft.com/office/powerpoint/2010/main" val="42770479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19</a:t>
            </a:fld>
            <a:endParaRPr lang="zh-CN" altLang="en-US"/>
          </a:p>
        </p:txBody>
      </p:sp>
    </p:spTree>
    <p:extLst>
      <p:ext uri="{BB962C8B-B14F-4D97-AF65-F5344CB8AC3E}">
        <p14:creationId xmlns:p14="http://schemas.microsoft.com/office/powerpoint/2010/main" val="8245361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20</a:t>
            </a:fld>
            <a:endParaRPr lang="zh-CN" altLang="en-US"/>
          </a:p>
        </p:txBody>
      </p:sp>
    </p:spTree>
    <p:extLst>
      <p:ext uri="{BB962C8B-B14F-4D97-AF65-F5344CB8AC3E}">
        <p14:creationId xmlns:p14="http://schemas.microsoft.com/office/powerpoint/2010/main" val="1134595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21</a:t>
            </a:fld>
            <a:endParaRPr lang="zh-CN" altLang="en-US"/>
          </a:p>
        </p:txBody>
      </p:sp>
    </p:spTree>
    <p:extLst>
      <p:ext uri="{BB962C8B-B14F-4D97-AF65-F5344CB8AC3E}">
        <p14:creationId xmlns:p14="http://schemas.microsoft.com/office/powerpoint/2010/main" val="3709594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D8026A4-9EE3-4D0D-8D3A-764529D129E6}" type="slidenum">
              <a:rPr lang="zh-CN" altLang="en-US" smtClean="0"/>
              <a:t>22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20BF612E-3E0E-4677-BD75-C3035F09CF8B}" type="datetime1">
              <a:rPr lang="zh-CN" altLang="en-US" smtClean="0"/>
              <a:t>2026/8/24</a:t>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CC82452-4414-4A67-B06C-4837C797611A}" type="datetime1">
              <a:rPr lang="zh-CN" altLang="en-US" smtClean="0"/>
              <a:t>2026/8/24</a:t>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974E8EB7-07DD-4FAB-99F8-EDA876343D2C}" type="datetime1">
              <a:rPr lang="zh-CN" altLang="en-US" smtClean="0"/>
              <a:t>2026/8/24</a:t>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E268ACAB-1C17-4C81-8E84-4BC1B099DDB3}" type="datetime1">
              <a:rPr lang="zh-CN" altLang="en-US" smtClean="0"/>
              <a:t>2026/8/24</a:t>
            </a:fld>
            <a:endParaRPr lang="zh-CN" altLang="en-US"/>
          </a:p>
        </p:txBody>
      </p:sp>
      <p:sp>
        <p:nvSpPr>
          <p:cNvPr id="6" name="Footer Placeholder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1587B67D-DE4A-485B-9DC6-907AA302B6B6}" type="datetime1">
              <a:rPr lang="zh-CN" altLang="en-US" smtClean="0"/>
              <a:t>2026/8/24</a:t>
            </a:fld>
            <a:endParaRPr lang="zh-CN" altLang="en-US"/>
          </a:p>
        </p:txBody>
      </p:sp>
      <p:sp>
        <p:nvSpPr>
          <p:cNvPr id="8" name="Footer Placeholder 7"/>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9" name="Slide Number Placeholder 8"/>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67686E9-2264-4CE7-89DC-C1C773EB3590}" type="datetime1">
              <a:rPr lang="zh-CN" altLang="en-US" smtClean="0"/>
              <a:t>2026/8/24</a:t>
            </a:fld>
            <a:endParaRPr lang="zh-CN" altLang="en-US"/>
          </a:p>
        </p:txBody>
      </p:sp>
      <p:sp>
        <p:nvSpPr>
          <p:cNvPr id="4" name="Footer Placeholder 3"/>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5" name="Slide Number Placeholder 4"/>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1">
        <a:schemeClr val="bg1"/>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C3D547-54F4-4352-808B-20CE77C0E88A}" type="datetime1">
              <a:rPr lang="zh-CN" altLang="en-US" smtClean="0"/>
              <a:t>2026/8/24</a:t>
            </a:fld>
            <a:endParaRPr lang="zh-CN" altLang="en-US"/>
          </a:p>
        </p:txBody>
      </p:sp>
      <p:sp>
        <p:nvSpPr>
          <p:cNvPr id="3" name="Footer Placeholder 2"/>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4" name="Slide Number Placeholder 3"/>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62AEDEE5-FD89-44CA-A729-5164AD3A421C}" type="datetime1">
              <a:rPr lang="zh-CN" altLang="en-US" smtClean="0"/>
              <a:t>2026/8/24</a:t>
            </a:fld>
            <a:endParaRPr lang="zh-CN" altLang="en-US"/>
          </a:p>
        </p:txBody>
      </p:sp>
      <p:sp>
        <p:nvSpPr>
          <p:cNvPr id="6" name="Footer Placeholder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6EFB0151-3BD9-4887-91D7-BC694D94DD37}" type="datetime1">
              <a:rPr lang="zh-CN" altLang="en-US" smtClean="0"/>
              <a:t>2026/8/24</a:t>
            </a:fld>
            <a:endParaRPr lang="zh-CN" altLang="en-US"/>
          </a:p>
        </p:txBody>
      </p:sp>
      <p:sp>
        <p:nvSpPr>
          <p:cNvPr id="6" name="Footer Placeholder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2A9B788F-638F-420D-B92E-DC41F3CBC6C6}" type="datetime1">
              <a:rPr lang="zh-CN" altLang="en-US" smtClean="0"/>
              <a:t>2026/8/24</a:t>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846EFAD-2E9E-4200-8350-F282439D6341}" type="datetime1">
              <a:rPr lang="zh-CN" altLang="en-US" smtClean="0"/>
              <a:t>2026/8/24</a:t>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DD277E-88D0-47EF-B828-8C9E90EDC2AB}" type="datetime1">
              <a:rPr lang="zh-CN" altLang="en-US" smtClean="0"/>
              <a:t>2026/8/24</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计算机组成原理</a:t>
            </a:r>
            <a:r>
              <a:rPr lang="en-US" altLang="zh-CN"/>
              <a:t>--</a:t>
            </a:r>
            <a:r>
              <a:rPr lang="zh-CN" altLang="en-US"/>
              <a:t>第三章 中央处理器</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331227-691F-4B7F-8493-F4368ED9216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5" name="矩形 4"/>
          <p:cNvSpPr/>
          <p:nvPr/>
        </p:nvSpPr>
        <p:spPr>
          <a:xfrm>
            <a:off x="-11990" y="8050"/>
            <a:ext cx="9181652" cy="6901031"/>
          </a:xfrm>
          <a:prstGeom prst="rect">
            <a:avLst/>
          </a:prstGeom>
          <a:solidFill>
            <a:schemeClr val="bg1">
              <a:alpha val="5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2298198" y="3054281"/>
            <a:ext cx="4579144" cy="0"/>
          </a:xfrm>
          <a:prstGeom prst="line">
            <a:avLst/>
          </a:prstGeom>
          <a:ln w="19050">
            <a:solidFill>
              <a:srgbClr val="004098"/>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293131" y="3196018"/>
            <a:ext cx="4579143" cy="645160"/>
          </a:xfrm>
          <a:prstGeom prst="rect">
            <a:avLst/>
          </a:prstGeom>
          <a:noFill/>
        </p:spPr>
        <p:txBody>
          <a:bodyPr wrap="square" rtlCol="0">
            <a:spAutoFit/>
          </a:bodyPr>
          <a:lstStyle/>
          <a:p>
            <a:pPr algn="ctr" defTabSz="685800">
              <a:defRPr/>
            </a:pPr>
            <a:r>
              <a:rPr lang="zh-CN" altLang="en-US" sz="3600" b="1" dirty="0">
                <a:solidFill>
                  <a:srgbClr val="004578"/>
                </a:solidFill>
                <a:latin typeface="微软雅黑" panose="020B0503020204020204" pitchFamily="34" charset="-122"/>
                <a:ea typeface="微软雅黑" panose="020B0503020204020204" pitchFamily="34" charset="-122"/>
              </a:rPr>
              <a:t>计算机组成原理</a:t>
            </a:r>
          </a:p>
        </p:txBody>
      </p:sp>
      <p:cxnSp>
        <p:nvCxnSpPr>
          <p:cNvPr id="16" name="直接连接符 15"/>
          <p:cNvCxnSpPr/>
          <p:nvPr/>
        </p:nvCxnSpPr>
        <p:spPr>
          <a:xfrm>
            <a:off x="2293131" y="3977456"/>
            <a:ext cx="4579144" cy="0"/>
          </a:xfrm>
          <a:prstGeom prst="line">
            <a:avLst/>
          </a:prstGeom>
          <a:ln w="19050">
            <a:solidFill>
              <a:srgbClr val="004098"/>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2293131" y="4121256"/>
            <a:ext cx="4579144" cy="523220"/>
          </a:xfrm>
          <a:prstGeom prst="rect">
            <a:avLst/>
          </a:prstGeom>
          <a:noFill/>
        </p:spPr>
        <p:txBody>
          <a:bodyPr wrap="square" rtlCol="0">
            <a:spAutoFit/>
          </a:bodyPr>
          <a:lstStyle>
            <a:defPPr>
              <a:defRPr lang="zh-CN"/>
            </a:defPPr>
            <a:lvl1pPr algn="ctr">
              <a:defRPr>
                <a:solidFill>
                  <a:prstClr val="black"/>
                </a:solidFill>
                <a:latin typeface="微软雅黑" panose="020B0503020204020204" pitchFamily="34" charset="-122"/>
                <a:ea typeface="微软雅黑" panose="020B0503020204020204" pitchFamily="34" charset="-122"/>
              </a:defRPr>
            </a:lvl1pPr>
          </a:lstStyle>
          <a:p>
            <a:r>
              <a:rPr lang="zh-CN" altLang="en-US" sz="2800" b="1" dirty="0">
                <a:solidFill>
                  <a:srgbClr val="004578"/>
                </a:solidFill>
              </a:rPr>
              <a:t>第三章 中央处理器</a:t>
            </a:r>
          </a:p>
        </p:txBody>
      </p:sp>
      <p:cxnSp>
        <p:nvCxnSpPr>
          <p:cNvPr id="19" name="直接连接符 18"/>
          <p:cNvCxnSpPr/>
          <p:nvPr/>
        </p:nvCxnSpPr>
        <p:spPr>
          <a:xfrm>
            <a:off x="238316" y="6407901"/>
            <a:ext cx="400458" cy="0"/>
          </a:xfrm>
          <a:prstGeom prst="line">
            <a:avLst/>
          </a:prstGeom>
          <a:ln w="28575">
            <a:solidFill>
              <a:srgbClr val="004098"/>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76100" y="1398382"/>
            <a:ext cx="1591799" cy="1584000"/>
          </a:xfrm>
          <a:prstGeom prst="rect">
            <a:avLst/>
          </a:prstGeom>
        </p:spPr>
      </p:pic>
      <p:pic>
        <p:nvPicPr>
          <p:cNvPr id="15" name="图片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73954" y="6236297"/>
            <a:ext cx="621635"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6"/>
          <p:cNvSpPr txBox="1">
            <a:spLocks noChangeArrowheads="1"/>
          </p:cNvSpPr>
          <p:nvPr/>
        </p:nvSpPr>
        <p:spPr bwMode="auto">
          <a:xfrm>
            <a:off x="6715450" y="6274229"/>
            <a:ext cx="3092999" cy="5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1600" b="1" dirty="0">
                <a:solidFill>
                  <a:srgbClr val="0070C0"/>
                </a:solidFill>
                <a:latin typeface="华文行楷" panose="02010800040101010101" pitchFamily="2" charset="-122"/>
                <a:ea typeface="华文行楷" panose="02010800040101010101" pitchFamily="2" charset="-122"/>
              </a:rPr>
              <a:t>信息与软件工程学院</a:t>
            </a:r>
            <a:endParaRPr lang="en-US" altLang="zh-CN" sz="1600" b="1" dirty="0">
              <a:solidFill>
                <a:srgbClr val="0070C0"/>
              </a:solidFill>
              <a:latin typeface="华文行楷" panose="02010800040101010101" pitchFamily="2" charset="-122"/>
              <a:ea typeface="华文行楷" panose="02010800040101010101" pitchFamily="2" charset="-122"/>
            </a:endParaRPr>
          </a:p>
          <a:p>
            <a:pPr eaLnBrk="1" hangingPunct="1">
              <a:lnSpc>
                <a:spcPct val="100000"/>
              </a:lnSpc>
              <a:spcBef>
                <a:spcPct val="0"/>
              </a:spcBef>
              <a:buFontTx/>
              <a:buNone/>
            </a:pPr>
            <a:r>
              <a:rPr lang="en-US" altLang="zh-CN" sz="1000" b="1" dirty="0">
                <a:solidFill>
                  <a:srgbClr val="0070C0"/>
                </a:solidFill>
                <a:latin typeface="华文隶书" panose="02010800040101010101" pitchFamily="2" charset="-122"/>
                <a:ea typeface="华文隶书" panose="02010800040101010101" pitchFamily="2" charset="-122"/>
              </a:rPr>
              <a:t>School of Information and Software Engineering</a:t>
            </a:r>
            <a:endParaRPr lang="zh-CN" altLang="en-US" sz="1000" b="1" dirty="0">
              <a:solidFill>
                <a:srgbClr val="0070C0"/>
              </a:solidFill>
              <a:latin typeface="华文隶书" panose="02010800040101010101" pitchFamily="2" charset="-122"/>
              <a:ea typeface="华文隶书" panose="02010800040101010101" pitchFamily="2" charset="-122"/>
            </a:endParaRPr>
          </a:p>
        </p:txBody>
      </p:sp>
      <p:sp>
        <p:nvSpPr>
          <p:cNvPr id="3" name="日期占位符 2"/>
          <p:cNvSpPr>
            <a:spLocks noGrp="1"/>
          </p:cNvSpPr>
          <p:nvPr>
            <p:ph type="dt" sz="half" idx="10"/>
          </p:nvPr>
        </p:nvSpPr>
        <p:spPr>
          <a:xfrm>
            <a:off x="235731" y="6474676"/>
            <a:ext cx="2057400" cy="365125"/>
          </a:xfrm>
        </p:spPr>
        <p:txBody>
          <a:bodyPr/>
          <a:lstStyle/>
          <a:p>
            <a:fld id="{B565E591-3381-4D38-9DF8-0AEAC6FC1F45}" type="datetime1">
              <a:rPr lang="zh-CN" altLang="en-US" sz="1400" smtClean="0">
                <a:solidFill>
                  <a:schemeClr val="tx1"/>
                </a:solidFill>
              </a:rPr>
              <a:t>2026/8/24</a:t>
            </a:fld>
            <a:endParaRPr lang="zh-CN" altLang="en-US" sz="14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l="30437" t="623" r="9645" b="-623"/>
          <a:stretch>
            <a:fillRect/>
          </a:stretch>
        </p:blipFill>
        <p:spPr>
          <a:xfrm>
            <a:off x="2939643" y="0"/>
            <a:ext cx="6220936" cy="6904284"/>
          </a:xfrm>
          <a:prstGeom prst="rect">
            <a:avLst/>
          </a:prstGeom>
          <a:solidFill>
            <a:schemeClr val="bg1">
              <a:alpha val="43000"/>
            </a:schemeClr>
          </a:solidFill>
        </p:spPr>
      </p:pic>
      <p:sp>
        <p:nvSpPr>
          <p:cNvPr id="7" name="矩形 6"/>
          <p:cNvSpPr/>
          <p:nvPr/>
        </p:nvSpPr>
        <p:spPr>
          <a:xfrm>
            <a:off x="2939643" y="0"/>
            <a:ext cx="6220936" cy="6858000"/>
          </a:xfrm>
          <a:prstGeom prst="rect">
            <a:avLst/>
          </a:prstGeom>
          <a:solidFill>
            <a:schemeClr val="bg1">
              <a:alpha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0" y="0"/>
            <a:ext cx="2939644" cy="6858000"/>
          </a:xfrm>
          <a:prstGeom prst="rect">
            <a:avLst/>
          </a:prstGeom>
          <a:solidFill>
            <a:srgbClr val="0045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a:solidFill>
                <a:prstClr val="white"/>
              </a:solidFill>
              <a:latin typeface="等线" panose="02010600030101010101" pitchFamily="2" charset="-122"/>
              <a:ea typeface="等线" panose="02010600030101010101" pitchFamily="2" charset="-122"/>
            </a:endParaRPr>
          </a:p>
        </p:txBody>
      </p:sp>
      <p:sp>
        <p:nvSpPr>
          <p:cNvPr id="6" name="文本框 5"/>
          <p:cNvSpPr txBox="1"/>
          <p:nvPr/>
        </p:nvSpPr>
        <p:spPr>
          <a:xfrm>
            <a:off x="522574" y="2340080"/>
            <a:ext cx="1979291" cy="2177840"/>
          </a:xfrm>
          <a:prstGeom prst="rect">
            <a:avLst/>
          </a:prstGeom>
          <a:noFill/>
        </p:spPr>
        <p:txBody>
          <a:bodyPr wrap="square" rtlCol="0">
            <a:spAutoFit/>
          </a:bodyPr>
          <a:lstStyle/>
          <a:p>
            <a:pPr lvl="0" algn="dist">
              <a:lnSpc>
                <a:spcPct val="150000"/>
              </a:lnSpc>
              <a:defRPr/>
            </a:pPr>
            <a:r>
              <a:rPr lang="zh-CN" altLang="en-US" sz="4800" dirty="0">
                <a:solidFill>
                  <a:prstClr val="white"/>
                </a:solidFill>
                <a:latin typeface="微软雅黑" panose="020B0503020204020204" pitchFamily="34" charset="-122"/>
                <a:ea typeface="微软雅黑" panose="020B0503020204020204" pitchFamily="34" charset="-122"/>
              </a:rPr>
              <a:t>主要内容</a:t>
            </a:r>
          </a:p>
        </p:txBody>
      </p:sp>
      <p:sp>
        <p:nvSpPr>
          <p:cNvPr id="13" name="椭圆 12"/>
          <p:cNvSpPr/>
          <p:nvPr/>
        </p:nvSpPr>
        <p:spPr>
          <a:xfrm>
            <a:off x="3704772" y="1769449"/>
            <a:ext cx="347605" cy="347605"/>
          </a:xfrm>
          <a:prstGeom prst="ellipse">
            <a:avLst/>
          </a:prstGeom>
          <a:solidFill>
            <a:srgbClr val="0045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altLang="zh-CN" sz="1350" dirty="0">
                <a:solidFill>
                  <a:prstClr val="white"/>
                </a:solidFill>
                <a:latin typeface="微软雅黑" panose="020B0503020204020204" pitchFamily="34" charset="-122"/>
                <a:ea typeface="微软雅黑" panose="020B0503020204020204" pitchFamily="34" charset="-122"/>
              </a:rPr>
              <a:t>1</a:t>
            </a: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14" name="椭圆 13"/>
          <p:cNvSpPr/>
          <p:nvPr/>
        </p:nvSpPr>
        <p:spPr>
          <a:xfrm>
            <a:off x="3704772" y="2621617"/>
            <a:ext cx="347605" cy="347605"/>
          </a:xfrm>
          <a:prstGeom prst="ellipse">
            <a:avLst/>
          </a:prstGeom>
          <a:solidFill>
            <a:srgbClr val="0045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altLang="zh-CN" sz="1350" dirty="0">
                <a:solidFill>
                  <a:prstClr val="white"/>
                </a:solidFill>
                <a:latin typeface="微软雅黑" panose="020B0503020204020204" pitchFamily="34" charset="-122"/>
                <a:ea typeface="微软雅黑" panose="020B0503020204020204" pitchFamily="34" charset="-122"/>
              </a:rPr>
              <a:t>2</a:t>
            </a: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15" name="椭圆 14"/>
          <p:cNvSpPr/>
          <p:nvPr/>
        </p:nvSpPr>
        <p:spPr>
          <a:xfrm>
            <a:off x="3704772" y="3473785"/>
            <a:ext cx="347605" cy="347605"/>
          </a:xfrm>
          <a:prstGeom prst="ellipse">
            <a:avLst/>
          </a:prstGeom>
          <a:solidFill>
            <a:srgbClr val="0045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altLang="zh-CN" sz="1350" dirty="0">
                <a:solidFill>
                  <a:prstClr val="white"/>
                </a:solidFill>
                <a:latin typeface="微软雅黑" panose="020B0503020204020204" pitchFamily="34" charset="-122"/>
                <a:ea typeface="微软雅黑" panose="020B0503020204020204" pitchFamily="34" charset="-122"/>
              </a:rPr>
              <a:t>3</a:t>
            </a: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4146638" y="3374660"/>
            <a:ext cx="3389539" cy="523220"/>
          </a:xfrm>
          <a:prstGeom prst="rect">
            <a:avLst/>
          </a:prstGeom>
          <a:noFill/>
        </p:spPr>
        <p:txBody>
          <a:bodyPr wrap="square" rtlCol="0">
            <a:spAutoFit/>
          </a:bodyPr>
          <a:lstStyle/>
          <a:p>
            <a:pPr lvl="0">
              <a:defRPr/>
            </a:pPr>
            <a:r>
              <a:rPr lang="zh-CN" altLang="en-US" sz="2800" b="1" dirty="0">
                <a:solidFill>
                  <a:prstClr val="black"/>
                </a:solidFill>
                <a:latin typeface="楷体" panose="02010609060101010101" pitchFamily="49" charset="-122"/>
                <a:ea typeface="楷体" panose="02010609060101010101" pitchFamily="49" charset="-122"/>
              </a:rPr>
              <a:t>运算方法</a:t>
            </a:r>
          </a:p>
        </p:txBody>
      </p:sp>
      <p:sp>
        <p:nvSpPr>
          <p:cNvPr id="18" name="文本框 17"/>
          <p:cNvSpPr txBox="1"/>
          <p:nvPr/>
        </p:nvSpPr>
        <p:spPr>
          <a:xfrm>
            <a:off x="4146638" y="1666510"/>
            <a:ext cx="3415091" cy="523220"/>
          </a:xfrm>
          <a:prstGeom prst="rect">
            <a:avLst/>
          </a:prstGeom>
          <a:noFill/>
        </p:spPr>
        <p:txBody>
          <a:bodyPr wrap="square" rtlCol="0">
            <a:spAutoFit/>
          </a:bodyPr>
          <a:lstStyle/>
          <a:p>
            <a:pPr lvl="0">
              <a:defRPr/>
            </a:pPr>
            <a:r>
              <a:rPr lang="zh-CN" altLang="en-US" sz="2800" b="1" dirty="0">
                <a:solidFill>
                  <a:prstClr val="black"/>
                </a:solidFill>
                <a:latin typeface="楷体" panose="02010609060101010101" pitchFamily="49" charset="-122"/>
                <a:ea typeface="楷体" panose="02010609060101010101" pitchFamily="49" charset="-122"/>
              </a:rPr>
              <a:t>模型机的总体设计</a:t>
            </a:r>
          </a:p>
        </p:txBody>
      </p:sp>
      <p:sp>
        <p:nvSpPr>
          <p:cNvPr id="19" name="文本框 18"/>
          <p:cNvSpPr txBox="1"/>
          <p:nvPr/>
        </p:nvSpPr>
        <p:spPr>
          <a:xfrm>
            <a:off x="4146638" y="2520585"/>
            <a:ext cx="3797777" cy="523220"/>
          </a:xfrm>
          <a:prstGeom prst="rect">
            <a:avLst/>
          </a:prstGeom>
          <a:noFill/>
        </p:spPr>
        <p:txBody>
          <a:bodyPr wrap="square" rtlCol="0">
            <a:spAutoFit/>
          </a:bodyPr>
          <a:lstStyle/>
          <a:p>
            <a:pPr lvl="0">
              <a:defRPr/>
            </a:pPr>
            <a:r>
              <a:rPr lang="zh-CN" altLang="en-US" sz="2800" b="1" dirty="0">
                <a:latin typeface="楷体" panose="02010609060101010101" pitchFamily="49" charset="-122"/>
                <a:ea typeface="楷体" panose="02010609060101010101" pitchFamily="49" charset="-122"/>
              </a:rPr>
              <a:t>算术逻辑运算部件</a:t>
            </a:r>
          </a:p>
        </p:txBody>
      </p: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66226" y="204366"/>
            <a:ext cx="797210" cy="769144"/>
          </a:xfrm>
          <a:prstGeom prst="rect">
            <a:avLst/>
          </a:prstGeom>
        </p:spPr>
      </p:pic>
      <p:sp>
        <p:nvSpPr>
          <p:cNvPr id="22" name="椭圆 21">
            <a:extLst>
              <a:ext uri="{FF2B5EF4-FFF2-40B4-BE49-F238E27FC236}">
                <a16:creationId xmlns:a16="http://schemas.microsoft.com/office/drawing/2014/main" id="{21ADD485-E0E0-4836-8EE9-6806D8013258}"/>
              </a:ext>
            </a:extLst>
          </p:cNvPr>
          <p:cNvSpPr/>
          <p:nvPr/>
        </p:nvSpPr>
        <p:spPr>
          <a:xfrm>
            <a:off x="3704772" y="4325953"/>
            <a:ext cx="347605" cy="347605"/>
          </a:xfrm>
          <a:prstGeom prst="ellipse">
            <a:avLst/>
          </a:prstGeom>
          <a:solidFill>
            <a:srgbClr val="0045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altLang="zh-CN" sz="1350" dirty="0">
                <a:solidFill>
                  <a:prstClr val="white"/>
                </a:solidFill>
                <a:latin typeface="微软雅黑" panose="020B0503020204020204" pitchFamily="34" charset="-122"/>
                <a:ea typeface="微软雅黑" panose="020B0503020204020204" pitchFamily="34" charset="-122"/>
              </a:rPr>
              <a:t>4</a:t>
            </a: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36F6B514-A15F-45D7-9EE1-6358302BD334}"/>
              </a:ext>
            </a:extLst>
          </p:cNvPr>
          <p:cNvSpPr txBox="1"/>
          <p:nvPr/>
        </p:nvSpPr>
        <p:spPr>
          <a:xfrm>
            <a:off x="4146638" y="4228735"/>
            <a:ext cx="4481633" cy="523220"/>
          </a:xfrm>
          <a:prstGeom prst="rect">
            <a:avLst/>
          </a:prstGeom>
          <a:noFill/>
        </p:spPr>
        <p:txBody>
          <a:bodyPr wrap="square" rtlCol="0">
            <a:spAutoFit/>
          </a:bodyPr>
          <a:lstStyle>
            <a:defPPr>
              <a:defRPr lang="en-US"/>
            </a:defPPr>
            <a:lvl1pPr lvl="0">
              <a:defRPr sz="2800" b="1">
                <a:solidFill>
                  <a:prstClr val="black"/>
                </a:solidFill>
                <a:latin typeface="楷体" panose="02010609060101010101" pitchFamily="49" charset="-122"/>
                <a:ea typeface="楷体" panose="02010609060101010101" pitchFamily="49" charset="-122"/>
              </a:defRPr>
            </a:lvl1pPr>
          </a:lstStyle>
          <a:p>
            <a:r>
              <a:rPr lang="zh-CN" altLang="en-US" dirty="0"/>
              <a:t>模型机的组合逻辑控制器</a:t>
            </a:r>
          </a:p>
        </p:txBody>
      </p:sp>
      <p:sp>
        <p:nvSpPr>
          <p:cNvPr id="24" name="椭圆 23">
            <a:extLst>
              <a:ext uri="{FF2B5EF4-FFF2-40B4-BE49-F238E27FC236}">
                <a16:creationId xmlns:a16="http://schemas.microsoft.com/office/drawing/2014/main" id="{A1FC0AE8-6523-40FD-83C7-293D68EBF575}"/>
              </a:ext>
            </a:extLst>
          </p:cNvPr>
          <p:cNvSpPr/>
          <p:nvPr/>
        </p:nvSpPr>
        <p:spPr>
          <a:xfrm>
            <a:off x="3704772" y="5178120"/>
            <a:ext cx="347605" cy="347605"/>
          </a:xfrm>
          <a:prstGeom prst="ellipse">
            <a:avLst/>
          </a:prstGeom>
          <a:solidFill>
            <a:srgbClr val="0045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altLang="zh-CN" sz="1350" dirty="0">
                <a:solidFill>
                  <a:prstClr val="white"/>
                </a:solidFill>
                <a:latin typeface="微软雅黑" panose="020B0503020204020204" pitchFamily="34" charset="-122"/>
                <a:ea typeface="微软雅黑" panose="020B0503020204020204" pitchFamily="34" charset="-122"/>
              </a:rPr>
              <a:t>5</a:t>
            </a: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D2A7C183-A572-42D5-B5A3-898F42879B09}"/>
              </a:ext>
            </a:extLst>
          </p:cNvPr>
          <p:cNvSpPr txBox="1"/>
          <p:nvPr/>
        </p:nvSpPr>
        <p:spPr>
          <a:xfrm>
            <a:off x="4110444" y="5082808"/>
            <a:ext cx="4481633" cy="523220"/>
          </a:xfrm>
          <a:prstGeom prst="rect">
            <a:avLst/>
          </a:prstGeom>
          <a:noFill/>
        </p:spPr>
        <p:txBody>
          <a:bodyPr wrap="square" rtlCol="0">
            <a:spAutoFit/>
          </a:bodyPr>
          <a:lstStyle>
            <a:defPPr>
              <a:defRPr lang="en-US"/>
            </a:defPPr>
            <a:lvl1pPr lvl="0">
              <a:defRPr sz="2800" b="1">
                <a:solidFill>
                  <a:srgbClr val="0563C1"/>
                </a:solidFill>
                <a:latin typeface="楷体" panose="02010609060101010101" pitchFamily="49" charset="-122"/>
                <a:ea typeface="楷体" panose="02010609060101010101" pitchFamily="49" charset="-122"/>
              </a:defRPr>
            </a:lvl1pPr>
          </a:lstStyle>
          <a:p>
            <a:r>
              <a:rPr lang="zh-CN" altLang="en-US" dirty="0"/>
              <a:t>模型机的微程序控制器</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9" name="矩形 8"/>
          <p:cNvSpPr/>
          <p:nvPr/>
        </p:nvSpPr>
        <p:spPr>
          <a:xfrm>
            <a:off x="-21515" y="-1475"/>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0" name="iSľídé"/>
          <p:cNvSpPr/>
          <p:nvPr/>
        </p:nvSpPr>
        <p:spPr>
          <a:xfrm>
            <a:off x="502444" y="1275597"/>
            <a:ext cx="8137922" cy="1142592"/>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grpSp>
        <p:nvGrpSpPr>
          <p:cNvPr id="11" name="iṧḷïḋê"/>
          <p:cNvGrpSpPr/>
          <p:nvPr/>
        </p:nvGrpSpPr>
        <p:grpSpPr>
          <a:xfrm>
            <a:off x="502444" y="1639807"/>
            <a:ext cx="6032468" cy="556314"/>
            <a:chOff x="669925" y="1609562"/>
            <a:chExt cx="3530781" cy="741752"/>
          </a:xfrm>
        </p:grpSpPr>
        <p:sp>
          <p:nvSpPr>
            <p:cNvPr id="12" name="ïšḻïdê"/>
            <p:cNvSpPr txBox="1"/>
            <p:nvPr/>
          </p:nvSpPr>
          <p:spPr bwMode="auto">
            <a:xfrm>
              <a:off x="669925" y="1609562"/>
              <a:ext cx="352760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kumimoji="0" lang="en-US" altLang="zh-CN"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3</a:t>
              </a: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a:t>
              </a:r>
              <a:r>
                <a:rPr kumimoji="0" lang="en-US" altLang="zh-CN"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5</a:t>
              </a:r>
              <a:r>
                <a:rPr lang="en-US" altLang="zh-CN" sz="2800" b="1" dirty="0">
                  <a:solidFill>
                    <a:prstClr val="white"/>
                  </a:solidFill>
                  <a:latin typeface="隶书" panose="02010509060101010101" pitchFamily="49" charset="-122"/>
                  <a:ea typeface="隶书" panose="02010509060101010101" pitchFamily="49" charset="-122"/>
                </a:rPr>
                <a:t> </a:t>
              </a:r>
              <a:r>
                <a:rPr lang="zh-CN" altLang="en-US" sz="2800" b="1" dirty="0">
                  <a:solidFill>
                    <a:prstClr val="white"/>
                  </a:solidFill>
                  <a:latin typeface="隶书" panose="02010509060101010101" pitchFamily="49" charset="-122"/>
                  <a:ea typeface="隶书" panose="02010509060101010101" pitchFamily="49" charset="-122"/>
                </a:rPr>
                <a:t>模型机的微程序控制器</a:t>
              </a:r>
              <a:endParaRPr lang="zh-CN" altLang="en-US" sz="2800" dirty="0">
                <a:solidFill>
                  <a:prstClr val="white"/>
                </a:solidFill>
                <a:latin typeface="隶书" panose="02010509060101010101" pitchFamily="49" charset="-122"/>
                <a:ea typeface="隶书" panose="020105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cxnSp>
          <p:nvCxnSpPr>
            <p:cNvPr id="13" name="直接连接符 12"/>
            <p:cNvCxnSpPr/>
            <p:nvPr/>
          </p:nvCxnSpPr>
          <p:spPr>
            <a:xfrm>
              <a:off x="673100" y="2351314"/>
              <a:ext cx="3527606"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14" name="îsḻíḋé"/>
          <p:cNvSpPr txBox="1"/>
          <p:nvPr/>
        </p:nvSpPr>
        <p:spPr>
          <a:xfrm>
            <a:off x="1872698" y="2923279"/>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rPr>
              <a:t>01.</a:t>
            </a:r>
          </a:p>
        </p:txBody>
      </p:sp>
      <p:sp>
        <p:nvSpPr>
          <p:cNvPr id="15" name="ísḻiḑe"/>
          <p:cNvSpPr/>
          <p:nvPr/>
        </p:nvSpPr>
        <p:spPr>
          <a:xfrm>
            <a:off x="2526228" y="2934821"/>
            <a:ext cx="4941372" cy="288513"/>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defRPr/>
            </a:pPr>
            <a:r>
              <a:rPr lang="zh-CN" altLang="en-US" sz="2800" b="1" kern="0" dirty="0">
                <a:solidFill>
                  <a:prstClr val="black"/>
                </a:solidFill>
                <a:latin typeface="楷体" panose="02010609060101010101" pitchFamily="49" charset="-122"/>
                <a:ea typeface="楷体" panose="02010609060101010101" pitchFamily="49" charset="-122"/>
              </a:rPr>
              <a:t> 基本概念及基本原理</a:t>
            </a:r>
            <a:endParaRPr kumimoji="0" lang="zh-CN" altLang="en-US"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6" name="ïṩľîdé"/>
          <p:cNvSpPr txBox="1"/>
          <p:nvPr/>
        </p:nvSpPr>
        <p:spPr>
          <a:xfrm>
            <a:off x="1872697" y="3608422"/>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02.</a:t>
            </a:r>
            <a:endPar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sp>
        <p:nvSpPr>
          <p:cNvPr id="17" name="îṣ1idè"/>
          <p:cNvSpPr/>
          <p:nvPr/>
        </p:nvSpPr>
        <p:spPr>
          <a:xfrm>
            <a:off x="2702874" y="3594033"/>
            <a:ext cx="5220772" cy="296571"/>
          </a:xfrm>
          <a:prstGeom prst="rect">
            <a:avLst/>
          </a:prstGeom>
        </p:spPr>
        <p:txBody>
          <a:bodyPr wrap="square" lIns="91440" tIns="45720" rIns="91440" bIns="45720" anchor="ctr" anchorCtr="0">
            <a:noAutofit/>
          </a:bodyPr>
          <a:lstStyle/>
          <a:p>
            <a:pPr lvl="0">
              <a:lnSpc>
                <a:spcPct val="115000"/>
              </a:lnSpc>
              <a:spcBef>
                <a:spcPct val="10000"/>
              </a:spcBef>
            </a:pPr>
            <a:r>
              <a:rPr lang="zh-CN" altLang="en-US" sz="2800" b="1" kern="0" dirty="0">
                <a:solidFill>
                  <a:prstClr val="black"/>
                </a:solidFill>
                <a:latin typeface="楷体" panose="02010609060101010101" pitchFamily="49" charset="-122"/>
                <a:ea typeface="楷体" panose="02010609060101010101" pitchFamily="49" charset="-122"/>
              </a:rPr>
              <a:t>微程序控制器组成及工作原理</a:t>
            </a:r>
            <a:endParaRPr kumimoji="0" lang="zh-CN" altLang="en-US"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8" name="işľíďe"/>
          <p:cNvSpPr txBox="1"/>
          <p:nvPr/>
        </p:nvSpPr>
        <p:spPr>
          <a:xfrm>
            <a:off x="1872697" y="4319688"/>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03.</a:t>
            </a:r>
            <a:endPar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sp>
        <p:nvSpPr>
          <p:cNvPr id="19" name="ïşľïdé"/>
          <p:cNvSpPr/>
          <p:nvPr/>
        </p:nvSpPr>
        <p:spPr>
          <a:xfrm>
            <a:off x="2702874" y="4316268"/>
            <a:ext cx="4158035" cy="276999"/>
          </a:xfrm>
          <a:prstGeom prst="rect">
            <a:avLst/>
          </a:prstGeom>
        </p:spPr>
        <p:txBody>
          <a:bodyPr wrap="square" lIns="91440" tIns="45720" rIns="91440" bIns="45720" anchor="ctr" anchorCtr="0">
            <a:noAutofit/>
          </a:bodyPr>
          <a:lstStyle/>
          <a:p>
            <a:pPr>
              <a:lnSpc>
                <a:spcPct val="115000"/>
              </a:lnSpc>
              <a:spcBef>
                <a:spcPct val="10000"/>
              </a:spcBef>
              <a:defRPr/>
            </a:pPr>
            <a:r>
              <a:rPr lang="zh-CN" altLang="en-US" sz="2800" b="1" kern="0" dirty="0">
                <a:solidFill>
                  <a:prstClr val="black"/>
                </a:solidFill>
                <a:latin typeface="楷体" panose="02010609060101010101" pitchFamily="49" charset="-122"/>
                <a:ea typeface="楷体" panose="02010609060101010101" pitchFamily="49" charset="-122"/>
              </a:rPr>
              <a:t>微指令的编码方式</a:t>
            </a:r>
          </a:p>
        </p:txBody>
      </p:sp>
      <p:sp>
        <p:nvSpPr>
          <p:cNvPr id="20" name="ís1íde"/>
          <p:cNvSpPr txBox="1"/>
          <p:nvPr/>
        </p:nvSpPr>
        <p:spPr>
          <a:xfrm>
            <a:off x="1872697" y="5077222"/>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04.</a:t>
            </a:r>
            <a:endPar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sp>
        <p:nvSpPr>
          <p:cNvPr id="21" name="íṡḻîḓé"/>
          <p:cNvSpPr/>
          <p:nvPr/>
        </p:nvSpPr>
        <p:spPr>
          <a:xfrm>
            <a:off x="2702874" y="5065680"/>
            <a:ext cx="4557302" cy="276999"/>
          </a:xfrm>
          <a:prstGeom prst="rect">
            <a:avLst/>
          </a:prstGeom>
        </p:spPr>
        <p:txBody>
          <a:bodyPr wrap="square" lIns="91440" tIns="45720" rIns="91440" bIns="45720" anchor="ctr" anchorCtr="0">
            <a:noAutofit/>
          </a:bodyPr>
          <a:lstStyle/>
          <a:p>
            <a:pPr lvl="0">
              <a:defRPr/>
            </a:pPr>
            <a:r>
              <a:rPr kumimoji="0" lang="zh-CN" altLang="en-US"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微程序的顺序控制方式</a:t>
            </a:r>
          </a:p>
        </p:txBody>
      </p:sp>
      <p:sp>
        <p:nvSpPr>
          <p:cNvPr id="22" name="îṩļíḑé"/>
          <p:cNvSpPr/>
          <p:nvPr/>
        </p:nvSpPr>
        <p:spPr>
          <a:xfrm>
            <a:off x="1524070" y="2951834"/>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3" name="ïśľîḋê"/>
          <p:cNvSpPr/>
          <p:nvPr/>
        </p:nvSpPr>
        <p:spPr>
          <a:xfrm>
            <a:off x="1524070" y="3636976"/>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4" name="íṧļîḓê"/>
          <p:cNvSpPr/>
          <p:nvPr/>
        </p:nvSpPr>
        <p:spPr>
          <a:xfrm>
            <a:off x="1524070" y="4348242"/>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5" name="íšḻíḋe"/>
          <p:cNvSpPr/>
          <p:nvPr/>
        </p:nvSpPr>
        <p:spPr>
          <a:xfrm>
            <a:off x="1524070" y="5105776"/>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cxnSp>
        <p:nvCxnSpPr>
          <p:cNvPr id="26" name="直接连接符 25"/>
          <p:cNvCxnSpPr/>
          <p:nvPr/>
        </p:nvCxnSpPr>
        <p:spPr>
          <a:xfrm>
            <a:off x="1959428" y="3429481"/>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959428" y="4126171"/>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959428" y="4848984"/>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pic>
        <p:nvPicPr>
          <p:cNvPr id="29" name="图片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66226" y="204366"/>
            <a:ext cx="797210" cy="769144"/>
          </a:xfrm>
          <a:prstGeom prst="rect">
            <a:avLst/>
          </a:prstGeom>
        </p:spPr>
      </p:pic>
      <p:sp>
        <p:nvSpPr>
          <p:cNvPr id="34" name="ís1íde">
            <a:extLst>
              <a:ext uri="{FF2B5EF4-FFF2-40B4-BE49-F238E27FC236}">
                <a16:creationId xmlns:a16="http://schemas.microsoft.com/office/drawing/2014/main" id="{B11B7460-1F6F-4D08-B824-FD86672A180D}"/>
              </a:ext>
            </a:extLst>
          </p:cNvPr>
          <p:cNvSpPr txBox="1"/>
          <p:nvPr/>
        </p:nvSpPr>
        <p:spPr>
          <a:xfrm>
            <a:off x="1883824" y="5799154"/>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05.</a:t>
            </a:r>
            <a:endPar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sp>
        <p:nvSpPr>
          <p:cNvPr id="35" name="íṡḻîḓé">
            <a:extLst>
              <a:ext uri="{FF2B5EF4-FFF2-40B4-BE49-F238E27FC236}">
                <a16:creationId xmlns:a16="http://schemas.microsoft.com/office/drawing/2014/main" id="{872498AA-78FB-4B59-8D3C-5F00873BD23F}"/>
              </a:ext>
            </a:extLst>
          </p:cNvPr>
          <p:cNvSpPr/>
          <p:nvPr/>
        </p:nvSpPr>
        <p:spPr>
          <a:xfrm>
            <a:off x="2714001" y="5787612"/>
            <a:ext cx="4557302" cy="276999"/>
          </a:xfrm>
          <a:prstGeom prst="rect">
            <a:avLst/>
          </a:prstGeom>
        </p:spPr>
        <p:txBody>
          <a:bodyPr wrap="square" lIns="91440" tIns="45720" rIns="91440" bIns="45720" anchor="ctr" anchorCtr="0">
            <a:noAutofit/>
          </a:bodyPr>
          <a:lstStyle/>
          <a:p>
            <a:pPr lvl="0">
              <a:defRPr/>
            </a:pPr>
            <a:r>
              <a:rPr kumimoji="0" lang="zh-CN" altLang="en-US"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微指令格式</a:t>
            </a:r>
          </a:p>
        </p:txBody>
      </p:sp>
      <p:sp>
        <p:nvSpPr>
          <p:cNvPr id="36" name="íšḻíḋe">
            <a:extLst>
              <a:ext uri="{FF2B5EF4-FFF2-40B4-BE49-F238E27FC236}">
                <a16:creationId xmlns:a16="http://schemas.microsoft.com/office/drawing/2014/main" id="{B001FB71-C212-463F-AA60-B49BED2A6D9E}"/>
              </a:ext>
            </a:extLst>
          </p:cNvPr>
          <p:cNvSpPr/>
          <p:nvPr/>
        </p:nvSpPr>
        <p:spPr>
          <a:xfrm>
            <a:off x="1535197" y="5827708"/>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cxnSp>
        <p:nvCxnSpPr>
          <p:cNvPr id="37" name="直接连接符 36">
            <a:extLst>
              <a:ext uri="{FF2B5EF4-FFF2-40B4-BE49-F238E27FC236}">
                <a16:creationId xmlns:a16="http://schemas.microsoft.com/office/drawing/2014/main" id="{B8523047-122E-4139-A40D-C0B7A33D9701}"/>
              </a:ext>
            </a:extLst>
          </p:cNvPr>
          <p:cNvCxnSpPr/>
          <p:nvPr/>
        </p:nvCxnSpPr>
        <p:spPr>
          <a:xfrm>
            <a:off x="1970555" y="5570916"/>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一、基本概念及基本原理</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4</a:t>
            </a:fld>
            <a:endParaRPr lang="zh-CN" altLang="en-US"/>
          </a:p>
        </p:txBody>
      </p:sp>
      <p:sp>
        <p:nvSpPr>
          <p:cNvPr id="12" name="文本框 11">
            <a:extLst>
              <a:ext uri="{FF2B5EF4-FFF2-40B4-BE49-F238E27FC236}">
                <a16:creationId xmlns:a16="http://schemas.microsoft.com/office/drawing/2014/main" id="{1459AC15-7791-42A4-8EEE-348DB0841955}"/>
              </a:ext>
            </a:extLst>
          </p:cNvPr>
          <p:cNvSpPr txBox="1"/>
          <p:nvPr/>
        </p:nvSpPr>
        <p:spPr>
          <a:xfrm>
            <a:off x="193607" y="789460"/>
            <a:ext cx="8775387" cy="5614422"/>
          </a:xfrm>
          <a:prstGeom prst="rect">
            <a:avLst/>
          </a:prstGeom>
          <a:noFill/>
        </p:spPr>
        <p:txBody>
          <a:bodyPr wrap="square" rtlCol="0">
            <a:spAutoFit/>
          </a:bodyPr>
          <a:lstStyle/>
          <a:p>
            <a:pPr lvl="0">
              <a:lnSpc>
                <a:spcPct val="130000"/>
              </a:lnSpc>
              <a:defRPr/>
            </a:pPr>
            <a:r>
              <a:rPr lang="en-US" altLang="zh-CN" sz="2800" b="1" dirty="0">
                <a:solidFill>
                  <a:srgbClr val="0563C1"/>
                </a:solidFill>
                <a:latin typeface="楷体" panose="02010609060101010101" pitchFamily="49" charset="-122"/>
                <a:ea typeface="楷体" panose="02010609060101010101" pitchFamily="49" charset="-122"/>
              </a:rPr>
              <a:t>1</a:t>
            </a:r>
            <a:r>
              <a:rPr lang="zh-CN" altLang="en-US" sz="2800" b="1" dirty="0">
                <a:solidFill>
                  <a:srgbClr val="0563C1"/>
                </a:solidFill>
                <a:latin typeface="楷体" panose="02010609060101010101" pitchFamily="49" charset="-122"/>
                <a:ea typeface="楷体" panose="02010609060101010101" pitchFamily="49" charset="-122"/>
              </a:rPr>
              <a:t>、基本概念</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30000"/>
              </a:lnSpc>
              <a:defRPr/>
            </a:pPr>
            <a:r>
              <a:rPr lang="en-US" altLang="zh-CN" sz="2800" b="1" dirty="0">
                <a:solidFill>
                  <a:schemeClr val="accent6">
                    <a:lumMod val="75000"/>
                  </a:schemeClr>
                </a:solidFill>
                <a:latin typeface="楷体" panose="02010609060101010101" pitchFamily="49" charset="-122"/>
                <a:ea typeface="楷体" panose="02010609060101010101" pitchFamily="49" charset="-122"/>
              </a:rPr>
              <a:t>① </a:t>
            </a:r>
            <a:r>
              <a:rPr lang="zh-CN" altLang="en-US" sz="2800" b="1" dirty="0">
                <a:solidFill>
                  <a:schemeClr val="accent6">
                    <a:lumMod val="75000"/>
                  </a:schemeClr>
                </a:solidFill>
                <a:latin typeface="楷体" panose="02010609060101010101" pitchFamily="49" charset="-122"/>
                <a:ea typeface="楷体" panose="02010609060101010101" pitchFamily="49" charset="-122"/>
              </a:rPr>
              <a:t>微命令：</a:t>
            </a:r>
            <a:r>
              <a:rPr lang="zh-CN" altLang="en-US" sz="2800" b="1" dirty="0">
                <a:latin typeface="楷体" panose="02010609060101010101" pitchFamily="49" charset="-122"/>
                <a:ea typeface="楷体" panose="02010609060101010101" pitchFamily="49" charset="-122"/>
              </a:rPr>
              <a:t>构成</a:t>
            </a:r>
            <a:r>
              <a:rPr lang="zh-CN" altLang="en-US" sz="2800" b="1" dirty="0">
                <a:solidFill>
                  <a:schemeClr val="accent2"/>
                </a:solidFill>
                <a:latin typeface="楷体" panose="02010609060101010101" pitchFamily="49" charset="-122"/>
                <a:ea typeface="楷体" panose="02010609060101010101" pitchFamily="49" charset="-122"/>
              </a:rPr>
              <a:t>控制信号序列</a:t>
            </a:r>
            <a:r>
              <a:rPr lang="zh-CN" altLang="en-US" sz="2800" b="1" dirty="0">
                <a:latin typeface="楷体" panose="02010609060101010101" pitchFamily="49" charset="-122"/>
                <a:ea typeface="楷体" panose="02010609060101010101" pitchFamily="49" charset="-122"/>
              </a:rPr>
              <a:t>的</a:t>
            </a:r>
            <a:r>
              <a:rPr lang="zh-CN" altLang="en-US" sz="2800" b="1" dirty="0">
                <a:solidFill>
                  <a:schemeClr val="accent2"/>
                </a:solidFill>
                <a:latin typeface="楷体" panose="02010609060101010101" pitchFamily="49" charset="-122"/>
                <a:ea typeface="楷体" panose="02010609060101010101" pitchFamily="49" charset="-122"/>
              </a:rPr>
              <a:t>最小单位</a:t>
            </a:r>
            <a:r>
              <a:rPr lang="zh-CN" altLang="en-US" sz="2800" b="1" dirty="0">
                <a:latin typeface="楷体" panose="02010609060101010101" pitchFamily="49" charset="-122"/>
                <a:ea typeface="楷体" panose="02010609060101010101" pitchFamily="49" charset="-122"/>
              </a:rPr>
              <a:t>，又称微信</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号，指那些直接作用于部件或控制门电路的命令。</a:t>
            </a:r>
            <a:endParaRPr lang="en-US" altLang="zh-CN" sz="2800" b="1" dirty="0">
              <a:latin typeface="楷体" panose="02010609060101010101" pitchFamily="49" charset="-122"/>
              <a:ea typeface="楷体" panose="02010609060101010101" pitchFamily="49" charset="-122"/>
            </a:endParaRPr>
          </a:p>
          <a:p>
            <a:pPr lvl="0">
              <a:lnSpc>
                <a:spcPct val="130000"/>
              </a:lnSpc>
              <a:defRPr/>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如：打开或关闭某传送通路的电平型命令，或对触   </a:t>
            </a:r>
            <a:endParaRPr lang="en-US" altLang="zh-CN" sz="2800" b="1" dirty="0">
              <a:latin typeface="楷体" panose="02010609060101010101" pitchFamily="49" charset="-122"/>
              <a:ea typeface="楷体" panose="02010609060101010101" pitchFamily="49" charset="-122"/>
            </a:endParaRPr>
          </a:p>
          <a:p>
            <a:pPr lvl="0">
              <a:lnSpc>
                <a:spcPct val="130000"/>
              </a:lnSpc>
              <a:defRPr/>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发器或</a:t>
            </a:r>
            <a:r>
              <a:rPr lang="en-US" altLang="zh-CN" sz="2800" b="1" dirty="0">
                <a:latin typeface="楷体" panose="02010609060101010101" pitchFamily="49" charset="-122"/>
                <a:ea typeface="楷体" panose="02010609060101010101" pitchFamily="49" charset="-122"/>
              </a:rPr>
              <a:t>R</a:t>
            </a:r>
            <a:r>
              <a:rPr lang="zh-CN" altLang="en-US" sz="2800" b="1" dirty="0">
                <a:latin typeface="楷体" panose="02010609060101010101" pitchFamily="49" charset="-122"/>
                <a:ea typeface="楷体" panose="02010609060101010101" pitchFamily="49" charset="-122"/>
              </a:rPr>
              <a:t>进行同步打入，置位、复位等的控制脉冲。</a:t>
            </a:r>
            <a:endParaRPr lang="en-US" altLang="zh-CN" sz="2800" b="1" dirty="0">
              <a:latin typeface="楷体" panose="02010609060101010101" pitchFamily="49" charset="-122"/>
              <a:ea typeface="楷体" panose="02010609060101010101" pitchFamily="49" charset="-122"/>
            </a:endParaRPr>
          </a:p>
          <a:p>
            <a:pPr lvl="0">
              <a:lnSpc>
                <a:spcPct val="130000"/>
              </a:lnSpc>
              <a:defRPr/>
            </a:pPr>
            <a:r>
              <a:rPr lang="en-US" altLang="zh-CN" sz="2800" b="1" dirty="0">
                <a:solidFill>
                  <a:schemeClr val="accent6">
                    <a:lumMod val="75000"/>
                  </a:schemeClr>
                </a:solidFill>
                <a:latin typeface="楷体" panose="02010609060101010101" pitchFamily="49" charset="-122"/>
                <a:ea typeface="楷体" panose="02010609060101010101" pitchFamily="49" charset="-122"/>
              </a:rPr>
              <a:t>② </a:t>
            </a:r>
            <a:r>
              <a:rPr lang="zh-CN" altLang="en-US" sz="2800" b="1" dirty="0">
                <a:solidFill>
                  <a:schemeClr val="accent6">
                    <a:lumMod val="75000"/>
                  </a:schemeClr>
                </a:solidFill>
                <a:latin typeface="楷体" panose="02010609060101010101" pitchFamily="49" charset="-122"/>
                <a:ea typeface="楷体" panose="02010609060101010101" pitchFamily="49" charset="-122"/>
              </a:rPr>
              <a:t>微操作：</a:t>
            </a:r>
            <a:r>
              <a:rPr lang="zh-CN" altLang="en-US" sz="2800" b="1" dirty="0">
                <a:latin typeface="楷体" panose="02010609060101010101" pitchFamily="49" charset="-122"/>
                <a:ea typeface="楷体" panose="02010609060101010101" pitchFamily="49" charset="-122"/>
              </a:rPr>
              <a:t>由微命令控制实现的</a:t>
            </a:r>
            <a:r>
              <a:rPr lang="zh-CN" altLang="en-US" sz="2800" b="1" dirty="0">
                <a:solidFill>
                  <a:schemeClr val="accent2"/>
                </a:solidFill>
                <a:latin typeface="楷体" panose="02010609060101010101" pitchFamily="49" charset="-122"/>
                <a:ea typeface="楷体" panose="02010609060101010101" pitchFamily="49" charset="-122"/>
              </a:rPr>
              <a:t>最基本的操作</a:t>
            </a:r>
            <a:r>
              <a:rPr lang="zh-CN" altLang="en-US" sz="2800" b="1" dirty="0">
                <a:latin typeface="楷体" panose="02010609060101010101" pitchFamily="49" charset="-122"/>
                <a:ea typeface="楷体" panose="02010609060101010101" pitchFamily="49" charset="-122"/>
              </a:rPr>
              <a:t>称为微</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操作，如：开门、关门、选择。</a:t>
            </a:r>
            <a:endParaRPr lang="en-US" altLang="zh-CN" sz="2800" b="1" dirty="0">
              <a:latin typeface="楷体" panose="02010609060101010101" pitchFamily="49" charset="-122"/>
              <a:ea typeface="楷体" panose="02010609060101010101" pitchFamily="49" charset="-122"/>
            </a:endParaRPr>
          </a:p>
          <a:p>
            <a:pPr lvl="0">
              <a:lnSpc>
                <a:spcPct val="130000"/>
              </a:lnSpc>
              <a:defRPr/>
            </a:pPr>
            <a:r>
              <a:rPr lang="en-US" altLang="zh-CN" sz="2800" b="1" dirty="0">
                <a:solidFill>
                  <a:schemeClr val="accent6">
                    <a:lumMod val="75000"/>
                  </a:schemeClr>
                </a:solidFill>
                <a:latin typeface="楷体" panose="02010609060101010101" pitchFamily="49" charset="-122"/>
                <a:ea typeface="楷体" panose="02010609060101010101" pitchFamily="49" charset="-122"/>
              </a:rPr>
              <a:t>③ </a:t>
            </a:r>
            <a:r>
              <a:rPr lang="zh-CN" altLang="en-US" sz="2800" b="1" dirty="0">
                <a:solidFill>
                  <a:schemeClr val="accent6">
                    <a:lumMod val="75000"/>
                  </a:schemeClr>
                </a:solidFill>
                <a:latin typeface="楷体" panose="02010609060101010101" pitchFamily="49" charset="-122"/>
                <a:ea typeface="楷体" panose="02010609060101010101" pitchFamily="49" charset="-122"/>
              </a:rPr>
              <a:t>微周期：</a:t>
            </a:r>
            <a:r>
              <a:rPr lang="zh-CN" altLang="en-US" sz="2800" b="1" dirty="0">
                <a:latin typeface="楷体" panose="02010609060101010101" pitchFamily="49" charset="-122"/>
                <a:ea typeface="楷体" panose="02010609060101010101" pitchFamily="49" charset="-122"/>
              </a:rPr>
              <a:t>从控制存储器中读取一条微指令并执行相</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应的一步操作所需的时间，称为一个微周期或微指</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令周期。通常</a:t>
            </a:r>
            <a:r>
              <a:rPr lang="zh-CN" altLang="en-US" sz="2800" b="1" dirty="0">
                <a:solidFill>
                  <a:srgbClr val="ED7D31"/>
                </a:solidFill>
                <a:latin typeface="楷体" panose="02010609060101010101" pitchFamily="49" charset="-122"/>
                <a:ea typeface="楷体" panose="02010609060101010101" pitchFamily="49" charset="-122"/>
              </a:rPr>
              <a:t>一个时钟周期</a:t>
            </a:r>
            <a:r>
              <a:rPr lang="zh-CN" altLang="en-US" sz="2800" b="1" dirty="0">
                <a:latin typeface="楷体" panose="02010609060101010101" pitchFamily="49" charset="-122"/>
                <a:ea typeface="楷体" panose="02010609060101010101" pitchFamily="49" charset="-122"/>
              </a:rPr>
              <a:t>为一个微周期。</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3415981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wipe(left)">
                                      <p:cBhvr>
                                        <p:cTn id="22" dur="500"/>
                                        <p:tgtEl>
                                          <p:spTgt spid="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wipe(left)">
                                      <p:cBhvr>
                                        <p:cTn id="27" dur="500"/>
                                        <p:tgtEl>
                                          <p:spTgt spid="1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xEl>
                                              <p:pRg st="5" end="5"/>
                                            </p:txEl>
                                          </p:spTgt>
                                        </p:tgtEl>
                                        <p:attrNameLst>
                                          <p:attrName>style.visibility</p:attrName>
                                        </p:attrNameLst>
                                      </p:cBhvr>
                                      <p:to>
                                        <p:strVal val="visible"/>
                                      </p:to>
                                    </p:set>
                                    <p:animEffect transition="in" filter="wipe(left)">
                                      <p:cBhvr>
                                        <p:cTn id="32"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一、基本概念及基本原理</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5</a:t>
            </a:fld>
            <a:endParaRPr lang="zh-CN" altLang="en-US"/>
          </a:p>
        </p:txBody>
      </p:sp>
      <p:sp>
        <p:nvSpPr>
          <p:cNvPr id="12" name="文本框 11">
            <a:extLst>
              <a:ext uri="{FF2B5EF4-FFF2-40B4-BE49-F238E27FC236}">
                <a16:creationId xmlns:a16="http://schemas.microsoft.com/office/drawing/2014/main" id="{1459AC15-7791-42A4-8EEE-348DB0841955}"/>
              </a:ext>
            </a:extLst>
          </p:cNvPr>
          <p:cNvSpPr txBox="1"/>
          <p:nvPr/>
        </p:nvSpPr>
        <p:spPr>
          <a:xfrm>
            <a:off x="177024" y="867268"/>
            <a:ext cx="8775387" cy="3869329"/>
          </a:xfrm>
          <a:prstGeom prst="rect">
            <a:avLst/>
          </a:prstGeom>
          <a:noFill/>
        </p:spPr>
        <p:txBody>
          <a:bodyPr wrap="square" rtlCol="0">
            <a:spAutoFit/>
          </a:bodyPr>
          <a:lstStyle/>
          <a:p>
            <a:pPr lvl="0">
              <a:lnSpc>
                <a:spcPct val="150000"/>
              </a:lnSpc>
              <a:defRPr/>
            </a:pPr>
            <a:r>
              <a:rPr lang="en-US" altLang="zh-CN" sz="2800" b="1" dirty="0">
                <a:solidFill>
                  <a:schemeClr val="accent6">
                    <a:lumMod val="75000"/>
                  </a:schemeClr>
                </a:solidFill>
                <a:latin typeface="楷体" panose="02010609060101010101" pitchFamily="49" charset="-122"/>
                <a:ea typeface="楷体" panose="02010609060101010101" pitchFamily="49" charset="-122"/>
              </a:rPr>
              <a:t>④ </a:t>
            </a:r>
            <a:r>
              <a:rPr lang="zh-CN" altLang="en-US" sz="2800" b="1" dirty="0">
                <a:solidFill>
                  <a:schemeClr val="accent6">
                    <a:lumMod val="75000"/>
                  </a:schemeClr>
                </a:solidFill>
                <a:latin typeface="楷体" panose="02010609060101010101" pitchFamily="49" charset="-122"/>
                <a:ea typeface="楷体" panose="02010609060101010101" pitchFamily="49" charset="-122"/>
              </a:rPr>
              <a:t>微指令：</a:t>
            </a:r>
            <a:r>
              <a:rPr lang="zh-CN" altLang="en-US" sz="2800" b="1" dirty="0">
                <a:latin typeface="楷体" panose="02010609060101010101" pitchFamily="49" charset="-122"/>
                <a:ea typeface="楷体" panose="02010609060101010101" pitchFamily="49" charset="-122"/>
              </a:rPr>
              <a:t>每个</a:t>
            </a:r>
            <a:r>
              <a:rPr lang="zh-CN" altLang="en-US" sz="2800" b="1" dirty="0">
                <a:solidFill>
                  <a:schemeClr val="accent2"/>
                </a:solidFill>
                <a:latin typeface="楷体" panose="02010609060101010101" pitchFamily="49" charset="-122"/>
                <a:ea typeface="楷体" panose="02010609060101010101" pitchFamily="49" charset="-122"/>
              </a:rPr>
              <a:t>微周期</a:t>
            </a:r>
            <a:r>
              <a:rPr lang="zh-CN" altLang="en-US" sz="2800" b="1" dirty="0">
                <a:latin typeface="楷体" panose="02010609060101010101" pitchFamily="49" charset="-122"/>
                <a:ea typeface="楷体" panose="02010609060101010101" pitchFamily="49" charset="-122"/>
              </a:rPr>
              <a:t>的操作所需的微命令组成一条</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微指令。从控制存储器的组织角度讲，每个单元存</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放一条微指令。 </a:t>
            </a:r>
            <a:endParaRPr lang="en-US" altLang="zh-CN" sz="2800" b="1" dirty="0">
              <a:latin typeface="楷体" panose="02010609060101010101" pitchFamily="49" charset="-122"/>
              <a:ea typeface="楷体" panose="02010609060101010101" pitchFamily="49" charset="-122"/>
            </a:endParaRPr>
          </a:p>
          <a:p>
            <a:pPr lvl="0">
              <a:lnSpc>
                <a:spcPct val="150000"/>
              </a:lnSpc>
              <a:defRPr/>
            </a:pPr>
            <a:r>
              <a:rPr lang="en-US" altLang="zh-CN" sz="2800" b="1" dirty="0">
                <a:solidFill>
                  <a:schemeClr val="accent6">
                    <a:lumMod val="75000"/>
                  </a:schemeClr>
                </a:solidFill>
                <a:latin typeface="楷体" panose="02010609060101010101" pitchFamily="49" charset="-122"/>
                <a:ea typeface="楷体" panose="02010609060101010101" pitchFamily="49" charset="-122"/>
              </a:rPr>
              <a:t>⑤ </a:t>
            </a:r>
            <a:r>
              <a:rPr lang="zh-CN" altLang="en-US" sz="2800" b="1" dirty="0">
                <a:solidFill>
                  <a:schemeClr val="accent6">
                    <a:lumMod val="75000"/>
                  </a:schemeClr>
                </a:solidFill>
                <a:latin typeface="楷体" panose="02010609060101010101" pitchFamily="49" charset="-122"/>
                <a:ea typeface="楷体" panose="02010609060101010101" pitchFamily="49" charset="-122"/>
              </a:rPr>
              <a:t>微程序：</a:t>
            </a:r>
            <a:r>
              <a:rPr lang="zh-CN" altLang="en-US" sz="2800" b="1" dirty="0">
                <a:latin typeface="楷体" panose="02010609060101010101" pitchFamily="49" charset="-122"/>
                <a:ea typeface="楷体" panose="02010609060101010101" pitchFamily="49" charset="-122"/>
              </a:rPr>
              <a:t>一系列微指令的</a:t>
            </a:r>
            <a:r>
              <a:rPr lang="zh-CN" altLang="en-US" sz="2800" b="1" dirty="0">
                <a:solidFill>
                  <a:schemeClr val="accent2"/>
                </a:solidFill>
                <a:latin typeface="楷体" panose="02010609060101010101" pitchFamily="49" charset="-122"/>
                <a:ea typeface="楷体" panose="02010609060101010101" pitchFamily="49" charset="-122"/>
              </a:rPr>
              <a:t>有序集合</a:t>
            </a:r>
            <a:r>
              <a:rPr lang="zh-CN" altLang="en-US" sz="2800" b="1" dirty="0">
                <a:latin typeface="楷体" panose="02010609060101010101" pitchFamily="49" charset="-122"/>
                <a:ea typeface="楷体" panose="02010609060101010101" pitchFamily="49" charset="-122"/>
              </a:rPr>
              <a:t>称为微程序，用</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来解释执行一条机器指令。</a:t>
            </a:r>
            <a:endParaRPr lang="en-US" altLang="zh-CN" sz="2800" b="1" dirty="0">
              <a:latin typeface="楷体" panose="02010609060101010101" pitchFamily="49" charset="-122"/>
              <a:ea typeface="楷体" panose="02010609060101010101" pitchFamily="49" charset="-122"/>
            </a:endParaRPr>
          </a:p>
          <a:p>
            <a:pPr lvl="0">
              <a:lnSpc>
                <a:spcPct val="150000"/>
              </a:lnSpc>
              <a:defRPr/>
            </a:pPr>
            <a:r>
              <a:rPr lang="en-US" altLang="zh-CN" sz="2800" b="1" dirty="0">
                <a:solidFill>
                  <a:schemeClr val="accent6">
                    <a:lumMod val="75000"/>
                  </a:schemeClr>
                </a:solidFill>
                <a:latin typeface="楷体" panose="02010609060101010101" pitchFamily="49" charset="-122"/>
                <a:ea typeface="楷体" panose="02010609060101010101" pitchFamily="49" charset="-122"/>
              </a:rPr>
              <a:t>⑥ </a:t>
            </a:r>
            <a:r>
              <a:rPr lang="zh-CN" altLang="en-US" sz="2800" b="1" dirty="0">
                <a:solidFill>
                  <a:schemeClr val="accent6">
                    <a:lumMod val="75000"/>
                  </a:schemeClr>
                </a:solidFill>
                <a:latin typeface="楷体" panose="02010609060101010101" pitchFamily="49" charset="-122"/>
                <a:ea typeface="楷体" panose="02010609060101010101" pitchFamily="49" charset="-122"/>
              </a:rPr>
              <a:t>对应关系：</a:t>
            </a:r>
            <a:endParaRPr lang="en-US" altLang="zh-CN" sz="2800" b="1" dirty="0">
              <a:solidFill>
                <a:schemeClr val="accent6">
                  <a:lumMod val="75000"/>
                </a:schemeClr>
              </a:solidFill>
              <a:latin typeface="楷体" panose="02010609060101010101" pitchFamily="49" charset="-122"/>
              <a:ea typeface="楷体" panose="02010609060101010101" pitchFamily="49" charset="-122"/>
            </a:endParaRPr>
          </a:p>
        </p:txBody>
      </p:sp>
      <p:sp>
        <p:nvSpPr>
          <p:cNvPr id="13" name="文本框 12">
            <a:extLst>
              <a:ext uri="{FF2B5EF4-FFF2-40B4-BE49-F238E27FC236}">
                <a16:creationId xmlns:a16="http://schemas.microsoft.com/office/drawing/2014/main" id="{C87EE5A5-83FC-4CB4-9112-183827B69420}"/>
              </a:ext>
            </a:extLst>
          </p:cNvPr>
          <p:cNvSpPr txBox="1"/>
          <p:nvPr/>
        </p:nvSpPr>
        <p:spPr>
          <a:xfrm>
            <a:off x="282369" y="4929480"/>
            <a:ext cx="1725457" cy="954107"/>
          </a:xfrm>
          <a:prstGeom prst="rect">
            <a:avLst/>
          </a:prstGeom>
          <a:noFill/>
        </p:spPr>
        <p:txBody>
          <a:bodyPr wrap="square" rtlCol="0">
            <a:spAutoFit/>
          </a:bodyPr>
          <a:lstStyle/>
          <a:p>
            <a:pPr lvl="0" algn="ctr">
              <a:defRPr/>
            </a:pPr>
            <a:r>
              <a:rPr lang="zh-CN" altLang="en-US" sz="2800" b="1" dirty="0">
                <a:latin typeface="楷体" panose="02010609060101010101" pitchFamily="49" charset="-122"/>
                <a:ea typeface="楷体" panose="02010609060101010101" pitchFamily="49" charset="-122"/>
              </a:rPr>
              <a:t>一条</a:t>
            </a:r>
          </a:p>
          <a:p>
            <a:pPr lvl="0" algn="ctr">
              <a:defRPr/>
            </a:pPr>
            <a:r>
              <a:rPr lang="zh-CN" altLang="en-US" sz="2800" b="1" dirty="0">
                <a:latin typeface="楷体" panose="02010609060101010101" pitchFamily="49" charset="-122"/>
                <a:ea typeface="楷体" panose="02010609060101010101" pitchFamily="49" charset="-122"/>
              </a:rPr>
              <a:t>机器指令</a:t>
            </a:r>
            <a:endParaRPr lang="en-US" altLang="zh-CN" sz="2800" b="1" dirty="0">
              <a:latin typeface="楷体" panose="02010609060101010101" pitchFamily="49" charset="-122"/>
              <a:ea typeface="楷体" panose="02010609060101010101" pitchFamily="49" charset="-122"/>
            </a:endParaRPr>
          </a:p>
        </p:txBody>
      </p:sp>
      <p:sp>
        <p:nvSpPr>
          <p:cNvPr id="15" name="文本框 14">
            <a:extLst>
              <a:ext uri="{FF2B5EF4-FFF2-40B4-BE49-F238E27FC236}">
                <a16:creationId xmlns:a16="http://schemas.microsoft.com/office/drawing/2014/main" id="{5F9A1837-3021-4FBA-9C31-8A0018009B03}"/>
              </a:ext>
            </a:extLst>
          </p:cNvPr>
          <p:cNvSpPr txBox="1"/>
          <p:nvPr/>
        </p:nvSpPr>
        <p:spPr>
          <a:xfrm>
            <a:off x="2662237" y="4929480"/>
            <a:ext cx="1725457" cy="954107"/>
          </a:xfrm>
          <a:prstGeom prst="rect">
            <a:avLst/>
          </a:prstGeom>
          <a:noFill/>
        </p:spPr>
        <p:txBody>
          <a:bodyPr wrap="square" rtlCol="0">
            <a:spAutoFit/>
          </a:bodyPr>
          <a:lstStyle/>
          <a:p>
            <a:pPr lvl="0" algn="ctr">
              <a:defRPr/>
            </a:pPr>
            <a:r>
              <a:rPr lang="zh-CN" altLang="en-US" sz="2800" b="1" dirty="0">
                <a:latin typeface="楷体" panose="02010609060101010101" pitchFamily="49" charset="-122"/>
                <a:ea typeface="楷体" panose="02010609060101010101" pitchFamily="49" charset="-122"/>
              </a:rPr>
              <a:t>一段</a:t>
            </a:r>
          </a:p>
          <a:p>
            <a:pPr lvl="0" algn="ctr">
              <a:defRPr/>
            </a:pPr>
            <a:r>
              <a:rPr lang="zh-CN" altLang="en-US" sz="2800" b="1" dirty="0">
                <a:latin typeface="楷体" panose="02010609060101010101" pitchFamily="49" charset="-122"/>
                <a:ea typeface="楷体" panose="02010609060101010101" pitchFamily="49" charset="-122"/>
              </a:rPr>
              <a:t>微程序</a:t>
            </a:r>
            <a:endParaRPr lang="en-US" altLang="zh-CN" sz="2800" b="1" dirty="0">
              <a:latin typeface="楷体" panose="02010609060101010101" pitchFamily="49" charset="-122"/>
              <a:ea typeface="楷体" panose="02010609060101010101" pitchFamily="49" charset="-122"/>
            </a:endParaRPr>
          </a:p>
        </p:txBody>
      </p:sp>
      <p:sp>
        <p:nvSpPr>
          <p:cNvPr id="17" name="文本框 16">
            <a:extLst>
              <a:ext uri="{FF2B5EF4-FFF2-40B4-BE49-F238E27FC236}">
                <a16:creationId xmlns:a16="http://schemas.microsoft.com/office/drawing/2014/main" id="{7BFC5236-17FE-430D-92B9-CB2762FCB6F5}"/>
              </a:ext>
            </a:extLst>
          </p:cNvPr>
          <p:cNvSpPr txBox="1"/>
          <p:nvPr/>
        </p:nvSpPr>
        <p:spPr>
          <a:xfrm>
            <a:off x="5042105" y="4929480"/>
            <a:ext cx="1725457" cy="954107"/>
          </a:xfrm>
          <a:prstGeom prst="rect">
            <a:avLst/>
          </a:prstGeom>
          <a:noFill/>
        </p:spPr>
        <p:txBody>
          <a:bodyPr wrap="square" rtlCol="0">
            <a:spAutoFit/>
          </a:bodyPr>
          <a:lstStyle/>
          <a:p>
            <a:pPr lvl="0" algn="ctr">
              <a:defRPr/>
            </a:pPr>
            <a:r>
              <a:rPr lang="zh-CN" altLang="en-US" sz="2800" b="1" dirty="0">
                <a:latin typeface="楷体" panose="02010609060101010101" pitchFamily="49" charset="-122"/>
                <a:ea typeface="楷体" panose="02010609060101010101" pitchFamily="49" charset="-122"/>
              </a:rPr>
              <a:t>一系列</a:t>
            </a:r>
          </a:p>
          <a:p>
            <a:pPr lvl="0" algn="ctr">
              <a:defRPr/>
            </a:pPr>
            <a:r>
              <a:rPr lang="zh-CN" altLang="en-US" sz="2800" b="1" dirty="0">
                <a:latin typeface="楷体" panose="02010609060101010101" pitchFamily="49" charset="-122"/>
                <a:ea typeface="楷体" panose="02010609060101010101" pitchFamily="49" charset="-122"/>
              </a:rPr>
              <a:t>微指令</a:t>
            </a:r>
            <a:endParaRPr lang="en-US" altLang="zh-CN" sz="2800" b="1" dirty="0">
              <a:latin typeface="楷体" panose="02010609060101010101" pitchFamily="49" charset="-122"/>
              <a:ea typeface="楷体" panose="02010609060101010101" pitchFamily="49" charset="-122"/>
            </a:endParaRPr>
          </a:p>
        </p:txBody>
      </p:sp>
      <p:sp>
        <p:nvSpPr>
          <p:cNvPr id="18" name="文本框 17">
            <a:extLst>
              <a:ext uri="{FF2B5EF4-FFF2-40B4-BE49-F238E27FC236}">
                <a16:creationId xmlns:a16="http://schemas.microsoft.com/office/drawing/2014/main" id="{35324B6C-0581-414C-920B-290381FC3A7D}"/>
              </a:ext>
            </a:extLst>
          </p:cNvPr>
          <p:cNvSpPr txBox="1"/>
          <p:nvPr/>
        </p:nvSpPr>
        <p:spPr>
          <a:xfrm>
            <a:off x="7421972" y="5144923"/>
            <a:ext cx="1725457" cy="523220"/>
          </a:xfrm>
          <a:prstGeom prst="rect">
            <a:avLst/>
          </a:prstGeom>
          <a:noFill/>
        </p:spPr>
        <p:txBody>
          <a:bodyPr wrap="square" rtlCol="0">
            <a:spAutoFit/>
          </a:bodyPr>
          <a:lstStyle/>
          <a:p>
            <a:pPr lvl="0" algn="ctr">
              <a:defRPr/>
            </a:pPr>
            <a:r>
              <a:rPr lang="zh-CN" altLang="en-US" sz="2800" b="1" dirty="0">
                <a:latin typeface="楷体" panose="02010609060101010101" pitchFamily="49" charset="-122"/>
                <a:ea typeface="楷体" panose="02010609060101010101" pitchFamily="49" charset="-122"/>
              </a:rPr>
              <a:t>微指令</a:t>
            </a:r>
            <a:endParaRPr lang="en-US" altLang="zh-CN" sz="2800" b="1" dirty="0">
              <a:latin typeface="楷体" panose="02010609060101010101" pitchFamily="49" charset="-122"/>
              <a:ea typeface="楷体" panose="02010609060101010101" pitchFamily="49" charset="-122"/>
            </a:endParaRPr>
          </a:p>
        </p:txBody>
      </p:sp>
      <p:cxnSp>
        <p:nvCxnSpPr>
          <p:cNvPr id="3" name="直接箭头连接符 2">
            <a:extLst>
              <a:ext uri="{FF2B5EF4-FFF2-40B4-BE49-F238E27FC236}">
                <a16:creationId xmlns:a16="http://schemas.microsoft.com/office/drawing/2014/main" id="{C39D562D-16C8-4FBD-9AEC-9856E77548A2}"/>
              </a:ext>
            </a:extLst>
          </p:cNvPr>
          <p:cNvCxnSpPr>
            <a:cxnSpLocks/>
          </p:cNvCxnSpPr>
          <p:nvPr/>
        </p:nvCxnSpPr>
        <p:spPr>
          <a:xfrm>
            <a:off x="1874770" y="5406533"/>
            <a:ext cx="920523" cy="0"/>
          </a:xfrm>
          <a:prstGeom prst="straightConnector1">
            <a:avLst/>
          </a:prstGeom>
          <a:ln w="5715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87821BA8-A99F-4A90-B467-736F802E7BD0}"/>
              </a:ext>
            </a:extLst>
          </p:cNvPr>
          <p:cNvCxnSpPr>
            <a:cxnSpLocks/>
          </p:cNvCxnSpPr>
          <p:nvPr/>
        </p:nvCxnSpPr>
        <p:spPr>
          <a:xfrm>
            <a:off x="4254638" y="5406533"/>
            <a:ext cx="920523" cy="0"/>
          </a:xfrm>
          <a:prstGeom prst="straightConnector1">
            <a:avLst/>
          </a:prstGeom>
          <a:ln w="5715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56EE8B7D-E86B-4948-A836-59595BAF6748}"/>
              </a:ext>
            </a:extLst>
          </p:cNvPr>
          <p:cNvCxnSpPr>
            <a:cxnSpLocks/>
          </p:cNvCxnSpPr>
          <p:nvPr/>
        </p:nvCxnSpPr>
        <p:spPr>
          <a:xfrm>
            <a:off x="6634506" y="5406533"/>
            <a:ext cx="920523" cy="0"/>
          </a:xfrm>
          <a:prstGeom prst="straightConnector1">
            <a:avLst/>
          </a:prstGeom>
          <a:ln w="5715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857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arn(outVertical)">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right)">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right)">
                                      <p:cBhvr>
                                        <p:cTn id="5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3" grpId="0"/>
      <p:bldP spid="15" grpId="0"/>
      <p:bldP spid="17"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6</a:t>
            </a:fld>
            <a:endParaRPr lang="zh-CN" altLang="en-US"/>
          </a:p>
        </p:txBody>
      </p:sp>
      <p:sp>
        <p:nvSpPr>
          <p:cNvPr id="12" name="文本框 11">
            <a:extLst>
              <a:ext uri="{FF2B5EF4-FFF2-40B4-BE49-F238E27FC236}">
                <a16:creationId xmlns:a16="http://schemas.microsoft.com/office/drawing/2014/main" id="{1459AC15-7791-42A4-8EEE-348DB0841955}"/>
              </a:ext>
            </a:extLst>
          </p:cNvPr>
          <p:cNvSpPr txBox="1"/>
          <p:nvPr/>
        </p:nvSpPr>
        <p:spPr>
          <a:xfrm>
            <a:off x="184306" y="809876"/>
            <a:ext cx="8775387" cy="5577489"/>
          </a:xfrm>
          <a:prstGeom prst="rect">
            <a:avLst/>
          </a:prstGeom>
          <a:noFill/>
        </p:spPr>
        <p:txBody>
          <a:bodyPr wrap="square" rtlCol="0">
            <a:spAutoFit/>
          </a:bodyPr>
          <a:lstStyle/>
          <a:p>
            <a:pPr>
              <a:lnSpc>
                <a:spcPct val="150000"/>
              </a:lnSpc>
              <a:defRPr/>
            </a:pPr>
            <a:r>
              <a:rPr lang="en-US" altLang="zh-CN" sz="2800" b="1" dirty="0">
                <a:solidFill>
                  <a:srgbClr val="0563C1"/>
                </a:solidFill>
                <a:latin typeface="楷体" panose="02010609060101010101" pitchFamily="49" charset="-122"/>
                <a:ea typeface="楷体" panose="02010609060101010101" pitchFamily="49" charset="-122"/>
              </a:rPr>
              <a:t>2</a:t>
            </a:r>
            <a:r>
              <a:rPr lang="zh-CN" altLang="en-US" sz="2800" b="1" dirty="0">
                <a:solidFill>
                  <a:srgbClr val="0563C1"/>
                </a:solidFill>
                <a:latin typeface="楷体" panose="02010609060101010101" pitchFamily="49" charset="-122"/>
                <a:ea typeface="楷体" panose="02010609060101010101" pitchFamily="49" charset="-122"/>
              </a:rPr>
              <a:t>、微程序控制的概念</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defRPr/>
            </a:pPr>
            <a:r>
              <a:rPr lang="en-US" altLang="zh-CN" sz="2800" b="1" dirty="0">
                <a:latin typeface="楷体" panose="02010609060101010101" pitchFamily="49" charset="-122"/>
                <a:ea typeface="楷体" panose="02010609060101010101" pitchFamily="49" charset="-122"/>
              </a:rPr>
              <a:t>① </a:t>
            </a:r>
            <a:r>
              <a:rPr lang="zh-CN" altLang="en-US" sz="2800" b="1" dirty="0">
                <a:latin typeface="楷体" panose="02010609060101010101" pitchFamily="49" charset="-122"/>
                <a:ea typeface="楷体" panose="02010609060101010101" pitchFamily="49" charset="-122"/>
              </a:rPr>
              <a:t>将控制器所需的微命令，以</a:t>
            </a:r>
            <a:r>
              <a:rPr lang="zh-CN" altLang="en-US" sz="2800" b="1" dirty="0">
                <a:solidFill>
                  <a:schemeClr val="accent2"/>
                </a:solidFill>
                <a:latin typeface="楷体" panose="02010609060101010101" pitchFamily="49" charset="-122"/>
                <a:ea typeface="楷体" panose="02010609060101010101" pitchFamily="49" charset="-122"/>
              </a:rPr>
              <a:t>代码</a:t>
            </a:r>
            <a:r>
              <a:rPr lang="zh-CN" altLang="en-US" sz="2800" b="1" dirty="0">
                <a:latin typeface="楷体" panose="02010609060101010101" pitchFamily="49" charset="-122"/>
                <a:ea typeface="楷体" panose="02010609060101010101" pitchFamily="49" charset="-122"/>
              </a:rPr>
              <a:t>（微码）形式编成</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微指令，存入一个</a:t>
            </a:r>
            <a:r>
              <a:rPr lang="en-US" altLang="zh-CN" sz="2800" b="1" dirty="0">
                <a:solidFill>
                  <a:schemeClr val="accent2"/>
                </a:solidFill>
                <a:latin typeface="楷体" panose="02010609060101010101" pitchFamily="49" charset="-122"/>
                <a:ea typeface="楷体" panose="02010609060101010101" pitchFamily="49" charset="-122"/>
              </a:rPr>
              <a:t>ROM</a:t>
            </a:r>
            <a:r>
              <a:rPr lang="zh-CN" altLang="en-US" sz="2800" b="1" dirty="0">
                <a:latin typeface="楷体" panose="02010609060101010101" pitchFamily="49" charset="-122"/>
                <a:ea typeface="楷体" panose="02010609060101010101" pitchFamily="49" charset="-122"/>
              </a:rPr>
              <a:t>构成的控制存储器中。</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将存储逻辑引入</a:t>
            </a:r>
            <a:r>
              <a:rPr lang="en-US" altLang="zh-CN" sz="2800" b="1" dirty="0">
                <a:solidFill>
                  <a:schemeClr val="accent2"/>
                </a:solidFill>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a:t>
            </a:r>
          </a:p>
          <a:p>
            <a:pPr lvl="0">
              <a:lnSpc>
                <a:spcPct val="150000"/>
              </a:lnSpc>
              <a:defRPr/>
            </a:pPr>
            <a:r>
              <a:rPr lang="en-US" altLang="zh-CN" sz="2800" b="1" dirty="0">
                <a:latin typeface="楷体" panose="02010609060101010101" pitchFamily="49" charset="-122"/>
                <a:ea typeface="楷体" panose="02010609060101010101" pitchFamily="49" charset="-122"/>
              </a:rPr>
              <a:t>② </a:t>
            </a:r>
            <a:r>
              <a:rPr lang="zh-CN" altLang="en-US" sz="2800" b="1" dirty="0">
                <a:latin typeface="楷体" panose="02010609060101010101" pitchFamily="49" charset="-122"/>
                <a:ea typeface="楷体" panose="02010609060101010101" pitchFamily="49" charset="-122"/>
              </a:rPr>
              <a:t>将各种机器指令的操作分解为若干</a:t>
            </a:r>
            <a:r>
              <a:rPr lang="zh-CN" altLang="en-US" sz="2800" b="1" dirty="0">
                <a:solidFill>
                  <a:schemeClr val="accent2"/>
                </a:solidFill>
                <a:latin typeface="楷体" panose="02010609060101010101" pitchFamily="49" charset="-122"/>
                <a:ea typeface="楷体" panose="02010609060101010101" pitchFamily="49" charset="-122"/>
              </a:rPr>
              <a:t>微操作序列</a:t>
            </a:r>
            <a:r>
              <a:rPr lang="zh-CN" altLang="en-US" sz="2800" b="1" dirty="0">
                <a:latin typeface="楷体" panose="02010609060101010101" pitchFamily="49" charset="-122"/>
                <a:ea typeface="楷体" panose="02010609060101010101" pitchFamily="49" charset="-122"/>
              </a:rPr>
              <a:t>。    </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将程序技术引入</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的构成级。</a:t>
            </a:r>
            <a:endParaRPr lang="en-US" altLang="zh-CN" sz="2800" b="1" dirty="0">
              <a:latin typeface="楷体" panose="02010609060101010101" pitchFamily="49" charset="-122"/>
              <a:ea typeface="楷体" panose="02010609060101010101" pitchFamily="49" charset="-122"/>
            </a:endParaRPr>
          </a:p>
          <a:p>
            <a:pPr lvl="0">
              <a:lnSpc>
                <a:spcPct val="150000"/>
              </a:lnSpc>
              <a:defRPr/>
            </a:pPr>
            <a:endParaRPr lang="en-US" altLang="zh-CN" b="1" dirty="0">
              <a:solidFill>
                <a:srgbClr val="0563C1"/>
              </a:solidFill>
              <a:latin typeface="楷体" panose="02010609060101010101" pitchFamily="49" charset="-122"/>
              <a:ea typeface="楷体" panose="02010609060101010101" pitchFamily="49" charset="-122"/>
            </a:endParaRPr>
          </a:p>
          <a:p>
            <a:pPr lvl="0">
              <a:lnSpc>
                <a:spcPct val="150000"/>
              </a:lnSpc>
              <a:defRPr/>
            </a:pPr>
            <a:r>
              <a:rPr lang="zh-CN" altLang="en-US" sz="2800" b="1" dirty="0">
                <a:latin typeface="楷体" panose="02010609060101010101" pitchFamily="49" charset="-122"/>
                <a:ea typeface="楷体" panose="02010609060101010101" pitchFamily="49" charset="-122"/>
              </a:rPr>
              <a:t>上面从两个角度阐明了</a:t>
            </a:r>
            <a:r>
              <a:rPr lang="zh-CN" altLang="en-US" sz="2800" b="1" dirty="0">
                <a:solidFill>
                  <a:schemeClr val="accent6">
                    <a:lumMod val="75000"/>
                  </a:schemeClr>
                </a:solidFill>
                <a:latin typeface="楷体" panose="02010609060101010101" pitchFamily="49" charset="-122"/>
                <a:ea typeface="楷体" panose="02010609060101010101" pitchFamily="49" charset="-122"/>
              </a:rPr>
              <a:t>微程序控制</a:t>
            </a:r>
            <a:r>
              <a:rPr lang="zh-CN" altLang="en-US" sz="2800" b="1" dirty="0">
                <a:latin typeface="楷体" panose="02010609060101010101" pitchFamily="49" charset="-122"/>
                <a:ea typeface="楷体" panose="02010609060101010101" pitchFamily="49" charset="-122"/>
              </a:rPr>
              <a:t>的基本概念：</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defRPr/>
            </a:pPr>
            <a:r>
              <a:rPr lang="zh-CN" altLang="en-US" sz="2800" b="1" dirty="0">
                <a:solidFill>
                  <a:schemeClr val="accent2"/>
                </a:solidFill>
                <a:latin typeface="楷体" panose="02010609060101010101" pitchFamily="49" charset="-122"/>
                <a:ea typeface="楷体" panose="02010609060101010101" pitchFamily="49" charset="-122"/>
              </a:rPr>
              <a:t>微命令的产生方式，微程序与机器指令之间的对应关系。</a:t>
            </a:r>
            <a:endParaRPr lang="en-US" altLang="zh-CN" sz="2800" b="1" dirty="0">
              <a:solidFill>
                <a:schemeClr val="accent2"/>
              </a:solidFill>
              <a:latin typeface="楷体" panose="02010609060101010101" pitchFamily="49" charset="-122"/>
              <a:ea typeface="楷体" panose="02010609060101010101" pitchFamily="49" charset="-122"/>
            </a:endParaRPr>
          </a:p>
        </p:txBody>
      </p:sp>
      <p:sp>
        <p:nvSpPr>
          <p:cNvPr id="20" name="ïšḻïdê">
            <a:extLst>
              <a:ext uri="{FF2B5EF4-FFF2-40B4-BE49-F238E27FC236}">
                <a16:creationId xmlns:a16="http://schemas.microsoft.com/office/drawing/2014/main" id="{F63E0E22-6578-43AD-B7BA-72ADE4081E48}"/>
              </a:ext>
            </a:extLst>
          </p:cNvPr>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一、基本概念及基本原理</a:t>
            </a:r>
          </a:p>
        </p:txBody>
      </p:sp>
    </p:spTree>
    <p:extLst>
      <p:ext uri="{BB962C8B-B14F-4D97-AF65-F5344CB8AC3E}">
        <p14:creationId xmlns:p14="http://schemas.microsoft.com/office/powerpoint/2010/main" val="317664226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xEl>
                                              <p:pRg st="4" end="4"/>
                                            </p:txEl>
                                          </p:spTgt>
                                        </p:tgtEl>
                                        <p:attrNameLst>
                                          <p:attrName>style.visibility</p:attrName>
                                        </p:attrNameLst>
                                      </p:cBhvr>
                                      <p:to>
                                        <p:strVal val="visible"/>
                                      </p:to>
                                    </p:set>
                                    <p:animEffect transition="in" filter="wipe(left)">
                                      <p:cBhvr>
                                        <p:cTn id="22" dur="500"/>
                                        <p:tgtEl>
                                          <p:spTgt spid="1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animEffect transition="in" filter="wipe(left)">
                                      <p:cBhvr>
                                        <p:cTn id="27"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15872" y="-21516"/>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7</a:t>
            </a:fld>
            <a:endParaRPr lang="zh-CN" altLang="en-US"/>
          </a:p>
        </p:txBody>
      </p:sp>
      <p:graphicFrame>
        <p:nvGraphicFramePr>
          <p:cNvPr id="13" name="表格 12">
            <a:extLst>
              <a:ext uri="{FF2B5EF4-FFF2-40B4-BE49-F238E27FC236}">
                <a16:creationId xmlns:a16="http://schemas.microsoft.com/office/drawing/2014/main" id="{472568C3-C730-48DA-9307-CA576D957431}"/>
              </a:ext>
            </a:extLst>
          </p:cNvPr>
          <p:cNvGraphicFramePr>
            <a:graphicFrameLocks noGrp="1"/>
          </p:cNvGraphicFramePr>
          <p:nvPr>
            <p:extLst>
              <p:ext uri="{D42A27DB-BD31-4B8C-83A1-F6EECF244321}">
                <p14:modId xmlns:p14="http://schemas.microsoft.com/office/powerpoint/2010/main" val="2884231180"/>
              </p:ext>
            </p:extLst>
          </p:nvPr>
        </p:nvGraphicFramePr>
        <p:xfrm>
          <a:off x="436418" y="1461443"/>
          <a:ext cx="6582872" cy="5638800"/>
        </p:xfrm>
        <a:graphic>
          <a:graphicData uri="http://schemas.openxmlformats.org/drawingml/2006/table">
            <a:tbl>
              <a:tblPr firstRow="1" bandRow="1">
                <a:tableStyleId>{5C22544A-7EE6-4342-B048-85BDC9FD1C3A}</a:tableStyleId>
              </a:tblPr>
              <a:tblGrid>
                <a:gridCol w="1645718">
                  <a:extLst>
                    <a:ext uri="{9D8B030D-6E8A-4147-A177-3AD203B41FA5}">
                      <a16:colId xmlns:a16="http://schemas.microsoft.com/office/drawing/2014/main" val="1630952323"/>
                    </a:ext>
                  </a:extLst>
                </a:gridCol>
                <a:gridCol w="1645718">
                  <a:extLst>
                    <a:ext uri="{9D8B030D-6E8A-4147-A177-3AD203B41FA5}">
                      <a16:colId xmlns:a16="http://schemas.microsoft.com/office/drawing/2014/main" val="3889443608"/>
                    </a:ext>
                  </a:extLst>
                </a:gridCol>
                <a:gridCol w="1645718">
                  <a:extLst>
                    <a:ext uri="{9D8B030D-6E8A-4147-A177-3AD203B41FA5}">
                      <a16:colId xmlns:a16="http://schemas.microsoft.com/office/drawing/2014/main" val="2807240513"/>
                    </a:ext>
                  </a:extLst>
                </a:gridCol>
                <a:gridCol w="1645718">
                  <a:extLst>
                    <a:ext uri="{9D8B030D-6E8A-4147-A177-3AD203B41FA5}">
                      <a16:colId xmlns:a16="http://schemas.microsoft.com/office/drawing/2014/main" val="4130772977"/>
                    </a:ext>
                  </a:extLst>
                </a:gridCol>
              </a:tblGrid>
              <a:tr h="347822">
                <a:tc>
                  <a:txBody>
                    <a:bodyPr/>
                    <a:lstStyle/>
                    <a:p>
                      <a:pPr algn="ctr"/>
                      <a:endParaRPr lang="zh-CN" altLang="en-US" b="1" dirty="0">
                        <a:latin typeface="楷体" panose="02010609060101010101" pitchFamily="49" charset="-122"/>
                        <a:ea typeface="楷体" panose="02010609060101010101" pitchFamily="49" charset="-122"/>
                      </a:endParaRPr>
                    </a:p>
                  </a:txBody>
                  <a:tcPr/>
                </a:tc>
                <a:tc>
                  <a:txBody>
                    <a:bodyPr/>
                    <a:lstStyle/>
                    <a:p>
                      <a:pPr algn="ctr"/>
                      <a:endParaRPr lang="zh-CN" altLang="en-US" b="1" dirty="0">
                        <a:latin typeface="楷体" panose="02010609060101010101" pitchFamily="49" charset="-122"/>
                        <a:ea typeface="楷体" panose="02010609060101010101" pitchFamily="49" charset="-122"/>
                      </a:endParaRPr>
                    </a:p>
                  </a:txBody>
                  <a:tcPr/>
                </a:tc>
                <a:tc>
                  <a:txBody>
                    <a:bodyPr/>
                    <a:lstStyle/>
                    <a:p>
                      <a:pPr algn="ctr"/>
                      <a:r>
                        <a:rPr lang="zh-CN" altLang="en-US" b="1" dirty="0">
                          <a:latin typeface="楷体" panose="02010609060101010101" pitchFamily="49" charset="-122"/>
                          <a:ea typeface="楷体" panose="02010609060101010101" pitchFamily="49" charset="-122"/>
                        </a:rPr>
                        <a:t>电平</a:t>
                      </a:r>
                    </a:p>
                  </a:txBody>
                  <a:tcPr/>
                </a:tc>
                <a:tc>
                  <a:txBody>
                    <a:bodyPr/>
                    <a:lstStyle/>
                    <a:p>
                      <a:pPr algn="ctr"/>
                      <a:r>
                        <a:rPr lang="zh-CN" altLang="en-US" b="1" dirty="0">
                          <a:latin typeface="楷体" panose="02010609060101010101" pitchFamily="49" charset="-122"/>
                          <a:ea typeface="楷体" panose="02010609060101010101" pitchFamily="49" charset="-122"/>
                        </a:rPr>
                        <a:t>脉冲</a:t>
                      </a:r>
                    </a:p>
                  </a:txBody>
                  <a:tcPr/>
                </a:tc>
                <a:extLst>
                  <a:ext uri="{0D108BD9-81ED-4DB2-BD59-A6C34878D82A}">
                    <a16:rowId xmlns:a16="http://schemas.microsoft.com/office/drawing/2014/main" val="339767353"/>
                  </a:ext>
                </a:extLst>
              </a:tr>
              <a:tr h="318837">
                <a:tc>
                  <a:txBody>
                    <a:bodyPr/>
                    <a:lstStyle/>
                    <a:p>
                      <a:pPr algn="ctr"/>
                      <a:r>
                        <a:rPr lang="en-US" altLang="zh-CN" sz="1600" b="1" dirty="0">
                          <a:latin typeface="楷体" panose="02010609060101010101" pitchFamily="49" charset="-122"/>
                          <a:ea typeface="楷体" panose="02010609060101010101" pitchFamily="49" charset="-122"/>
                        </a:rPr>
                        <a:t>FT</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M→IR</a:t>
                      </a:r>
                      <a:r>
                        <a:rPr lang="zh-CN" altLang="en-US" sz="1600" b="1" dirty="0">
                          <a:latin typeface="楷体" panose="02010609060101010101" pitchFamily="49" charset="-122"/>
                          <a:ea typeface="楷体" panose="02010609060101010101" pitchFamily="49" charset="-122"/>
                        </a:rPr>
                        <a:t>，</a:t>
                      </a:r>
                      <a:r>
                        <a:rPr lang="en-US" altLang="zh-CN" sz="1600" b="1" dirty="0">
                          <a:latin typeface="楷体" panose="02010609060101010101" pitchFamily="49" charset="-122"/>
                          <a:ea typeface="楷体" panose="02010609060101010101" pitchFamily="49" charset="-122"/>
                        </a:rPr>
                        <a:t>PC+1→PC</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EMAR</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endParaRPr lang="zh-CN" altLang="en-US" sz="1600" b="1">
                        <a:latin typeface="楷体" panose="02010609060101010101" pitchFamily="49" charset="-122"/>
                        <a:ea typeface="楷体" panose="02010609060101010101" pitchFamily="49" charset="-122"/>
                      </a:endParaRPr>
                    </a:p>
                  </a:txBody>
                  <a:tcPr/>
                </a:tc>
                <a:extLst>
                  <a:ext uri="{0D108BD9-81ED-4DB2-BD59-A6C34878D82A}">
                    <a16:rowId xmlns:a16="http://schemas.microsoft.com/office/drawing/2014/main" val="3275641620"/>
                  </a:ext>
                </a:extLst>
              </a:tr>
              <a:tr h="318837">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R</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endParaRPr lang="zh-CN" altLang="en-US" sz="1600" b="1">
                        <a:latin typeface="楷体" panose="02010609060101010101" pitchFamily="49" charset="-122"/>
                        <a:ea typeface="楷体" panose="02010609060101010101" pitchFamily="49" charset="-122"/>
                      </a:endParaRPr>
                    </a:p>
                  </a:txBody>
                  <a:tcPr/>
                </a:tc>
                <a:extLst>
                  <a:ext uri="{0D108BD9-81ED-4DB2-BD59-A6C34878D82A}">
                    <a16:rowId xmlns:a16="http://schemas.microsoft.com/office/drawing/2014/main" val="1428723360"/>
                  </a:ext>
                </a:extLst>
              </a:tr>
              <a:tr h="318837">
                <a:tc>
                  <a:txBody>
                    <a:bodyPr/>
                    <a:lstStyle/>
                    <a:p>
                      <a:pPr algn="ctr"/>
                      <a:endParaRPr lang="zh-CN" altLang="en-US" sz="1600" b="1">
                        <a:latin typeface="楷体" panose="02010609060101010101" pitchFamily="49" charset="-122"/>
                        <a:ea typeface="楷体" panose="02010609060101010101" pitchFamily="49" charset="-122"/>
                      </a:endParaRPr>
                    </a:p>
                  </a:txBody>
                  <a:tcPr/>
                </a:tc>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SIR</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endParaRPr lang="zh-CN" altLang="en-US" sz="1600" b="1" dirty="0">
                        <a:latin typeface="楷体" panose="02010609060101010101" pitchFamily="49" charset="-122"/>
                        <a:ea typeface="楷体" panose="02010609060101010101" pitchFamily="49" charset="-122"/>
                      </a:endParaRPr>
                    </a:p>
                  </a:txBody>
                  <a:tcPr/>
                </a:tc>
                <a:extLst>
                  <a:ext uri="{0D108BD9-81ED-4DB2-BD59-A6C34878D82A}">
                    <a16:rowId xmlns:a16="http://schemas.microsoft.com/office/drawing/2014/main" val="1228779014"/>
                  </a:ext>
                </a:extLst>
              </a:tr>
              <a:tr h="318837">
                <a:tc>
                  <a:txBody>
                    <a:bodyPr/>
                    <a:lstStyle/>
                    <a:p>
                      <a:pPr algn="ctr"/>
                      <a:endParaRPr lang="zh-CN" altLang="en-US" sz="1600" b="1">
                        <a:latin typeface="楷体" panose="02010609060101010101" pitchFamily="49" charset="-122"/>
                        <a:ea typeface="楷体" panose="02010609060101010101" pitchFamily="49" charset="-122"/>
                      </a:endParaRPr>
                    </a:p>
                  </a:txBody>
                  <a:tcPr/>
                </a:tc>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PC→A</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endParaRPr lang="zh-CN" altLang="en-US" sz="1600" b="1" dirty="0">
                        <a:latin typeface="楷体" panose="02010609060101010101" pitchFamily="49" charset="-122"/>
                        <a:ea typeface="楷体" panose="02010609060101010101" pitchFamily="49" charset="-122"/>
                      </a:endParaRPr>
                    </a:p>
                  </a:txBody>
                  <a:tcPr/>
                </a:tc>
                <a:extLst>
                  <a:ext uri="{0D108BD9-81ED-4DB2-BD59-A6C34878D82A}">
                    <a16:rowId xmlns:a16="http://schemas.microsoft.com/office/drawing/2014/main" val="4165181245"/>
                  </a:ext>
                </a:extLst>
              </a:tr>
              <a:tr h="318837">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zh-CN" altLang="en-US" sz="1600" b="1" dirty="0">
                          <a:latin typeface="楷体" panose="02010609060101010101" pitchFamily="49" charset="-122"/>
                          <a:ea typeface="楷体" panose="02010609060101010101" pitchFamily="49" charset="-122"/>
                        </a:rPr>
                        <a:t>在</a:t>
                      </a:r>
                      <a:r>
                        <a:rPr lang="en-US" altLang="zh-CN" sz="1600" b="1" dirty="0">
                          <a:latin typeface="楷体" panose="02010609060101010101" pitchFamily="49" charset="-122"/>
                          <a:ea typeface="楷体" panose="02010609060101010101" pitchFamily="49" charset="-122"/>
                        </a:rPr>
                        <a:t>ALU</a:t>
                      </a:r>
                      <a:r>
                        <a:rPr lang="zh-CN" altLang="en-US" sz="1600" b="1" dirty="0">
                          <a:latin typeface="楷体" panose="02010609060101010101" pitchFamily="49" charset="-122"/>
                          <a:ea typeface="楷体" panose="02010609060101010101" pitchFamily="49" charset="-122"/>
                        </a:rPr>
                        <a:t>中</a:t>
                      </a:r>
                      <a:r>
                        <a:rPr lang="en-US" altLang="zh-CN" sz="1600" b="1" dirty="0">
                          <a:latin typeface="楷体" panose="02010609060101010101" pitchFamily="49" charset="-122"/>
                          <a:ea typeface="楷体" panose="02010609060101010101" pitchFamily="49" charset="-122"/>
                        </a:rPr>
                        <a:t>+1</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endParaRPr lang="zh-CN" altLang="en-US" sz="1600" b="1" dirty="0">
                        <a:latin typeface="楷体" panose="02010609060101010101" pitchFamily="49" charset="-122"/>
                        <a:ea typeface="楷体" panose="02010609060101010101" pitchFamily="49" charset="-122"/>
                      </a:endParaRPr>
                    </a:p>
                  </a:txBody>
                  <a:tcPr/>
                </a:tc>
                <a:extLst>
                  <a:ext uri="{0D108BD9-81ED-4DB2-BD59-A6C34878D82A}">
                    <a16:rowId xmlns:a16="http://schemas.microsoft.com/office/drawing/2014/main" val="3620704656"/>
                  </a:ext>
                </a:extLst>
              </a:tr>
              <a:tr h="318837">
                <a:tc>
                  <a:txBody>
                    <a:bodyPr/>
                    <a:lstStyle/>
                    <a:p>
                      <a:pPr algn="ctr"/>
                      <a:endParaRPr lang="zh-CN" altLang="en-US" sz="1600" b="1">
                        <a:latin typeface="楷体" panose="02010609060101010101" pitchFamily="49" charset="-122"/>
                        <a:ea typeface="楷体" panose="02010609060101010101" pitchFamily="49" charset="-122"/>
                      </a:endParaRPr>
                    </a:p>
                  </a:txBody>
                  <a:tcPr/>
                </a:tc>
                <a:tc>
                  <a:txBody>
                    <a:bodyPr/>
                    <a:lstStyle/>
                    <a:p>
                      <a:pPr algn="ctr"/>
                      <a:endParaRPr lang="zh-CN" altLang="en-US" sz="1600" b="1">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DM</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CPPC</a:t>
                      </a:r>
                      <a:endParaRPr lang="zh-CN" altLang="en-US" sz="1600" b="1" dirty="0">
                        <a:latin typeface="楷体" panose="02010609060101010101" pitchFamily="49" charset="-122"/>
                        <a:ea typeface="楷体" panose="02010609060101010101" pitchFamily="49" charset="-122"/>
                      </a:endParaRPr>
                    </a:p>
                  </a:txBody>
                  <a:tcPr/>
                </a:tc>
                <a:extLst>
                  <a:ext uri="{0D108BD9-81ED-4DB2-BD59-A6C34878D82A}">
                    <a16:rowId xmlns:a16="http://schemas.microsoft.com/office/drawing/2014/main" val="185441638"/>
                  </a:ext>
                </a:extLst>
              </a:tr>
              <a:tr h="318837">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1→ST</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CPST?</a:t>
                      </a:r>
                      <a:endParaRPr lang="zh-CN" altLang="en-US" sz="1600" b="1" dirty="0">
                        <a:latin typeface="楷体" panose="02010609060101010101" pitchFamily="49" charset="-122"/>
                        <a:ea typeface="楷体" panose="02010609060101010101" pitchFamily="49" charset="-122"/>
                      </a:endParaRPr>
                    </a:p>
                  </a:txBody>
                  <a:tcPr/>
                </a:tc>
                <a:extLst>
                  <a:ext uri="{0D108BD9-81ED-4DB2-BD59-A6C34878D82A}">
                    <a16:rowId xmlns:a16="http://schemas.microsoft.com/office/drawing/2014/main" val="339872658"/>
                  </a:ext>
                </a:extLst>
              </a:tr>
              <a:tr h="318837">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1→DT</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CPDT?</a:t>
                      </a:r>
                      <a:endParaRPr lang="zh-CN" altLang="en-US" sz="1600" b="1" dirty="0">
                        <a:latin typeface="楷体" panose="02010609060101010101" pitchFamily="49" charset="-122"/>
                        <a:ea typeface="楷体" panose="02010609060101010101" pitchFamily="49" charset="-122"/>
                      </a:endParaRPr>
                    </a:p>
                  </a:txBody>
                  <a:tcPr/>
                </a:tc>
                <a:extLst>
                  <a:ext uri="{0D108BD9-81ED-4DB2-BD59-A6C34878D82A}">
                    <a16:rowId xmlns:a16="http://schemas.microsoft.com/office/drawing/2014/main" val="1722314392"/>
                  </a:ext>
                </a:extLst>
              </a:tr>
              <a:tr h="318837">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1→ET</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CPET?</a:t>
                      </a:r>
                      <a:endParaRPr lang="zh-CN" altLang="en-US" sz="1600" b="1" dirty="0">
                        <a:latin typeface="楷体" panose="02010609060101010101" pitchFamily="49" charset="-122"/>
                        <a:ea typeface="楷体" panose="02010609060101010101" pitchFamily="49" charset="-122"/>
                      </a:endParaRPr>
                    </a:p>
                  </a:txBody>
                  <a:tcPr/>
                </a:tc>
                <a:extLst>
                  <a:ext uri="{0D108BD9-81ED-4DB2-BD59-A6C34878D82A}">
                    <a16:rowId xmlns:a16="http://schemas.microsoft.com/office/drawing/2014/main" val="3635809402"/>
                  </a:ext>
                </a:extLst>
              </a:tr>
              <a:tr h="318837">
                <a:tc>
                  <a:txBody>
                    <a:bodyPr/>
                    <a:lstStyle/>
                    <a:p>
                      <a:pPr algn="ctr"/>
                      <a:r>
                        <a:rPr lang="en-US" altLang="zh-CN" sz="1600" b="1" dirty="0">
                          <a:latin typeface="楷体" panose="02010609060101010101" pitchFamily="49" charset="-122"/>
                          <a:ea typeface="楷体" panose="02010609060101010101" pitchFamily="49" charset="-122"/>
                        </a:rPr>
                        <a:t>ST0</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RO→MAR</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R0→A/B</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endParaRPr lang="zh-CN" altLang="en-US" sz="1600" b="1" dirty="0">
                        <a:latin typeface="楷体" panose="02010609060101010101" pitchFamily="49" charset="-122"/>
                        <a:ea typeface="楷体" panose="02010609060101010101" pitchFamily="49" charset="-122"/>
                      </a:endParaRPr>
                    </a:p>
                  </a:txBody>
                  <a:tcPr/>
                </a:tc>
                <a:extLst>
                  <a:ext uri="{0D108BD9-81ED-4DB2-BD59-A6C34878D82A}">
                    <a16:rowId xmlns:a16="http://schemas.microsoft.com/office/drawing/2014/main" val="3518999710"/>
                  </a:ext>
                </a:extLst>
              </a:tr>
              <a:tr h="318837">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zh-CN" altLang="en-US" sz="1600" b="1" dirty="0">
                          <a:latin typeface="楷体" panose="02010609060101010101" pitchFamily="49" charset="-122"/>
                          <a:ea typeface="楷体" panose="02010609060101010101" pitchFamily="49" charset="-122"/>
                        </a:rPr>
                        <a:t>经过</a:t>
                      </a:r>
                      <a:r>
                        <a:rPr lang="en-US" altLang="zh-CN" sz="1600" b="1" dirty="0">
                          <a:latin typeface="楷体" panose="02010609060101010101" pitchFamily="49" charset="-122"/>
                          <a:ea typeface="楷体" panose="02010609060101010101" pitchFamily="49" charset="-122"/>
                        </a:rPr>
                        <a:t>ALU</a:t>
                      </a:r>
                      <a:r>
                        <a:rPr lang="zh-CN" altLang="en-US" sz="1600" b="1" dirty="0">
                          <a:latin typeface="楷体" panose="02010609060101010101" pitchFamily="49" charset="-122"/>
                          <a:ea typeface="楷体" panose="02010609060101010101" pitchFamily="49" charset="-122"/>
                        </a:rPr>
                        <a:t>传送</a:t>
                      </a:r>
                    </a:p>
                  </a:txBody>
                  <a:tcPr/>
                </a:tc>
                <a:tc>
                  <a:txBody>
                    <a:bodyPr/>
                    <a:lstStyle/>
                    <a:p>
                      <a:pPr algn="ctr"/>
                      <a:r>
                        <a:rPr lang="en-US" altLang="zh-CN" sz="1600" b="1" dirty="0">
                          <a:latin typeface="楷体" panose="02010609060101010101" pitchFamily="49" charset="-122"/>
                          <a:ea typeface="楷体" panose="02010609060101010101" pitchFamily="49" charset="-122"/>
                        </a:rPr>
                        <a:t>……</a:t>
                      </a:r>
                      <a:endParaRPr lang="zh-CN" altLang="en-US" sz="1600" b="1" dirty="0">
                        <a:latin typeface="楷体" panose="02010609060101010101" pitchFamily="49" charset="-122"/>
                        <a:ea typeface="楷体" panose="02010609060101010101" pitchFamily="49" charset="-122"/>
                      </a:endParaRPr>
                    </a:p>
                  </a:txBody>
                  <a:tcPr/>
                </a:tc>
                <a:extLst>
                  <a:ext uri="{0D108BD9-81ED-4DB2-BD59-A6C34878D82A}">
                    <a16:rowId xmlns:a16="http://schemas.microsoft.com/office/drawing/2014/main" val="2129335939"/>
                  </a:ext>
                </a:extLst>
              </a:tr>
              <a:tr h="318837">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DM</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CPMAR</a:t>
                      </a:r>
                      <a:endParaRPr lang="zh-CN" altLang="en-US" sz="1600" b="1" dirty="0">
                        <a:latin typeface="楷体" panose="02010609060101010101" pitchFamily="49" charset="-122"/>
                        <a:ea typeface="楷体" panose="02010609060101010101" pitchFamily="49" charset="-122"/>
                      </a:endParaRPr>
                    </a:p>
                  </a:txBody>
                  <a:tcPr/>
                </a:tc>
                <a:extLst>
                  <a:ext uri="{0D108BD9-81ED-4DB2-BD59-A6C34878D82A}">
                    <a16:rowId xmlns:a16="http://schemas.microsoft.com/office/drawing/2014/main" val="3416625389"/>
                  </a:ext>
                </a:extLst>
              </a:tr>
              <a:tr h="318837">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T+1</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CPT</a:t>
                      </a:r>
                      <a:endParaRPr lang="zh-CN" altLang="en-US" sz="1600" b="1" dirty="0">
                        <a:latin typeface="楷体" panose="02010609060101010101" pitchFamily="49" charset="-122"/>
                        <a:ea typeface="楷体" panose="02010609060101010101" pitchFamily="49" charset="-122"/>
                      </a:endParaRPr>
                    </a:p>
                  </a:txBody>
                  <a:tcPr/>
                </a:tc>
                <a:extLst>
                  <a:ext uri="{0D108BD9-81ED-4DB2-BD59-A6C34878D82A}">
                    <a16:rowId xmlns:a16="http://schemas.microsoft.com/office/drawing/2014/main" val="4184479810"/>
                  </a:ext>
                </a:extLst>
              </a:tr>
              <a:tr h="318837">
                <a:tc>
                  <a:txBody>
                    <a:bodyPr/>
                    <a:lstStyle/>
                    <a:p>
                      <a:pPr algn="ctr"/>
                      <a:r>
                        <a:rPr lang="en-US" altLang="zh-CN" sz="1600" b="1" dirty="0">
                          <a:latin typeface="楷体" panose="02010609060101010101" pitchFamily="49" charset="-122"/>
                          <a:ea typeface="楷体" panose="02010609060101010101" pitchFamily="49" charset="-122"/>
                        </a:rPr>
                        <a:t>ST1</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r>
                        <a:rPr lang="en-US" altLang="zh-CN" sz="1600" b="1" dirty="0">
                          <a:latin typeface="楷体" panose="02010609060101010101" pitchFamily="49" charset="-122"/>
                          <a:ea typeface="楷体" panose="02010609060101010101" pitchFamily="49" charset="-122"/>
                        </a:rPr>
                        <a:t>M→MBR→C</a:t>
                      </a:r>
                      <a:endParaRPr lang="zh-CN" altLang="en-US" sz="1600" b="1" dirty="0">
                        <a:latin typeface="楷体" panose="02010609060101010101" pitchFamily="49" charset="-122"/>
                        <a:ea typeface="楷体" panose="02010609060101010101" pitchFamily="49" charset="-122"/>
                      </a:endParaRPr>
                    </a:p>
                  </a:txBody>
                  <a:tcPr/>
                </a:tc>
                <a:tc>
                  <a:txBody>
                    <a:bodyPr/>
                    <a:lstStyle/>
                    <a:p>
                      <a:pPr algn="ctr"/>
                      <a:endParaRPr lang="zh-CN" altLang="en-US" sz="1600" b="1" dirty="0">
                        <a:latin typeface="楷体" panose="02010609060101010101" pitchFamily="49" charset="-122"/>
                        <a:ea typeface="楷体" panose="02010609060101010101" pitchFamily="49" charset="-122"/>
                      </a:endParaRPr>
                    </a:p>
                  </a:txBody>
                  <a:tcPr/>
                </a:tc>
                <a:tc>
                  <a:txBody>
                    <a:bodyPr/>
                    <a:lstStyle/>
                    <a:p>
                      <a:pPr algn="ctr"/>
                      <a:endParaRPr lang="zh-CN" altLang="en-US" sz="1600" b="1" dirty="0">
                        <a:latin typeface="楷体" panose="02010609060101010101" pitchFamily="49" charset="-122"/>
                        <a:ea typeface="楷体" panose="02010609060101010101" pitchFamily="49" charset="-122"/>
                      </a:endParaRPr>
                    </a:p>
                  </a:txBody>
                  <a:tcPr/>
                </a:tc>
                <a:extLst>
                  <a:ext uri="{0D108BD9-81ED-4DB2-BD59-A6C34878D82A}">
                    <a16:rowId xmlns:a16="http://schemas.microsoft.com/office/drawing/2014/main" val="1116664431"/>
                  </a:ext>
                </a:extLst>
              </a:tr>
              <a:tr h="318837">
                <a:tc gridSpan="4">
                  <a:txBody>
                    <a:bodyPr/>
                    <a:lstStyle/>
                    <a:p>
                      <a:pPr algn="ctr"/>
                      <a:r>
                        <a:rPr lang="en-US" altLang="zh-CN" sz="1600" b="1" dirty="0">
                          <a:latin typeface="楷体" panose="02010609060101010101" pitchFamily="49" charset="-122"/>
                          <a:ea typeface="楷体" panose="02010609060101010101" pitchFamily="49" charset="-122"/>
                        </a:rPr>
                        <a:t>…………</a:t>
                      </a:r>
                      <a:endParaRPr lang="zh-CN" altLang="en-US" sz="1600" b="1" dirty="0">
                        <a:latin typeface="楷体" panose="02010609060101010101" pitchFamily="49" charset="-122"/>
                        <a:ea typeface="楷体" panose="02010609060101010101" pitchFamily="49" charset="-122"/>
                      </a:endParaRPr>
                    </a:p>
                  </a:txBody>
                  <a:tcPr/>
                </a:tc>
                <a:tc hMerge="1">
                  <a:txBody>
                    <a:bodyPr/>
                    <a:lstStyle/>
                    <a:p>
                      <a:pPr algn="ctr"/>
                      <a:endParaRPr lang="zh-CN" altLang="en-US" sz="1600" b="1" dirty="0">
                        <a:latin typeface="楷体" panose="02010609060101010101" pitchFamily="49" charset="-122"/>
                        <a:ea typeface="楷体" panose="02010609060101010101" pitchFamily="49" charset="-122"/>
                      </a:endParaRPr>
                    </a:p>
                  </a:txBody>
                  <a:tcPr/>
                </a:tc>
                <a:tc hMerge="1">
                  <a:txBody>
                    <a:bodyPr/>
                    <a:lstStyle/>
                    <a:p>
                      <a:pPr algn="ctr"/>
                      <a:endParaRPr lang="zh-CN" altLang="en-US" sz="1600" b="1" dirty="0">
                        <a:latin typeface="楷体" panose="02010609060101010101" pitchFamily="49" charset="-122"/>
                        <a:ea typeface="楷体" panose="02010609060101010101" pitchFamily="49" charset="-122"/>
                      </a:endParaRPr>
                    </a:p>
                  </a:txBody>
                  <a:tcPr/>
                </a:tc>
                <a:tc hMerge="1">
                  <a:txBody>
                    <a:bodyPr/>
                    <a:lstStyle/>
                    <a:p>
                      <a:pPr algn="ctr"/>
                      <a:endParaRPr lang="zh-CN" altLang="en-US" sz="1600" b="1" dirty="0">
                        <a:latin typeface="楷体" panose="02010609060101010101" pitchFamily="49" charset="-122"/>
                        <a:ea typeface="楷体" panose="02010609060101010101" pitchFamily="49" charset="-122"/>
                      </a:endParaRPr>
                    </a:p>
                  </a:txBody>
                  <a:tcPr/>
                </a:tc>
                <a:extLst>
                  <a:ext uri="{0D108BD9-81ED-4DB2-BD59-A6C34878D82A}">
                    <a16:rowId xmlns:a16="http://schemas.microsoft.com/office/drawing/2014/main" val="3411531473"/>
                  </a:ext>
                </a:extLst>
              </a:tr>
            </a:tbl>
          </a:graphicData>
        </a:graphic>
      </p:graphicFrame>
      <p:sp>
        <p:nvSpPr>
          <p:cNvPr id="14" name="文本框 13">
            <a:extLst>
              <a:ext uri="{FF2B5EF4-FFF2-40B4-BE49-F238E27FC236}">
                <a16:creationId xmlns:a16="http://schemas.microsoft.com/office/drawing/2014/main" id="{C29D0D13-0917-4E5A-BFEB-FD1A074D82C6}"/>
              </a:ext>
            </a:extLst>
          </p:cNvPr>
          <p:cNvSpPr txBox="1"/>
          <p:nvPr/>
        </p:nvSpPr>
        <p:spPr>
          <a:xfrm>
            <a:off x="91686" y="832967"/>
            <a:ext cx="4950577" cy="637675"/>
          </a:xfrm>
          <a:prstGeom prst="rect">
            <a:avLst/>
          </a:prstGeom>
          <a:noFill/>
        </p:spPr>
        <p:txBody>
          <a:bodyPr wrap="square" rtlCol="0">
            <a:spAutoFit/>
          </a:bodyPr>
          <a:lstStyle/>
          <a:p>
            <a:pPr lvl="0">
              <a:lnSpc>
                <a:spcPct val="150000"/>
              </a:lnSpc>
              <a:defRPr/>
            </a:pPr>
            <a:r>
              <a:rPr lang="zh-CN" altLang="en-US" sz="2800" b="1" dirty="0">
                <a:solidFill>
                  <a:schemeClr val="accent2"/>
                </a:solidFill>
                <a:latin typeface="楷体" panose="02010609060101010101" pitchFamily="49" charset="-122"/>
                <a:ea typeface="楷体" panose="02010609060101010101" pitchFamily="49" charset="-122"/>
              </a:rPr>
              <a:t>例如：  </a:t>
            </a:r>
            <a:r>
              <a:rPr lang="en-US" altLang="zh-CN" sz="2800" b="1" dirty="0">
                <a:latin typeface="楷体" panose="02010609060101010101" pitchFamily="49" charset="-122"/>
                <a:ea typeface="楷体" panose="02010609060101010101" pitchFamily="49" charset="-122"/>
              </a:rPr>
              <a:t>MOV  </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R1</a:t>
            </a:r>
            <a:r>
              <a:rPr lang="zh-CN" altLang="en-US" sz="2800" b="1" dirty="0">
                <a:latin typeface="楷体" panose="02010609060101010101" pitchFamily="49" charset="-122"/>
                <a:ea typeface="楷体" panose="02010609060101010101" pitchFamily="49" charset="-122"/>
              </a:rPr>
              <a:t>）， </a:t>
            </a:r>
            <a:r>
              <a:rPr lang="en-US" altLang="zh-CN" sz="2800" b="1" dirty="0">
                <a:latin typeface="楷体" panose="02010609060101010101" pitchFamily="49" charset="-122"/>
                <a:ea typeface="楷体" panose="02010609060101010101" pitchFamily="49" charset="-122"/>
              </a:rPr>
              <a:t>(R0)</a:t>
            </a:r>
          </a:p>
        </p:txBody>
      </p:sp>
      <p:sp>
        <p:nvSpPr>
          <p:cNvPr id="15" name="文本框 14">
            <a:extLst>
              <a:ext uri="{FF2B5EF4-FFF2-40B4-BE49-F238E27FC236}">
                <a16:creationId xmlns:a16="http://schemas.microsoft.com/office/drawing/2014/main" id="{D78FEA6A-CDAD-4187-8AD9-AB00EFA67AF3}"/>
              </a:ext>
            </a:extLst>
          </p:cNvPr>
          <p:cNvSpPr txBox="1"/>
          <p:nvPr/>
        </p:nvSpPr>
        <p:spPr>
          <a:xfrm>
            <a:off x="2781844" y="580975"/>
            <a:ext cx="2391047" cy="559769"/>
          </a:xfrm>
          <a:prstGeom prst="rect">
            <a:avLst/>
          </a:prstGeom>
          <a:noFill/>
        </p:spPr>
        <p:txBody>
          <a:bodyPr wrap="square" rtlCol="0">
            <a:spAutoFit/>
          </a:bodyPr>
          <a:lstStyle/>
          <a:p>
            <a:pPr lvl="0">
              <a:lnSpc>
                <a:spcPct val="150000"/>
              </a:lnSpc>
              <a:defRPr/>
            </a:pPr>
            <a:r>
              <a:rPr lang="zh-CN" altLang="en-US" sz="2400" b="1" dirty="0">
                <a:solidFill>
                  <a:schemeClr val="accent2"/>
                </a:solidFill>
                <a:latin typeface="楷体" panose="02010609060101010101" pitchFamily="49" charset="-122"/>
                <a:ea typeface="楷体" panose="02010609060101010101" pitchFamily="49" charset="-122"/>
              </a:rPr>
              <a:t>目的      源</a:t>
            </a:r>
            <a:endParaRPr lang="en-US" altLang="zh-CN" sz="2400" b="1" dirty="0">
              <a:solidFill>
                <a:schemeClr val="accent2"/>
              </a:solidFill>
              <a:latin typeface="楷体" panose="02010609060101010101" pitchFamily="49" charset="-122"/>
              <a:ea typeface="楷体" panose="02010609060101010101" pitchFamily="49" charset="-122"/>
            </a:endParaRPr>
          </a:p>
        </p:txBody>
      </p:sp>
      <p:sp>
        <p:nvSpPr>
          <p:cNvPr id="18" name="AutoShape 16">
            <a:extLst>
              <a:ext uri="{FF2B5EF4-FFF2-40B4-BE49-F238E27FC236}">
                <a16:creationId xmlns:a16="http://schemas.microsoft.com/office/drawing/2014/main" id="{9C0BE4FE-C2D9-403D-8A18-A6A4FF4E20E2}"/>
              </a:ext>
            </a:extLst>
          </p:cNvPr>
          <p:cNvSpPr/>
          <p:nvPr/>
        </p:nvSpPr>
        <p:spPr bwMode="auto">
          <a:xfrm rot="10800000">
            <a:off x="6679406" y="2118888"/>
            <a:ext cx="45719" cy="2761861"/>
          </a:xfrm>
          <a:prstGeom prst="leftBrace">
            <a:avLst>
              <a:gd name="adj1" fmla="val 118847"/>
              <a:gd name="adj2" fmla="val 50000"/>
            </a:avLst>
          </a:prstGeom>
          <a:noFill/>
          <a:ln w="38100" cap="sq">
            <a:solidFill>
              <a:srgbClr val="ED7D3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solidFill>
                <a:schemeClr val="accent2"/>
              </a:solidFill>
              <a:latin typeface="楷体" panose="02010609060101010101" pitchFamily="49" charset="-122"/>
              <a:ea typeface="楷体" panose="02010609060101010101" pitchFamily="49" charset="-122"/>
            </a:endParaRPr>
          </a:p>
        </p:txBody>
      </p:sp>
      <p:sp>
        <p:nvSpPr>
          <p:cNvPr id="19" name="AutoShape 16">
            <a:extLst>
              <a:ext uri="{FF2B5EF4-FFF2-40B4-BE49-F238E27FC236}">
                <a16:creationId xmlns:a16="http://schemas.microsoft.com/office/drawing/2014/main" id="{BA724B53-40AF-4CE4-BE55-68FBAB2F903E}"/>
              </a:ext>
            </a:extLst>
          </p:cNvPr>
          <p:cNvSpPr/>
          <p:nvPr/>
        </p:nvSpPr>
        <p:spPr bwMode="auto">
          <a:xfrm rot="10800000">
            <a:off x="6559420" y="5245099"/>
            <a:ext cx="159506" cy="1081293"/>
          </a:xfrm>
          <a:prstGeom prst="leftBrace">
            <a:avLst>
              <a:gd name="adj1" fmla="val 118847"/>
              <a:gd name="adj2" fmla="val 50000"/>
            </a:avLst>
          </a:prstGeom>
          <a:noFill/>
          <a:ln w="38100" cap="sq">
            <a:solidFill>
              <a:srgbClr val="ED7D3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solidFill>
                <a:schemeClr val="accent2"/>
              </a:solidFill>
              <a:latin typeface="楷体" panose="02010609060101010101" pitchFamily="49" charset="-122"/>
              <a:ea typeface="楷体" panose="02010609060101010101" pitchFamily="49" charset="-122"/>
            </a:endParaRPr>
          </a:p>
        </p:txBody>
      </p:sp>
      <p:sp>
        <p:nvSpPr>
          <p:cNvPr id="20" name="ïšḻïdê">
            <a:extLst>
              <a:ext uri="{FF2B5EF4-FFF2-40B4-BE49-F238E27FC236}">
                <a16:creationId xmlns:a16="http://schemas.microsoft.com/office/drawing/2014/main" id="{8755CFFB-224E-4064-A7EA-935D198820D6}"/>
              </a:ext>
            </a:extLst>
          </p:cNvPr>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一、基本概念及基本原理</a:t>
            </a:r>
          </a:p>
        </p:txBody>
      </p:sp>
      <p:sp>
        <p:nvSpPr>
          <p:cNvPr id="23" name="文本框 22">
            <a:extLst>
              <a:ext uri="{FF2B5EF4-FFF2-40B4-BE49-F238E27FC236}">
                <a16:creationId xmlns:a16="http://schemas.microsoft.com/office/drawing/2014/main" id="{23FAEEEF-6BEC-43BD-AAAD-92688ED35338}"/>
              </a:ext>
            </a:extLst>
          </p:cNvPr>
          <p:cNvSpPr txBox="1"/>
          <p:nvPr/>
        </p:nvSpPr>
        <p:spPr>
          <a:xfrm>
            <a:off x="6718926" y="2487812"/>
            <a:ext cx="1866171" cy="559769"/>
          </a:xfrm>
          <a:prstGeom prst="rect">
            <a:avLst/>
          </a:prstGeom>
          <a:noFill/>
        </p:spPr>
        <p:txBody>
          <a:bodyPr wrap="square" rtlCol="0">
            <a:spAutoFit/>
          </a:bodyPr>
          <a:lstStyle/>
          <a:p>
            <a:pPr lvl="0">
              <a:lnSpc>
                <a:spcPct val="150000"/>
              </a:lnSpc>
              <a:defRPr/>
            </a:pPr>
            <a:r>
              <a:rPr lang="zh-CN" altLang="en-US" sz="2400" b="1" dirty="0">
                <a:solidFill>
                  <a:schemeClr val="accent2"/>
                </a:solidFill>
                <a:latin typeface="楷体" panose="02010609060101010101" pitchFamily="49" charset="-122"/>
                <a:ea typeface="楷体" panose="02010609060101010101" pitchFamily="49" charset="-122"/>
              </a:rPr>
              <a:t>一条微命令</a:t>
            </a:r>
            <a:endParaRPr lang="en-US" altLang="zh-CN" sz="2400" b="1" dirty="0">
              <a:solidFill>
                <a:schemeClr val="accent2"/>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64582391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wipe(left)">
                                      <p:cBhvr>
                                        <p:cTn id="12" dur="500"/>
                                        <p:tgtEl>
                                          <p:spTgt spid="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500" fill="hold"/>
                                        <p:tgtEl>
                                          <p:spTgt spid="13"/>
                                        </p:tgtEl>
                                        <p:attrNameLst>
                                          <p:attrName>ppt_w</p:attrName>
                                        </p:attrNameLst>
                                      </p:cBhvr>
                                      <p:tavLst>
                                        <p:tav tm="0">
                                          <p:val>
                                            <p:fltVal val="0"/>
                                          </p:val>
                                        </p:tav>
                                        <p:tav tm="100000">
                                          <p:val>
                                            <p:strVal val="#ppt_w"/>
                                          </p:val>
                                        </p:tav>
                                      </p:tavLst>
                                    </p:anim>
                                    <p:anim calcmode="lin" valueType="num">
                                      <p:cBhvr>
                                        <p:cTn id="18" dur="500" fill="hold"/>
                                        <p:tgtEl>
                                          <p:spTgt spid="13"/>
                                        </p:tgtEl>
                                        <p:attrNameLst>
                                          <p:attrName>ppt_h</p:attrName>
                                        </p:attrNameLst>
                                      </p:cBhvr>
                                      <p:tavLst>
                                        <p:tav tm="0">
                                          <p:val>
                                            <p:fltVal val="0"/>
                                          </p:val>
                                        </p:tav>
                                        <p:tav tm="100000">
                                          <p:val>
                                            <p:strVal val="#ppt_h"/>
                                          </p:val>
                                        </p:tav>
                                      </p:tavLst>
                                    </p:anim>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up)">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animEffect transition="in" filter="wipe(left)">
                                      <p:cBhvr>
                                        <p:cTn id="29" dur="500"/>
                                        <p:tgtEl>
                                          <p:spTgt spid="23">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wipe(up)">
                                      <p:cBhvr>
                                        <p:cTn id="3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15" grpId="0" build="p"/>
      <p:bldP spid="18" grpId="0" animBg="1"/>
      <p:bldP spid="19" grpId="0" animBg="1"/>
      <p:bldP spid="2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二、微程序控制的概念</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8</a:t>
            </a:fld>
            <a:endParaRPr lang="zh-CN" altLang="en-US"/>
          </a:p>
        </p:txBody>
      </p:sp>
      <p:sp>
        <p:nvSpPr>
          <p:cNvPr id="16" name="文本框 15">
            <a:extLst>
              <a:ext uri="{FF2B5EF4-FFF2-40B4-BE49-F238E27FC236}">
                <a16:creationId xmlns:a16="http://schemas.microsoft.com/office/drawing/2014/main" id="{D947ED62-AE36-4241-BC08-AEBD263FA4F9}"/>
              </a:ext>
            </a:extLst>
          </p:cNvPr>
          <p:cNvSpPr txBox="1"/>
          <p:nvPr/>
        </p:nvSpPr>
        <p:spPr>
          <a:xfrm>
            <a:off x="184306" y="740204"/>
            <a:ext cx="7235397" cy="637675"/>
          </a:xfrm>
          <a:prstGeom prst="rect">
            <a:avLst/>
          </a:prstGeom>
          <a:noFill/>
        </p:spPr>
        <p:txBody>
          <a:bodyPr wrap="square" rtlCol="0">
            <a:spAutoFit/>
          </a:bodyPr>
          <a:lstStyle/>
          <a:p>
            <a:pPr>
              <a:lnSpc>
                <a:spcPct val="150000"/>
              </a:lnSpc>
              <a:defRPr/>
            </a:pPr>
            <a:r>
              <a:rPr lang="en-US" altLang="zh-CN" sz="2800" b="1" dirty="0">
                <a:solidFill>
                  <a:srgbClr val="0563C1"/>
                </a:solidFill>
                <a:latin typeface="楷体" panose="02010609060101010101" pitchFamily="49" charset="-122"/>
                <a:ea typeface="楷体" panose="02010609060101010101" pitchFamily="49" charset="-122"/>
              </a:rPr>
              <a:t>1</a:t>
            </a:r>
            <a:r>
              <a:rPr lang="zh-CN" altLang="en-US" sz="2800" b="1" dirty="0">
                <a:solidFill>
                  <a:srgbClr val="0563C1"/>
                </a:solidFill>
                <a:latin typeface="楷体" panose="02010609060101010101" pitchFamily="49" charset="-122"/>
                <a:ea typeface="楷体" panose="02010609060101010101" pitchFamily="49" charset="-122"/>
              </a:rPr>
              <a:t>、微程序控制器的硬件组成及各部分的作用</a:t>
            </a:r>
            <a:endParaRPr lang="en-US" altLang="zh-CN" sz="2800" b="1" dirty="0">
              <a:solidFill>
                <a:srgbClr val="0563C1"/>
              </a:solidFill>
              <a:latin typeface="楷体" panose="02010609060101010101" pitchFamily="49" charset="-122"/>
              <a:ea typeface="楷体" panose="02010609060101010101" pitchFamily="49" charset="-122"/>
            </a:endParaRPr>
          </a:p>
        </p:txBody>
      </p:sp>
      <p:pic>
        <p:nvPicPr>
          <p:cNvPr id="2" name="图片 1">
            <a:extLst>
              <a:ext uri="{FF2B5EF4-FFF2-40B4-BE49-F238E27FC236}">
                <a16:creationId xmlns:a16="http://schemas.microsoft.com/office/drawing/2014/main" id="{F9C9BAE6-7227-435F-9BAC-E9A3EA990E44}"/>
              </a:ext>
            </a:extLst>
          </p:cNvPr>
          <p:cNvPicPr>
            <a:picLocks noChangeAspect="1"/>
          </p:cNvPicPr>
          <p:nvPr/>
        </p:nvPicPr>
        <p:blipFill>
          <a:blip r:embed="rId5"/>
          <a:stretch>
            <a:fillRect/>
          </a:stretch>
        </p:blipFill>
        <p:spPr>
          <a:xfrm>
            <a:off x="1437718" y="1471046"/>
            <a:ext cx="6268563" cy="2916591"/>
          </a:xfrm>
          <a:prstGeom prst="rect">
            <a:avLst/>
          </a:prstGeom>
        </p:spPr>
      </p:pic>
      <p:sp>
        <p:nvSpPr>
          <p:cNvPr id="20" name="AutoShape 16">
            <a:extLst>
              <a:ext uri="{FF2B5EF4-FFF2-40B4-BE49-F238E27FC236}">
                <a16:creationId xmlns:a16="http://schemas.microsoft.com/office/drawing/2014/main" id="{FC97C42C-F450-473B-AD06-50DA5E5DE12A}"/>
              </a:ext>
            </a:extLst>
          </p:cNvPr>
          <p:cNvSpPr/>
          <p:nvPr/>
        </p:nvSpPr>
        <p:spPr bwMode="auto">
          <a:xfrm>
            <a:off x="1437718" y="4551616"/>
            <a:ext cx="123825" cy="1838315"/>
          </a:xfrm>
          <a:prstGeom prst="leftBrace">
            <a:avLst>
              <a:gd name="adj1" fmla="val 118847"/>
              <a:gd name="adj2" fmla="val 50000"/>
            </a:avLst>
          </a:prstGeom>
          <a:noFill/>
          <a:ln w="381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latin typeface="楷体" panose="02010609060101010101" pitchFamily="49" charset="-122"/>
              <a:ea typeface="楷体" panose="02010609060101010101" pitchFamily="49" charset="-122"/>
            </a:endParaRPr>
          </a:p>
        </p:txBody>
      </p:sp>
      <p:sp>
        <p:nvSpPr>
          <p:cNvPr id="23" name="文本框 22">
            <a:extLst>
              <a:ext uri="{FF2B5EF4-FFF2-40B4-BE49-F238E27FC236}">
                <a16:creationId xmlns:a16="http://schemas.microsoft.com/office/drawing/2014/main" id="{CC41D96A-14E9-413D-95E0-569E18C853D9}"/>
              </a:ext>
            </a:extLst>
          </p:cNvPr>
          <p:cNvSpPr txBox="1"/>
          <p:nvPr/>
        </p:nvSpPr>
        <p:spPr>
          <a:xfrm>
            <a:off x="507474" y="5067077"/>
            <a:ext cx="992156" cy="637675"/>
          </a:xfrm>
          <a:prstGeom prst="rect">
            <a:avLst/>
          </a:prstGeom>
          <a:noFill/>
        </p:spPr>
        <p:txBody>
          <a:bodyPr wrap="square" rtlCol="0">
            <a:spAutoFit/>
          </a:bodyPr>
          <a:lstStyle/>
          <a:p>
            <a:pPr>
              <a:lnSpc>
                <a:spcPct val="150000"/>
              </a:lnSpc>
              <a:defRPr/>
            </a:pPr>
            <a:r>
              <a:rPr lang="zh-CN" altLang="en-US" sz="2800" b="1" dirty="0">
                <a:solidFill>
                  <a:schemeClr val="accent2"/>
                </a:solidFill>
                <a:latin typeface="楷体" panose="02010609060101010101" pitchFamily="49" charset="-122"/>
                <a:ea typeface="楷体" panose="02010609060101010101" pitchFamily="49" charset="-122"/>
              </a:rPr>
              <a:t>组成</a:t>
            </a:r>
            <a:endParaRPr lang="en-US" altLang="zh-CN" sz="2800" b="1" dirty="0">
              <a:solidFill>
                <a:schemeClr val="accent2"/>
              </a:solidFill>
              <a:latin typeface="楷体" panose="02010609060101010101" pitchFamily="49" charset="-122"/>
              <a:ea typeface="楷体" panose="02010609060101010101" pitchFamily="49" charset="-122"/>
            </a:endParaRPr>
          </a:p>
        </p:txBody>
      </p:sp>
      <p:sp>
        <p:nvSpPr>
          <p:cNvPr id="24" name="文本框 23">
            <a:extLst>
              <a:ext uri="{FF2B5EF4-FFF2-40B4-BE49-F238E27FC236}">
                <a16:creationId xmlns:a16="http://schemas.microsoft.com/office/drawing/2014/main" id="{BE09A00B-0E10-4B88-AC9B-5672F95299FC}"/>
              </a:ext>
            </a:extLst>
          </p:cNvPr>
          <p:cNvSpPr txBox="1"/>
          <p:nvPr/>
        </p:nvSpPr>
        <p:spPr>
          <a:xfrm>
            <a:off x="1668135" y="4417457"/>
            <a:ext cx="5220345" cy="2074029"/>
          </a:xfrm>
          <a:prstGeom prst="rect">
            <a:avLst/>
          </a:prstGeom>
          <a:noFill/>
        </p:spPr>
        <p:txBody>
          <a:bodyPr wrap="square" rtlCol="0">
            <a:spAutoFit/>
          </a:bodyPr>
          <a:lstStyle/>
          <a:p>
            <a:pPr>
              <a:lnSpc>
                <a:spcPct val="110000"/>
              </a:lnSpc>
              <a:defRPr/>
            </a:pPr>
            <a:r>
              <a:rPr lang="en-US" altLang="zh-CN" sz="2400" b="1" dirty="0">
                <a:latin typeface="楷体" panose="02010609060101010101" pitchFamily="49" charset="-122"/>
                <a:ea typeface="楷体" panose="02010609060101010101" pitchFamily="49" charset="-122"/>
              </a:rPr>
              <a:t>IR</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PSW</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PC</a:t>
            </a:r>
          </a:p>
          <a:p>
            <a:pPr>
              <a:lnSpc>
                <a:spcPct val="110000"/>
              </a:lnSpc>
              <a:defRPr/>
            </a:pPr>
            <a:r>
              <a:rPr lang="zh-CN" altLang="en-US" sz="2400" b="1" dirty="0">
                <a:latin typeface="楷体" panose="02010609060101010101" pitchFamily="49" charset="-122"/>
                <a:ea typeface="楷体" panose="02010609060101010101" pitchFamily="49" charset="-122"/>
              </a:rPr>
              <a:t>时序系统</a:t>
            </a:r>
            <a:endParaRPr lang="en-US" altLang="zh-CN" sz="2400" b="1" dirty="0">
              <a:latin typeface="楷体" panose="02010609060101010101" pitchFamily="49" charset="-122"/>
              <a:ea typeface="楷体" panose="02010609060101010101" pitchFamily="49" charset="-122"/>
            </a:endParaRPr>
          </a:p>
          <a:p>
            <a:pPr>
              <a:lnSpc>
                <a:spcPct val="110000"/>
              </a:lnSpc>
              <a:defRPr/>
            </a:pPr>
            <a:r>
              <a:rPr lang="zh-CN" altLang="en-US" sz="2400" b="1" dirty="0">
                <a:latin typeface="楷体" panose="02010609060101010101" pitchFamily="49" charset="-122"/>
                <a:ea typeface="楷体" panose="02010609060101010101" pitchFamily="49" charset="-122"/>
              </a:rPr>
              <a:t>控制存储器</a:t>
            </a:r>
            <a:r>
              <a:rPr lang="en-US" altLang="zh-CN" sz="2400" b="1" dirty="0">
                <a:latin typeface="楷体" panose="02010609060101010101" pitchFamily="49" charset="-122"/>
                <a:ea typeface="楷体" panose="02010609060101010101" pitchFamily="49" charset="-122"/>
              </a:rPr>
              <a:t>CM</a:t>
            </a:r>
          </a:p>
          <a:p>
            <a:pPr>
              <a:lnSpc>
                <a:spcPct val="110000"/>
              </a:lnSpc>
              <a:defRPr/>
            </a:pPr>
            <a:r>
              <a:rPr lang="zh-CN" altLang="en-US" sz="2400" b="1" dirty="0">
                <a:latin typeface="楷体" panose="02010609060101010101" pitchFamily="49" charset="-122"/>
                <a:ea typeface="楷体" panose="02010609060101010101" pitchFamily="49" charset="-122"/>
              </a:rPr>
              <a:t>微指令寄存器、</a:t>
            </a:r>
            <a:r>
              <a:rPr lang="en-US" altLang="zh-CN" sz="2400" b="1" dirty="0">
                <a:latin typeface="楷体" panose="02010609060101010101" pitchFamily="49" charset="-122"/>
                <a:ea typeface="楷体" panose="02010609060101010101" pitchFamily="49" charset="-122"/>
              </a:rPr>
              <a:t>UIR</a:t>
            </a:r>
            <a:r>
              <a:rPr lang="zh-CN" altLang="en-US" sz="2400" b="1" dirty="0">
                <a:latin typeface="楷体" panose="02010609060101010101" pitchFamily="49" charset="-122"/>
                <a:ea typeface="楷体" panose="02010609060101010101" pitchFamily="49" charset="-122"/>
              </a:rPr>
              <a:t>微地址形成电路、</a:t>
            </a:r>
            <a:endParaRPr lang="en-US" altLang="zh-CN" sz="2400" b="1" dirty="0">
              <a:latin typeface="楷体" panose="02010609060101010101" pitchFamily="49" charset="-122"/>
              <a:ea typeface="楷体" panose="02010609060101010101" pitchFamily="49" charset="-122"/>
            </a:endParaRPr>
          </a:p>
          <a:p>
            <a:pPr>
              <a:lnSpc>
                <a:spcPct val="110000"/>
              </a:lnSpc>
              <a:defRPr/>
            </a:pPr>
            <a:r>
              <a:rPr lang="zh-CN" altLang="en-US" sz="2400" b="1" dirty="0">
                <a:latin typeface="楷体" panose="02010609060101010101" pitchFamily="49" charset="-122"/>
                <a:ea typeface="楷体" panose="02010609060101010101" pitchFamily="49" charset="-122"/>
              </a:rPr>
              <a:t>微地址寄存器</a:t>
            </a:r>
            <a:r>
              <a:rPr lang="en-US" altLang="zh-CN" sz="2400" b="1" dirty="0">
                <a:latin typeface="楷体" panose="02010609060101010101" pitchFamily="49" charset="-122"/>
                <a:ea typeface="楷体" panose="02010609060101010101" pitchFamily="49" charset="-122"/>
              </a:rPr>
              <a:t>UAR</a:t>
            </a:r>
            <a:r>
              <a:rPr lang="zh-CN" altLang="en-US" sz="2400" b="1" dirty="0">
                <a:latin typeface="楷体" panose="02010609060101010101" pitchFamily="49" charset="-122"/>
                <a:ea typeface="楷体" panose="02010609060101010101" pitchFamily="49" charset="-122"/>
              </a:rPr>
              <a:t>、译码器</a:t>
            </a:r>
            <a:endParaRPr lang="en-US" altLang="zh-CN" sz="24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22268681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3">
                                            <p:txEl>
                                              <p:pRg st="0" end="0"/>
                                            </p:txEl>
                                          </p:spTgt>
                                        </p:tgtEl>
                                        <p:attrNameLst>
                                          <p:attrName>style.visibility</p:attrName>
                                        </p:attrNameLst>
                                      </p:cBhvr>
                                      <p:to>
                                        <p:strVal val="visible"/>
                                      </p:to>
                                    </p:set>
                                    <p:animEffect transition="in" filter="wipe(left)">
                                      <p:cBhvr>
                                        <p:cTn id="19" dur="500"/>
                                        <p:tgtEl>
                                          <p:spTgt spid="23">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wipe(up)">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4">
                                            <p:txEl>
                                              <p:pRg st="0" end="0"/>
                                            </p:txEl>
                                          </p:spTgt>
                                        </p:tgtEl>
                                        <p:attrNameLst>
                                          <p:attrName>style.visibility</p:attrName>
                                        </p:attrNameLst>
                                      </p:cBhvr>
                                      <p:to>
                                        <p:strVal val="visible"/>
                                      </p:to>
                                    </p:set>
                                    <p:animEffect transition="in" filter="wipe(left)">
                                      <p:cBhvr>
                                        <p:cTn id="29" dur="500"/>
                                        <p:tgtEl>
                                          <p:spTgt spid="24">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4">
                                            <p:txEl>
                                              <p:pRg st="1" end="1"/>
                                            </p:txEl>
                                          </p:spTgt>
                                        </p:tgtEl>
                                        <p:attrNameLst>
                                          <p:attrName>style.visibility</p:attrName>
                                        </p:attrNameLst>
                                      </p:cBhvr>
                                      <p:to>
                                        <p:strVal val="visible"/>
                                      </p:to>
                                    </p:set>
                                    <p:animEffect transition="in" filter="wipe(left)">
                                      <p:cBhvr>
                                        <p:cTn id="34" dur="500"/>
                                        <p:tgtEl>
                                          <p:spTgt spid="24">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4">
                                            <p:txEl>
                                              <p:pRg st="2" end="2"/>
                                            </p:txEl>
                                          </p:spTgt>
                                        </p:tgtEl>
                                        <p:attrNameLst>
                                          <p:attrName>style.visibility</p:attrName>
                                        </p:attrNameLst>
                                      </p:cBhvr>
                                      <p:to>
                                        <p:strVal val="visible"/>
                                      </p:to>
                                    </p:set>
                                    <p:animEffect transition="in" filter="wipe(left)">
                                      <p:cBhvr>
                                        <p:cTn id="39" dur="500"/>
                                        <p:tgtEl>
                                          <p:spTgt spid="24">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4">
                                            <p:txEl>
                                              <p:pRg st="3" end="3"/>
                                            </p:txEl>
                                          </p:spTgt>
                                        </p:tgtEl>
                                        <p:attrNameLst>
                                          <p:attrName>style.visibility</p:attrName>
                                        </p:attrNameLst>
                                      </p:cBhvr>
                                      <p:to>
                                        <p:strVal val="visible"/>
                                      </p:to>
                                    </p:set>
                                    <p:animEffect transition="in" filter="wipe(left)">
                                      <p:cBhvr>
                                        <p:cTn id="44" dur="500"/>
                                        <p:tgtEl>
                                          <p:spTgt spid="24">
                                            <p:txEl>
                                              <p:pRg st="3" end="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4">
                                            <p:txEl>
                                              <p:pRg st="4" end="4"/>
                                            </p:txEl>
                                          </p:spTgt>
                                        </p:tgtEl>
                                        <p:attrNameLst>
                                          <p:attrName>style.visibility</p:attrName>
                                        </p:attrNameLst>
                                      </p:cBhvr>
                                      <p:to>
                                        <p:strVal val="visible"/>
                                      </p:to>
                                    </p:set>
                                    <p:animEffect transition="in" filter="wipe(left)">
                                      <p:cBhvr>
                                        <p:cTn id="49" dur="500"/>
                                        <p:tgtEl>
                                          <p:spTgt spid="2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P spid="20" grpId="0" animBg="1"/>
      <p:bldP spid="23" grpId="0" build="p"/>
      <p:bldP spid="2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二、微程序控制的概念</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9</a:t>
            </a:fld>
            <a:endParaRPr lang="zh-CN" altLang="en-US"/>
          </a:p>
        </p:txBody>
      </p:sp>
      <p:sp>
        <p:nvSpPr>
          <p:cNvPr id="16" name="文本框 15">
            <a:extLst>
              <a:ext uri="{FF2B5EF4-FFF2-40B4-BE49-F238E27FC236}">
                <a16:creationId xmlns:a16="http://schemas.microsoft.com/office/drawing/2014/main" id="{D947ED62-AE36-4241-BC08-AEBD263FA4F9}"/>
              </a:ext>
            </a:extLst>
          </p:cNvPr>
          <p:cNvSpPr txBox="1"/>
          <p:nvPr/>
        </p:nvSpPr>
        <p:spPr>
          <a:xfrm>
            <a:off x="184306" y="905675"/>
            <a:ext cx="8872536" cy="2576667"/>
          </a:xfrm>
          <a:prstGeom prst="rect">
            <a:avLst/>
          </a:prstGeom>
          <a:noFill/>
        </p:spPr>
        <p:txBody>
          <a:bodyPr wrap="square" rtlCol="0">
            <a:spAutoFit/>
          </a:bodyPr>
          <a:lstStyle/>
          <a:p>
            <a:pPr>
              <a:lnSpc>
                <a:spcPct val="150000"/>
              </a:lnSpc>
              <a:defRPr/>
            </a:pPr>
            <a:r>
              <a:rPr lang="zh-CN" altLang="en-US" sz="2800" b="1" dirty="0">
                <a:solidFill>
                  <a:schemeClr val="accent2"/>
                </a:solidFill>
                <a:latin typeface="楷体" panose="02010609060101010101" pitchFamily="49" charset="-122"/>
                <a:ea typeface="楷体" panose="02010609060101010101" pitchFamily="49" charset="-122"/>
              </a:rPr>
              <a:t>① 控制存取器</a:t>
            </a:r>
            <a:r>
              <a:rPr lang="en-US" altLang="zh-CN" sz="2800" b="1" dirty="0">
                <a:solidFill>
                  <a:schemeClr val="accent2"/>
                </a:solidFill>
                <a:latin typeface="楷体" panose="02010609060101010101" pitchFamily="49" charset="-122"/>
                <a:ea typeface="楷体" panose="02010609060101010101" pitchFamily="49" charset="-122"/>
              </a:rPr>
              <a:t>CM</a:t>
            </a:r>
            <a:r>
              <a:rPr lang="zh-CN" altLang="en-US" sz="2800" b="1" dirty="0">
                <a:solidFill>
                  <a:schemeClr val="accent2"/>
                </a:solidFill>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用来存放微程序，它的每一单元用</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来存放一条微指令，一段微程序需要几十个单元。</a:t>
            </a:r>
            <a:endParaRPr lang="en-US" altLang="zh-CN" sz="2800" b="1" dirty="0">
              <a:latin typeface="楷体" panose="02010609060101010101" pitchFamily="49" charset="-122"/>
              <a:ea typeface="楷体" panose="02010609060101010101" pitchFamily="49" charset="-122"/>
            </a:endParaRPr>
          </a:p>
          <a:p>
            <a:pPr>
              <a:lnSpc>
                <a:spcPct val="150000"/>
              </a:lnSpc>
              <a:defRPr/>
            </a:pPr>
            <a:r>
              <a:rPr lang="zh-CN" altLang="en-US" sz="2800" b="1" dirty="0">
                <a:solidFill>
                  <a:schemeClr val="accent2"/>
                </a:solidFill>
                <a:latin typeface="楷体" panose="02010609060101010101" pitchFamily="49" charset="-122"/>
                <a:ea typeface="楷体" panose="02010609060101010101" pitchFamily="49" charset="-122"/>
              </a:rPr>
              <a:t>② 微指令寄存器</a:t>
            </a:r>
            <a:r>
              <a:rPr lang="en-US" altLang="zh-CN" sz="2800" b="1" dirty="0">
                <a:solidFill>
                  <a:schemeClr val="accent2"/>
                </a:solidFill>
                <a:latin typeface="楷体" panose="02010609060101010101" pitchFamily="49" charset="-122"/>
                <a:ea typeface="楷体" panose="02010609060101010101" pitchFamily="49" charset="-122"/>
              </a:rPr>
              <a:t>UIR</a:t>
            </a:r>
            <a:r>
              <a:rPr lang="zh-CN" altLang="en-US" sz="2800" b="1" dirty="0">
                <a:solidFill>
                  <a:schemeClr val="accent2"/>
                </a:solidFill>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从</a:t>
            </a:r>
            <a:r>
              <a:rPr lang="en-US" altLang="zh-CN" sz="2800" b="1" dirty="0">
                <a:latin typeface="楷体" panose="02010609060101010101" pitchFamily="49" charset="-122"/>
                <a:ea typeface="楷体" panose="02010609060101010101" pitchFamily="49" charset="-122"/>
              </a:rPr>
              <a:t>CM</a:t>
            </a:r>
            <a:r>
              <a:rPr lang="zh-CN" altLang="en-US" sz="2800" b="1" dirty="0">
                <a:latin typeface="楷体" panose="02010609060101010101" pitchFamily="49" charset="-122"/>
                <a:ea typeface="楷体" panose="02010609060101010101" pitchFamily="49" charset="-122"/>
              </a:rPr>
              <a:t>读取的微指令，存放于</a:t>
            </a:r>
            <a:r>
              <a:rPr lang="en-US" altLang="zh-CN" sz="2800" b="1" dirty="0">
                <a:latin typeface="楷体" panose="02010609060101010101" pitchFamily="49" charset="-122"/>
                <a:ea typeface="楷体" panose="02010609060101010101" pitchFamily="49" charset="-122"/>
              </a:rPr>
              <a:t>UIR</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中，</a:t>
            </a:r>
            <a:r>
              <a:rPr lang="en-US" altLang="zh-CN" sz="2800" b="1" dirty="0">
                <a:latin typeface="楷体" panose="02010609060101010101" pitchFamily="49" charset="-122"/>
                <a:ea typeface="楷体" panose="02010609060101010101" pitchFamily="49" charset="-122"/>
              </a:rPr>
              <a:t>UI</a:t>
            </a:r>
            <a:r>
              <a:rPr lang="zh-CN" altLang="en-US" sz="2800" b="1" dirty="0">
                <a:latin typeface="楷体" panose="02010609060101010101" pitchFamily="49" charset="-122"/>
                <a:ea typeface="楷体" panose="02010609060101010101" pitchFamily="49" charset="-122"/>
              </a:rPr>
              <a:t>分为两部分。</a:t>
            </a:r>
            <a:endParaRPr lang="en-US" altLang="zh-CN" sz="2800" b="1" dirty="0">
              <a:latin typeface="楷体" panose="02010609060101010101" pitchFamily="49" charset="-122"/>
              <a:ea typeface="楷体" panose="02010609060101010101" pitchFamily="49" charset="-122"/>
            </a:endParaRPr>
          </a:p>
        </p:txBody>
      </p:sp>
      <p:sp>
        <p:nvSpPr>
          <p:cNvPr id="17" name="AutoShape 16">
            <a:extLst>
              <a:ext uri="{FF2B5EF4-FFF2-40B4-BE49-F238E27FC236}">
                <a16:creationId xmlns:a16="http://schemas.microsoft.com/office/drawing/2014/main" id="{0F245250-BBF5-4CF9-BD37-691F3A1B62EE}"/>
              </a:ext>
            </a:extLst>
          </p:cNvPr>
          <p:cNvSpPr/>
          <p:nvPr/>
        </p:nvSpPr>
        <p:spPr bwMode="auto">
          <a:xfrm>
            <a:off x="942090" y="3838039"/>
            <a:ext cx="123825" cy="2112460"/>
          </a:xfrm>
          <a:prstGeom prst="leftBrace">
            <a:avLst>
              <a:gd name="adj1" fmla="val 118847"/>
              <a:gd name="adj2" fmla="val 50000"/>
            </a:avLst>
          </a:prstGeom>
          <a:noFill/>
          <a:ln w="381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latin typeface="楷体" panose="02010609060101010101" pitchFamily="49" charset="-122"/>
              <a:ea typeface="楷体" panose="02010609060101010101" pitchFamily="49" charset="-122"/>
            </a:endParaRPr>
          </a:p>
        </p:txBody>
      </p:sp>
      <p:sp>
        <p:nvSpPr>
          <p:cNvPr id="18" name="文本框 17">
            <a:extLst>
              <a:ext uri="{FF2B5EF4-FFF2-40B4-BE49-F238E27FC236}">
                <a16:creationId xmlns:a16="http://schemas.microsoft.com/office/drawing/2014/main" id="{EB9E2233-859F-4ACC-8E64-FAE38B64C348}"/>
              </a:ext>
            </a:extLst>
          </p:cNvPr>
          <p:cNvSpPr txBox="1"/>
          <p:nvPr/>
        </p:nvSpPr>
        <p:spPr>
          <a:xfrm>
            <a:off x="1122035" y="3519786"/>
            <a:ext cx="7666365" cy="2576667"/>
          </a:xfrm>
          <a:prstGeom prst="rect">
            <a:avLst/>
          </a:prstGeom>
          <a:noFill/>
        </p:spPr>
        <p:txBody>
          <a:bodyPr wrap="square" rtlCol="0">
            <a:spAutoFit/>
          </a:bodyPr>
          <a:lstStyle/>
          <a:p>
            <a:pPr>
              <a:lnSpc>
                <a:spcPct val="150000"/>
              </a:lnSpc>
              <a:defRPr/>
            </a:pPr>
            <a:r>
              <a:rPr lang="zh-CN" altLang="en-US" sz="2800" b="1" dirty="0">
                <a:solidFill>
                  <a:schemeClr val="accent6">
                    <a:lumMod val="75000"/>
                  </a:schemeClr>
                </a:solidFill>
                <a:latin typeface="楷体" panose="02010609060101010101" pitchFamily="49" charset="-122"/>
                <a:ea typeface="楷体" panose="02010609060101010101" pitchFamily="49" charset="-122"/>
              </a:rPr>
              <a:t>微操作控制字段：</a:t>
            </a:r>
            <a:r>
              <a:rPr lang="zh-CN" altLang="en-US" sz="2800" b="1" dirty="0">
                <a:latin typeface="楷体" panose="02010609060101010101" pitchFamily="49" charset="-122"/>
                <a:ea typeface="楷体" panose="02010609060101010101" pitchFamily="49" charset="-122"/>
              </a:rPr>
              <a:t>产生微命令的依据（相当于</a:t>
            </a:r>
            <a:r>
              <a:rPr lang="en-US" altLang="zh-CN" sz="2800" b="1" dirty="0">
                <a:latin typeface="楷体" panose="02010609060101010101" pitchFamily="49" charset="-122"/>
                <a:ea typeface="楷体" panose="02010609060101010101" pitchFamily="49" charset="-122"/>
              </a:rPr>
              <a:t>IR</a:t>
            </a:r>
            <a:r>
              <a:rPr lang="zh-CN" altLang="en-US" sz="2800" b="1" dirty="0">
                <a:latin typeface="楷体" panose="02010609060101010101" pitchFamily="49" charset="-122"/>
                <a:ea typeface="楷体" panose="02010609060101010101" pitchFamily="49" charset="-122"/>
              </a:rPr>
              <a:t>中的操作码）。</a:t>
            </a:r>
            <a:endParaRPr lang="en-US" altLang="zh-CN" sz="2800" b="1" dirty="0">
              <a:latin typeface="楷体" panose="02010609060101010101" pitchFamily="49" charset="-122"/>
              <a:ea typeface="楷体" panose="02010609060101010101" pitchFamily="49" charset="-122"/>
            </a:endParaRPr>
          </a:p>
          <a:p>
            <a:pPr>
              <a:lnSpc>
                <a:spcPct val="150000"/>
              </a:lnSpc>
              <a:defRPr/>
            </a:pPr>
            <a:r>
              <a:rPr lang="zh-CN" altLang="en-US" sz="2800" b="1" dirty="0">
                <a:solidFill>
                  <a:schemeClr val="accent6">
                    <a:lumMod val="75000"/>
                  </a:schemeClr>
                </a:solidFill>
                <a:latin typeface="楷体" panose="02010609060101010101" pitchFamily="49" charset="-122"/>
                <a:ea typeface="楷体" panose="02010609060101010101" pitchFamily="49" charset="-122"/>
              </a:rPr>
              <a:t>顺序控制字段</a:t>
            </a:r>
            <a:r>
              <a:rPr lang="en-US" altLang="zh-CN" sz="2800" b="1" dirty="0">
                <a:solidFill>
                  <a:schemeClr val="accent6">
                    <a:lumMod val="75000"/>
                  </a:schemeClr>
                </a:solidFill>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产生后继微地址指令的依据，用</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以控制微程序的连续执行。</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472620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left)">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up)">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xEl>
                                              <p:pRg st="0" end="0"/>
                                            </p:txEl>
                                          </p:spTgt>
                                        </p:tgtEl>
                                        <p:attrNameLst>
                                          <p:attrName>style.visibility</p:attrName>
                                        </p:attrNameLst>
                                      </p:cBhvr>
                                      <p:to>
                                        <p:strVal val="visible"/>
                                      </p:to>
                                    </p:set>
                                    <p:animEffect transition="in" filter="wipe(left)">
                                      <p:cBhvr>
                                        <p:cTn id="22" dur="500"/>
                                        <p:tgtEl>
                                          <p:spTgt spid="1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
                                            <p:txEl>
                                              <p:pRg st="1" end="1"/>
                                            </p:txEl>
                                          </p:spTgt>
                                        </p:tgtEl>
                                        <p:attrNameLst>
                                          <p:attrName>style.visibility</p:attrName>
                                        </p:attrNameLst>
                                      </p:cBhvr>
                                      <p:to>
                                        <p:strVal val="visible"/>
                                      </p:to>
                                    </p:set>
                                    <p:animEffect transition="in" filter="wipe(left)">
                                      <p:cBhvr>
                                        <p:cTn id="27" dur="500"/>
                                        <p:tgtEl>
                                          <p:spTgt spid="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P spid="17" grpId="0" animBg="1"/>
      <p:bldP spid="1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二、微程序控制的概念</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10</a:t>
            </a:fld>
            <a:endParaRPr lang="zh-CN" altLang="en-US"/>
          </a:p>
        </p:txBody>
      </p:sp>
      <p:sp>
        <p:nvSpPr>
          <p:cNvPr id="16" name="文本框 15">
            <a:extLst>
              <a:ext uri="{FF2B5EF4-FFF2-40B4-BE49-F238E27FC236}">
                <a16:creationId xmlns:a16="http://schemas.microsoft.com/office/drawing/2014/main" id="{D947ED62-AE36-4241-BC08-AEBD263FA4F9}"/>
              </a:ext>
            </a:extLst>
          </p:cNvPr>
          <p:cNvSpPr txBox="1"/>
          <p:nvPr/>
        </p:nvSpPr>
        <p:spPr>
          <a:xfrm>
            <a:off x="184306" y="905675"/>
            <a:ext cx="8872536" cy="5711372"/>
          </a:xfrm>
          <a:prstGeom prst="rect">
            <a:avLst/>
          </a:prstGeom>
          <a:noFill/>
        </p:spPr>
        <p:txBody>
          <a:bodyPr wrap="square" rtlCol="0">
            <a:spAutoFit/>
          </a:bodyPr>
          <a:lstStyle/>
          <a:p>
            <a:pPr>
              <a:lnSpc>
                <a:spcPct val="120000"/>
              </a:lnSpc>
              <a:defRPr/>
            </a:pPr>
            <a:r>
              <a:rPr lang="zh-CN" altLang="en-US" sz="2800" b="1" dirty="0">
                <a:solidFill>
                  <a:schemeClr val="accent2"/>
                </a:solidFill>
                <a:latin typeface="楷体" panose="02010609060101010101" pitchFamily="49" charset="-122"/>
                <a:ea typeface="楷体" panose="02010609060101010101" pitchFamily="49" charset="-122"/>
              </a:rPr>
              <a:t>③ 微地址形成电路：</a:t>
            </a:r>
            <a:r>
              <a:rPr lang="zh-CN" altLang="en-US" sz="2800" b="1" dirty="0">
                <a:latin typeface="楷体" panose="02010609060101010101" pitchFamily="49" charset="-122"/>
                <a:ea typeface="楷体" panose="02010609060101010101" pitchFamily="49" charset="-122"/>
              </a:rPr>
              <a:t>根据微程序执行顺序的需要，应</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有多种后继微指令地址的形成方式。</a:t>
            </a:r>
            <a:endParaRPr lang="en-US" altLang="zh-CN" sz="2800" b="1" dirty="0">
              <a:latin typeface="楷体" panose="02010609060101010101" pitchFamily="49" charset="-122"/>
              <a:ea typeface="楷体" panose="02010609060101010101" pitchFamily="49" charset="-122"/>
            </a:endParaRPr>
          </a:p>
          <a:p>
            <a:pPr>
              <a:lnSpc>
                <a:spcPct val="120000"/>
              </a:lnSpc>
              <a:defRPr/>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依据以下几种信息的一部分去形成后继微地址：</a:t>
            </a:r>
            <a:r>
              <a:rPr lang="zh-CN" altLang="en-US" sz="2800" b="1" dirty="0">
                <a:solidFill>
                  <a:schemeClr val="accent6">
                    <a:lumMod val="75000"/>
                  </a:schemeClr>
                </a:solidFill>
                <a:latin typeface="楷体" panose="02010609060101010101" pitchFamily="49" charset="-122"/>
                <a:ea typeface="楷体" panose="02010609060101010101" pitchFamily="49" charset="-122"/>
              </a:rPr>
              <a:t>顺</a:t>
            </a:r>
            <a:br>
              <a:rPr lang="en-US" altLang="zh-CN" sz="2800" b="1" dirty="0">
                <a:solidFill>
                  <a:schemeClr val="accent6">
                    <a:lumMod val="75000"/>
                  </a:schemeClr>
                </a:solidFill>
                <a:latin typeface="楷体" panose="02010609060101010101" pitchFamily="49" charset="-122"/>
                <a:ea typeface="楷体" panose="02010609060101010101" pitchFamily="49" charset="-122"/>
              </a:rPr>
            </a:br>
            <a:r>
              <a:rPr lang="en-US" altLang="zh-CN" sz="2800" b="1" dirty="0">
                <a:solidFill>
                  <a:schemeClr val="accent6">
                    <a:lumMod val="75000"/>
                  </a:schemeClr>
                </a:solidFill>
                <a:latin typeface="楷体" panose="02010609060101010101" pitchFamily="49" charset="-122"/>
                <a:ea typeface="楷体" panose="02010609060101010101" pitchFamily="49" charset="-122"/>
              </a:rPr>
              <a:t>   </a:t>
            </a:r>
            <a:r>
              <a:rPr lang="zh-CN" altLang="en-US" sz="2800" b="1" dirty="0">
                <a:solidFill>
                  <a:schemeClr val="accent6">
                    <a:lumMod val="75000"/>
                  </a:schemeClr>
                </a:solidFill>
                <a:latin typeface="楷体" panose="02010609060101010101" pitchFamily="49" charset="-122"/>
                <a:ea typeface="楷体" panose="02010609060101010101" pitchFamily="49" charset="-122"/>
              </a:rPr>
              <a:t>序控制字段，现行微指令地址，微程序转移时的微</a:t>
            </a:r>
            <a:br>
              <a:rPr lang="en-US" altLang="zh-CN" sz="2800" b="1" dirty="0">
                <a:solidFill>
                  <a:schemeClr val="accent6">
                    <a:lumMod val="75000"/>
                  </a:schemeClr>
                </a:solidFill>
                <a:latin typeface="楷体" panose="02010609060101010101" pitchFamily="49" charset="-122"/>
                <a:ea typeface="楷体" panose="02010609060101010101" pitchFamily="49" charset="-122"/>
              </a:rPr>
            </a:br>
            <a:r>
              <a:rPr lang="en-US" altLang="zh-CN" sz="2800" b="1" dirty="0">
                <a:solidFill>
                  <a:schemeClr val="accent6">
                    <a:lumMod val="75000"/>
                  </a:schemeClr>
                </a:solidFill>
                <a:latin typeface="楷体" panose="02010609060101010101" pitchFamily="49" charset="-122"/>
                <a:ea typeface="楷体" panose="02010609060101010101" pitchFamily="49" charset="-122"/>
              </a:rPr>
              <a:t>   </a:t>
            </a:r>
            <a:r>
              <a:rPr lang="zh-CN" altLang="en-US" sz="2800" b="1" dirty="0">
                <a:solidFill>
                  <a:schemeClr val="accent6">
                    <a:lumMod val="75000"/>
                  </a:schemeClr>
                </a:solidFill>
                <a:latin typeface="楷体" panose="02010609060101010101" pitchFamily="49" charset="-122"/>
                <a:ea typeface="楷体" panose="02010609060101010101" pitchFamily="49" charset="-122"/>
              </a:rPr>
              <a:t>地址</a:t>
            </a:r>
            <a:r>
              <a:rPr lang="zh-CN" altLang="en-US" sz="2800" b="1" dirty="0">
                <a:latin typeface="楷体" panose="02010609060101010101" pitchFamily="49" charset="-122"/>
                <a:ea typeface="楷体" panose="02010609060101010101" pitchFamily="49" charset="-122"/>
              </a:rPr>
              <a:t>等。</a:t>
            </a:r>
            <a:endParaRPr lang="en-US" altLang="zh-CN" sz="2800" b="1" dirty="0">
              <a:latin typeface="楷体" panose="02010609060101010101" pitchFamily="49" charset="-122"/>
              <a:ea typeface="楷体" panose="02010609060101010101" pitchFamily="49" charset="-122"/>
            </a:endParaRPr>
          </a:p>
          <a:p>
            <a:pPr>
              <a:lnSpc>
                <a:spcPct val="120000"/>
              </a:lnSpc>
              <a:defRPr/>
            </a:pPr>
            <a:r>
              <a:rPr lang="zh-CN" altLang="en-US" sz="2800" b="1" dirty="0">
                <a:solidFill>
                  <a:schemeClr val="accent2"/>
                </a:solidFill>
                <a:latin typeface="楷体" panose="02010609060101010101" pitchFamily="49" charset="-122"/>
                <a:ea typeface="楷体" panose="02010609060101010101" pitchFamily="49" charset="-122"/>
              </a:rPr>
              <a:t>④ 微地址寄存器</a:t>
            </a:r>
            <a:r>
              <a:rPr lang="en-US" altLang="zh-CN" sz="2800" b="1" dirty="0">
                <a:solidFill>
                  <a:schemeClr val="accent2"/>
                </a:solidFill>
                <a:latin typeface="楷体" panose="02010609060101010101" pitchFamily="49" charset="-122"/>
                <a:ea typeface="楷体" panose="02010609060101010101" pitchFamily="49" charset="-122"/>
              </a:rPr>
              <a:t>UAR:</a:t>
            </a:r>
            <a:r>
              <a:rPr lang="zh-CN" altLang="en-US" sz="2800" b="1" dirty="0">
                <a:latin typeface="楷体" panose="02010609060101010101" pitchFamily="49" charset="-122"/>
                <a:ea typeface="楷体" panose="02010609060101010101" pitchFamily="49" charset="-122"/>
              </a:rPr>
              <a:t>在从</a:t>
            </a:r>
            <a:r>
              <a:rPr lang="en-US" altLang="zh-CN" sz="2800" b="1" dirty="0">
                <a:latin typeface="楷体" panose="02010609060101010101" pitchFamily="49" charset="-122"/>
                <a:ea typeface="楷体" panose="02010609060101010101" pitchFamily="49" charset="-122"/>
              </a:rPr>
              <a:t>CM</a:t>
            </a:r>
            <a:r>
              <a:rPr lang="zh-CN" altLang="en-US" sz="2800" b="1" dirty="0">
                <a:latin typeface="楷体" panose="02010609060101010101" pitchFamily="49" charset="-122"/>
                <a:ea typeface="楷体" panose="02010609060101010101" pitchFamily="49" charset="-122"/>
              </a:rPr>
              <a:t>中读取</a:t>
            </a:r>
            <a:r>
              <a:rPr lang="en-US" altLang="zh-CN" sz="2800" b="1" dirty="0">
                <a:latin typeface="楷体" panose="02010609060101010101" pitchFamily="49" charset="-122"/>
                <a:ea typeface="楷体" panose="02010609060101010101" pitchFamily="49" charset="-122"/>
              </a:rPr>
              <a:t>UI</a:t>
            </a:r>
            <a:r>
              <a:rPr lang="zh-CN" altLang="en-US" sz="2800" b="1" dirty="0">
                <a:latin typeface="楷体" panose="02010609060101010101" pitchFamily="49" charset="-122"/>
                <a:ea typeface="楷体" panose="02010609060101010101" pitchFamily="49" charset="-122"/>
              </a:rPr>
              <a:t>时，</a:t>
            </a:r>
            <a:r>
              <a:rPr lang="en-US" altLang="zh-CN" sz="2800" b="1" dirty="0">
                <a:latin typeface="楷体" panose="02010609060101010101" pitchFamily="49" charset="-122"/>
                <a:ea typeface="楷体" panose="02010609060101010101" pitchFamily="49" charset="-122"/>
              </a:rPr>
              <a:t>UAR</a:t>
            </a:r>
            <a:r>
              <a:rPr lang="zh-CN" altLang="en-US" sz="2800" b="1" dirty="0">
                <a:latin typeface="楷体" panose="02010609060101010101" pitchFamily="49" charset="-122"/>
                <a:ea typeface="楷体" panose="02010609060101010101" pitchFamily="49" charset="-122"/>
              </a:rPr>
              <a:t>中保存着</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CM</a:t>
            </a:r>
            <a:r>
              <a:rPr lang="zh-CN" altLang="en-US" sz="2800" b="1" dirty="0">
                <a:latin typeface="楷体" panose="02010609060101010101" pitchFamily="49" charset="-122"/>
                <a:ea typeface="楷体" panose="02010609060101010101" pitchFamily="49" charset="-122"/>
              </a:rPr>
              <a:t>的地址（微地址），指向</a:t>
            </a:r>
            <a:r>
              <a:rPr lang="en-US" altLang="zh-CN" sz="2800" b="1" dirty="0">
                <a:latin typeface="楷体" panose="02010609060101010101" pitchFamily="49" charset="-122"/>
                <a:ea typeface="楷体" panose="02010609060101010101" pitchFamily="49" charset="-122"/>
              </a:rPr>
              <a:t>CM</a:t>
            </a:r>
            <a:r>
              <a:rPr lang="zh-CN" altLang="en-US" sz="2800" b="1" dirty="0">
                <a:latin typeface="楷体" panose="02010609060101010101" pitchFamily="49" charset="-122"/>
                <a:ea typeface="楷体" panose="02010609060101010101" pitchFamily="49" charset="-122"/>
              </a:rPr>
              <a:t>单元（如同</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或堆栈</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指针）。</a:t>
            </a:r>
            <a:endParaRPr lang="en-US" altLang="zh-CN" sz="2800" b="1" dirty="0">
              <a:latin typeface="楷体" panose="02010609060101010101" pitchFamily="49" charset="-122"/>
              <a:ea typeface="楷体" panose="02010609060101010101" pitchFamily="49" charset="-122"/>
            </a:endParaRPr>
          </a:p>
          <a:p>
            <a:pPr>
              <a:lnSpc>
                <a:spcPct val="120000"/>
              </a:lnSpc>
              <a:defRPr/>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读出微指令或完成一个微指令周期操作后，微地址</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形成电路将后继微地址打入</a:t>
            </a:r>
            <a:r>
              <a:rPr lang="en-US" altLang="zh-CN" sz="2800" b="1" dirty="0">
                <a:latin typeface="楷体" panose="02010609060101010101" pitchFamily="49" charset="-122"/>
                <a:ea typeface="楷体" panose="02010609060101010101" pitchFamily="49" charset="-122"/>
              </a:rPr>
              <a:t>UAR</a:t>
            </a:r>
            <a:r>
              <a:rPr lang="zh-CN" altLang="en-US" sz="2800" b="1" dirty="0">
                <a:latin typeface="楷体" panose="02010609060101010101" pitchFamily="49" charset="-122"/>
                <a:ea typeface="楷体" panose="02010609060101010101" pitchFamily="49" charset="-122"/>
              </a:rPr>
              <a:t>中，为读取下一条微</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指令做准备。</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67230519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left)">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wipe(left)">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wipe(left)">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二、微程序控制的概念</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11</a:t>
            </a:fld>
            <a:endParaRPr lang="zh-CN" altLang="en-US"/>
          </a:p>
        </p:txBody>
      </p:sp>
      <p:sp>
        <p:nvSpPr>
          <p:cNvPr id="12" name="文本框 11">
            <a:extLst>
              <a:ext uri="{FF2B5EF4-FFF2-40B4-BE49-F238E27FC236}">
                <a16:creationId xmlns:a16="http://schemas.microsoft.com/office/drawing/2014/main" id="{EA58E87E-7C87-4E74-BCFD-49301BD803D5}"/>
              </a:ext>
            </a:extLst>
          </p:cNvPr>
          <p:cNvSpPr txBox="1"/>
          <p:nvPr/>
        </p:nvSpPr>
        <p:spPr>
          <a:xfrm>
            <a:off x="184306" y="792458"/>
            <a:ext cx="8759397" cy="2576667"/>
          </a:xfrm>
          <a:prstGeom prst="rect">
            <a:avLst/>
          </a:prstGeom>
          <a:noFill/>
        </p:spPr>
        <p:txBody>
          <a:bodyPr wrap="square" rtlCol="0">
            <a:spAutoFit/>
          </a:bodyPr>
          <a:lstStyle/>
          <a:p>
            <a:pPr>
              <a:lnSpc>
                <a:spcPct val="150000"/>
              </a:lnSpc>
              <a:defRPr/>
            </a:pPr>
            <a:r>
              <a:rPr lang="en-US" altLang="zh-CN" sz="2800" b="1" dirty="0">
                <a:solidFill>
                  <a:srgbClr val="0563C1"/>
                </a:solidFill>
                <a:latin typeface="楷体" panose="02010609060101010101" pitchFamily="49" charset="-122"/>
                <a:ea typeface="楷体" panose="02010609060101010101" pitchFamily="49" charset="-122"/>
              </a:rPr>
              <a:t>2</a:t>
            </a:r>
            <a:r>
              <a:rPr lang="zh-CN" altLang="en-US" sz="2800" b="1" dirty="0">
                <a:solidFill>
                  <a:srgbClr val="0563C1"/>
                </a:solidFill>
                <a:latin typeface="楷体" panose="02010609060101010101" pitchFamily="49" charset="-122"/>
                <a:ea typeface="楷体" panose="02010609060101010101" pitchFamily="49" charset="-122"/>
              </a:rPr>
              <a:t>、微程序控制器工作原理</a:t>
            </a:r>
            <a:endParaRPr lang="en-US" altLang="zh-CN" sz="2800" b="1" dirty="0">
              <a:solidFill>
                <a:srgbClr val="0563C1"/>
              </a:solidFill>
              <a:latin typeface="楷体" panose="02010609060101010101" pitchFamily="49" charset="-122"/>
              <a:ea typeface="楷体" panose="02010609060101010101" pitchFamily="49" charset="-122"/>
            </a:endParaRPr>
          </a:p>
          <a:p>
            <a:pPr>
              <a:lnSpc>
                <a:spcPct val="150000"/>
              </a:lnSpc>
              <a:defRPr/>
            </a:pPr>
            <a:r>
              <a:rPr lang="zh-CN" altLang="en-US" sz="2800" b="1" dirty="0">
                <a:latin typeface="楷体" panose="02010609060101010101" pitchFamily="49" charset="-122"/>
                <a:ea typeface="楷体" panose="02010609060101010101" pitchFamily="49" charset="-122"/>
              </a:rPr>
              <a:t>执行指令时，从控制存储器中找到相应的微程序段，逐次取出微指令，送入微指令寄存器，译码后产生所需微命令，控制各步操作的完成。</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88378067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三、微指令的编码方式</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12</a:t>
            </a:fld>
            <a:endParaRPr lang="zh-CN" altLang="en-US"/>
          </a:p>
        </p:txBody>
      </p:sp>
      <p:sp>
        <p:nvSpPr>
          <p:cNvPr id="13" name="AutoShape 16">
            <a:extLst>
              <a:ext uri="{FF2B5EF4-FFF2-40B4-BE49-F238E27FC236}">
                <a16:creationId xmlns:a16="http://schemas.microsoft.com/office/drawing/2014/main" id="{7C33980D-5215-43CA-98F1-EAFE549CEF61}"/>
              </a:ext>
            </a:extLst>
          </p:cNvPr>
          <p:cNvSpPr/>
          <p:nvPr/>
        </p:nvSpPr>
        <p:spPr bwMode="auto">
          <a:xfrm>
            <a:off x="1694293" y="1345549"/>
            <a:ext cx="123825" cy="1480796"/>
          </a:xfrm>
          <a:prstGeom prst="leftBrace">
            <a:avLst>
              <a:gd name="adj1" fmla="val 118847"/>
              <a:gd name="adj2" fmla="val 50000"/>
            </a:avLst>
          </a:prstGeom>
          <a:noFill/>
          <a:ln w="381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latin typeface="楷体" panose="02010609060101010101" pitchFamily="49" charset="-122"/>
              <a:ea typeface="楷体" panose="02010609060101010101" pitchFamily="49" charset="-122"/>
            </a:endParaRPr>
          </a:p>
        </p:txBody>
      </p:sp>
      <p:sp>
        <p:nvSpPr>
          <p:cNvPr id="14" name="文本框 13">
            <a:extLst>
              <a:ext uri="{FF2B5EF4-FFF2-40B4-BE49-F238E27FC236}">
                <a16:creationId xmlns:a16="http://schemas.microsoft.com/office/drawing/2014/main" id="{24F51EA4-E06D-44AF-A501-9D87F7A99FC2}"/>
              </a:ext>
            </a:extLst>
          </p:cNvPr>
          <p:cNvSpPr txBox="1"/>
          <p:nvPr/>
        </p:nvSpPr>
        <p:spPr>
          <a:xfrm>
            <a:off x="1874239" y="1027296"/>
            <a:ext cx="6846308" cy="1930337"/>
          </a:xfrm>
          <a:prstGeom prst="rect">
            <a:avLst/>
          </a:prstGeom>
          <a:noFill/>
        </p:spPr>
        <p:txBody>
          <a:bodyPr wrap="square" rtlCol="0">
            <a:spAutoFit/>
          </a:bodyPr>
          <a:lstStyle/>
          <a:p>
            <a:pPr>
              <a:lnSpc>
                <a:spcPct val="150000"/>
              </a:lnSpc>
              <a:defRPr/>
            </a:pPr>
            <a:r>
              <a:rPr lang="zh-CN" altLang="en-US" sz="2800" b="1" dirty="0">
                <a:solidFill>
                  <a:schemeClr val="accent6">
                    <a:lumMod val="75000"/>
                  </a:schemeClr>
                </a:solidFill>
                <a:latin typeface="楷体" panose="02010609060101010101" pitchFamily="49" charset="-122"/>
                <a:ea typeface="楷体" panose="02010609060101010101" pitchFamily="49" charset="-122"/>
              </a:rPr>
              <a:t>微操作控制字段：</a:t>
            </a:r>
            <a:r>
              <a:rPr lang="zh-CN" altLang="en-US" sz="2800" b="1" dirty="0">
                <a:latin typeface="楷体" panose="02010609060101010101" pitchFamily="49" charset="-122"/>
                <a:ea typeface="楷体" panose="02010609060101010101" pitchFamily="49" charset="-122"/>
              </a:rPr>
              <a:t>进行某一步操作所需的</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微命令信息。</a:t>
            </a:r>
            <a:endParaRPr lang="en-US" altLang="zh-CN" sz="2800" b="1" dirty="0">
              <a:latin typeface="楷体" panose="02010609060101010101" pitchFamily="49" charset="-122"/>
              <a:ea typeface="楷体" panose="02010609060101010101" pitchFamily="49" charset="-122"/>
            </a:endParaRPr>
          </a:p>
          <a:p>
            <a:pPr>
              <a:lnSpc>
                <a:spcPct val="150000"/>
              </a:lnSpc>
              <a:defRPr/>
            </a:pPr>
            <a:r>
              <a:rPr lang="zh-CN" altLang="en-US" sz="2800" b="1" dirty="0">
                <a:solidFill>
                  <a:schemeClr val="accent6">
                    <a:lumMod val="75000"/>
                  </a:schemeClr>
                </a:solidFill>
                <a:latin typeface="楷体" panose="02010609060101010101" pitchFamily="49" charset="-122"/>
                <a:ea typeface="楷体" panose="02010609060101010101" pitchFamily="49" charset="-122"/>
              </a:rPr>
              <a:t>顺序控制字段</a:t>
            </a:r>
            <a:endParaRPr lang="en-US" altLang="zh-CN" sz="2800" b="1" dirty="0">
              <a:latin typeface="楷体" panose="02010609060101010101" pitchFamily="49" charset="-122"/>
              <a:ea typeface="楷体" panose="02010609060101010101" pitchFamily="49" charset="-122"/>
            </a:endParaRPr>
          </a:p>
        </p:txBody>
      </p:sp>
      <p:sp>
        <p:nvSpPr>
          <p:cNvPr id="15" name="文本框 14">
            <a:extLst>
              <a:ext uri="{FF2B5EF4-FFF2-40B4-BE49-F238E27FC236}">
                <a16:creationId xmlns:a16="http://schemas.microsoft.com/office/drawing/2014/main" id="{308EAA8E-D79F-4C97-BEAA-B9A97929FEED}"/>
              </a:ext>
            </a:extLst>
          </p:cNvPr>
          <p:cNvSpPr txBox="1"/>
          <p:nvPr/>
        </p:nvSpPr>
        <p:spPr>
          <a:xfrm>
            <a:off x="383781" y="1703950"/>
            <a:ext cx="1485696" cy="637675"/>
          </a:xfrm>
          <a:prstGeom prst="rect">
            <a:avLst/>
          </a:prstGeom>
          <a:noFill/>
        </p:spPr>
        <p:txBody>
          <a:bodyPr wrap="square" rtlCol="0">
            <a:spAutoFit/>
          </a:bodyPr>
          <a:lstStyle/>
          <a:p>
            <a:pPr>
              <a:lnSpc>
                <a:spcPct val="150000"/>
              </a:lnSpc>
              <a:defRPr/>
            </a:pPr>
            <a:r>
              <a:rPr lang="en-US" altLang="zh-CN" sz="2800" b="1" dirty="0">
                <a:solidFill>
                  <a:schemeClr val="accent2"/>
                </a:solidFill>
                <a:latin typeface="楷体" panose="02010609060101010101" pitchFamily="49" charset="-122"/>
                <a:ea typeface="楷体" panose="02010609060101010101" pitchFamily="49" charset="-122"/>
              </a:rPr>
              <a:t>UI</a:t>
            </a:r>
            <a:r>
              <a:rPr lang="zh-CN" altLang="en-US" sz="2800" b="1" dirty="0">
                <a:solidFill>
                  <a:schemeClr val="accent2"/>
                </a:solidFill>
                <a:latin typeface="楷体" panose="02010609060101010101" pitchFamily="49" charset="-122"/>
                <a:ea typeface="楷体" panose="02010609060101010101" pitchFamily="49" charset="-122"/>
              </a:rPr>
              <a:t>分为</a:t>
            </a:r>
            <a:endParaRPr lang="en-US" altLang="zh-CN" sz="2800" b="1" dirty="0">
              <a:solidFill>
                <a:schemeClr val="accent2"/>
              </a:solidFill>
              <a:latin typeface="楷体" panose="02010609060101010101" pitchFamily="49" charset="-122"/>
              <a:ea typeface="楷体" panose="02010609060101010101" pitchFamily="49" charset="-122"/>
            </a:endParaRPr>
          </a:p>
        </p:txBody>
      </p:sp>
      <p:sp>
        <p:nvSpPr>
          <p:cNvPr id="16" name="AutoShape 16">
            <a:extLst>
              <a:ext uri="{FF2B5EF4-FFF2-40B4-BE49-F238E27FC236}">
                <a16:creationId xmlns:a16="http://schemas.microsoft.com/office/drawing/2014/main" id="{D7FBF323-7959-4B9F-BC82-947A101E04F2}"/>
              </a:ext>
            </a:extLst>
          </p:cNvPr>
          <p:cNvSpPr/>
          <p:nvPr/>
        </p:nvSpPr>
        <p:spPr bwMode="auto">
          <a:xfrm>
            <a:off x="4097864" y="3835019"/>
            <a:ext cx="86435" cy="1480796"/>
          </a:xfrm>
          <a:prstGeom prst="leftBrace">
            <a:avLst>
              <a:gd name="adj1" fmla="val 118847"/>
              <a:gd name="adj2" fmla="val 50000"/>
            </a:avLst>
          </a:prstGeom>
          <a:noFill/>
          <a:ln w="381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latin typeface="楷体" panose="02010609060101010101" pitchFamily="49" charset="-122"/>
              <a:ea typeface="楷体" panose="02010609060101010101" pitchFamily="49" charset="-122"/>
            </a:endParaRPr>
          </a:p>
        </p:txBody>
      </p:sp>
      <p:sp>
        <p:nvSpPr>
          <p:cNvPr id="17" name="文本框 16">
            <a:extLst>
              <a:ext uri="{FF2B5EF4-FFF2-40B4-BE49-F238E27FC236}">
                <a16:creationId xmlns:a16="http://schemas.microsoft.com/office/drawing/2014/main" id="{5D0040EE-AF7B-4CCA-8191-A09267AE43A1}"/>
              </a:ext>
            </a:extLst>
          </p:cNvPr>
          <p:cNvSpPr txBox="1"/>
          <p:nvPr/>
        </p:nvSpPr>
        <p:spPr>
          <a:xfrm>
            <a:off x="4277810" y="3514451"/>
            <a:ext cx="4779032" cy="1930337"/>
          </a:xfrm>
          <a:prstGeom prst="rect">
            <a:avLst/>
          </a:prstGeom>
          <a:noFill/>
        </p:spPr>
        <p:txBody>
          <a:bodyPr wrap="square" rtlCol="0">
            <a:spAutoFit/>
          </a:bodyPr>
          <a:lstStyle/>
          <a:p>
            <a:pPr>
              <a:lnSpc>
                <a:spcPct val="150000"/>
              </a:lnSpc>
              <a:defRPr/>
            </a:pPr>
            <a:r>
              <a:rPr lang="zh-CN" altLang="en-US" sz="2800" b="1" dirty="0">
                <a:latin typeface="楷体" panose="02010609060101010101" pitchFamily="49" charset="-122"/>
                <a:ea typeface="楷体" panose="02010609060101010101" pitchFamily="49" charset="-122"/>
              </a:rPr>
              <a:t>直接控制法（不译法）</a:t>
            </a:r>
            <a:endParaRPr lang="en-US" altLang="zh-CN" sz="2800" b="1" dirty="0">
              <a:latin typeface="楷体" panose="02010609060101010101" pitchFamily="49" charset="-122"/>
              <a:ea typeface="楷体" panose="02010609060101010101" pitchFamily="49" charset="-122"/>
            </a:endParaRPr>
          </a:p>
          <a:p>
            <a:pPr>
              <a:lnSpc>
                <a:spcPct val="150000"/>
              </a:lnSpc>
              <a:defRPr/>
            </a:pPr>
            <a:r>
              <a:rPr lang="zh-CN" altLang="en-US" sz="2800" b="1" dirty="0">
                <a:latin typeface="楷体" panose="02010609060101010101" pitchFamily="49" charset="-122"/>
                <a:ea typeface="楷体" panose="02010609060101010101" pitchFamily="49" charset="-122"/>
              </a:rPr>
              <a:t>分段直接编译法（显示编码）</a:t>
            </a:r>
            <a:endParaRPr lang="en-US" altLang="zh-CN" sz="2800" b="1" dirty="0">
              <a:latin typeface="楷体" panose="02010609060101010101" pitchFamily="49" charset="-122"/>
              <a:ea typeface="楷体" panose="02010609060101010101" pitchFamily="49" charset="-122"/>
            </a:endParaRPr>
          </a:p>
          <a:p>
            <a:pPr>
              <a:lnSpc>
                <a:spcPct val="150000"/>
              </a:lnSpc>
              <a:defRPr/>
            </a:pPr>
            <a:r>
              <a:rPr lang="zh-CN" altLang="en-US" sz="2800" b="1" dirty="0">
                <a:latin typeface="楷体" panose="02010609060101010101" pitchFamily="49" charset="-122"/>
                <a:ea typeface="楷体" panose="02010609060101010101" pitchFamily="49" charset="-122"/>
              </a:rPr>
              <a:t>分段间接</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（隐式</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
        <p:nvSpPr>
          <p:cNvPr id="18" name="文本框 17">
            <a:extLst>
              <a:ext uri="{FF2B5EF4-FFF2-40B4-BE49-F238E27FC236}">
                <a16:creationId xmlns:a16="http://schemas.microsoft.com/office/drawing/2014/main" id="{B9D5193C-15F4-4ADE-AD71-25D05A90CA87}"/>
              </a:ext>
            </a:extLst>
          </p:cNvPr>
          <p:cNvSpPr txBox="1"/>
          <p:nvPr/>
        </p:nvSpPr>
        <p:spPr>
          <a:xfrm>
            <a:off x="102602" y="3514451"/>
            <a:ext cx="3785091" cy="1930337"/>
          </a:xfrm>
          <a:prstGeom prst="rect">
            <a:avLst/>
          </a:prstGeom>
          <a:noFill/>
        </p:spPr>
        <p:txBody>
          <a:bodyPr wrap="square" rtlCol="0">
            <a:spAutoFit/>
          </a:bodyPr>
          <a:lstStyle/>
          <a:p>
            <a:pPr>
              <a:lnSpc>
                <a:spcPct val="150000"/>
              </a:lnSpc>
              <a:defRPr/>
            </a:pPr>
            <a:r>
              <a:rPr lang="zh-CN" altLang="en-US" sz="2800" b="1" dirty="0">
                <a:solidFill>
                  <a:schemeClr val="accent2"/>
                </a:solidFill>
                <a:latin typeface="楷体" panose="02010609060101010101" pitchFamily="49" charset="-122"/>
                <a:ea typeface="楷体" panose="02010609060101010101" pitchFamily="49" charset="-122"/>
              </a:rPr>
              <a:t>如何组织与表示这些微命令，就是微指令的编码方式</a:t>
            </a:r>
            <a:endParaRPr lang="en-US" altLang="zh-CN" sz="2800" b="1" dirty="0">
              <a:solidFill>
                <a:schemeClr val="accent2"/>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89529656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wipe(left)">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up)">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wipe(left)">
                                      <p:cBhvr>
                                        <p:cTn id="17" dur="500"/>
                                        <p:tgtEl>
                                          <p:spTgt spid="1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
                                            <p:txEl>
                                              <p:pRg st="1" end="1"/>
                                            </p:txEl>
                                          </p:spTgt>
                                        </p:tgtEl>
                                        <p:attrNameLst>
                                          <p:attrName>style.visibility</p:attrName>
                                        </p:attrNameLst>
                                      </p:cBhvr>
                                      <p:to>
                                        <p:strVal val="visible"/>
                                      </p:to>
                                    </p:set>
                                    <p:animEffect transition="in" filter="wipe(left)">
                                      <p:cBhvr>
                                        <p:cTn id="22" dur="500"/>
                                        <p:tgtEl>
                                          <p:spTgt spid="1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
                                            <p:txEl>
                                              <p:pRg st="0" end="0"/>
                                            </p:txEl>
                                          </p:spTgt>
                                        </p:tgtEl>
                                        <p:attrNameLst>
                                          <p:attrName>style.visibility</p:attrName>
                                        </p:attrNameLst>
                                      </p:cBhvr>
                                      <p:to>
                                        <p:strVal val="visible"/>
                                      </p:to>
                                    </p:set>
                                    <p:animEffect transition="in" filter="wipe(left)">
                                      <p:cBhvr>
                                        <p:cTn id="27" dur="500"/>
                                        <p:tgtEl>
                                          <p:spTgt spid="1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up)">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
                                            <p:txEl>
                                              <p:pRg st="0" end="0"/>
                                            </p:txEl>
                                          </p:spTgt>
                                        </p:tgtEl>
                                        <p:attrNameLst>
                                          <p:attrName>style.visibility</p:attrName>
                                        </p:attrNameLst>
                                      </p:cBhvr>
                                      <p:to>
                                        <p:strVal val="visible"/>
                                      </p:to>
                                    </p:set>
                                    <p:animEffect transition="in" filter="wipe(left)">
                                      <p:cBhvr>
                                        <p:cTn id="37" dur="500"/>
                                        <p:tgtEl>
                                          <p:spTgt spid="1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
                                            <p:txEl>
                                              <p:pRg st="1" end="1"/>
                                            </p:txEl>
                                          </p:spTgt>
                                        </p:tgtEl>
                                        <p:attrNameLst>
                                          <p:attrName>style.visibility</p:attrName>
                                        </p:attrNameLst>
                                      </p:cBhvr>
                                      <p:to>
                                        <p:strVal val="visible"/>
                                      </p:to>
                                    </p:set>
                                    <p:animEffect transition="in" filter="wipe(left)">
                                      <p:cBhvr>
                                        <p:cTn id="42" dur="500"/>
                                        <p:tgtEl>
                                          <p:spTgt spid="17">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
                                            <p:txEl>
                                              <p:pRg st="2" end="2"/>
                                            </p:txEl>
                                          </p:spTgt>
                                        </p:tgtEl>
                                        <p:attrNameLst>
                                          <p:attrName>style.visibility</p:attrName>
                                        </p:attrNameLst>
                                      </p:cBhvr>
                                      <p:to>
                                        <p:strVal val="visible"/>
                                      </p:to>
                                    </p:set>
                                    <p:animEffect transition="in" filter="wipe(left)">
                                      <p:cBhvr>
                                        <p:cTn id="47" dur="500"/>
                                        <p:tgtEl>
                                          <p:spTgt spid="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build="p"/>
      <p:bldP spid="15" grpId="0" build="p"/>
      <p:bldP spid="16" grpId="0" animBg="1"/>
      <p:bldP spid="17" grpId="0" build="p"/>
      <p:bldP spid="1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三、微指令的编码方式</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13</a:t>
            </a:fld>
            <a:endParaRPr lang="zh-CN" altLang="en-US"/>
          </a:p>
        </p:txBody>
      </p:sp>
      <p:sp>
        <p:nvSpPr>
          <p:cNvPr id="2" name="文本框 1">
            <a:extLst>
              <a:ext uri="{FF2B5EF4-FFF2-40B4-BE49-F238E27FC236}">
                <a16:creationId xmlns:a16="http://schemas.microsoft.com/office/drawing/2014/main" id="{3D9C0159-95CF-4F97-BA40-036ACA8A078D}"/>
              </a:ext>
            </a:extLst>
          </p:cNvPr>
          <p:cNvSpPr txBox="1"/>
          <p:nvPr/>
        </p:nvSpPr>
        <p:spPr>
          <a:xfrm>
            <a:off x="87158" y="772432"/>
            <a:ext cx="8969684" cy="5614422"/>
          </a:xfrm>
          <a:prstGeom prst="rect">
            <a:avLst/>
          </a:prstGeom>
          <a:noFill/>
        </p:spPr>
        <p:txBody>
          <a:bodyPr wrap="square" rtlCol="0">
            <a:spAutoFit/>
          </a:bodyPr>
          <a:lstStyle>
            <a:defPPr>
              <a:defRPr lang="en-US"/>
            </a:defPPr>
            <a:lvl1pPr>
              <a:lnSpc>
                <a:spcPct val="150000"/>
              </a:lnSpc>
              <a:defRPr sz="2800" b="1">
                <a:solidFill>
                  <a:srgbClr val="0563C1"/>
                </a:solidFill>
                <a:latin typeface="楷体" panose="02010609060101010101" pitchFamily="49" charset="-122"/>
                <a:ea typeface="楷体" panose="02010609060101010101" pitchFamily="49" charset="-122"/>
              </a:defRPr>
            </a:lvl1pPr>
          </a:lstStyle>
          <a:p>
            <a:pPr>
              <a:lnSpc>
                <a:spcPct val="130000"/>
              </a:lnSpc>
            </a:pPr>
            <a:r>
              <a:rPr lang="en-US" altLang="zh-CN" dirty="0"/>
              <a:t>1</a:t>
            </a:r>
            <a:r>
              <a:rPr lang="zh-CN" altLang="en-US" dirty="0"/>
              <a:t>、直接控制法（不译法）</a:t>
            </a:r>
            <a:endParaRPr lang="en-US" altLang="zh-CN" dirty="0"/>
          </a:p>
          <a:p>
            <a:pPr>
              <a:lnSpc>
                <a:spcPct val="130000"/>
              </a:lnSpc>
            </a:pPr>
            <a:r>
              <a:rPr lang="en-US" altLang="zh-CN" dirty="0">
                <a:solidFill>
                  <a:schemeClr val="tx1"/>
                </a:solidFill>
              </a:rPr>
              <a:t>   </a:t>
            </a:r>
            <a:r>
              <a:rPr lang="zh-CN" altLang="en-US" dirty="0">
                <a:solidFill>
                  <a:schemeClr val="tx1"/>
                </a:solidFill>
              </a:rPr>
              <a:t>微指令中控制字段的每一位就是一个微命令，直接</a:t>
            </a:r>
            <a:br>
              <a:rPr lang="en-US" altLang="zh-CN" dirty="0">
                <a:solidFill>
                  <a:schemeClr val="tx1"/>
                </a:solidFill>
              </a:rPr>
            </a:br>
            <a:r>
              <a:rPr lang="en-US" altLang="zh-CN" dirty="0">
                <a:solidFill>
                  <a:schemeClr val="tx1"/>
                </a:solidFill>
              </a:rPr>
              <a:t>   </a:t>
            </a:r>
            <a:r>
              <a:rPr lang="zh-CN" altLang="en-US" dirty="0">
                <a:solidFill>
                  <a:schemeClr val="tx1"/>
                </a:solidFill>
              </a:rPr>
              <a:t>对应于一种微操作。</a:t>
            </a:r>
          </a:p>
          <a:p>
            <a:pPr>
              <a:lnSpc>
                <a:spcPct val="130000"/>
              </a:lnSpc>
            </a:pPr>
            <a:r>
              <a:rPr lang="en-US" altLang="zh-CN" dirty="0"/>
              <a:t>2</a:t>
            </a:r>
            <a:r>
              <a:rPr lang="zh-CN" altLang="en-US" dirty="0"/>
              <a:t>、分段直接编译法（显示编码、单重定义）</a:t>
            </a:r>
          </a:p>
          <a:p>
            <a:pPr>
              <a:lnSpc>
                <a:spcPct val="130000"/>
              </a:lnSpc>
            </a:pPr>
            <a:r>
              <a:rPr lang="en-US" altLang="zh-CN" dirty="0">
                <a:solidFill>
                  <a:schemeClr val="tx1"/>
                </a:solidFill>
              </a:rPr>
              <a:t>   </a:t>
            </a:r>
            <a:r>
              <a:rPr lang="zh-CN" altLang="en-US" dirty="0">
                <a:solidFill>
                  <a:schemeClr val="tx1"/>
                </a:solidFill>
              </a:rPr>
              <a:t>将微指令分为若干小字段（组），各段独立地通过</a:t>
            </a:r>
            <a:br>
              <a:rPr lang="en-US" altLang="zh-CN" dirty="0">
                <a:solidFill>
                  <a:schemeClr val="tx1"/>
                </a:solidFill>
              </a:rPr>
            </a:br>
            <a:r>
              <a:rPr lang="en-US" altLang="zh-CN" dirty="0">
                <a:solidFill>
                  <a:schemeClr val="tx1"/>
                </a:solidFill>
              </a:rPr>
              <a:t>   </a:t>
            </a:r>
            <a:r>
              <a:rPr lang="zh-CN" altLang="en-US" dirty="0">
                <a:solidFill>
                  <a:schemeClr val="tx1"/>
                </a:solidFill>
              </a:rPr>
              <a:t>译码电路定义其编码定义，一种字段编码对应表示</a:t>
            </a:r>
            <a:br>
              <a:rPr lang="en-US" altLang="zh-CN" dirty="0">
                <a:solidFill>
                  <a:schemeClr val="tx1"/>
                </a:solidFill>
              </a:rPr>
            </a:br>
            <a:r>
              <a:rPr lang="en-US" altLang="zh-CN" dirty="0">
                <a:solidFill>
                  <a:schemeClr val="tx1"/>
                </a:solidFill>
              </a:rPr>
              <a:t>   </a:t>
            </a:r>
            <a:r>
              <a:rPr lang="zh-CN" altLang="en-US" dirty="0">
                <a:solidFill>
                  <a:schemeClr val="tx1"/>
                </a:solidFill>
              </a:rPr>
              <a:t>一种微命令。</a:t>
            </a:r>
          </a:p>
          <a:p>
            <a:pPr>
              <a:lnSpc>
                <a:spcPct val="130000"/>
              </a:lnSpc>
            </a:pPr>
            <a:r>
              <a:rPr lang="en-US" altLang="zh-CN" dirty="0"/>
              <a:t>3</a:t>
            </a:r>
            <a:r>
              <a:rPr lang="zh-CN" altLang="en-US" dirty="0"/>
              <a:t>、分段间接编译法（隐式编码，多重定义）</a:t>
            </a:r>
          </a:p>
          <a:p>
            <a:pPr>
              <a:lnSpc>
                <a:spcPct val="130000"/>
              </a:lnSpc>
            </a:pPr>
            <a:r>
              <a:rPr lang="en-US" altLang="zh-CN" dirty="0"/>
              <a:t>   </a:t>
            </a:r>
            <a:r>
              <a:rPr lang="zh-CN" altLang="en-US" dirty="0">
                <a:solidFill>
                  <a:schemeClr val="tx1"/>
                </a:solidFill>
              </a:rPr>
              <a:t>如果一个字段的含义不仅决定于本字段编码，还兼由</a:t>
            </a:r>
            <a:br>
              <a:rPr lang="en-US" altLang="zh-CN" dirty="0">
                <a:solidFill>
                  <a:schemeClr val="tx1"/>
                </a:solidFill>
              </a:rPr>
            </a:br>
            <a:r>
              <a:rPr lang="en-US" altLang="zh-CN" dirty="0">
                <a:solidFill>
                  <a:schemeClr val="tx1"/>
                </a:solidFill>
              </a:rPr>
              <a:t>   </a:t>
            </a:r>
            <a:r>
              <a:rPr lang="zh-CN" altLang="en-US" dirty="0">
                <a:solidFill>
                  <a:schemeClr val="tx1"/>
                </a:solidFill>
              </a:rPr>
              <a:t>其它字段（或位）参与解释，则称为分段间接编译法。</a:t>
            </a:r>
          </a:p>
        </p:txBody>
      </p:sp>
    </p:spTree>
    <p:extLst>
      <p:ext uri="{BB962C8B-B14F-4D97-AF65-F5344CB8AC3E}">
        <p14:creationId xmlns:p14="http://schemas.microsoft.com/office/powerpoint/2010/main" val="228810919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四、微程序的顺序控制方式</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14</a:t>
            </a:fld>
            <a:endParaRPr lang="zh-CN" altLang="en-US"/>
          </a:p>
        </p:txBody>
      </p:sp>
      <p:sp>
        <p:nvSpPr>
          <p:cNvPr id="2" name="文本框 1">
            <a:extLst>
              <a:ext uri="{FF2B5EF4-FFF2-40B4-BE49-F238E27FC236}">
                <a16:creationId xmlns:a16="http://schemas.microsoft.com/office/drawing/2014/main" id="{3D9C0159-95CF-4F97-BA40-036ACA8A078D}"/>
              </a:ext>
            </a:extLst>
          </p:cNvPr>
          <p:cNvSpPr txBox="1"/>
          <p:nvPr/>
        </p:nvSpPr>
        <p:spPr>
          <a:xfrm>
            <a:off x="87158" y="772432"/>
            <a:ext cx="8969684" cy="1133195"/>
          </a:xfrm>
          <a:prstGeom prst="rect">
            <a:avLst/>
          </a:prstGeom>
          <a:noFill/>
        </p:spPr>
        <p:txBody>
          <a:bodyPr wrap="square" rtlCol="0">
            <a:spAutoFit/>
          </a:bodyPr>
          <a:lstStyle>
            <a:defPPr>
              <a:defRPr lang="en-US"/>
            </a:defPPr>
            <a:lvl1pPr>
              <a:lnSpc>
                <a:spcPct val="150000"/>
              </a:lnSpc>
              <a:defRPr sz="2800" b="1">
                <a:solidFill>
                  <a:srgbClr val="0563C1"/>
                </a:solidFill>
                <a:latin typeface="楷体" panose="02010609060101010101" pitchFamily="49" charset="-122"/>
                <a:ea typeface="楷体" panose="02010609060101010101" pitchFamily="49" charset="-122"/>
              </a:defRPr>
            </a:lvl1pPr>
          </a:lstStyle>
          <a:p>
            <a:pPr>
              <a:lnSpc>
                <a:spcPct val="130000"/>
              </a:lnSpc>
            </a:pPr>
            <a:r>
              <a:rPr lang="zh-CN" altLang="en-US" dirty="0">
                <a:solidFill>
                  <a:schemeClr val="tx1"/>
                </a:solidFill>
              </a:rPr>
              <a:t>要使微程序连续地执行下去，就涉及到</a:t>
            </a:r>
            <a:r>
              <a:rPr lang="zh-CN" altLang="en-US" dirty="0">
                <a:solidFill>
                  <a:schemeClr val="accent2"/>
                </a:solidFill>
              </a:rPr>
              <a:t>后续微地址的形成</a:t>
            </a:r>
            <a:r>
              <a:rPr lang="zh-CN" altLang="en-US" dirty="0">
                <a:solidFill>
                  <a:schemeClr val="tx1"/>
                </a:solidFill>
              </a:rPr>
              <a:t>问题。</a:t>
            </a:r>
            <a:endParaRPr lang="en-US" altLang="zh-CN" dirty="0">
              <a:solidFill>
                <a:schemeClr val="tx1"/>
              </a:solidFill>
            </a:endParaRPr>
          </a:p>
        </p:txBody>
      </p:sp>
      <p:sp>
        <p:nvSpPr>
          <p:cNvPr id="12" name="AutoShape 16">
            <a:extLst>
              <a:ext uri="{FF2B5EF4-FFF2-40B4-BE49-F238E27FC236}">
                <a16:creationId xmlns:a16="http://schemas.microsoft.com/office/drawing/2014/main" id="{1414EE37-B8A0-4775-9B3E-37A6BB5C170D}"/>
              </a:ext>
            </a:extLst>
          </p:cNvPr>
          <p:cNvSpPr/>
          <p:nvPr/>
        </p:nvSpPr>
        <p:spPr bwMode="auto">
          <a:xfrm>
            <a:off x="4127058" y="1614266"/>
            <a:ext cx="86435" cy="815900"/>
          </a:xfrm>
          <a:prstGeom prst="leftBrace">
            <a:avLst>
              <a:gd name="adj1" fmla="val 118847"/>
              <a:gd name="adj2" fmla="val 50000"/>
            </a:avLst>
          </a:prstGeom>
          <a:noFill/>
          <a:ln w="381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latin typeface="楷体" panose="02010609060101010101" pitchFamily="49" charset="-122"/>
              <a:ea typeface="楷体" panose="02010609060101010101" pitchFamily="49" charset="-122"/>
            </a:endParaRPr>
          </a:p>
        </p:txBody>
      </p:sp>
      <p:sp>
        <p:nvSpPr>
          <p:cNvPr id="13" name="文本框 12">
            <a:extLst>
              <a:ext uri="{FF2B5EF4-FFF2-40B4-BE49-F238E27FC236}">
                <a16:creationId xmlns:a16="http://schemas.microsoft.com/office/drawing/2014/main" id="{7F408CCE-79E0-4AD6-B94D-4521BE70ECEE}"/>
              </a:ext>
            </a:extLst>
          </p:cNvPr>
          <p:cNvSpPr txBox="1"/>
          <p:nvPr/>
        </p:nvSpPr>
        <p:spPr>
          <a:xfrm>
            <a:off x="4307004" y="1293698"/>
            <a:ext cx="1808046" cy="1284006"/>
          </a:xfrm>
          <a:prstGeom prst="rect">
            <a:avLst/>
          </a:prstGeom>
          <a:noFill/>
        </p:spPr>
        <p:txBody>
          <a:bodyPr wrap="square" rtlCol="0">
            <a:spAutoFit/>
          </a:bodyPr>
          <a:lstStyle/>
          <a:p>
            <a:pPr>
              <a:lnSpc>
                <a:spcPct val="150000"/>
              </a:lnSpc>
              <a:defRPr/>
            </a:pPr>
            <a:r>
              <a:rPr lang="zh-CN" altLang="en-US" sz="2800" b="1" dirty="0">
                <a:latin typeface="楷体" panose="02010609060101010101" pitchFamily="49" charset="-122"/>
                <a:ea typeface="楷体" panose="02010609060101010101" pitchFamily="49" charset="-122"/>
              </a:rPr>
              <a:t>顺序执行</a:t>
            </a:r>
            <a:endParaRPr lang="en-US" altLang="zh-CN" sz="2800" b="1" dirty="0">
              <a:latin typeface="楷体" panose="02010609060101010101" pitchFamily="49" charset="-122"/>
              <a:ea typeface="楷体" panose="02010609060101010101" pitchFamily="49" charset="-122"/>
            </a:endParaRPr>
          </a:p>
          <a:p>
            <a:pPr>
              <a:lnSpc>
                <a:spcPct val="150000"/>
              </a:lnSpc>
              <a:defRPr/>
            </a:pPr>
            <a:r>
              <a:rPr lang="zh-CN" altLang="en-US" sz="2800" b="1" dirty="0">
                <a:latin typeface="楷体" panose="02010609060101010101" pitchFamily="49" charset="-122"/>
                <a:ea typeface="楷体" panose="02010609060101010101" pitchFamily="49" charset="-122"/>
              </a:rPr>
              <a:t>转移</a:t>
            </a:r>
            <a:endParaRPr lang="en-US" altLang="zh-CN" sz="2800" b="1" dirty="0">
              <a:latin typeface="楷体" panose="02010609060101010101" pitchFamily="49" charset="-122"/>
              <a:ea typeface="楷体" panose="02010609060101010101" pitchFamily="49" charset="-122"/>
            </a:endParaRPr>
          </a:p>
        </p:txBody>
      </p:sp>
      <p:sp>
        <p:nvSpPr>
          <p:cNvPr id="14" name="文本框 13">
            <a:extLst>
              <a:ext uri="{FF2B5EF4-FFF2-40B4-BE49-F238E27FC236}">
                <a16:creationId xmlns:a16="http://schemas.microsoft.com/office/drawing/2014/main" id="{0C4B1D4E-3130-47CC-A642-8E0293CCD44B}"/>
              </a:ext>
            </a:extLst>
          </p:cNvPr>
          <p:cNvSpPr txBox="1"/>
          <p:nvPr/>
        </p:nvSpPr>
        <p:spPr>
          <a:xfrm>
            <a:off x="2362229" y="1560055"/>
            <a:ext cx="1808046" cy="637675"/>
          </a:xfrm>
          <a:prstGeom prst="rect">
            <a:avLst/>
          </a:prstGeom>
          <a:noFill/>
        </p:spPr>
        <p:txBody>
          <a:bodyPr wrap="square" rtlCol="0">
            <a:spAutoFit/>
          </a:bodyPr>
          <a:lstStyle/>
          <a:p>
            <a:pPr>
              <a:lnSpc>
                <a:spcPct val="150000"/>
              </a:lnSpc>
              <a:defRPr/>
            </a:pPr>
            <a:r>
              <a:rPr lang="zh-CN" altLang="en-US" sz="2800" b="1" dirty="0">
                <a:solidFill>
                  <a:schemeClr val="accent2"/>
                </a:solidFill>
                <a:latin typeface="楷体" panose="02010609060101010101" pitchFamily="49" charset="-122"/>
                <a:ea typeface="楷体" panose="02010609060101010101" pitchFamily="49" charset="-122"/>
              </a:rPr>
              <a:t>顺序控制</a:t>
            </a:r>
            <a:endParaRPr lang="en-US" altLang="zh-CN" sz="2800" b="1" dirty="0">
              <a:solidFill>
                <a:schemeClr val="accent2"/>
              </a:solidFill>
              <a:latin typeface="楷体" panose="02010609060101010101" pitchFamily="49" charset="-122"/>
              <a:ea typeface="楷体" panose="02010609060101010101" pitchFamily="49" charset="-122"/>
            </a:endParaRPr>
          </a:p>
        </p:txBody>
      </p:sp>
      <p:sp>
        <p:nvSpPr>
          <p:cNvPr id="15" name="文本框 14">
            <a:extLst>
              <a:ext uri="{FF2B5EF4-FFF2-40B4-BE49-F238E27FC236}">
                <a16:creationId xmlns:a16="http://schemas.microsoft.com/office/drawing/2014/main" id="{CE1AD56F-1651-4FDC-8D7D-E8795664ED2D}"/>
              </a:ext>
            </a:extLst>
          </p:cNvPr>
          <p:cNvSpPr txBox="1"/>
          <p:nvPr/>
        </p:nvSpPr>
        <p:spPr>
          <a:xfrm>
            <a:off x="174316" y="2327138"/>
            <a:ext cx="8882526" cy="4224811"/>
          </a:xfrm>
          <a:prstGeom prst="rect">
            <a:avLst/>
          </a:prstGeom>
          <a:noFill/>
        </p:spPr>
        <p:txBody>
          <a:bodyPr wrap="square" rtlCol="0">
            <a:spAutoFit/>
          </a:bodyPr>
          <a:lstStyle>
            <a:defPPr>
              <a:defRPr lang="en-US"/>
            </a:defPPr>
            <a:lvl1pPr>
              <a:lnSpc>
                <a:spcPct val="150000"/>
              </a:lnSpc>
              <a:defRPr sz="2800" b="1">
                <a:solidFill>
                  <a:srgbClr val="0563C1"/>
                </a:solidFill>
                <a:latin typeface="楷体" panose="02010609060101010101" pitchFamily="49" charset="-122"/>
                <a:ea typeface="楷体" panose="02010609060101010101" pitchFamily="49" charset="-122"/>
              </a:defRPr>
            </a:lvl1pPr>
          </a:lstStyle>
          <a:p>
            <a:pPr>
              <a:lnSpc>
                <a:spcPct val="140000"/>
              </a:lnSpc>
            </a:pPr>
            <a:r>
              <a:rPr lang="en-US" altLang="zh-CN" dirty="0"/>
              <a:t>1</a:t>
            </a:r>
            <a:r>
              <a:rPr lang="zh-CN" altLang="en-US" dirty="0"/>
              <a:t>、初始微地址的形成</a:t>
            </a:r>
            <a:endParaRPr lang="en-US" altLang="zh-CN" dirty="0"/>
          </a:p>
          <a:p>
            <a:pPr>
              <a:lnSpc>
                <a:spcPct val="140000"/>
              </a:lnSpc>
            </a:pPr>
            <a:r>
              <a:rPr lang="zh-CN" altLang="en-US" dirty="0">
                <a:solidFill>
                  <a:schemeClr val="tx1"/>
                </a:solidFill>
              </a:rPr>
              <a:t>   每一种机器指令由一段对应的微程序解释执行，其  </a:t>
            </a:r>
            <a:br>
              <a:rPr lang="en-US" altLang="zh-CN" dirty="0">
                <a:solidFill>
                  <a:schemeClr val="tx1"/>
                </a:solidFill>
              </a:rPr>
            </a:br>
            <a:r>
              <a:rPr lang="en-US" altLang="zh-CN" dirty="0">
                <a:solidFill>
                  <a:schemeClr val="tx1"/>
                </a:solidFill>
              </a:rPr>
              <a:t>   </a:t>
            </a:r>
            <a:r>
              <a:rPr lang="zh-CN" altLang="en-US" dirty="0">
                <a:solidFill>
                  <a:schemeClr val="tx1"/>
                </a:solidFill>
              </a:rPr>
              <a:t>入口就是初始微地址。</a:t>
            </a:r>
          </a:p>
          <a:p>
            <a:pPr>
              <a:lnSpc>
                <a:spcPct val="140000"/>
              </a:lnSpc>
            </a:pPr>
            <a:r>
              <a:rPr lang="zh-CN" altLang="en-US" dirty="0">
                <a:solidFill>
                  <a:schemeClr val="accent2"/>
                </a:solidFill>
              </a:rPr>
              <a:t>① 取机器指令</a:t>
            </a:r>
            <a:endParaRPr lang="en-US" altLang="zh-CN" dirty="0">
              <a:solidFill>
                <a:schemeClr val="accent2"/>
              </a:solidFill>
            </a:endParaRPr>
          </a:p>
          <a:p>
            <a:pPr>
              <a:lnSpc>
                <a:spcPct val="140000"/>
              </a:lnSpc>
            </a:pPr>
            <a:r>
              <a:rPr lang="en-US" altLang="zh-CN" dirty="0">
                <a:solidFill>
                  <a:schemeClr val="accent2"/>
                </a:solidFill>
              </a:rPr>
              <a:t>	</a:t>
            </a:r>
            <a:r>
              <a:rPr lang="zh-CN" altLang="en-US" dirty="0">
                <a:solidFill>
                  <a:schemeClr val="tx1"/>
                </a:solidFill>
              </a:rPr>
              <a:t>在机器指令周期开始时，先从</a:t>
            </a:r>
            <a:r>
              <a:rPr lang="en-US" altLang="zh-CN" dirty="0">
                <a:solidFill>
                  <a:schemeClr val="tx1"/>
                </a:solidFill>
              </a:rPr>
              <a:t>CM</a:t>
            </a:r>
            <a:r>
              <a:rPr lang="zh-CN" altLang="en-US" dirty="0">
                <a:solidFill>
                  <a:schemeClr val="tx1"/>
                </a:solidFill>
              </a:rPr>
              <a:t>特定单元中读取“取</a:t>
            </a:r>
            <a:r>
              <a:rPr lang="en-US" altLang="zh-CN" dirty="0">
                <a:solidFill>
                  <a:schemeClr val="tx1"/>
                </a:solidFill>
              </a:rPr>
              <a:t>	</a:t>
            </a:r>
            <a:r>
              <a:rPr lang="zh-CN" altLang="en-US" dirty="0">
                <a:solidFill>
                  <a:schemeClr val="tx1"/>
                </a:solidFill>
              </a:rPr>
              <a:t>机器指令的微程序”，其微命令使</a:t>
            </a:r>
            <a:r>
              <a:rPr lang="en-US" altLang="zh-CN" dirty="0">
                <a:solidFill>
                  <a:schemeClr val="tx1"/>
                </a:solidFill>
              </a:rPr>
              <a:t>CPU</a:t>
            </a:r>
            <a:r>
              <a:rPr lang="zh-CN" altLang="en-US" dirty="0">
                <a:solidFill>
                  <a:schemeClr val="tx1"/>
                </a:solidFill>
              </a:rPr>
              <a:t>访问主存，读</a:t>
            </a:r>
            <a:r>
              <a:rPr lang="en-US" altLang="zh-CN" dirty="0">
                <a:solidFill>
                  <a:schemeClr val="tx1"/>
                </a:solidFill>
              </a:rPr>
              <a:t>	</a:t>
            </a:r>
            <a:r>
              <a:rPr lang="zh-CN" altLang="en-US" dirty="0">
                <a:solidFill>
                  <a:schemeClr val="tx1"/>
                </a:solidFill>
              </a:rPr>
              <a:t>取机器指令，送入</a:t>
            </a:r>
            <a:r>
              <a:rPr lang="en-US" altLang="zh-CN" dirty="0">
                <a:solidFill>
                  <a:schemeClr val="tx1"/>
                </a:solidFill>
              </a:rPr>
              <a:t>IR</a:t>
            </a:r>
            <a:r>
              <a:rPr lang="zh-CN" altLang="en-US" dirty="0">
                <a:solidFill>
                  <a:schemeClr val="tx1"/>
                </a:solidFill>
              </a:rPr>
              <a:t>，然后修改</a:t>
            </a:r>
            <a:r>
              <a:rPr lang="en-US" altLang="zh-CN" dirty="0">
                <a:solidFill>
                  <a:schemeClr val="tx1"/>
                </a:solidFill>
              </a:rPr>
              <a:t>PC</a:t>
            </a:r>
            <a:r>
              <a:rPr lang="zh-CN" altLang="en-US" dirty="0">
                <a:solidFill>
                  <a:schemeClr val="tx1"/>
                </a:solidFill>
              </a:rPr>
              <a:t>的内容。</a:t>
            </a:r>
          </a:p>
        </p:txBody>
      </p:sp>
    </p:spTree>
    <p:extLst>
      <p:ext uri="{BB962C8B-B14F-4D97-AF65-F5344CB8AC3E}">
        <p14:creationId xmlns:p14="http://schemas.microsoft.com/office/powerpoint/2010/main" val="131588305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wipe(left)">
                                      <p:cBhvr>
                                        <p:cTn id="12" dur="5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up)">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0" end="0"/>
                                            </p:txEl>
                                          </p:spTgt>
                                        </p:tgtEl>
                                        <p:attrNameLst>
                                          <p:attrName>style.visibility</p:attrName>
                                        </p:attrNameLst>
                                      </p:cBhvr>
                                      <p:to>
                                        <p:strVal val="visible"/>
                                      </p:to>
                                    </p:set>
                                    <p:animEffect transition="in" filter="wipe(left)">
                                      <p:cBhvr>
                                        <p:cTn id="22" dur="500"/>
                                        <p:tgtEl>
                                          <p:spTgt spid="1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xEl>
                                              <p:pRg st="1" end="1"/>
                                            </p:txEl>
                                          </p:spTgt>
                                        </p:tgtEl>
                                        <p:attrNameLst>
                                          <p:attrName>style.visibility</p:attrName>
                                        </p:attrNameLst>
                                      </p:cBhvr>
                                      <p:to>
                                        <p:strVal val="visible"/>
                                      </p:to>
                                    </p:set>
                                    <p:animEffect transition="in" filter="wipe(left)">
                                      <p:cBhvr>
                                        <p:cTn id="27" dur="500"/>
                                        <p:tgtEl>
                                          <p:spTgt spid="1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
                                            <p:txEl>
                                              <p:pRg st="0" end="0"/>
                                            </p:txEl>
                                          </p:spTgt>
                                        </p:tgtEl>
                                        <p:attrNameLst>
                                          <p:attrName>style.visibility</p:attrName>
                                        </p:attrNameLst>
                                      </p:cBhvr>
                                      <p:to>
                                        <p:strVal val="visible"/>
                                      </p:to>
                                    </p:set>
                                    <p:animEffect transition="in" filter="wipe(left)">
                                      <p:cBhvr>
                                        <p:cTn id="32" dur="500"/>
                                        <p:tgtEl>
                                          <p:spTgt spid="1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
                                            <p:txEl>
                                              <p:pRg st="1" end="1"/>
                                            </p:txEl>
                                          </p:spTgt>
                                        </p:tgtEl>
                                        <p:attrNameLst>
                                          <p:attrName>style.visibility</p:attrName>
                                        </p:attrNameLst>
                                      </p:cBhvr>
                                      <p:to>
                                        <p:strVal val="visible"/>
                                      </p:to>
                                    </p:set>
                                    <p:animEffect transition="in" filter="wipe(left)">
                                      <p:cBhvr>
                                        <p:cTn id="37" dur="500"/>
                                        <p:tgtEl>
                                          <p:spTgt spid="15">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
                                            <p:txEl>
                                              <p:pRg st="2" end="2"/>
                                            </p:txEl>
                                          </p:spTgt>
                                        </p:tgtEl>
                                        <p:attrNameLst>
                                          <p:attrName>style.visibility</p:attrName>
                                        </p:attrNameLst>
                                      </p:cBhvr>
                                      <p:to>
                                        <p:strVal val="visible"/>
                                      </p:to>
                                    </p:set>
                                    <p:animEffect transition="in" filter="wipe(left)">
                                      <p:cBhvr>
                                        <p:cTn id="42" dur="500"/>
                                        <p:tgtEl>
                                          <p:spTgt spid="15">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5">
                                            <p:txEl>
                                              <p:pRg st="3" end="3"/>
                                            </p:txEl>
                                          </p:spTgt>
                                        </p:tgtEl>
                                        <p:attrNameLst>
                                          <p:attrName>style.visibility</p:attrName>
                                        </p:attrNameLst>
                                      </p:cBhvr>
                                      <p:to>
                                        <p:strVal val="visible"/>
                                      </p:to>
                                    </p:set>
                                    <p:animEffect transition="in" filter="wipe(left)">
                                      <p:cBhvr>
                                        <p:cTn id="47"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animBg="1"/>
      <p:bldP spid="13" grpId="0" build="p"/>
      <p:bldP spid="14" grpId="0" build="p"/>
      <p:bldP spid="1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四、微程序的顺序控制方式</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15</a:t>
            </a:fld>
            <a:endParaRPr lang="zh-CN" altLang="en-US"/>
          </a:p>
        </p:txBody>
      </p:sp>
      <p:sp>
        <p:nvSpPr>
          <p:cNvPr id="15" name="文本框 14">
            <a:extLst>
              <a:ext uri="{FF2B5EF4-FFF2-40B4-BE49-F238E27FC236}">
                <a16:creationId xmlns:a16="http://schemas.microsoft.com/office/drawing/2014/main" id="{CE1AD56F-1651-4FDC-8D7D-E8795664ED2D}"/>
              </a:ext>
            </a:extLst>
          </p:cNvPr>
          <p:cNvSpPr txBox="1"/>
          <p:nvPr/>
        </p:nvSpPr>
        <p:spPr>
          <a:xfrm>
            <a:off x="164791" y="776856"/>
            <a:ext cx="8882526" cy="3061416"/>
          </a:xfrm>
          <a:prstGeom prst="rect">
            <a:avLst/>
          </a:prstGeom>
          <a:noFill/>
        </p:spPr>
        <p:txBody>
          <a:bodyPr wrap="square" rtlCol="0">
            <a:spAutoFit/>
          </a:bodyPr>
          <a:lstStyle>
            <a:defPPr>
              <a:defRPr lang="en-US"/>
            </a:defPPr>
            <a:lvl1pPr>
              <a:lnSpc>
                <a:spcPct val="150000"/>
              </a:lnSpc>
              <a:defRPr sz="2800" b="1">
                <a:solidFill>
                  <a:srgbClr val="0563C1"/>
                </a:solidFill>
                <a:latin typeface="楷体" panose="02010609060101010101" pitchFamily="49" charset="-122"/>
                <a:ea typeface="楷体" panose="02010609060101010101" pitchFamily="49" charset="-122"/>
              </a:defRPr>
            </a:lvl1pPr>
          </a:lstStyle>
          <a:p>
            <a:pPr>
              <a:lnSpc>
                <a:spcPct val="180000"/>
              </a:lnSpc>
            </a:pPr>
            <a:r>
              <a:rPr lang="zh-CN" altLang="en-US" dirty="0">
                <a:solidFill>
                  <a:schemeClr val="accent2"/>
                </a:solidFill>
              </a:rPr>
              <a:t>② 功能转移 </a:t>
            </a:r>
            <a:endParaRPr lang="en-US" altLang="zh-CN" dirty="0">
              <a:solidFill>
                <a:schemeClr val="accent2"/>
              </a:solidFill>
            </a:endParaRPr>
          </a:p>
          <a:p>
            <a:pPr>
              <a:lnSpc>
                <a:spcPct val="180000"/>
              </a:lnSpc>
            </a:pPr>
            <a:r>
              <a:rPr lang="en-US" altLang="zh-CN" dirty="0">
                <a:solidFill>
                  <a:schemeClr val="accent2"/>
                </a:solidFill>
              </a:rPr>
              <a:t>   </a:t>
            </a:r>
            <a:r>
              <a:rPr lang="zh-CN" altLang="en-US" dirty="0">
                <a:solidFill>
                  <a:schemeClr val="tx1"/>
                </a:solidFill>
              </a:rPr>
              <a:t>根据取出机器指令中的操作码，通过微地址形成电</a:t>
            </a:r>
            <a:br>
              <a:rPr lang="en-US" altLang="zh-CN" dirty="0">
                <a:solidFill>
                  <a:schemeClr val="tx1"/>
                </a:solidFill>
              </a:rPr>
            </a:br>
            <a:r>
              <a:rPr lang="en-US" altLang="zh-CN" dirty="0">
                <a:solidFill>
                  <a:schemeClr val="tx1"/>
                </a:solidFill>
              </a:rPr>
              <a:t>   </a:t>
            </a:r>
            <a:r>
              <a:rPr lang="zh-CN" altLang="en-US" dirty="0">
                <a:solidFill>
                  <a:schemeClr val="tx1"/>
                </a:solidFill>
              </a:rPr>
              <a:t>路，找到与该机器指令所对应的微程序入口地址，</a:t>
            </a:r>
            <a:br>
              <a:rPr lang="en-US" altLang="zh-CN" dirty="0">
                <a:solidFill>
                  <a:schemeClr val="tx1"/>
                </a:solidFill>
              </a:rPr>
            </a:br>
            <a:r>
              <a:rPr lang="en-US" altLang="zh-CN" dirty="0">
                <a:solidFill>
                  <a:schemeClr val="tx1"/>
                </a:solidFill>
              </a:rPr>
              <a:t>   </a:t>
            </a:r>
            <a:r>
              <a:rPr lang="zh-CN" altLang="en-US" dirty="0">
                <a:solidFill>
                  <a:schemeClr val="tx1"/>
                </a:solidFill>
              </a:rPr>
              <a:t>称为功能转移。</a:t>
            </a:r>
          </a:p>
        </p:txBody>
      </p:sp>
      <p:sp>
        <p:nvSpPr>
          <p:cNvPr id="16" name="AutoShape 16">
            <a:extLst>
              <a:ext uri="{FF2B5EF4-FFF2-40B4-BE49-F238E27FC236}">
                <a16:creationId xmlns:a16="http://schemas.microsoft.com/office/drawing/2014/main" id="{3672D892-EE34-4033-901D-8DCF4B2D77B1}"/>
              </a:ext>
            </a:extLst>
          </p:cNvPr>
          <p:cNvSpPr/>
          <p:nvPr/>
        </p:nvSpPr>
        <p:spPr bwMode="auto">
          <a:xfrm>
            <a:off x="3360269" y="3927158"/>
            <a:ext cx="86435" cy="2040731"/>
          </a:xfrm>
          <a:prstGeom prst="leftBrace">
            <a:avLst>
              <a:gd name="adj1" fmla="val 118847"/>
              <a:gd name="adj2" fmla="val 50000"/>
            </a:avLst>
          </a:prstGeom>
          <a:noFill/>
          <a:ln w="381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latin typeface="楷体" panose="02010609060101010101" pitchFamily="49" charset="-122"/>
              <a:ea typeface="楷体" panose="02010609060101010101" pitchFamily="49" charset="-122"/>
            </a:endParaRPr>
          </a:p>
        </p:txBody>
      </p:sp>
      <p:sp>
        <p:nvSpPr>
          <p:cNvPr id="17" name="文本框 16">
            <a:extLst>
              <a:ext uri="{FF2B5EF4-FFF2-40B4-BE49-F238E27FC236}">
                <a16:creationId xmlns:a16="http://schemas.microsoft.com/office/drawing/2014/main" id="{464D2060-B74D-445C-8F1C-837B2B2CDF15}"/>
              </a:ext>
            </a:extLst>
          </p:cNvPr>
          <p:cNvSpPr txBox="1"/>
          <p:nvPr/>
        </p:nvSpPr>
        <p:spPr>
          <a:xfrm>
            <a:off x="3540215" y="3501165"/>
            <a:ext cx="4779032" cy="2522807"/>
          </a:xfrm>
          <a:prstGeom prst="rect">
            <a:avLst/>
          </a:prstGeom>
          <a:noFill/>
        </p:spPr>
        <p:txBody>
          <a:bodyPr wrap="square" rtlCol="0">
            <a:spAutoFit/>
          </a:bodyPr>
          <a:lstStyle/>
          <a:p>
            <a:pPr>
              <a:lnSpc>
                <a:spcPct val="200000"/>
              </a:lnSpc>
              <a:defRPr/>
            </a:pPr>
            <a:r>
              <a:rPr lang="zh-CN" altLang="en-US" sz="2800" b="1" dirty="0">
                <a:solidFill>
                  <a:schemeClr val="accent6">
                    <a:lumMod val="75000"/>
                  </a:schemeClr>
                </a:solidFill>
                <a:latin typeface="楷体" panose="02010609060101010101" pitchFamily="49" charset="-122"/>
                <a:ea typeface="楷体" panose="02010609060101010101" pitchFamily="49" charset="-122"/>
              </a:rPr>
              <a:t>一级功能转移</a:t>
            </a:r>
            <a:endParaRPr lang="en-US" altLang="zh-CN" sz="2800" b="1" dirty="0">
              <a:solidFill>
                <a:schemeClr val="accent6">
                  <a:lumMod val="75000"/>
                </a:schemeClr>
              </a:solidFill>
              <a:latin typeface="楷体" panose="02010609060101010101" pitchFamily="49" charset="-122"/>
              <a:ea typeface="楷体" panose="02010609060101010101" pitchFamily="49" charset="-122"/>
            </a:endParaRPr>
          </a:p>
          <a:p>
            <a:pPr>
              <a:lnSpc>
                <a:spcPct val="200000"/>
              </a:lnSpc>
              <a:defRPr/>
            </a:pPr>
            <a:r>
              <a:rPr lang="zh-CN" altLang="en-US" sz="2800" b="1" dirty="0">
                <a:solidFill>
                  <a:schemeClr val="accent6">
                    <a:lumMod val="75000"/>
                  </a:schemeClr>
                </a:solidFill>
                <a:latin typeface="楷体" panose="02010609060101010101" pitchFamily="49" charset="-122"/>
                <a:ea typeface="楷体" panose="02010609060101010101" pitchFamily="49" charset="-122"/>
              </a:rPr>
              <a:t>多级功能转移</a:t>
            </a:r>
            <a:endParaRPr lang="en-US" altLang="zh-CN" sz="2800" b="1" dirty="0">
              <a:solidFill>
                <a:schemeClr val="accent6">
                  <a:lumMod val="75000"/>
                </a:schemeClr>
              </a:solidFill>
              <a:latin typeface="楷体" panose="02010609060101010101" pitchFamily="49" charset="-122"/>
              <a:ea typeface="楷体" panose="02010609060101010101" pitchFamily="49" charset="-122"/>
            </a:endParaRPr>
          </a:p>
          <a:p>
            <a:pPr>
              <a:lnSpc>
                <a:spcPct val="200000"/>
              </a:lnSpc>
              <a:defRPr/>
            </a:pPr>
            <a:r>
              <a:rPr lang="zh-CN" altLang="en-US" sz="2800" b="1" dirty="0">
                <a:solidFill>
                  <a:schemeClr val="accent6">
                    <a:lumMod val="75000"/>
                  </a:schemeClr>
                </a:solidFill>
                <a:latin typeface="楷体" panose="02010609060101010101" pitchFamily="49" charset="-122"/>
                <a:ea typeface="楷体" panose="02010609060101010101" pitchFamily="49" charset="-122"/>
              </a:rPr>
              <a:t>采用</a:t>
            </a:r>
            <a:r>
              <a:rPr lang="en-US" altLang="zh-CN" sz="2800" b="1" dirty="0">
                <a:solidFill>
                  <a:schemeClr val="accent6">
                    <a:lumMod val="75000"/>
                  </a:schemeClr>
                </a:solidFill>
                <a:latin typeface="楷体" panose="02010609060101010101" pitchFamily="49" charset="-122"/>
                <a:ea typeface="楷体" panose="02010609060101010101" pitchFamily="49" charset="-122"/>
              </a:rPr>
              <a:t>PLA</a:t>
            </a:r>
            <a:r>
              <a:rPr lang="zh-CN" altLang="en-US" sz="2800" b="1" dirty="0">
                <a:solidFill>
                  <a:schemeClr val="accent6">
                    <a:lumMod val="75000"/>
                  </a:schemeClr>
                </a:solidFill>
                <a:latin typeface="楷体" panose="02010609060101010101" pitchFamily="49" charset="-122"/>
                <a:ea typeface="楷体" panose="02010609060101010101" pitchFamily="49" charset="-122"/>
              </a:rPr>
              <a:t>电路实现功能转移</a:t>
            </a:r>
            <a:endParaRPr lang="en-US" altLang="zh-CN" sz="2800" b="1" dirty="0">
              <a:solidFill>
                <a:schemeClr val="accent6">
                  <a:lumMod val="75000"/>
                </a:schemeClr>
              </a:solidFill>
              <a:latin typeface="楷体" panose="02010609060101010101" pitchFamily="49" charset="-122"/>
              <a:ea typeface="楷体" panose="02010609060101010101" pitchFamily="49" charset="-122"/>
            </a:endParaRPr>
          </a:p>
        </p:txBody>
      </p:sp>
      <p:sp>
        <p:nvSpPr>
          <p:cNvPr id="18" name="文本框 17">
            <a:extLst>
              <a:ext uri="{FF2B5EF4-FFF2-40B4-BE49-F238E27FC236}">
                <a16:creationId xmlns:a16="http://schemas.microsoft.com/office/drawing/2014/main" id="{2CDA1FBD-7D0C-4A64-B388-B830E2AC18B8}"/>
              </a:ext>
            </a:extLst>
          </p:cNvPr>
          <p:cNvSpPr txBox="1"/>
          <p:nvPr/>
        </p:nvSpPr>
        <p:spPr>
          <a:xfrm>
            <a:off x="793504" y="4570113"/>
            <a:ext cx="3785091" cy="637675"/>
          </a:xfrm>
          <a:prstGeom prst="rect">
            <a:avLst/>
          </a:prstGeom>
          <a:noFill/>
        </p:spPr>
        <p:txBody>
          <a:bodyPr wrap="square" rtlCol="0">
            <a:spAutoFit/>
          </a:bodyPr>
          <a:lstStyle/>
          <a:p>
            <a:pPr>
              <a:lnSpc>
                <a:spcPct val="150000"/>
              </a:lnSpc>
              <a:defRPr/>
            </a:pPr>
            <a:r>
              <a:rPr lang="zh-CN" altLang="en-US" sz="2800" b="1" dirty="0">
                <a:solidFill>
                  <a:schemeClr val="accent2"/>
                </a:solidFill>
                <a:latin typeface="楷体" panose="02010609060101010101" pitchFamily="49" charset="-122"/>
                <a:ea typeface="楷体" panose="02010609060101010101" pitchFamily="49" charset="-122"/>
              </a:rPr>
              <a:t>功能转移分为</a:t>
            </a:r>
            <a:endParaRPr lang="en-US" altLang="zh-CN" sz="2800" b="1" dirty="0">
              <a:solidFill>
                <a:schemeClr val="accent2"/>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83595160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wipe(left)">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wipe(left)">
                                      <p:cBhvr>
                                        <p:cTn id="12" dur="5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wipe(left)">
                                      <p:cBhvr>
                                        <p:cTn id="17" dur="500"/>
                                        <p:tgtEl>
                                          <p:spTgt spid="1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up)">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
                                            <p:txEl>
                                              <p:pRg st="0" end="0"/>
                                            </p:txEl>
                                          </p:spTgt>
                                        </p:tgtEl>
                                        <p:attrNameLst>
                                          <p:attrName>style.visibility</p:attrName>
                                        </p:attrNameLst>
                                      </p:cBhvr>
                                      <p:to>
                                        <p:strVal val="visible"/>
                                      </p:to>
                                    </p:set>
                                    <p:animEffect transition="in" filter="wipe(left)">
                                      <p:cBhvr>
                                        <p:cTn id="27" dur="500"/>
                                        <p:tgtEl>
                                          <p:spTgt spid="1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
                                            <p:txEl>
                                              <p:pRg st="1" end="1"/>
                                            </p:txEl>
                                          </p:spTgt>
                                        </p:tgtEl>
                                        <p:attrNameLst>
                                          <p:attrName>style.visibility</p:attrName>
                                        </p:attrNameLst>
                                      </p:cBhvr>
                                      <p:to>
                                        <p:strVal val="visible"/>
                                      </p:to>
                                    </p:set>
                                    <p:animEffect transition="in" filter="wipe(left)">
                                      <p:cBhvr>
                                        <p:cTn id="32" dur="500"/>
                                        <p:tgtEl>
                                          <p:spTgt spid="17">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
                                            <p:txEl>
                                              <p:pRg st="2" end="2"/>
                                            </p:txEl>
                                          </p:spTgt>
                                        </p:tgtEl>
                                        <p:attrNameLst>
                                          <p:attrName>style.visibility</p:attrName>
                                        </p:attrNameLst>
                                      </p:cBhvr>
                                      <p:to>
                                        <p:strVal val="visible"/>
                                      </p:to>
                                    </p:set>
                                    <p:animEffect transition="in" filter="wipe(left)">
                                      <p:cBhvr>
                                        <p:cTn id="37" dur="500"/>
                                        <p:tgtEl>
                                          <p:spTgt spid="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animBg="1"/>
      <p:bldP spid="17" grpId="0" build="p"/>
      <p:bldP spid="18"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四、微程序的顺序控制方式</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16</a:t>
            </a:fld>
            <a:endParaRPr lang="zh-CN" altLang="en-US"/>
          </a:p>
        </p:txBody>
      </p:sp>
      <p:sp>
        <p:nvSpPr>
          <p:cNvPr id="16" name="AutoShape 16">
            <a:extLst>
              <a:ext uri="{FF2B5EF4-FFF2-40B4-BE49-F238E27FC236}">
                <a16:creationId xmlns:a16="http://schemas.microsoft.com/office/drawing/2014/main" id="{3672D892-EE34-4033-901D-8DCF4B2D77B1}"/>
              </a:ext>
            </a:extLst>
          </p:cNvPr>
          <p:cNvSpPr/>
          <p:nvPr/>
        </p:nvSpPr>
        <p:spPr bwMode="auto">
          <a:xfrm>
            <a:off x="3960344" y="4231958"/>
            <a:ext cx="135406" cy="1021929"/>
          </a:xfrm>
          <a:prstGeom prst="leftBrace">
            <a:avLst>
              <a:gd name="adj1" fmla="val 118847"/>
              <a:gd name="adj2" fmla="val 50000"/>
            </a:avLst>
          </a:prstGeom>
          <a:noFill/>
          <a:ln w="381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latin typeface="楷体" panose="02010609060101010101" pitchFamily="49" charset="-122"/>
              <a:ea typeface="楷体" panose="02010609060101010101" pitchFamily="49" charset="-122"/>
            </a:endParaRPr>
          </a:p>
        </p:txBody>
      </p:sp>
      <p:sp>
        <p:nvSpPr>
          <p:cNvPr id="17" name="文本框 16">
            <a:extLst>
              <a:ext uri="{FF2B5EF4-FFF2-40B4-BE49-F238E27FC236}">
                <a16:creationId xmlns:a16="http://schemas.microsoft.com/office/drawing/2014/main" id="{464D2060-B74D-445C-8F1C-837B2B2CDF15}"/>
              </a:ext>
            </a:extLst>
          </p:cNvPr>
          <p:cNvSpPr txBox="1"/>
          <p:nvPr/>
        </p:nvSpPr>
        <p:spPr>
          <a:xfrm>
            <a:off x="4185480" y="3763032"/>
            <a:ext cx="1993810" cy="1661032"/>
          </a:xfrm>
          <a:prstGeom prst="rect">
            <a:avLst/>
          </a:prstGeom>
          <a:noFill/>
        </p:spPr>
        <p:txBody>
          <a:bodyPr wrap="square" rtlCol="0">
            <a:spAutoFit/>
          </a:bodyPr>
          <a:lstStyle/>
          <a:p>
            <a:pPr>
              <a:lnSpc>
                <a:spcPct val="200000"/>
              </a:lnSpc>
              <a:defRPr/>
            </a:pPr>
            <a:r>
              <a:rPr lang="zh-CN" altLang="en-US" sz="2800" b="1" dirty="0">
                <a:solidFill>
                  <a:schemeClr val="accent6">
                    <a:lumMod val="75000"/>
                  </a:schemeClr>
                </a:solidFill>
                <a:latin typeface="楷体" panose="02010609060101010101" pitchFamily="49" charset="-122"/>
                <a:ea typeface="楷体" panose="02010609060101010101" pitchFamily="49" charset="-122"/>
              </a:rPr>
              <a:t>增量方式</a:t>
            </a:r>
            <a:endParaRPr lang="en-US" altLang="zh-CN" sz="2800" b="1" dirty="0">
              <a:solidFill>
                <a:schemeClr val="accent6">
                  <a:lumMod val="75000"/>
                </a:schemeClr>
              </a:solidFill>
              <a:latin typeface="楷体" panose="02010609060101010101" pitchFamily="49" charset="-122"/>
              <a:ea typeface="楷体" panose="02010609060101010101" pitchFamily="49" charset="-122"/>
            </a:endParaRPr>
          </a:p>
          <a:p>
            <a:pPr>
              <a:lnSpc>
                <a:spcPct val="200000"/>
              </a:lnSpc>
              <a:defRPr/>
            </a:pPr>
            <a:r>
              <a:rPr lang="zh-CN" altLang="en-US" sz="2800" b="1" dirty="0">
                <a:solidFill>
                  <a:schemeClr val="accent6">
                    <a:lumMod val="75000"/>
                  </a:schemeClr>
                </a:solidFill>
                <a:latin typeface="楷体" panose="02010609060101010101" pitchFamily="49" charset="-122"/>
                <a:ea typeface="楷体" panose="02010609060101010101" pitchFamily="49" charset="-122"/>
              </a:rPr>
              <a:t>断定方式</a:t>
            </a:r>
            <a:endParaRPr lang="en-US" altLang="zh-CN" sz="2800" b="1" dirty="0">
              <a:solidFill>
                <a:schemeClr val="accent6">
                  <a:lumMod val="75000"/>
                </a:schemeClr>
              </a:solidFill>
              <a:latin typeface="楷体" panose="02010609060101010101" pitchFamily="49" charset="-122"/>
              <a:ea typeface="楷体" panose="02010609060101010101" pitchFamily="49" charset="-122"/>
            </a:endParaRPr>
          </a:p>
        </p:txBody>
      </p:sp>
      <p:sp>
        <p:nvSpPr>
          <p:cNvPr id="18" name="文本框 17">
            <a:extLst>
              <a:ext uri="{FF2B5EF4-FFF2-40B4-BE49-F238E27FC236}">
                <a16:creationId xmlns:a16="http://schemas.microsoft.com/office/drawing/2014/main" id="{2CDA1FBD-7D0C-4A64-B388-B830E2AC18B8}"/>
              </a:ext>
            </a:extLst>
          </p:cNvPr>
          <p:cNvSpPr txBox="1"/>
          <p:nvPr/>
        </p:nvSpPr>
        <p:spPr>
          <a:xfrm>
            <a:off x="704850" y="4335607"/>
            <a:ext cx="3785091" cy="637675"/>
          </a:xfrm>
          <a:prstGeom prst="rect">
            <a:avLst/>
          </a:prstGeom>
          <a:noFill/>
        </p:spPr>
        <p:txBody>
          <a:bodyPr wrap="square" rtlCol="0">
            <a:spAutoFit/>
          </a:bodyPr>
          <a:lstStyle/>
          <a:p>
            <a:pPr>
              <a:lnSpc>
                <a:spcPct val="150000"/>
              </a:lnSpc>
              <a:defRPr/>
            </a:pPr>
            <a:r>
              <a:rPr lang="zh-CN" altLang="en-US" sz="2800" b="1" dirty="0">
                <a:solidFill>
                  <a:schemeClr val="accent2"/>
                </a:solidFill>
                <a:latin typeface="楷体" panose="02010609060101010101" pitchFamily="49" charset="-122"/>
                <a:ea typeface="楷体" panose="02010609060101010101" pitchFamily="49" charset="-122"/>
              </a:rPr>
              <a:t>后继微地址的形成</a:t>
            </a:r>
            <a:endParaRPr lang="en-US" altLang="zh-CN" sz="2800" b="1" dirty="0">
              <a:solidFill>
                <a:schemeClr val="accent2"/>
              </a:solidFill>
              <a:latin typeface="楷体" panose="02010609060101010101" pitchFamily="49" charset="-122"/>
              <a:ea typeface="楷体" panose="02010609060101010101" pitchFamily="49" charset="-122"/>
            </a:endParaRPr>
          </a:p>
        </p:txBody>
      </p:sp>
      <p:sp>
        <p:nvSpPr>
          <p:cNvPr id="19" name="文本框 18">
            <a:extLst>
              <a:ext uri="{FF2B5EF4-FFF2-40B4-BE49-F238E27FC236}">
                <a16:creationId xmlns:a16="http://schemas.microsoft.com/office/drawing/2014/main" id="{77310ADC-2B47-4814-A0D6-97166DDCB709}"/>
              </a:ext>
            </a:extLst>
          </p:cNvPr>
          <p:cNvSpPr txBox="1"/>
          <p:nvPr/>
        </p:nvSpPr>
        <p:spPr>
          <a:xfrm>
            <a:off x="130737" y="820665"/>
            <a:ext cx="8882526" cy="3061416"/>
          </a:xfrm>
          <a:prstGeom prst="rect">
            <a:avLst/>
          </a:prstGeom>
          <a:noFill/>
        </p:spPr>
        <p:txBody>
          <a:bodyPr wrap="square" rtlCol="0">
            <a:spAutoFit/>
          </a:bodyPr>
          <a:lstStyle>
            <a:defPPr>
              <a:defRPr lang="en-US"/>
            </a:defPPr>
            <a:lvl1pPr>
              <a:lnSpc>
                <a:spcPct val="150000"/>
              </a:lnSpc>
              <a:defRPr sz="2800" b="1">
                <a:solidFill>
                  <a:srgbClr val="0563C1"/>
                </a:solidFill>
                <a:latin typeface="楷体" panose="02010609060101010101" pitchFamily="49" charset="-122"/>
                <a:ea typeface="楷体" panose="02010609060101010101" pitchFamily="49" charset="-122"/>
              </a:defRPr>
            </a:lvl1pPr>
          </a:lstStyle>
          <a:p>
            <a:pPr>
              <a:lnSpc>
                <a:spcPct val="180000"/>
              </a:lnSpc>
            </a:pPr>
            <a:r>
              <a:rPr lang="en-US" altLang="zh-CN" dirty="0"/>
              <a:t>2</a:t>
            </a:r>
            <a:r>
              <a:rPr lang="zh-CN" altLang="en-US" dirty="0"/>
              <a:t>、后继微地址的形成</a:t>
            </a:r>
            <a:endParaRPr lang="en-US" altLang="zh-CN" dirty="0"/>
          </a:p>
          <a:p>
            <a:pPr>
              <a:lnSpc>
                <a:spcPct val="180000"/>
              </a:lnSpc>
            </a:pPr>
            <a:r>
              <a:rPr lang="zh-CN" altLang="en-US" dirty="0">
                <a:solidFill>
                  <a:schemeClr val="tx1"/>
                </a:solidFill>
              </a:rPr>
              <a:t>   找到微程序入口后，可以开始执行微程序。每条微</a:t>
            </a:r>
            <a:br>
              <a:rPr lang="en-US" altLang="zh-CN" dirty="0">
                <a:solidFill>
                  <a:schemeClr val="tx1"/>
                </a:solidFill>
              </a:rPr>
            </a:br>
            <a:r>
              <a:rPr lang="en-US" altLang="zh-CN" dirty="0">
                <a:solidFill>
                  <a:schemeClr val="tx1"/>
                </a:solidFill>
              </a:rPr>
              <a:t>   </a:t>
            </a:r>
            <a:r>
              <a:rPr lang="zh-CN" altLang="en-US" dirty="0">
                <a:solidFill>
                  <a:schemeClr val="tx1"/>
                </a:solidFill>
              </a:rPr>
              <a:t>指令执行完毕后，都要根据其顺序控制字段的规定</a:t>
            </a:r>
            <a:br>
              <a:rPr lang="en-US" altLang="zh-CN" dirty="0">
                <a:solidFill>
                  <a:schemeClr val="tx1"/>
                </a:solidFill>
              </a:rPr>
            </a:br>
            <a:r>
              <a:rPr lang="en-US" altLang="zh-CN" dirty="0">
                <a:solidFill>
                  <a:schemeClr val="tx1"/>
                </a:solidFill>
              </a:rPr>
              <a:t>   </a:t>
            </a:r>
            <a:r>
              <a:rPr lang="zh-CN" altLang="en-US" dirty="0">
                <a:solidFill>
                  <a:schemeClr val="tx1"/>
                </a:solidFill>
              </a:rPr>
              <a:t>形成后继微地址。</a:t>
            </a:r>
          </a:p>
        </p:txBody>
      </p:sp>
    </p:spTree>
    <p:extLst>
      <p:ext uri="{BB962C8B-B14F-4D97-AF65-F5344CB8AC3E}">
        <p14:creationId xmlns:p14="http://schemas.microsoft.com/office/powerpoint/2010/main" val="7651008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wipe(left)">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animEffect transition="in" filter="wipe(left)">
                                      <p:cBhvr>
                                        <p:cTn id="12" dur="500"/>
                                        <p:tgtEl>
                                          <p:spTgt spid="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wipe(left)">
                                      <p:cBhvr>
                                        <p:cTn id="17" dur="500"/>
                                        <p:tgtEl>
                                          <p:spTgt spid="1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up)">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
                                            <p:txEl>
                                              <p:pRg st="0" end="0"/>
                                            </p:txEl>
                                          </p:spTgt>
                                        </p:tgtEl>
                                        <p:attrNameLst>
                                          <p:attrName>style.visibility</p:attrName>
                                        </p:attrNameLst>
                                      </p:cBhvr>
                                      <p:to>
                                        <p:strVal val="visible"/>
                                      </p:to>
                                    </p:set>
                                    <p:animEffect transition="in" filter="wipe(left)">
                                      <p:cBhvr>
                                        <p:cTn id="27" dur="500"/>
                                        <p:tgtEl>
                                          <p:spTgt spid="1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
                                            <p:txEl>
                                              <p:pRg st="1" end="1"/>
                                            </p:txEl>
                                          </p:spTgt>
                                        </p:tgtEl>
                                        <p:attrNameLst>
                                          <p:attrName>style.visibility</p:attrName>
                                        </p:attrNameLst>
                                      </p:cBhvr>
                                      <p:to>
                                        <p:strVal val="visible"/>
                                      </p:to>
                                    </p:set>
                                    <p:animEffect transition="in" filter="wipe(left)">
                                      <p:cBhvr>
                                        <p:cTn id="32" dur="500"/>
                                        <p:tgtEl>
                                          <p:spTgt spid="1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8" grpId="0" build="p"/>
      <p:bldP spid="1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五、微指令格式</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17</a:t>
            </a:fld>
            <a:endParaRPr lang="zh-CN" altLang="en-US"/>
          </a:p>
        </p:txBody>
      </p:sp>
      <p:sp>
        <p:nvSpPr>
          <p:cNvPr id="16" name="AutoShape 16">
            <a:extLst>
              <a:ext uri="{FF2B5EF4-FFF2-40B4-BE49-F238E27FC236}">
                <a16:creationId xmlns:a16="http://schemas.microsoft.com/office/drawing/2014/main" id="{3672D892-EE34-4033-901D-8DCF4B2D77B1}"/>
              </a:ext>
            </a:extLst>
          </p:cNvPr>
          <p:cNvSpPr/>
          <p:nvPr/>
        </p:nvSpPr>
        <p:spPr bwMode="auto">
          <a:xfrm>
            <a:off x="3309469" y="4191782"/>
            <a:ext cx="135406" cy="1961368"/>
          </a:xfrm>
          <a:prstGeom prst="leftBrace">
            <a:avLst>
              <a:gd name="adj1" fmla="val 118847"/>
              <a:gd name="adj2" fmla="val 50000"/>
            </a:avLst>
          </a:prstGeom>
          <a:noFill/>
          <a:ln w="381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latin typeface="楷体" panose="02010609060101010101" pitchFamily="49" charset="-122"/>
              <a:ea typeface="楷体" panose="02010609060101010101" pitchFamily="49" charset="-122"/>
            </a:endParaRPr>
          </a:p>
        </p:txBody>
      </p:sp>
      <p:sp>
        <p:nvSpPr>
          <p:cNvPr id="17" name="文本框 16">
            <a:extLst>
              <a:ext uri="{FF2B5EF4-FFF2-40B4-BE49-F238E27FC236}">
                <a16:creationId xmlns:a16="http://schemas.microsoft.com/office/drawing/2014/main" id="{464D2060-B74D-445C-8F1C-837B2B2CDF15}"/>
              </a:ext>
            </a:extLst>
          </p:cNvPr>
          <p:cNvSpPr txBox="1"/>
          <p:nvPr/>
        </p:nvSpPr>
        <p:spPr>
          <a:xfrm>
            <a:off x="3696530" y="3757343"/>
            <a:ext cx="4691820" cy="2522807"/>
          </a:xfrm>
          <a:prstGeom prst="rect">
            <a:avLst/>
          </a:prstGeom>
          <a:noFill/>
        </p:spPr>
        <p:txBody>
          <a:bodyPr wrap="square" rtlCol="0">
            <a:spAutoFit/>
          </a:bodyPr>
          <a:lstStyle/>
          <a:p>
            <a:pPr>
              <a:lnSpc>
                <a:spcPct val="200000"/>
              </a:lnSpc>
              <a:defRPr/>
            </a:pPr>
            <a:r>
              <a:rPr lang="zh-CN" altLang="en-US" sz="2800" b="1" dirty="0">
                <a:solidFill>
                  <a:schemeClr val="accent2"/>
                </a:solidFill>
                <a:latin typeface="楷体" panose="02010609060101010101" pitchFamily="49" charset="-122"/>
                <a:ea typeface="楷体" panose="02010609060101010101" pitchFamily="49" charset="-122"/>
              </a:rPr>
              <a:t>基本数据通路控制字段</a:t>
            </a:r>
            <a:endParaRPr lang="en-US" altLang="zh-CN" sz="2800" b="1" dirty="0">
              <a:solidFill>
                <a:schemeClr val="accent2"/>
              </a:solidFill>
              <a:latin typeface="楷体" panose="02010609060101010101" pitchFamily="49" charset="-122"/>
              <a:ea typeface="楷体" panose="02010609060101010101" pitchFamily="49" charset="-122"/>
            </a:endParaRPr>
          </a:p>
          <a:p>
            <a:pPr>
              <a:lnSpc>
                <a:spcPct val="200000"/>
              </a:lnSpc>
              <a:defRPr/>
            </a:pPr>
            <a:r>
              <a:rPr lang="zh-CN" altLang="en-US" sz="2800" b="1" dirty="0">
                <a:solidFill>
                  <a:schemeClr val="accent2"/>
                </a:solidFill>
                <a:latin typeface="楷体" panose="02010609060101010101" pitchFamily="49" charset="-122"/>
                <a:ea typeface="楷体" panose="02010609060101010101" pitchFamily="49" charset="-122"/>
              </a:rPr>
              <a:t>访存控制字段</a:t>
            </a:r>
          </a:p>
          <a:p>
            <a:pPr>
              <a:lnSpc>
                <a:spcPct val="200000"/>
              </a:lnSpc>
              <a:defRPr/>
            </a:pPr>
            <a:r>
              <a:rPr lang="zh-CN" altLang="en-US" sz="2800" b="1" dirty="0">
                <a:solidFill>
                  <a:schemeClr val="accent2"/>
                </a:solidFill>
                <a:latin typeface="楷体" panose="02010609060101010101" pitchFamily="49" charset="-122"/>
                <a:ea typeface="楷体" panose="02010609060101010101" pitchFamily="49" charset="-122"/>
              </a:rPr>
              <a:t>辅助控制字段</a:t>
            </a:r>
            <a:endParaRPr lang="en-US" altLang="zh-CN" sz="2800" b="1" dirty="0">
              <a:solidFill>
                <a:schemeClr val="accent2"/>
              </a:solidFill>
              <a:latin typeface="楷体" panose="02010609060101010101" pitchFamily="49" charset="-122"/>
              <a:ea typeface="楷体" panose="02010609060101010101" pitchFamily="49" charset="-122"/>
            </a:endParaRPr>
          </a:p>
        </p:txBody>
      </p:sp>
      <p:sp>
        <p:nvSpPr>
          <p:cNvPr id="19" name="文本框 18">
            <a:extLst>
              <a:ext uri="{FF2B5EF4-FFF2-40B4-BE49-F238E27FC236}">
                <a16:creationId xmlns:a16="http://schemas.microsoft.com/office/drawing/2014/main" id="{77310ADC-2B47-4814-A0D6-97166DDCB709}"/>
              </a:ext>
            </a:extLst>
          </p:cNvPr>
          <p:cNvSpPr txBox="1"/>
          <p:nvPr/>
        </p:nvSpPr>
        <p:spPr>
          <a:xfrm>
            <a:off x="130737" y="757165"/>
            <a:ext cx="8882526" cy="3837012"/>
          </a:xfrm>
          <a:prstGeom prst="rect">
            <a:avLst/>
          </a:prstGeom>
          <a:noFill/>
        </p:spPr>
        <p:txBody>
          <a:bodyPr wrap="square" rtlCol="0">
            <a:spAutoFit/>
          </a:bodyPr>
          <a:lstStyle>
            <a:defPPr>
              <a:defRPr lang="en-US"/>
            </a:defPPr>
            <a:lvl1pPr>
              <a:lnSpc>
                <a:spcPct val="150000"/>
              </a:lnSpc>
              <a:defRPr sz="2800" b="1">
                <a:solidFill>
                  <a:srgbClr val="0563C1"/>
                </a:solidFill>
                <a:latin typeface="楷体" panose="02010609060101010101" pitchFamily="49" charset="-122"/>
                <a:ea typeface="楷体" panose="02010609060101010101" pitchFamily="49" charset="-122"/>
              </a:defRPr>
            </a:lvl1pPr>
          </a:lstStyle>
          <a:p>
            <a:pPr>
              <a:lnSpc>
                <a:spcPct val="180000"/>
              </a:lnSpc>
            </a:pPr>
            <a:r>
              <a:rPr lang="en-US" altLang="zh-CN" dirty="0"/>
              <a:t>1</a:t>
            </a:r>
            <a:r>
              <a:rPr lang="zh-CN" altLang="en-US" dirty="0"/>
              <a:t>、微指令格式</a:t>
            </a:r>
            <a:endParaRPr lang="en-US" altLang="zh-CN" dirty="0"/>
          </a:p>
          <a:p>
            <a:pPr>
              <a:lnSpc>
                <a:spcPct val="180000"/>
              </a:lnSpc>
            </a:pPr>
            <a:r>
              <a:rPr lang="en-US" altLang="zh-CN" dirty="0">
                <a:solidFill>
                  <a:schemeClr val="tx1"/>
                </a:solidFill>
              </a:rPr>
              <a:t>   </a:t>
            </a:r>
            <a:r>
              <a:rPr lang="zh-CN" altLang="en-US" dirty="0">
                <a:solidFill>
                  <a:schemeClr val="tx1"/>
                </a:solidFill>
              </a:rPr>
              <a:t>微程序设计的关键在于如何确定微指令格式，它与</a:t>
            </a:r>
            <a:br>
              <a:rPr lang="en-US" altLang="zh-CN" dirty="0">
                <a:solidFill>
                  <a:schemeClr val="tx1"/>
                </a:solidFill>
              </a:rPr>
            </a:br>
            <a:r>
              <a:rPr lang="en-US" altLang="zh-CN" dirty="0">
                <a:solidFill>
                  <a:schemeClr val="tx1"/>
                </a:solidFill>
              </a:rPr>
              <a:t>   CPU</a:t>
            </a:r>
            <a:r>
              <a:rPr lang="zh-CN" altLang="en-US" dirty="0">
                <a:solidFill>
                  <a:schemeClr val="tx1"/>
                </a:solidFill>
              </a:rPr>
              <a:t>的数据通路结构有很密切的关系。</a:t>
            </a:r>
            <a:endParaRPr lang="en-US" altLang="zh-CN" dirty="0">
              <a:solidFill>
                <a:schemeClr val="tx1"/>
              </a:solidFill>
            </a:endParaRPr>
          </a:p>
          <a:p>
            <a:pPr>
              <a:lnSpc>
                <a:spcPct val="180000"/>
              </a:lnSpc>
            </a:pPr>
            <a:r>
              <a:rPr lang="en-US" altLang="zh-CN" dirty="0">
                <a:solidFill>
                  <a:schemeClr val="tx1"/>
                </a:solidFill>
              </a:rPr>
              <a:t>   </a:t>
            </a:r>
            <a:r>
              <a:rPr lang="zh-CN" altLang="en-US" dirty="0">
                <a:solidFill>
                  <a:schemeClr val="tx1"/>
                </a:solidFill>
              </a:rPr>
              <a:t>按模型机数据通路结构的需要，将微操作控制字段</a:t>
            </a:r>
            <a:br>
              <a:rPr lang="en-US" altLang="zh-CN" dirty="0">
                <a:solidFill>
                  <a:schemeClr val="tx1"/>
                </a:solidFill>
              </a:rPr>
            </a:br>
            <a:r>
              <a:rPr lang="en-US" altLang="zh-CN" dirty="0">
                <a:solidFill>
                  <a:schemeClr val="tx1"/>
                </a:solidFill>
              </a:rPr>
              <a:t>   </a:t>
            </a:r>
            <a:r>
              <a:rPr lang="zh-CN" altLang="en-US" dirty="0">
                <a:solidFill>
                  <a:schemeClr val="tx1"/>
                </a:solidFill>
              </a:rPr>
              <a:t>分为三个部分</a:t>
            </a:r>
            <a:r>
              <a:rPr lang="en-US" altLang="zh-CN" dirty="0">
                <a:solidFill>
                  <a:schemeClr val="tx1"/>
                </a:solidFill>
              </a:rPr>
              <a:t>:</a:t>
            </a:r>
            <a:endParaRPr lang="zh-CN" altLang="en-US" dirty="0">
              <a:solidFill>
                <a:schemeClr val="tx1"/>
              </a:solidFill>
            </a:endParaRPr>
          </a:p>
        </p:txBody>
      </p:sp>
    </p:spTree>
    <p:extLst>
      <p:ext uri="{BB962C8B-B14F-4D97-AF65-F5344CB8AC3E}">
        <p14:creationId xmlns:p14="http://schemas.microsoft.com/office/powerpoint/2010/main" val="267895161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wipe(left)">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animEffect transition="in" filter="wipe(left)">
                                      <p:cBhvr>
                                        <p:cTn id="12" dur="500"/>
                                        <p:tgtEl>
                                          <p:spTgt spid="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
                                            <p:txEl>
                                              <p:pRg st="2" end="2"/>
                                            </p:txEl>
                                          </p:spTgt>
                                        </p:tgtEl>
                                        <p:attrNameLst>
                                          <p:attrName>style.visibility</p:attrName>
                                        </p:attrNameLst>
                                      </p:cBhvr>
                                      <p:to>
                                        <p:strVal val="visible"/>
                                      </p:to>
                                    </p:set>
                                    <p:animEffect transition="in" filter="wipe(left)">
                                      <p:cBhvr>
                                        <p:cTn id="17" dur="500"/>
                                        <p:tgtEl>
                                          <p:spTgt spid="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up)">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
                                            <p:txEl>
                                              <p:pRg st="0" end="0"/>
                                            </p:txEl>
                                          </p:spTgt>
                                        </p:tgtEl>
                                        <p:attrNameLst>
                                          <p:attrName>style.visibility</p:attrName>
                                        </p:attrNameLst>
                                      </p:cBhvr>
                                      <p:to>
                                        <p:strVal val="visible"/>
                                      </p:to>
                                    </p:set>
                                    <p:animEffect transition="in" filter="wipe(left)">
                                      <p:cBhvr>
                                        <p:cTn id="27" dur="500"/>
                                        <p:tgtEl>
                                          <p:spTgt spid="1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
                                            <p:txEl>
                                              <p:pRg st="1" end="1"/>
                                            </p:txEl>
                                          </p:spTgt>
                                        </p:tgtEl>
                                        <p:attrNameLst>
                                          <p:attrName>style.visibility</p:attrName>
                                        </p:attrNameLst>
                                      </p:cBhvr>
                                      <p:to>
                                        <p:strVal val="visible"/>
                                      </p:to>
                                    </p:set>
                                    <p:animEffect transition="in" filter="wipe(left)">
                                      <p:cBhvr>
                                        <p:cTn id="32" dur="500"/>
                                        <p:tgtEl>
                                          <p:spTgt spid="17">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
                                            <p:txEl>
                                              <p:pRg st="2" end="2"/>
                                            </p:txEl>
                                          </p:spTgt>
                                        </p:tgtEl>
                                        <p:attrNameLst>
                                          <p:attrName>style.visibility</p:attrName>
                                        </p:attrNameLst>
                                      </p:cBhvr>
                                      <p:to>
                                        <p:strVal val="visible"/>
                                      </p:to>
                                    </p:set>
                                    <p:animEffect transition="in" filter="wipe(left)">
                                      <p:cBhvr>
                                        <p:cTn id="37" dur="500"/>
                                        <p:tgtEl>
                                          <p:spTgt spid="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五、微指令格式</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18</a:t>
            </a:fld>
            <a:endParaRPr lang="zh-CN" altLang="en-US"/>
          </a:p>
        </p:txBody>
      </p:sp>
      <p:sp>
        <p:nvSpPr>
          <p:cNvPr id="16" name="AutoShape 16">
            <a:extLst>
              <a:ext uri="{FF2B5EF4-FFF2-40B4-BE49-F238E27FC236}">
                <a16:creationId xmlns:a16="http://schemas.microsoft.com/office/drawing/2014/main" id="{3672D892-EE34-4033-901D-8DCF4B2D77B1}"/>
              </a:ext>
            </a:extLst>
          </p:cNvPr>
          <p:cNvSpPr/>
          <p:nvPr/>
        </p:nvSpPr>
        <p:spPr bwMode="auto">
          <a:xfrm>
            <a:off x="2364589" y="1760618"/>
            <a:ext cx="135406" cy="1530270"/>
          </a:xfrm>
          <a:prstGeom prst="leftBrace">
            <a:avLst>
              <a:gd name="adj1" fmla="val 118847"/>
              <a:gd name="adj2" fmla="val 50000"/>
            </a:avLst>
          </a:prstGeom>
          <a:noFill/>
          <a:ln w="381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latin typeface="楷体" panose="02010609060101010101" pitchFamily="49" charset="-122"/>
              <a:ea typeface="楷体" panose="02010609060101010101" pitchFamily="49" charset="-122"/>
            </a:endParaRPr>
          </a:p>
        </p:txBody>
      </p:sp>
      <p:sp>
        <p:nvSpPr>
          <p:cNvPr id="17" name="文本框 16">
            <a:extLst>
              <a:ext uri="{FF2B5EF4-FFF2-40B4-BE49-F238E27FC236}">
                <a16:creationId xmlns:a16="http://schemas.microsoft.com/office/drawing/2014/main" id="{464D2060-B74D-445C-8F1C-837B2B2CDF15}"/>
              </a:ext>
            </a:extLst>
          </p:cNvPr>
          <p:cNvSpPr txBox="1"/>
          <p:nvPr/>
        </p:nvSpPr>
        <p:spPr>
          <a:xfrm>
            <a:off x="2760359" y="1473842"/>
            <a:ext cx="2619361" cy="1930337"/>
          </a:xfrm>
          <a:prstGeom prst="rect">
            <a:avLst/>
          </a:prstGeom>
          <a:noFill/>
        </p:spPr>
        <p:txBody>
          <a:bodyPr wrap="square" rtlCol="0">
            <a:spAutoFit/>
          </a:bodyPr>
          <a:lstStyle/>
          <a:p>
            <a:pPr>
              <a:lnSpc>
                <a:spcPct val="150000"/>
              </a:lnSpc>
              <a:defRPr/>
            </a:pPr>
            <a:r>
              <a:rPr lang="zh-CN" altLang="en-US" sz="2800" b="1" dirty="0">
                <a:solidFill>
                  <a:schemeClr val="accent6"/>
                </a:solidFill>
                <a:latin typeface="楷体" panose="02010609060101010101" pitchFamily="49" charset="-122"/>
                <a:ea typeface="楷体" panose="02010609060101010101" pitchFamily="49" charset="-122"/>
              </a:rPr>
              <a:t>垂直型微指令</a:t>
            </a:r>
          </a:p>
          <a:p>
            <a:pPr>
              <a:lnSpc>
                <a:spcPct val="150000"/>
              </a:lnSpc>
              <a:defRPr/>
            </a:pPr>
            <a:r>
              <a:rPr lang="zh-CN" altLang="en-US" sz="2800" b="1" dirty="0">
                <a:solidFill>
                  <a:schemeClr val="accent6"/>
                </a:solidFill>
                <a:latin typeface="楷体" panose="02010609060101010101" pitchFamily="49" charset="-122"/>
                <a:ea typeface="楷体" panose="02010609060101010101" pitchFamily="49" charset="-122"/>
              </a:rPr>
              <a:t>水平型微指令</a:t>
            </a:r>
          </a:p>
          <a:p>
            <a:pPr>
              <a:lnSpc>
                <a:spcPct val="150000"/>
              </a:lnSpc>
              <a:defRPr/>
            </a:pPr>
            <a:r>
              <a:rPr lang="zh-CN" altLang="en-US" sz="2800" b="1" dirty="0">
                <a:solidFill>
                  <a:schemeClr val="accent6"/>
                </a:solidFill>
                <a:latin typeface="楷体" panose="02010609060101010101" pitchFamily="49" charset="-122"/>
                <a:ea typeface="楷体" panose="02010609060101010101" pitchFamily="49" charset="-122"/>
              </a:rPr>
              <a:t>混合型微指令</a:t>
            </a:r>
            <a:endParaRPr lang="en-US" altLang="zh-CN" sz="2800" b="1" dirty="0">
              <a:solidFill>
                <a:schemeClr val="accent6"/>
              </a:solidFill>
              <a:latin typeface="楷体" panose="02010609060101010101" pitchFamily="49" charset="-122"/>
              <a:ea typeface="楷体" panose="02010609060101010101" pitchFamily="49" charset="-122"/>
            </a:endParaRPr>
          </a:p>
        </p:txBody>
      </p:sp>
      <p:sp>
        <p:nvSpPr>
          <p:cNvPr id="19" name="文本框 18">
            <a:extLst>
              <a:ext uri="{FF2B5EF4-FFF2-40B4-BE49-F238E27FC236}">
                <a16:creationId xmlns:a16="http://schemas.microsoft.com/office/drawing/2014/main" id="{77310ADC-2B47-4814-A0D6-97166DDCB709}"/>
              </a:ext>
            </a:extLst>
          </p:cNvPr>
          <p:cNvSpPr txBox="1"/>
          <p:nvPr/>
        </p:nvSpPr>
        <p:spPr>
          <a:xfrm>
            <a:off x="130737" y="757165"/>
            <a:ext cx="8882526" cy="734625"/>
          </a:xfrm>
          <a:prstGeom prst="rect">
            <a:avLst/>
          </a:prstGeom>
          <a:noFill/>
        </p:spPr>
        <p:txBody>
          <a:bodyPr wrap="square" rtlCol="0">
            <a:spAutoFit/>
          </a:bodyPr>
          <a:lstStyle>
            <a:defPPr>
              <a:defRPr lang="en-US"/>
            </a:defPPr>
            <a:lvl1pPr>
              <a:lnSpc>
                <a:spcPct val="150000"/>
              </a:lnSpc>
              <a:defRPr sz="2800" b="1">
                <a:solidFill>
                  <a:srgbClr val="0563C1"/>
                </a:solidFill>
                <a:latin typeface="楷体" panose="02010609060101010101" pitchFamily="49" charset="-122"/>
                <a:ea typeface="楷体" panose="02010609060101010101" pitchFamily="49" charset="-122"/>
              </a:defRPr>
            </a:lvl1pPr>
          </a:lstStyle>
          <a:p>
            <a:pPr>
              <a:lnSpc>
                <a:spcPct val="180000"/>
              </a:lnSpc>
            </a:pPr>
            <a:r>
              <a:rPr lang="en-US" altLang="zh-CN" dirty="0"/>
              <a:t>2</a:t>
            </a:r>
            <a:r>
              <a:rPr lang="zh-CN" altLang="en-US" dirty="0"/>
              <a:t>、微指令格式的分类</a:t>
            </a:r>
            <a:endParaRPr lang="en-US" altLang="zh-CN" dirty="0"/>
          </a:p>
        </p:txBody>
      </p:sp>
      <p:sp>
        <p:nvSpPr>
          <p:cNvPr id="14" name="文本框 13">
            <a:extLst>
              <a:ext uri="{FF2B5EF4-FFF2-40B4-BE49-F238E27FC236}">
                <a16:creationId xmlns:a16="http://schemas.microsoft.com/office/drawing/2014/main" id="{BC354B03-DBCC-47C8-A9AB-BE3B709CDD48}"/>
              </a:ext>
            </a:extLst>
          </p:cNvPr>
          <p:cNvSpPr txBox="1"/>
          <p:nvPr/>
        </p:nvSpPr>
        <p:spPr>
          <a:xfrm>
            <a:off x="489599" y="2100343"/>
            <a:ext cx="1735441" cy="637675"/>
          </a:xfrm>
          <a:prstGeom prst="rect">
            <a:avLst/>
          </a:prstGeom>
          <a:noFill/>
        </p:spPr>
        <p:txBody>
          <a:bodyPr wrap="square" rtlCol="0">
            <a:spAutoFit/>
          </a:bodyPr>
          <a:lstStyle/>
          <a:p>
            <a:pPr>
              <a:lnSpc>
                <a:spcPct val="150000"/>
              </a:lnSpc>
              <a:defRPr/>
            </a:pPr>
            <a:r>
              <a:rPr lang="zh-CN" altLang="en-US" sz="2800" b="1" dirty="0">
                <a:latin typeface="楷体" panose="02010609060101010101" pitchFamily="49" charset="-122"/>
                <a:ea typeface="楷体" panose="02010609060101010101" pitchFamily="49" charset="-122"/>
              </a:rPr>
              <a:t>分为三种 </a:t>
            </a:r>
            <a:endParaRPr lang="en-US" altLang="zh-CN" sz="2800" b="1" dirty="0">
              <a:latin typeface="楷体" panose="02010609060101010101" pitchFamily="49" charset="-122"/>
              <a:ea typeface="楷体" panose="02010609060101010101" pitchFamily="49" charset="-122"/>
            </a:endParaRPr>
          </a:p>
        </p:txBody>
      </p:sp>
      <p:sp>
        <p:nvSpPr>
          <p:cNvPr id="15" name="文本框 14">
            <a:extLst>
              <a:ext uri="{FF2B5EF4-FFF2-40B4-BE49-F238E27FC236}">
                <a16:creationId xmlns:a16="http://schemas.microsoft.com/office/drawing/2014/main" id="{6F88D919-7021-4C4C-86EA-094C3B442059}"/>
              </a:ext>
            </a:extLst>
          </p:cNvPr>
          <p:cNvSpPr txBox="1"/>
          <p:nvPr/>
        </p:nvSpPr>
        <p:spPr>
          <a:xfrm>
            <a:off x="130737" y="3407427"/>
            <a:ext cx="8882526" cy="3061416"/>
          </a:xfrm>
          <a:prstGeom prst="rect">
            <a:avLst/>
          </a:prstGeom>
          <a:noFill/>
        </p:spPr>
        <p:txBody>
          <a:bodyPr wrap="square" rtlCol="0">
            <a:spAutoFit/>
          </a:bodyPr>
          <a:lstStyle>
            <a:defPPr>
              <a:defRPr lang="en-US"/>
            </a:defPPr>
            <a:lvl1pPr>
              <a:lnSpc>
                <a:spcPct val="150000"/>
              </a:lnSpc>
              <a:defRPr sz="2800" b="1">
                <a:solidFill>
                  <a:srgbClr val="0563C1"/>
                </a:solidFill>
                <a:latin typeface="楷体" panose="02010609060101010101" pitchFamily="49" charset="-122"/>
                <a:ea typeface="楷体" panose="02010609060101010101" pitchFamily="49" charset="-122"/>
              </a:defRPr>
            </a:lvl1pPr>
          </a:lstStyle>
          <a:p>
            <a:pPr>
              <a:lnSpc>
                <a:spcPct val="180000"/>
              </a:lnSpc>
            </a:pPr>
            <a:r>
              <a:rPr lang="zh-CN" altLang="en-US" dirty="0">
                <a:solidFill>
                  <a:schemeClr val="accent2"/>
                </a:solidFill>
              </a:rPr>
              <a:t>① 垂直型微命令</a:t>
            </a:r>
            <a:endParaRPr lang="en-US" altLang="zh-CN" dirty="0">
              <a:solidFill>
                <a:schemeClr val="accent2"/>
              </a:solidFill>
            </a:endParaRPr>
          </a:p>
          <a:p>
            <a:pPr>
              <a:lnSpc>
                <a:spcPct val="180000"/>
              </a:lnSpc>
            </a:pPr>
            <a:r>
              <a:rPr lang="en-US" altLang="zh-CN" dirty="0">
                <a:solidFill>
                  <a:schemeClr val="accent2"/>
                </a:solidFill>
              </a:rPr>
              <a:t>   </a:t>
            </a:r>
            <a:r>
              <a:rPr lang="zh-CN" altLang="en-US" dirty="0">
                <a:solidFill>
                  <a:schemeClr val="tx1"/>
                </a:solidFill>
              </a:rPr>
              <a:t>如果每条微指令只定义并执行一种基本操作，例如</a:t>
            </a:r>
            <a:br>
              <a:rPr lang="en-US" altLang="zh-CN" dirty="0">
                <a:solidFill>
                  <a:schemeClr val="tx1"/>
                </a:solidFill>
              </a:rPr>
            </a:br>
            <a:r>
              <a:rPr lang="en-US" altLang="zh-CN" dirty="0">
                <a:solidFill>
                  <a:schemeClr val="tx1"/>
                </a:solidFill>
              </a:rPr>
              <a:t>   </a:t>
            </a:r>
            <a:r>
              <a:rPr lang="zh-CN" altLang="en-US" dirty="0">
                <a:solidFill>
                  <a:schemeClr val="tx1"/>
                </a:solidFill>
              </a:rPr>
              <a:t>使某组代码从某个源部件传送至一个或数个目的部</a:t>
            </a:r>
            <a:br>
              <a:rPr lang="en-US" altLang="zh-CN" dirty="0">
                <a:solidFill>
                  <a:schemeClr val="tx1"/>
                </a:solidFill>
              </a:rPr>
            </a:br>
            <a:r>
              <a:rPr lang="en-US" altLang="zh-CN" dirty="0">
                <a:solidFill>
                  <a:schemeClr val="tx1"/>
                </a:solidFill>
              </a:rPr>
              <a:t>   </a:t>
            </a:r>
            <a:r>
              <a:rPr lang="zh-CN" altLang="en-US" dirty="0">
                <a:solidFill>
                  <a:schemeClr val="tx1"/>
                </a:solidFill>
              </a:rPr>
              <a:t>件，则是典型的垂直微指令。</a:t>
            </a:r>
          </a:p>
        </p:txBody>
      </p:sp>
    </p:spTree>
    <p:extLst>
      <p:ext uri="{BB962C8B-B14F-4D97-AF65-F5344CB8AC3E}">
        <p14:creationId xmlns:p14="http://schemas.microsoft.com/office/powerpoint/2010/main" val="327941697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wipe(left)">
                                      <p:cBhvr>
                                        <p:cTn id="12" dur="5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up)">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
                                            <p:txEl>
                                              <p:pRg st="0" end="0"/>
                                            </p:txEl>
                                          </p:spTgt>
                                        </p:tgtEl>
                                        <p:attrNameLst>
                                          <p:attrName>style.visibility</p:attrName>
                                        </p:attrNameLst>
                                      </p:cBhvr>
                                      <p:to>
                                        <p:strVal val="visible"/>
                                      </p:to>
                                    </p:set>
                                    <p:animEffect transition="in" filter="wipe(left)">
                                      <p:cBhvr>
                                        <p:cTn id="22" dur="500"/>
                                        <p:tgtEl>
                                          <p:spTgt spid="1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
                                            <p:txEl>
                                              <p:pRg st="1" end="1"/>
                                            </p:txEl>
                                          </p:spTgt>
                                        </p:tgtEl>
                                        <p:attrNameLst>
                                          <p:attrName>style.visibility</p:attrName>
                                        </p:attrNameLst>
                                      </p:cBhvr>
                                      <p:to>
                                        <p:strVal val="visible"/>
                                      </p:to>
                                    </p:set>
                                    <p:animEffect transition="in" filter="wipe(left)">
                                      <p:cBhvr>
                                        <p:cTn id="27" dur="500"/>
                                        <p:tgtEl>
                                          <p:spTgt spid="17">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
                                            <p:txEl>
                                              <p:pRg st="2" end="2"/>
                                            </p:txEl>
                                          </p:spTgt>
                                        </p:tgtEl>
                                        <p:attrNameLst>
                                          <p:attrName>style.visibility</p:attrName>
                                        </p:attrNameLst>
                                      </p:cBhvr>
                                      <p:to>
                                        <p:strVal val="visible"/>
                                      </p:to>
                                    </p:set>
                                    <p:animEffect transition="in" filter="wipe(left)">
                                      <p:cBhvr>
                                        <p:cTn id="32" dur="500"/>
                                        <p:tgtEl>
                                          <p:spTgt spid="17">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
                                            <p:txEl>
                                              <p:pRg st="0" end="0"/>
                                            </p:txEl>
                                          </p:spTgt>
                                        </p:tgtEl>
                                        <p:attrNameLst>
                                          <p:attrName>style.visibility</p:attrName>
                                        </p:attrNameLst>
                                      </p:cBhvr>
                                      <p:to>
                                        <p:strVal val="visible"/>
                                      </p:to>
                                    </p:set>
                                    <p:animEffect transition="in" filter="wipe(left)">
                                      <p:cBhvr>
                                        <p:cTn id="37" dur="500"/>
                                        <p:tgtEl>
                                          <p:spTgt spid="1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
                                            <p:txEl>
                                              <p:pRg st="1" end="1"/>
                                            </p:txEl>
                                          </p:spTgt>
                                        </p:tgtEl>
                                        <p:attrNameLst>
                                          <p:attrName>style.visibility</p:attrName>
                                        </p:attrNameLst>
                                      </p:cBhvr>
                                      <p:to>
                                        <p:strVal val="visible"/>
                                      </p:to>
                                    </p:set>
                                    <p:animEffect transition="in" filter="wipe(left)">
                                      <p:cBhvr>
                                        <p:cTn id="42" dur="5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9" grpId="0"/>
      <p:bldP spid="14" grpId="0" build="p"/>
      <p:bldP spid="1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五、微指令格式</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19</a:t>
            </a:fld>
            <a:endParaRPr lang="zh-CN" altLang="en-US"/>
          </a:p>
        </p:txBody>
      </p:sp>
      <p:sp>
        <p:nvSpPr>
          <p:cNvPr id="20" name="文本框 19">
            <a:extLst>
              <a:ext uri="{FF2B5EF4-FFF2-40B4-BE49-F238E27FC236}">
                <a16:creationId xmlns:a16="http://schemas.microsoft.com/office/drawing/2014/main" id="{C334C761-31FF-4E85-93CE-AA013BA08698}"/>
              </a:ext>
            </a:extLst>
          </p:cNvPr>
          <p:cNvSpPr txBox="1"/>
          <p:nvPr/>
        </p:nvSpPr>
        <p:spPr>
          <a:xfrm>
            <a:off x="191933" y="829582"/>
            <a:ext cx="8882526" cy="1938992"/>
          </a:xfrm>
          <a:prstGeom prst="rect">
            <a:avLst/>
          </a:prstGeom>
          <a:noFill/>
        </p:spPr>
        <p:txBody>
          <a:bodyPr wrap="square" rtlCol="0">
            <a:spAutoFit/>
          </a:bodyPr>
          <a:lstStyle>
            <a:defPPr>
              <a:defRPr lang="en-US"/>
            </a:defPPr>
            <a:lvl1pPr>
              <a:lnSpc>
                <a:spcPct val="150000"/>
              </a:lnSpc>
              <a:defRPr sz="2800" b="1">
                <a:solidFill>
                  <a:srgbClr val="0563C1"/>
                </a:solidFill>
                <a:latin typeface="楷体" panose="02010609060101010101" pitchFamily="49" charset="-122"/>
                <a:ea typeface="楷体" panose="02010609060101010101" pitchFamily="49" charset="-122"/>
              </a:defRPr>
            </a:lvl1pPr>
          </a:lstStyle>
          <a:p>
            <a:pPr>
              <a:lnSpc>
                <a:spcPct val="100000"/>
              </a:lnSpc>
            </a:pPr>
            <a:r>
              <a:rPr lang="zh-CN" altLang="en-US" sz="2400" dirty="0">
                <a:solidFill>
                  <a:schemeClr val="tx1"/>
                </a:solidFill>
              </a:rPr>
              <a:t>如：</a:t>
            </a:r>
            <a:r>
              <a:rPr lang="en-US" altLang="zh-CN" sz="2400" dirty="0">
                <a:solidFill>
                  <a:schemeClr val="tx1"/>
                </a:solidFill>
              </a:rPr>
              <a:t>-</a:t>
            </a:r>
            <a:r>
              <a:rPr lang="zh-CN" altLang="en-US" sz="2400" dirty="0">
                <a:solidFill>
                  <a:schemeClr val="tx1"/>
                </a:solidFill>
              </a:rPr>
              <a:t>（</a:t>
            </a:r>
            <a:r>
              <a:rPr lang="en-US" altLang="zh-CN" sz="2400" dirty="0">
                <a:solidFill>
                  <a:schemeClr val="tx1"/>
                </a:solidFill>
              </a:rPr>
              <a:t>R</a:t>
            </a:r>
            <a:r>
              <a:rPr lang="zh-CN" altLang="en-US" sz="2400" dirty="0">
                <a:solidFill>
                  <a:schemeClr val="tx1"/>
                </a:solidFill>
              </a:rPr>
              <a:t>）型中</a:t>
            </a:r>
            <a:endParaRPr lang="en-US" altLang="zh-CN" sz="2400" dirty="0">
              <a:solidFill>
                <a:schemeClr val="tx1"/>
              </a:solidFill>
            </a:endParaRPr>
          </a:p>
          <a:p>
            <a:pPr>
              <a:lnSpc>
                <a:spcPct val="100000"/>
              </a:lnSpc>
            </a:pPr>
            <a:r>
              <a:rPr lang="en-US" altLang="zh-CN" sz="2400" dirty="0">
                <a:solidFill>
                  <a:schemeClr val="tx1"/>
                </a:solidFill>
              </a:rPr>
              <a:t>ST0  R</a:t>
            </a:r>
            <a:r>
              <a:rPr lang="en-US" altLang="zh-CN" sz="2400" baseline="-25000" dirty="0">
                <a:solidFill>
                  <a:schemeClr val="tx1"/>
                </a:solidFill>
              </a:rPr>
              <a:t>i</a:t>
            </a:r>
            <a:r>
              <a:rPr lang="en-US" altLang="zh-CN" sz="2400" dirty="0">
                <a:solidFill>
                  <a:schemeClr val="tx1"/>
                </a:solidFill>
              </a:rPr>
              <a:t>-1→R</a:t>
            </a:r>
            <a:r>
              <a:rPr lang="en-US" altLang="zh-CN" sz="2400" baseline="-25000" dirty="0">
                <a:solidFill>
                  <a:schemeClr val="tx1"/>
                </a:solidFill>
              </a:rPr>
              <a:t>i</a:t>
            </a:r>
            <a:r>
              <a:rPr lang="zh-CN" altLang="en-US" sz="2400" dirty="0">
                <a:solidFill>
                  <a:schemeClr val="tx1"/>
                </a:solidFill>
              </a:rPr>
              <a:t>，</a:t>
            </a:r>
            <a:r>
              <a:rPr lang="en-US" altLang="zh-CN" sz="2400" dirty="0">
                <a:solidFill>
                  <a:schemeClr val="tx1"/>
                </a:solidFill>
              </a:rPr>
              <a:t>MAR    </a:t>
            </a:r>
            <a:r>
              <a:rPr lang="en-US" altLang="zh-CN" sz="2400" dirty="0" err="1">
                <a:solidFill>
                  <a:schemeClr val="tx1"/>
                </a:solidFill>
              </a:rPr>
              <a:t>Ri→A</a:t>
            </a:r>
            <a:r>
              <a:rPr lang="en-US" altLang="zh-CN" sz="2400" dirty="0">
                <a:solidFill>
                  <a:schemeClr val="tx1"/>
                </a:solidFill>
              </a:rPr>
              <a:t>/B</a:t>
            </a:r>
          </a:p>
          <a:p>
            <a:pPr>
              <a:lnSpc>
                <a:spcPct val="100000"/>
              </a:lnSpc>
            </a:pPr>
            <a:r>
              <a:rPr lang="zh-CN" altLang="en-US" sz="2400" dirty="0">
                <a:solidFill>
                  <a:schemeClr val="tx1"/>
                </a:solidFill>
              </a:rPr>
              <a:t>                    在</a:t>
            </a:r>
            <a:r>
              <a:rPr lang="en-US" altLang="zh-CN" sz="2400" dirty="0">
                <a:solidFill>
                  <a:schemeClr val="tx1"/>
                </a:solidFill>
              </a:rPr>
              <a:t>ALU</a:t>
            </a:r>
            <a:r>
              <a:rPr lang="zh-CN" altLang="en-US" sz="2400" dirty="0">
                <a:solidFill>
                  <a:schemeClr val="tx1"/>
                </a:solidFill>
              </a:rPr>
              <a:t>中</a:t>
            </a:r>
            <a:r>
              <a:rPr lang="en-US" altLang="zh-CN" sz="2400" dirty="0">
                <a:solidFill>
                  <a:schemeClr val="tx1"/>
                </a:solidFill>
              </a:rPr>
              <a:t>-1</a:t>
            </a:r>
          </a:p>
          <a:p>
            <a:pPr>
              <a:lnSpc>
                <a:spcPct val="100000"/>
              </a:lnSpc>
            </a:pPr>
            <a:r>
              <a:rPr lang="en-US" altLang="zh-CN" sz="2400" dirty="0">
                <a:solidFill>
                  <a:schemeClr val="tx1"/>
                </a:solidFill>
              </a:rPr>
              <a:t>                       DM                    </a:t>
            </a:r>
            <a:r>
              <a:rPr lang="en-US" altLang="zh-CN" sz="2400" dirty="0" err="1">
                <a:solidFill>
                  <a:schemeClr val="tx1"/>
                </a:solidFill>
              </a:rPr>
              <a:t>CPMAR,CPRi</a:t>
            </a:r>
            <a:endParaRPr lang="en-US" altLang="zh-CN" sz="2400" dirty="0">
              <a:solidFill>
                <a:schemeClr val="tx1"/>
              </a:solidFill>
            </a:endParaRPr>
          </a:p>
          <a:p>
            <a:pPr>
              <a:lnSpc>
                <a:spcPct val="100000"/>
              </a:lnSpc>
            </a:pPr>
            <a:r>
              <a:rPr lang="en-US" altLang="zh-CN" sz="2400" dirty="0">
                <a:solidFill>
                  <a:schemeClr val="tx1"/>
                </a:solidFill>
              </a:rPr>
              <a:t>                       T+1                    CPT</a:t>
            </a:r>
            <a:endParaRPr lang="zh-CN" altLang="en-US" sz="2400" dirty="0">
              <a:solidFill>
                <a:schemeClr val="tx1"/>
              </a:solidFill>
            </a:endParaRPr>
          </a:p>
        </p:txBody>
      </p:sp>
      <p:sp>
        <p:nvSpPr>
          <p:cNvPr id="23" name="文本框 22">
            <a:extLst>
              <a:ext uri="{FF2B5EF4-FFF2-40B4-BE49-F238E27FC236}">
                <a16:creationId xmlns:a16="http://schemas.microsoft.com/office/drawing/2014/main" id="{39F60F13-4052-4AB9-B078-F13548B89EF3}"/>
              </a:ext>
            </a:extLst>
          </p:cNvPr>
          <p:cNvSpPr txBox="1"/>
          <p:nvPr/>
        </p:nvSpPr>
        <p:spPr>
          <a:xfrm>
            <a:off x="130737" y="2626377"/>
            <a:ext cx="8882526" cy="3699090"/>
          </a:xfrm>
          <a:prstGeom prst="rect">
            <a:avLst/>
          </a:prstGeom>
          <a:noFill/>
        </p:spPr>
        <p:txBody>
          <a:bodyPr wrap="square" rtlCol="0">
            <a:spAutoFit/>
          </a:bodyPr>
          <a:lstStyle>
            <a:defPPr>
              <a:defRPr lang="en-US"/>
            </a:defPPr>
            <a:lvl1pPr>
              <a:lnSpc>
                <a:spcPct val="150000"/>
              </a:lnSpc>
              <a:defRPr sz="2800" b="1">
                <a:solidFill>
                  <a:srgbClr val="0563C1"/>
                </a:solidFill>
                <a:latin typeface="楷体" panose="02010609060101010101" pitchFamily="49" charset="-122"/>
                <a:ea typeface="楷体" panose="02010609060101010101" pitchFamily="49" charset="-122"/>
              </a:defRPr>
            </a:lvl1pPr>
          </a:lstStyle>
          <a:p>
            <a:r>
              <a:rPr lang="zh-CN" altLang="en-US" dirty="0">
                <a:solidFill>
                  <a:schemeClr val="accent2"/>
                </a:solidFill>
              </a:rPr>
              <a:t>② 水平型微命令：</a:t>
            </a:r>
            <a:r>
              <a:rPr lang="zh-CN" altLang="en-US" dirty="0">
                <a:solidFill>
                  <a:schemeClr val="tx1"/>
                </a:solidFill>
              </a:rPr>
              <a:t>如果每条微指令定义并执行集中并行的基本操作，例如一次就能让两组以上信息从各自的源部件传送至它们的目的部件，则是典型的水平型微指令。</a:t>
            </a:r>
            <a:endParaRPr lang="en-US" altLang="zh-CN" dirty="0">
              <a:solidFill>
                <a:schemeClr val="tx1"/>
              </a:solidFill>
            </a:endParaRPr>
          </a:p>
          <a:p>
            <a:r>
              <a:rPr lang="zh-CN" altLang="en-US" sz="2400" dirty="0">
                <a:solidFill>
                  <a:schemeClr val="tx1"/>
                </a:solidFill>
              </a:rPr>
              <a:t>如：</a:t>
            </a:r>
            <a:r>
              <a:rPr lang="en-US" altLang="zh-CN" sz="2400" dirty="0">
                <a:solidFill>
                  <a:schemeClr val="tx1"/>
                </a:solidFill>
              </a:rPr>
              <a:t>FT</a:t>
            </a:r>
            <a:r>
              <a:rPr lang="zh-CN" altLang="en-US" sz="2400" dirty="0">
                <a:solidFill>
                  <a:schemeClr val="tx1"/>
                </a:solidFill>
              </a:rPr>
              <a:t>中：</a:t>
            </a:r>
            <a:r>
              <a:rPr lang="en-US" altLang="zh-CN" sz="2400" dirty="0">
                <a:solidFill>
                  <a:schemeClr val="tx1"/>
                </a:solidFill>
              </a:rPr>
              <a:t>M→IR</a:t>
            </a:r>
            <a:r>
              <a:rPr lang="zh-CN" altLang="en-US" sz="2400" dirty="0">
                <a:solidFill>
                  <a:schemeClr val="tx1"/>
                </a:solidFill>
              </a:rPr>
              <a:t>， 即</a:t>
            </a:r>
            <a:r>
              <a:rPr lang="en-US" altLang="zh-CN" sz="2400" dirty="0">
                <a:solidFill>
                  <a:schemeClr val="tx1"/>
                </a:solidFill>
              </a:rPr>
              <a:t>EMAR</a:t>
            </a:r>
            <a:r>
              <a:rPr lang="zh-CN" altLang="en-US" sz="2400" dirty="0">
                <a:solidFill>
                  <a:schemeClr val="tx1"/>
                </a:solidFill>
              </a:rPr>
              <a:t>，</a:t>
            </a:r>
            <a:r>
              <a:rPr lang="en-US" altLang="zh-CN" sz="2400" dirty="0">
                <a:solidFill>
                  <a:schemeClr val="tx1"/>
                </a:solidFill>
              </a:rPr>
              <a:t>R </a:t>
            </a:r>
            <a:r>
              <a:rPr lang="zh-CN" altLang="en-US" sz="2400" dirty="0">
                <a:solidFill>
                  <a:schemeClr val="tx1"/>
                </a:solidFill>
              </a:rPr>
              <a:t>，</a:t>
            </a:r>
            <a:r>
              <a:rPr lang="en-US" altLang="zh-CN" sz="2400" dirty="0">
                <a:solidFill>
                  <a:schemeClr val="tx1"/>
                </a:solidFill>
              </a:rPr>
              <a:t>SIR </a:t>
            </a:r>
            <a:r>
              <a:rPr lang="zh-CN" altLang="en-US" sz="2400" dirty="0">
                <a:solidFill>
                  <a:schemeClr val="tx1"/>
                </a:solidFill>
              </a:rPr>
              <a:t>，同时， </a:t>
            </a:r>
            <a:br>
              <a:rPr lang="en-US" altLang="zh-CN" sz="2400" dirty="0">
                <a:solidFill>
                  <a:schemeClr val="tx1"/>
                </a:solidFill>
              </a:rPr>
            </a:br>
            <a:r>
              <a:rPr lang="en-US" altLang="zh-CN" sz="2400" dirty="0">
                <a:solidFill>
                  <a:schemeClr val="tx1"/>
                </a:solidFill>
              </a:rPr>
              <a:t>    PC+1→PC</a:t>
            </a:r>
            <a:r>
              <a:rPr lang="zh-CN" altLang="en-US" sz="2400" dirty="0">
                <a:solidFill>
                  <a:schemeClr val="tx1"/>
                </a:solidFill>
              </a:rPr>
              <a:t>，即</a:t>
            </a:r>
            <a:r>
              <a:rPr lang="en-US" altLang="zh-CN" sz="2400" dirty="0">
                <a:solidFill>
                  <a:schemeClr val="tx1"/>
                </a:solidFill>
              </a:rPr>
              <a:t>PC→A </a:t>
            </a:r>
            <a:r>
              <a:rPr lang="zh-CN" altLang="en-US" sz="2400" dirty="0">
                <a:solidFill>
                  <a:schemeClr val="tx1"/>
                </a:solidFill>
              </a:rPr>
              <a:t>，</a:t>
            </a:r>
            <a:r>
              <a:rPr lang="en-US" altLang="zh-CN" sz="2400" dirty="0">
                <a:solidFill>
                  <a:schemeClr val="tx1"/>
                </a:solidFill>
              </a:rPr>
              <a:t>ALU+1</a:t>
            </a:r>
            <a:r>
              <a:rPr lang="zh-CN" altLang="en-US" sz="2400" dirty="0">
                <a:solidFill>
                  <a:schemeClr val="tx1"/>
                </a:solidFill>
              </a:rPr>
              <a:t> ，</a:t>
            </a:r>
            <a:r>
              <a:rPr lang="en-US" altLang="zh-CN" sz="2400" dirty="0">
                <a:solidFill>
                  <a:schemeClr val="tx1"/>
                </a:solidFill>
              </a:rPr>
              <a:t>DM ,CPPC </a:t>
            </a:r>
            <a:endParaRPr lang="zh-CN" altLang="en-US" sz="2400" dirty="0">
              <a:solidFill>
                <a:schemeClr val="tx1"/>
              </a:solidFill>
            </a:endParaRPr>
          </a:p>
        </p:txBody>
      </p:sp>
    </p:spTree>
    <p:extLst>
      <p:ext uri="{BB962C8B-B14F-4D97-AF65-F5344CB8AC3E}">
        <p14:creationId xmlns:p14="http://schemas.microsoft.com/office/powerpoint/2010/main" val="240639521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xEl>
                                              <p:pRg st="0" end="0"/>
                                            </p:txEl>
                                          </p:spTgt>
                                        </p:tgtEl>
                                        <p:attrNameLst>
                                          <p:attrName>style.visibility</p:attrName>
                                        </p:attrNameLst>
                                      </p:cBhvr>
                                      <p:to>
                                        <p:strVal val="visible"/>
                                      </p:to>
                                    </p:set>
                                    <p:animEffect transition="in" filter="wipe(left)">
                                      <p:cBhvr>
                                        <p:cTn id="12" dur="500"/>
                                        <p:tgtEl>
                                          <p:spTgt spid="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xEl>
                                              <p:pRg st="1" end="1"/>
                                            </p:txEl>
                                          </p:spTgt>
                                        </p:tgtEl>
                                        <p:attrNameLst>
                                          <p:attrName>style.visibility</p:attrName>
                                        </p:attrNameLst>
                                      </p:cBhvr>
                                      <p:to>
                                        <p:strVal val="visible"/>
                                      </p:to>
                                    </p:set>
                                    <p:animEffect transition="in" filter="wipe(left)">
                                      <p:cBhvr>
                                        <p:cTn id="17" dur="500"/>
                                        <p:tgtEl>
                                          <p:spTgt spid="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综合应用题</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20</a:t>
            </a:fld>
            <a:endParaRPr lang="zh-CN" altLang="en-US"/>
          </a:p>
        </p:txBody>
      </p:sp>
      <p:pic>
        <p:nvPicPr>
          <p:cNvPr id="2" name="图片 1">
            <a:extLst>
              <a:ext uri="{FF2B5EF4-FFF2-40B4-BE49-F238E27FC236}">
                <a16:creationId xmlns:a16="http://schemas.microsoft.com/office/drawing/2014/main" id="{C23426C4-5C56-4070-B29E-520BD2EE2C58}"/>
              </a:ext>
            </a:extLst>
          </p:cNvPr>
          <p:cNvPicPr>
            <a:picLocks noChangeAspect="1"/>
          </p:cNvPicPr>
          <p:nvPr/>
        </p:nvPicPr>
        <p:blipFill>
          <a:blip r:embed="rId5"/>
          <a:stretch>
            <a:fillRect/>
          </a:stretch>
        </p:blipFill>
        <p:spPr>
          <a:xfrm>
            <a:off x="-9525" y="869366"/>
            <a:ext cx="9144000" cy="5417949"/>
          </a:xfrm>
          <a:prstGeom prst="rect">
            <a:avLst/>
          </a:prstGeom>
        </p:spPr>
      </p:pic>
    </p:spTree>
    <p:extLst>
      <p:ext uri="{BB962C8B-B14F-4D97-AF65-F5344CB8AC3E}">
        <p14:creationId xmlns:p14="http://schemas.microsoft.com/office/powerpoint/2010/main" val="359825914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综合应用题</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E412823-0850-4CD9-B4B9-1D8595131F5D}" type="datetime1">
              <a:rPr lang="zh-CN" altLang="en-US" smtClean="0"/>
              <a:t>2026/8/24</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21</a:t>
            </a:fld>
            <a:endParaRPr lang="zh-CN" altLang="en-US"/>
          </a:p>
        </p:txBody>
      </p:sp>
      <p:pic>
        <p:nvPicPr>
          <p:cNvPr id="9" name="图片 8">
            <a:extLst>
              <a:ext uri="{FF2B5EF4-FFF2-40B4-BE49-F238E27FC236}">
                <a16:creationId xmlns:a16="http://schemas.microsoft.com/office/drawing/2014/main" id="{7028A5FC-5484-439B-84D1-DB309F8AC1A0}"/>
              </a:ext>
            </a:extLst>
          </p:cNvPr>
          <p:cNvPicPr>
            <a:picLocks noChangeAspect="1"/>
          </p:cNvPicPr>
          <p:nvPr/>
        </p:nvPicPr>
        <p:blipFill>
          <a:blip r:embed="rId5"/>
          <a:stretch>
            <a:fillRect/>
          </a:stretch>
        </p:blipFill>
        <p:spPr>
          <a:xfrm>
            <a:off x="1049864" y="830049"/>
            <a:ext cx="7062874" cy="5909606"/>
          </a:xfrm>
          <a:prstGeom prst="rect">
            <a:avLst/>
          </a:prstGeom>
        </p:spPr>
      </p:pic>
    </p:spTree>
    <p:extLst>
      <p:ext uri="{BB962C8B-B14F-4D97-AF65-F5344CB8AC3E}">
        <p14:creationId xmlns:p14="http://schemas.microsoft.com/office/powerpoint/2010/main" val="232516142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5" name="矩形 4"/>
          <p:cNvSpPr/>
          <p:nvPr/>
        </p:nvSpPr>
        <p:spPr>
          <a:xfrm>
            <a:off x="-11990" y="8050"/>
            <a:ext cx="9181652" cy="6901031"/>
          </a:xfrm>
          <a:prstGeom prst="rect">
            <a:avLst/>
          </a:prstGeom>
          <a:solidFill>
            <a:schemeClr val="bg1">
              <a:alpha val="5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2298198" y="3054281"/>
            <a:ext cx="4579144" cy="0"/>
          </a:xfrm>
          <a:prstGeom prst="line">
            <a:avLst/>
          </a:prstGeom>
          <a:ln w="19050">
            <a:solidFill>
              <a:srgbClr val="004098"/>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293131" y="3196018"/>
            <a:ext cx="4579143" cy="645160"/>
          </a:xfrm>
          <a:prstGeom prst="rect">
            <a:avLst/>
          </a:prstGeom>
          <a:noFill/>
        </p:spPr>
        <p:txBody>
          <a:bodyPr wrap="square" rtlCol="0">
            <a:spAutoFit/>
          </a:bodyPr>
          <a:lstStyle/>
          <a:p>
            <a:pPr algn="ctr" defTabSz="685800">
              <a:defRPr/>
            </a:pPr>
            <a:r>
              <a:rPr lang="zh-CN" altLang="en-US" sz="3600" b="1" dirty="0">
                <a:solidFill>
                  <a:srgbClr val="004578"/>
                </a:solidFill>
                <a:latin typeface="微软雅黑" panose="020B0503020204020204" pitchFamily="34" charset="-122"/>
                <a:ea typeface="微软雅黑" panose="020B0503020204020204" pitchFamily="34" charset="-122"/>
              </a:rPr>
              <a:t>谢谢观看</a:t>
            </a:r>
          </a:p>
        </p:txBody>
      </p:sp>
      <p:cxnSp>
        <p:nvCxnSpPr>
          <p:cNvPr id="16" name="直接连接符 15"/>
          <p:cNvCxnSpPr/>
          <p:nvPr/>
        </p:nvCxnSpPr>
        <p:spPr>
          <a:xfrm>
            <a:off x="2293131" y="3977456"/>
            <a:ext cx="4579144" cy="0"/>
          </a:xfrm>
          <a:prstGeom prst="line">
            <a:avLst/>
          </a:prstGeom>
          <a:ln w="19050">
            <a:solidFill>
              <a:srgbClr val="004098"/>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2293131" y="4121256"/>
            <a:ext cx="4579144" cy="523220"/>
          </a:xfrm>
          <a:prstGeom prst="rect">
            <a:avLst/>
          </a:prstGeom>
          <a:noFill/>
        </p:spPr>
        <p:txBody>
          <a:bodyPr wrap="square" rtlCol="0">
            <a:spAutoFit/>
          </a:bodyPr>
          <a:lstStyle>
            <a:defPPr>
              <a:defRPr lang="zh-CN"/>
            </a:defPPr>
            <a:lvl1pPr algn="ctr">
              <a:defRPr>
                <a:solidFill>
                  <a:prstClr val="black"/>
                </a:solidFill>
                <a:latin typeface="微软雅黑" panose="020B0503020204020204" pitchFamily="34" charset="-122"/>
                <a:ea typeface="微软雅黑" panose="020B0503020204020204" pitchFamily="34" charset="-122"/>
              </a:defRPr>
            </a:lvl1pPr>
          </a:lstStyle>
          <a:p>
            <a:r>
              <a:rPr lang="zh-CN" altLang="en-US" sz="2800" b="1" dirty="0">
                <a:solidFill>
                  <a:srgbClr val="004578"/>
                </a:solidFill>
              </a:rPr>
              <a:t>计算机组成原理</a:t>
            </a:r>
          </a:p>
        </p:txBody>
      </p:sp>
      <p:cxnSp>
        <p:nvCxnSpPr>
          <p:cNvPr id="19" name="直接连接符 18"/>
          <p:cNvCxnSpPr/>
          <p:nvPr/>
        </p:nvCxnSpPr>
        <p:spPr>
          <a:xfrm>
            <a:off x="238316" y="6407901"/>
            <a:ext cx="400458" cy="0"/>
          </a:xfrm>
          <a:prstGeom prst="line">
            <a:avLst/>
          </a:prstGeom>
          <a:ln w="28575">
            <a:solidFill>
              <a:srgbClr val="004098"/>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76100" y="1398382"/>
            <a:ext cx="1591799" cy="1584000"/>
          </a:xfrm>
          <a:prstGeom prst="rect">
            <a:avLst/>
          </a:prstGeom>
        </p:spPr>
      </p:pic>
      <p:pic>
        <p:nvPicPr>
          <p:cNvPr id="15" name="图片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73954" y="6236297"/>
            <a:ext cx="621635"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6"/>
          <p:cNvSpPr txBox="1">
            <a:spLocks noChangeArrowheads="1"/>
          </p:cNvSpPr>
          <p:nvPr/>
        </p:nvSpPr>
        <p:spPr bwMode="auto">
          <a:xfrm>
            <a:off x="6715450" y="6274229"/>
            <a:ext cx="3092999" cy="5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1600" b="1" dirty="0">
                <a:solidFill>
                  <a:srgbClr val="0070C0"/>
                </a:solidFill>
                <a:latin typeface="华文行楷" panose="02010800040101010101" pitchFamily="2" charset="-122"/>
                <a:ea typeface="华文行楷" panose="02010800040101010101" pitchFamily="2" charset="-122"/>
              </a:rPr>
              <a:t>信息与软件工程学院</a:t>
            </a:r>
            <a:endParaRPr lang="en-US" altLang="zh-CN" sz="1600" b="1" dirty="0">
              <a:solidFill>
                <a:srgbClr val="0070C0"/>
              </a:solidFill>
              <a:latin typeface="华文行楷" panose="02010800040101010101" pitchFamily="2" charset="-122"/>
              <a:ea typeface="华文行楷" panose="02010800040101010101" pitchFamily="2" charset="-122"/>
            </a:endParaRPr>
          </a:p>
          <a:p>
            <a:pPr eaLnBrk="1" hangingPunct="1">
              <a:lnSpc>
                <a:spcPct val="100000"/>
              </a:lnSpc>
              <a:spcBef>
                <a:spcPct val="0"/>
              </a:spcBef>
              <a:buFontTx/>
              <a:buNone/>
            </a:pPr>
            <a:r>
              <a:rPr lang="en-US" altLang="zh-CN" sz="1000" b="1" dirty="0">
                <a:solidFill>
                  <a:srgbClr val="0070C0"/>
                </a:solidFill>
                <a:latin typeface="华文隶书" panose="02010800040101010101" pitchFamily="2" charset="-122"/>
                <a:ea typeface="华文隶书" panose="02010800040101010101" pitchFamily="2" charset="-122"/>
              </a:rPr>
              <a:t>School of Information and Software Engineering</a:t>
            </a:r>
            <a:endParaRPr lang="zh-CN" altLang="en-US" sz="1000" b="1" dirty="0">
              <a:solidFill>
                <a:srgbClr val="0070C0"/>
              </a:solidFill>
              <a:latin typeface="华文隶书" panose="02010800040101010101" pitchFamily="2" charset="-122"/>
              <a:ea typeface="华文隶书" panose="02010800040101010101" pitchFamily="2" charset="-122"/>
            </a:endParaRPr>
          </a:p>
        </p:txBody>
      </p:sp>
      <p:sp>
        <p:nvSpPr>
          <p:cNvPr id="21" name="日期占位符 2"/>
          <p:cNvSpPr>
            <a:spLocks noGrp="1"/>
          </p:cNvSpPr>
          <p:nvPr>
            <p:ph type="dt" sz="half" idx="10"/>
          </p:nvPr>
        </p:nvSpPr>
        <p:spPr>
          <a:xfrm>
            <a:off x="235731" y="6474676"/>
            <a:ext cx="2057400" cy="365125"/>
          </a:xfrm>
        </p:spPr>
        <p:txBody>
          <a:bodyPr/>
          <a:lstStyle/>
          <a:p>
            <a:fld id="{88D359CD-C887-4460-A350-FDDE9A47B3D8}" type="datetime1">
              <a:rPr lang="zh-CN" altLang="en-US" sz="1400" smtClean="0">
                <a:solidFill>
                  <a:schemeClr val="tx1"/>
                </a:solidFill>
              </a:rPr>
              <a:t>2026/8/24</a:t>
            </a:fld>
            <a:endParaRPr lang="zh-CN" altLang="en-US" sz="1400" dirty="0">
              <a:solidFill>
                <a:schemeClr val="tx1"/>
              </a:solidFill>
            </a:endParaRPr>
          </a:p>
        </p:txBody>
      </p:sp>
      <p:sp>
        <p:nvSpPr>
          <p:cNvPr id="3" name="页脚占位符 2"/>
          <p:cNvSpPr>
            <a:spLocks noGrp="1"/>
          </p:cNvSpPr>
          <p:nvPr>
            <p:ph type="ftr" sz="quarter" idx="11"/>
          </p:nvPr>
        </p:nvSpPr>
        <p:spPr/>
        <p:txBody>
          <a:bodyPr/>
          <a:lstStyle/>
          <a:p>
            <a:r>
              <a:rPr lang="zh-CN" altLang="en-US"/>
              <a:t>计算机组成原理</a:t>
            </a:r>
            <a:r>
              <a:rPr lang="en-US" altLang="zh-CN"/>
              <a:t>--</a:t>
            </a:r>
            <a:r>
              <a:rPr lang="zh-CN" altLang="en-US"/>
              <a:t>第三章 中央处理器</a:t>
            </a:r>
          </a:p>
        </p:txBody>
      </p:sp>
      <p:sp>
        <p:nvSpPr>
          <p:cNvPr id="6" name="灯片编号占位符 5"/>
          <p:cNvSpPr>
            <a:spLocks noGrp="1"/>
          </p:cNvSpPr>
          <p:nvPr>
            <p:ph type="sldNum" sz="quarter" idx="12"/>
          </p:nvPr>
        </p:nvSpPr>
        <p:spPr/>
        <p:txBody>
          <a:bodyPr/>
          <a:lstStyle/>
          <a:p>
            <a:fld id="{CD331227-691F-4B7F-8493-F4368ED92163}" type="slidenum">
              <a:rPr lang="zh-CN" altLang="en-US" smtClean="0"/>
              <a:t>22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蓝色简介大气毕业答辩竞赛演讲PPT模板"/>
</p:tagLst>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4551</TotalTime>
  <Words>1722</Words>
  <Application>Microsoft Office PowerPoint</Application>
  <PresentationFormat>全屏显示(4:3)</PresentationFormat>
  <Paragraphs>250</Paragraphs>
  <Slides>22</Slides>
  <Notes>21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22</vt:i4>
      </vt:variant>
    </vt:vector>
  </HeadingPairs>
  <TitlesOfParts>
    <vt:vector size="33" baseType="lpstr">
      <vt:lpstr>等线</vt:lpstr>
      <vt:lpstr>华文隶书</vt:lpstr>
      <vt:lpstr>华文行楷</vt:lpstr>
      <vt:lpstr>楷体</vt:lpstr>
      <vt:lpstr>隶书</vt:lpstr>
      <vt:lpstr>微软雅黑</vt:lpstr>
      <vt:lpstr>Arial</vt:lpstr>
      <vt:lpstr>Calibri</vt:lpstr>
      <vt:lpstr>Calibri Light</vt:lpstr>
      <vt:lpstr>Wingdings</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蓝色简介大气毕业答辩竞赛演讲PPT模板</dc:title>
  <dc:creator>Windows 用户</dc:creator>
  <cp:lastModifiedBy>正华 吴</cp:lastModifiedBy>
  <cp:revision>1314</cp:revision>
  <dcterms:created xsi:type="dcterms:W3CDTF">2018-07-22T02:36:00Z</dcterms:created>
  <dcterms:modified xsi:type="dcterms:W3CDTF">2026-08-24T07:40:58Z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2052-11.1.0.9740</vt:lpwstr>
  </property>
</Properties>
</file>