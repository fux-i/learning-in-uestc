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56" r:id="rId2"/>
    <p:sldId id="308" r:id="rId3"/>
    <p:sldId id="257" r:id="rId4"/>
    <p:sldId id="260" r:id="rId5"/>
    <p:sldId id="261" r:id="rId6"/>
    <p:sldId id="262" r:id="rId7"/>
    <p:sldId id="263" r:id="rId8"/>
    <p:sldId id="266" r:id="rId9"/>
    <p:sldId id="267" r:id="rId10"/>
    <p:sldId id="268" r:id="rId11"/>
    <p:sldId id="283" r:id="rId12"/>
    <p:sldId id="323" r:id="rId13"/>
    <p:sldId id="324" r:id="rId14"/>
    <p:sldId id="325" r:id="rId15"/>
    <p:sldId id="326" r:id="rId16"/>
    <p:sldId id="327" r:id="rId17"/>
    <p:sldId id="335" r:id="rId18"/>
    <p:sldId id="365" r:id="rId19"/>
    <p:sldId id="336" r:id="rId20"/>
    <p:sldId id="338" r:id="rId21"/>
    <p:sldId id="339" r:id="rId22"/>
    <p:sldId id="340" r:id="rId23"/>
    <p:sldId id="351" r:id="rId24"/>
    <p:sldId id="352" r:id="rId25"/>
    <p:sldId id="353" r:id="rId26"/>
    <p:sldId id="359" r:id="rId27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0" i="0" u="none" kern="1200" baseline="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0" i="0" u="none" kern="1200" baseline="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0" i="0" u="none" kern="1200" baseline="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0" i="0" u="none" kern="1200" baseline="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0" i="0" u="none" kern="1200" baseline="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0" i="0" u="none" kern="1200" baseline="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0" i="0" u="none" kern="1200" baseline="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0" i="0" u="none" kern="1200" baseline="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0" i="0" u="none" kern="1200" baseline="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99FF"/>
    <a:srgbClr val="FF9900"/>
    <a:srgbClr val="FFFF00"/>
    <a:srgbClr val="99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82"/>
    <p:restoredTop sz="94660"/>
  </p:normalViewPr>
  <p:slideViewPr>
    <p:cSldViewPr showGuides="1">
      <p:cViewPr varScale="1">
        <p:scale>
          <a:sx n="78" d="100"/>
          <a:sy n="78" d="100"/>
        </p:scale>
        <p:origin x="1459" y="62"/>
      </p:cViewPr>
      <p:guideLst>
        <p:guide orient="horz" pos="219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154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ffectLst/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05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ffectLst/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2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105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1105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ffectLst/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05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effectLst/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A66CA22-F760-4980-8E40-804A31F35886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fld>
            <a:endParaRPr lang="en-US" altLang="zh-CN" sz="1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99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fld>
            <a:endParaRPr lang="en-US" altLang="zh-CN" sz="1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7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fld>
            <a:endParaRPr lang="en-US" altLang="zh-CN" sz="1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195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fld>
            <a:endParaRPr lang="en-US" altLang="zh-CN" sz="1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43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fld>
            <a:endParaRPr lang="en-US" altLang="zh-CN" sz="1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291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fld>
            <a:endParaRPr lang="en-US" altLang="zh-CN" sz="1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339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fld>
            <a:endParaRPr lang="en-US" altLang="zh-CN" sz="1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387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fld>
            <a:endParaRPr lang="en-US" altLang="zh-CN" sz="1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531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9</a:t>
            </a:fld>
            <a:endParaRPr lang="en-US" altLang="zh-CN" sz="1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579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fld>
            <a:endParaRPr lang="en-US" altLang="zh-CN" sz="1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627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11</a:t>
            </a:fld>
            <a:endParaRPr lang="en-US" altLang="zh-CN" sz="1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7347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12</a:t>
            </a:fld>
            <a:endParaRPr lang="en-US" altLang="zh-CN" sz="1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5171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5172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13</a:t>
            </a:fld>
            <a:endParaRPr lang="en-US" altLang="zh-CN" sz="1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7219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7220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14</a:t>
            </a:fld>
            <a:endParaRPr lang="en-US" altLang="zh-CN" sz="1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9267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9268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15</a:t>
            </a:fld>
            <a:endParaRPr lang="en-US" altLang="zh-CN" sz="1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1315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1316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16</a:t>
            </a:fld>
            <a:endParaRPr lang="en-US" altLang="zh-CN" sz="1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3363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64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17</a:t>
            </a:fld>
            <a:endParaRPr lang="en-US" altLang="zh-CN" sz="1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9747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9748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18</a:t>
            </a:fld>
            <a:endParaRPr lang="en-US" altLang="zh-CN" sz="1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1795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1796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19</a:t>
            </a:fld>
            <a:endParaRPr lang="en-US" altLang="zh-CN" sz="1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3843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44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20</a:t>
            </a:fld>
            <a:endParaRPr lang="en-US" altLang="zh-CN" sz="1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5891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5892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21</a:t>
            </a:fld>
            <a:endParaRPr lang="en-US" altLang="zh-CN" sz="1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7939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7940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22</a:t>
            </a:fld>
            <a:endParaRPr lang="en-US" altLang="zh-CN" sz="1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9987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9988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23</a:t>
            </a:fld>
            <a:endParaRPr lang="en-US" altLang="zh-CN" sz="1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2515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2516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24</a:t>
            </a:fld>
            <a:endParaRPr lang="en-US" altLang="zh-CN" sz="1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4563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4564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25</a:t>
            </a:fld>
            <a:endParaRPr lang="en-US" altLang="zh-CN" sz="1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6611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6612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26</a:t>
            </a:fld>
            <a:endParaRPr lang="en-US" altLang="zh-CN" sz="1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8899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8900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3FB953A-B817-41AF-A620-09C0DF52E87B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3FB953A-B817-41AF-A620-09C0DF52E87B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3FB953A-B817-41AF-A620-09C0DF52E87B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3FB953A-B817-41AF-A620-09C0DF52E87B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3FB953A-B817-41AF-A620-09C0DF52E87B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3FB953A-B817-41AF-A620-09C0DF52E87B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3FB953A-B817-41AF-A620-09C0DF52E87B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3FB953A-B817-41AF-A620-09C0DF52E87B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3FB953A-B817-41AF-A620-09C0DF52E87B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3FB953A-B817-41AF-A620-09C0DF52E87B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3FB953A-B817-41AF-A620-09C0DF52E87B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effectLst/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effectLst/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>
                <a:effectLst/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3FB953A-B817-41AF-A620-09C0DF52E87B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4.wmf"/><Relationship Id="rId4" Type="http://schemas.openxmlformats.org/officeDocument/2006/relationships/image" Target="../media/image1.emf"/><Relationship Id="rId9" Type="http://schemas.openxmlformats.org/officeDocument/2006/relationships/oleObject" Target="../embeddings/oleObject4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6.bin"/><Relationship Id="rId10" Type="http://schemas.openxmlformats.org/officeDocument/2006/relationships/image" Target="../media/image8.wmf"/><Relationship Id="rId4" Type="http://schemas.openxmlformats.org/officeDocument/2006/relationships/image" Target="../media/image5.emf"/><Relationship Id="rId9" Type="http://schemas.openxmlformats.org/officeDocument/2006/relationships/oleObject" Target="../embeddings/oleObject8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13" Type="http://schemas.openxmlformats.org/officeDocument/2006/relationships/oleObject" Target="../embeddings/oleObject15.bin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12" Type="http://schemas.openxmlformats.org/officeDocument/2006/relationships/image" Target="../media/image15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emf"/><Relationship Id="rId11" Type="http://schemas.openxmlformats.org/officeDocument/2006/relationships/oleObject" Target="../embeddings/oleObject14.bin"/><Relationship Id="rId5" Type="http://schemas.openxmlformats.org/officeDocument/2006/relationships/oleObject" Target="../embeddings/oleObject11.bin"/><Relationship Id="rId15" Type="http://schemas.openxmlformats.org/officeDocument/2006/relationships/slide" Target="slide14.xml"/><Relationship Id="rId10" Type="http://schemas.openxmlformats.org/officeDocument/2006/relationships/image" Target="../media/image14.emf"/><Relationship Id="rId4" Type="http://schemas.openxmlformats.org/officeDocument/2006/relationships/image" Target="../media/image11.emf"/><Relationship Id="rId9" Type="http://schemas.openxmlformats.org/officeDocument/2006/relationships/oleObject" Target="../embeddings/oleObject13.bin"/><Relationship Id="rId14" Type="http://schemas.openxmlformats.org/officeDocument/2006/relationships/image" Target="../media/image16.e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emf"/><Relationship Id="rId5" Type="http://schemas.openxmlformats.org/officeDocument/2006/relationships/oleObject" Target="../embeddings/oleObject17.bin"/><Relationship Id="rId10" Type="http://schemas.openxmlformats.org/officeDocument/2006/relationships/image" Target="../media/image20.emf"/><Relationship Id="rId4" Type="http://schemas.openxmlformats.org/officeDocument/2006/relationships/image" Target="../media/image17.emf"/><Relationship Id="rId9" Type="http://schemas.openxmlformats.org/officeDocument/2006/relationships/oleObject" Target="../embeddings/oleObject19.bin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5.bin"/><Relationship Id="rId18" Type="http://schemas.openxmlformats.org/officeDocument/2006/relationships/image" Target="../media/image28.emf"/><Relationship Id="rId26" Type="http://schemas.openxmlformats.org/officeDocument/2006/relationships/image" Target="../media/image32.emf"/><Relationship Id="rId3" Type="http://schemas.openxmlformats.org/officeDocument/2006/relationships/oleObject" Target="../embeddings/oleObject20.bin"/><Relationship Id="rId21" Type="http://schemas.openxmlformats.org/officeDocument/2006/relationships/oleObject" Target="../embeddings/oleObject29.bin"/><Relationship Id="rId34" Type="http://schemas.openxmlformats.org/officeDocument/2006/relationships/image" Target="../media/image36.emf"/><Relationship Id="rId7" Type="http://schemas.openxmlformats.org/officeDocument/2006/relationships/oleObject" Target="../embeddings/oleObject22.bin"/><Relationship Id="rId12" Type="http://schemas.openxmlformats.org/officeDocument/2006/relationships/image" Target="../media/image25.emf"/><Relationship Id="rId17" Type="http://schemas.openxmlformats.org/officeDocument/2006/relationships/oleObject" Target="../embeddings/oleObject27.bin"/><Relationship Id="rId25" Type="http://schemas.openxmlformats.org/officeDocument/2006/relationships/oleObject" Target="../embeddings/oleObject31.bin"/><Relationship Id="rId33" Type="http://schemas.openxmlformats.org/officeDocument/2006/relationships/oleObject" Target="../embeddings/oleObject35.bin"/><Relationship Id="rId2" Type="http://schemas.openxmlformats.org/officeDocument/2006/relationships/notesSlide" Target="../notesSlides/notesSlide25.xml"/><Relationship Id="rId16" Type="http://schemas.openxmlformats.org/officeDocument/2006/relationships/image" Target="../media/image27.emf"/><Relationship Id="rId20" Type="http://schemas.openxmlformats.org/officeDocument/2006/relationships/image" Target="../media/image29.emf"/><Relationship Id="rId29" Type="http://schemas.openxmlformats.org/officeDocument/2006/relationships/oleObject" Target="../embeddings/oleObject33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emf"/><Relationship Id="rId11" Type="http://schemas.openxmlformats.org/officeDocument/2006/relationships/oleObject" Target="../embeddings/oleObject24.bin"/><Relationship Id="rId24" Type="http://schemas.openxmlformats.org/officeDocument/2006/relationships/image" Target="../media/image31.emf"/><Relationship Id="rId32" Type="http://schemas.openxmlformats.org/officeDocument/2006/relationships/image" Target="../media/image35.emf"/><Relationship Id="rId5" Type="http://schemas.openxmlformats.org/officeDocument/2006/relationships/oleObject" Target="../embeddings/oleObject21.bin"/><Relationship Id="rId15" Type="http://schemas.openxmlformats.org/officeDocument/2006/relationships/oleObject" Target="../embeddings/oleObject26.bin"/><Relationship Id="rId23" Type="http://schemas.openxmlformats.org/officeDocument/2006/relationships/oleObject" Target="../embeddings/oleObject30.bin"/><Relationship Id="rId28" Type="http://schemas.openxmlformats.org/officeDocument/2006/relationships/image" Target="../media/image33.emf"/><Relationship Id="rId10" Type="http://schemas.openxmlformats.org/officeDocument/2006/relationships/image" Target="../media/image24.emf"/><Relationship Id="rId19" Type="http://schemas.openxmlformats.org/officeDocument/2006/relationships/oleObject" Target="../embeddings/oleObject28.bin"/><Relationship Id="rId31" Type="http://schemas.openxmlformats.org/officeDocument/2006/relationships/oleObject" Target="../embeddings/oleObject34.bin"/><Relationship Id="rId4" Type="http://schemas.openxmlformats.org/officeDocument/2006/relationships/image" Target="../media/image21.emf"/><Relationship Id="rId9" Type="http://schemas.openxmlformats.org/officeDocument/2006/relationships/oleObject" Target="../embeddings/oleObject23.bin"/><Relationship Id="rId14" Type="http://schemas.openxmlformats.org/officeDocument/2006/relationships/image" Target="../media/image26.emf"/><Relationship Id="rId22" Type="http://schemas.openxmlformats.org/officeDocument/2006/relationships/image" Target="../media/image30.emf"/><Relationship Id="rId27" Type="http://schemas.openxmlformats.org/officeDocument/2006/relationships/oleObject" Target="../embeddings/oleObject32.bin"/><Relationship Id="rId30" Type="http://schemas.openxmlformats.org/officeDocument/2006/relationships/image" Target="../media/image34.emf"/><Relationship Id="rId8" Type="http://schemas.openxmlformats.org/officeDocument/2006/relationships/image" Target="../media/image23.e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/>
          <p:cNvSpPr txBox="1">
            <a:spLocks noGrp="1"/>
          </p:cNvSpPr>
          <p:nvPr>
            <p:ph type="sldNum" sz="quarter" idx="12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C4F6F1D-F2A1-4C25-B413-ADCA70013D19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050" name="Rectangle 2"/>
          <p:cNvSpPr/>
          <p:nvPr/>
        </p:nvSpPr>
        <p:spPr>
          <a:xfrm>
            <a:off x="1547813" y="457200"/>
            <a:ext cx="6019800" cy="762000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anchor="b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44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第四章 组合逻辑电路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628650" y="1706563"/>
            <a:ext cx="4654550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4.1 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组合逻辑电路的分析</a:t>
            </a:r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628650" y="2803525"/>
            <a:ext cx="4654550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4.2 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组合逻辑电路的设计</a:t>
            </a:r>
          </a:p>
        </p:txBody>
      </p:sp>
      <p:sp>
        <p:nvSpPr>
          <p:cNvPr id="2053" name="Rectangle 5"/>
          <p:cNvSpPr>
            <a:spLocks noChangeArrowheads="1"/>
          </p:cNvSpPr>
          <p:nvPr/>
        </p:nvSpPr>
        <p:spPr bwMode="auto">
          <a:xfrm>
            <a:off x="628650" y="3840163"/>
            <a:ext cx="5491163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4.3 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典型组合逻辑电路的设计</a:t>
            </a:r>
          </a:p>
        </p:txBody>
      </p:sp>
      <p:sp>
        <p:nvSpPr>
          <p:cNvPr id="2054" name="Rectangle 6"/>
          <p:cNvSpPr>
            <a:spLocks noChangeArrowheads="1"/>
          </p:cNvSpPr>
          <p:nvPr/>
        </p:nvSpPr>
        <p:spPr bwMode="auto">
          <a:xfrm>
            <a:off x="628650" y="4906963"/>
            <a:ext cx="4654550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4.4 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组合逻辑电路的险象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" grpId="0" animBg="1"/>
      <p:bldP spid="2051" grpId="0" animBg="1"/>
      <p:bldP spid="2052" grpId="0" animBg="1"/>
      <p:bldP spid="2053" grpId="0" animBg="1"/>
      <p:bldP spid="205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/>
          <p:cNvSpPr txBox="1">
            <a:spLocks noGrp="1"/>
          </p:cNvSpPr>
          <p:nvPr>
            <p:ph type="sldNum" sz="quarter" idx="12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98176B9-AB3A-4F34-A7C8-E625CD8818CF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5299" name="Rectangle 3"/>
          <p:cNvSpPr>
            <a:spLocks noChangeArrowheads="1"/>
          </p:cNvSpPr>
          <p:nvPr/>
        </p:nvSpPr>
        <p:spPr bwMode="auto">
          <a:xfrm>
            <a:off x="293688" y="334963"/>
            <a:ext cx="3856038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数字电路分为两大类</a:t>
            </a:r>
          </a:p>
        </p:txBody>
      </p:sp>
      <p:sp>
        <p:nvSpPr>
          <p:cNvPr id="55301" name="Rectangle 5"/>
          <p:cNvSpPr>
            <a:spLocks noChangeArrowheads="1"/>
          </p:cNvSpPr>
          <p:nvPr/>
        </p:nvSpPr>
        <p:spPr bwMode="auto">
          <a:xfrm>
            <a:off x="304800" y="1143000"/>
            <a:ext cx="3352800" cy="579438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rgbClr val="FF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、组合逻辑电路</a:t>
            </a:r>
          </a:p>
        </p:txBody>
      </p:sp>
      <p:sp>
        <p:nvSpPr>
          <p:cNvPr id="55305" name="Rectangle 9"/>
          <p:cNvSpPr>
            <a:spLocks noChangeArrowheads="1"/>
          </p:cNvSpPr>
          <p:nvPr/>
        </p:nvSpPr>
        <p:spPr bwMode="auto">
          <a:xfrm>
            <a:off x="304800" y="3810000"/>
            <a:ext cx="3352800" cy="579438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rgbClr val="FF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、时序逻辑电路</a:t>
            </a:r>
          </a:p>
        </p:txBody>
      </p:sp>
      <p:sp>
        <p:nvSpPr>
          <p:cNvPr id="55308" name="Rectangle 12"/>
          <p:cNvSpPr>
            <a:spLocks noChangeArrowheads="1"/>
          </p:cNvSpPr>
          <p:nvPr/>
        </p:nvSpPr>
        <p:spPr bwMode="auto">
          <a:xfrm>
            <a:off x="288925" y="1905000"/>
            <a:ext cx="8626475" cy="1592263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任意时刻的输出仅仅取决于该时刻的输入组合，而与输入信号作用前电路的原状态无关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(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与过去的输入无关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)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。</a:t>
            </a:r>
          </a:p>
        </p:txBody>
      </p:sp>
      <p:sp>
        <p:nvSpPr>
          <p:cNvPr id="55309" name="Rectangle 13"/>
          <p:cNvSpPr>
            <a:spLocks noChangeArrowheads="1"/>
          </p:cNvSpPr>
          <p:nvPr/>
        </p:nvSpPr>
        <p:spPr bwMode="auto">
          <a:xfrm>
            <a:off x="304800" y="4572000"/>
            <a:ext cx="8610600" cy="1592263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任意时刻的输出不仅仅与该时刻的输入有关，而且还与电路的原状态有关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(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与过去的输入有关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)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2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55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55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3" dur="500"/>
                                        <p:tgtEl>
                                          <p:spTgt spid="55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55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9" grpId="0" animBg="1"/>
      <p:bldP spid="55301" grpId="0" animBg="1"/>
      <p:bldP spid="55305" grpId="0" animBg="1"/>
      <p:bldP spid="55308" grpId="0" animBg="1"/>
      <p:bldP spid="5530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灯片编号占位符 3"/>
          <p:cNvSpPr txBox="1">
            <a:spLocks noGrp="1"/>
          </p:cNvSpPr>
          <p:nvPr>
            <p:ph type="sldNum" sz="quarter" idx="12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B0C1F4-994F-45AC-8653-C3140F61ECF7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304800" y="266700"/>
            <a:ext cx="3856038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组合逻辑电路的特点</a:t>
            </a:r>
          </a:p>
        </p:txBody>
      </p:sp>
      <p:grpSp>
        <p:nvGrpSpPr>
          <p:cNvPr id="3075" name="Group 3"/>
          <p:cNvGrpSpPr/>
          <p:nvPr/>
        </p:nvGrpSpPr>
        <p:grpSpPr>
          <a:xfrm>
            <a:off x="1898650" y="3086100"/>
            <a:ext cx="5035550" cy="2476500"/>
            <a:chOff x="720" y="2160"/>
            <a:chExt cx="3172" cy="1560"/>
          </a:xfrm>
        </p:grpSpPr>
        <p:sp>
          <p:nvSpPr>
            <p:cNvPr id="3076" name="Line 4"/>
            <p:cNvSpPr>
              <a:spLocks noChangeShapeType="1"/>
            </p:cNvSpPr>
            <p:nvPr/>
          </p:nvSpPr>
          <p:spPr bwMode="auto">
            <a:xfrm>
              <a:off x="1824" y="3336"/>
              <a:ext cx="0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3077" name="Line 5"/>
            <p:cNvSpPr>
              <a:spLocks noChangeShapeType="1"/>
            </p:cNvSpPr>
            <p:nvPr/>
          </p:nvSpPr>
          <p:spPr bwMode="auto">
            <a:xfrm>
              <a:off x="1824" y="3720"/>
              <a:ext cx="15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3078" name="Line 6"/>
            <p:cNvSpPr>
              <a:spLocks noChangeShapeType="1"/>
            </p:cNvSpPr>
            <p:nvPr/>
          </p:nvSpPr>
          <p:spPr bwMode="auto">
            <a:xfrm flipV="1">
              <a:off x="3408" y="2808"/>
              <a:ext cx="0" cy="9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3079" name="Rectangle 7"/>
            <p:cNvSpPr>
              <a:spLocks noChangeArrowheads="1"/>
            </p:cNvSpPr>
            <p:nvPr/>
          </p:nvSpPr>
          <p:spPr bwMode="auto">
            <a:xfrm>
              <a:off x="1248" y="2328"/>
              <a:ext cx="289" cy="48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3080" name="Oval 8"/>
            <p:cNvSpPr>
              <a:spLocks noChangeArrowheads="1"/>
            </p:cNvSpPr>
            <p:nvPr/>
          </p:nvSpPr>
          <p:spPr bwMode="auto">
            <a:xfrm>
              <a:off x="1536" y="2520"/>
              <a:ext cx="96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3081" name="Line 9"/>
            <p:cNvSpPr>
              <a:spLocks noChangeShapeType="1"/>
            </p:cNvSpPr>
            <p:nvPr/>
          </p:nvSpPr>
          <p:spPr bwMode="auto">
            <a:xfrm flipH="1">
              <a:off x="1056" y="2472"/>
              <a:ext cx="193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3082" name="Line 10"/>
            <p:cNvSpPr>
              <a:spLocks noChangeShapeType="1"/>
            </p:cNvSpPr>
            <p:nvPr/>
          </p:nvSpPr>
          <p:spPr bwMode="auto">
            <a:xfrm flipH="1">
              <a:off x="1056" y="2664"/>
              <a:ext cx="193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3083" name="Rectangle 11"/>
            <p:cNvSpPr>
              <a:spLocks noChangeArrowheads="1"/>
            </p:cNvSpPr>
            <p:nvPr/>
          </p:nvSpPr>
          <p:spPr bwMode="auto">
            <a:xfrm>
              <a:off x="1296" y="2352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&amp;</a:t>
              </a:r>
            </a:p>
          </p:txBody>
        </p:sp>
        <p:sp>
          <p:nvSpPr>
            <p:cNvPr id="3084" name="Rectangle 12"/>
            <p:cNvSpPr>
              <a:spLocks noChangeArrowheads="1"/>
            </p:cNvSpPr>
            <p:nvPr/>
          </p:nvSpPr>
          <p:spPr bwMode="auto">
            <a:xfrm>
              <a:off x="1248" y="2904"/>
              <a:ext cx="289" cy="48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3085" name="Oval 13"/>
            <p:cNvSpPr>
              <a:spLocks noChangeArrowheads="1"/>
            </p:cNvSpPr>
            <p:nvPr/>
          </p:nvSpPr>
          <p:spPr bwMode="auto">
            <a:xfrm>
              <a:off x="1536" y="3096"/>
              <a:ext cx="96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3086" name="Line 14"/>
            <p:cNvSpPr>
              <a:spLocks noChangeShapeType="1"/>
            </p:cNvSpPr>
            <p:nvPr/>
          </p:nvSpPr>
          <p:spPr bwMode="auto">
            <a:xfrm flipH="1">
              <a:off x="1056" y="3048"/>
              <a:ext cx="193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3087" name="Line 15"/>
            <p:cNvSpPr>
              <a:spLocks noChangeShapeType="1"/>
            </p:cNvSpPr>
            <p:nvPr/>
          </p:nvSpPr>
          <p:spPr bwMode="auto">
            <a:xfrm flipH="1">
              <a:off x="1056" y="3240"/>
              <a:ext cx="193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3088" name="Rectangle 16"/>
            <p:cNvSpPr>
              <a:spLocks noChangeArrowheads="1"/>
            </p:cNvSpPr>
            <p:nvPr/>
          </p:nvSpPr>
          <p:spPr bwMode="auto">
            <a:xfrm>
              <a:off x="1248" y="2976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&amp;</a:t>
              </a:r>
            </a:p>
          </p:txBody>
        </p:sp>
        <p:sp>
          <p:nvSpPr>
            <p:cNvPr id="3089" name="Rectangle 17"/>
            <p:cNvSpPr>
              <a:spLocks noChangeArrowheads="1"/>
            </p:cNvSpPr>
            <p:nvPr/>
          </p:nvSpPr>
          <p:spPr bwMode="auto">
            <a:xfrm>
              <a:off x="2016" y="3000"/>
              <a:ext cx="289" cy="48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3090" name="Oval 18"/>
            <p:cNvSpPr>
              <a:spLocks noChangeArrowheads="1"/>
            </p:cNvSpPr>
            <p:nvPr/>
          </p:nvSpPr>
          <p:spPr bwMode="auto">
            <a:xfrm>
              <a:off x="2304" y="3192"/>
              <a:ext cx="96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3091" name="Line 19"/>
            <p:cNvSpPr>
              <a:spLocks noChangeShapeType="1"/>
            </p:cNvSpPr>
            <p:nvPr/>
          </p:nvSpPr>
          <p:spPr bwMode="auto">
            <a:xfrm flipH="1">
              <a:off x="1632" y="3144"/>
              <a:ext cx="385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3092" name="Line 20"/>
            <p:cNvSpPr>
              <a:spLocks noChangeShapeType="1"/>
            </p:cNvSpPr>
            <p:nvPr/>
          </p:nvSpPr>
          <p:spPr bwMode="auto">
            <a:xfrm flipH="1">
              <a:off x="1824" y="3336"/>
              <a:ext cx="193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3093" name="Rectangle 21"/>
            <p:cNvSpPr>
              <a:spLocks noChangeArrowheads="1"/>
            </p:cNvSpPr>
            <p:nvPr/>
          </p:nvSpPr>
          <p:spPr bwMode="auto">
            <a:xfrm>
              <a:off x="2064" y="3024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&amp;</a:t>
              </a:r>
            </a:p>
          </p:txBody>
        </p:sp>
        <p:sp>
          <p:nvSpPr>
            <p:cNvPr id="3094" name="Rectangle 22"/>
            <p:cNvSpPr>
              <a:spLocks noChangeArrowheads="1"/>
            </p:cNvSpPr>
            <p:nvPr/>
          </p:nvSpPr>
          <p:spPr bwMode="auto">
            <a:xfrm>
              <a:off x="2832" y="2568"/>
              <a:ext cx="289" cy="48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3095" name="Oval 23"/>
            <p:cNvSpPr>
              <a:spLocks noChangeArrowheads="1"/>
            </p:cNvSpPr>
            <p:nvPr/>
          </p:nvSpPr>
          <p:spPr bwMode="auto">
            <a:xfrm>
              <a:off x="3120" y="2760"/>
              <a:ext cx="96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3096" name="Line 24"/>
            <p:cNvSpPr>
              <a:spLocks noChangeShapeType="1"/>
            </p:cNvSpPr>
            <p:nvPr/>
          </p:nvSpPr>
          <p:spPr bwMode="auto">
            <a:xfrm flipH="1">
              <a:off x="2688" y="2712"/>
              <a:ext cx="145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3097" name="Line 25"/>
            <p:cNvSpPr>
              <a:spLocks noChangeShapeType="1"/>
            </p:cNvSpPr>
            <p:nvPr/>
          </p:nvSpPr>
          <p:spPr bwMode="auto">
            <a:xfrm flipH="1">
              <a:off x="2640" y="2904"/>
              <a:ext cx="193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3098" name="Rectangle 26"/>
            <p:cNvSpPr>
              <a:spLocks noChangeArrowheads="1"/>
            </p:cNvSpPr>
            <p:nvPr/>
          </p:nvSpPr>
          <p:spPr bwMode="auto">
            <a:xfrm>
              <a:off x="2832" y="2592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&amp;</a:t>
              </a:r>
            </a:p>
          </p:txBody>
        </p:sp>
        <p:sp>
          <p:nvSpPr>
            <p:cNvPr id="3099" name="Rectangle 27"/>
            <p:cNvSpPr>
              <a:spLocks noChangeArrowheads="1"/>
            </p:cNvSpPr>
            <p:nvPr/>
          </p:nvSpPr>
          <p:spPr bwMode="auto">
            <a:xfrm>
              <a:off x="1920" y="2328"/>
              <a:ext cx="289" cy="48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3100" name="Oval 28"/>
            <p:cNvSpPr>
              <a:spLocks noChangeArrowheads="1"/>
            </p:cNvSpPr>
            <p:nvPr/>
          </p:nvSpPr>
          <p:spPr bwMode="auto">
            <a:xfrm>
              <a:off x="2208" y="2520"/>
              <a:ext cx="96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3101" name="Line 29"/>
            <p:cNvSpPr>
              <a:spLocks noChangeShapeType="1"/>
            </p:cNvSpPr>
            <p:nvPr/>
          </p:nvSpPr>
          <p:spPr bwMode="auto">
            <a:xfrm flipH="1">
              <a:off x="1632" y="2568"/>
              <a:ext cx="289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3102" name="Rectangle 30"/>
            <p:cNvSpPr>
              <a:spLocks noChangeArrowheads="1"/>
            </p:cNvSpPr>
            <p:nvPr/>
          </p:nvSpPr>
          <p:spPr bwMode="auto">
            <a:xfrm>
              <a:off x="1920" y="2256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</a:t>
              </a:r>
            </a:p>
          </p:txBody>
        </p:sp>
        <p:sp>
          <p:nvSpPr>
            <p:cNvPr id="3103" name="Line 31"/>
            <p:cNvSpPr>
              <a:spLocks noChangeShapeType="1"/>
            </p:cNvSpPr>
            <p:nvPr/>
          </p:nvSpPr>
          <p:spPr bwMode="auto">
            <a:xfrm>
              <a:off x="2304" y="2568"/>
              <a:ext cx="385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3104" name="Line 32"/>
            <p:cNvSpPr>
              <a:spLocks noChangeShapeType="1"/>
            </p:cNvSpPr>
            <p:nvPr/>
          </p:nvSpPr>
          <p:spPr bwMode="auto">
            <a:xfrm>
              <a:off x="2688" y="2568"/>
              <a:ext cx="1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3105" name="Line 33"/>
            <p:cNvSpPr>
              <a:spLocks noChangeShapeType="1"/>
            </p:cNvSpPr>
            <p:nvPr/>
          </p:nvSpPr>
          <p:spPr bwMode="auto">
            <a:xfrm>
              <a:off x="2400" y="3240"/>
              <a:ext cx="24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3106" name="Line 34"/>
            <p:cNvSpPr>
              <a:spLocks noChangeShapeType="1"/>
            </p:cNvSpPr>
            <p:nvPr/>
          </p:nvSpPr>
          <p:spPr bwMode="auto">
            <a:xfrm flipV="1">
              <a:off x="2640" y="2904"/>
              <a:ext cx="1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3107" name="Line 35"/>
            <p:cNvSpPr>
              <a:spLocks noChangeShapeType="1"/>
            </p:cNvSpPr>
            <p:nvPr/>
          </p:nvSpPr>
          <p:spPr bwMode="auto">
            <a:xfrm>
              <a:off x="3216" y="2808"/>
              <a:ext cx="434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3108" name="Rectangle 36"/>
            <p:cNvSpPr>
              <a:spLocks noChangeArrowheads="1"/>
            </p:cNvSpPr>
            <p:nvPr/>
          </p:nvSpPr>
          <p:spPr bwMode="auto">
            <a:xfrm>
              <a:off x="720" y="2160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A</a:t>
              </a:r>
            </a:p>
          </p:txBody>
        </p:sp>
        <p:sp>
          <p:nvSpPr>
            <p:cNvPr id="3109" name="Rectangle 37"/>
            <p:cNvSpPr>
              <a:spLocks noChangeArrowheads="1"/>
            </p:cNvSpPr>
            <p:nvPr/>
          </p:nvSpPr>
          <p:spPr bwMode="auto">
            <a:xfrm>
              <a:off x="720" y="2496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B</a:t>
              </a:r>
            </a:p>
          </p:txBody>
        </p:sp>
        <p:sp>
          <p:nvSpPr>
            <p:cNvPr id="3110" name="Rectangle 38"/>
            <p:cNvSpPr>
              <a:spLocks noChangeArrowheads="1"/>
            </p:cNvSpPr>
            <p:nvPr/>
          </p:nvSpPr>
          <p:spPr bwMode="auto">
            <a:xfrm>
              <a:off x="720" y="2784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C</a:t>
              </a:r>
            </a:p>
          </p:txBody>
        </p:sp>
        <p:sp>
          <p:nvSpPr>
            <p:cNvPr id="3111" name="Rectangle 39"/>
            <p:cNvSpPr>
              <a:spLocks noChangeArrowheads="1"/>
            </p:cNvSpPr>
            <p:nvPr/>
          </p:nvSpPr>
          <p:spPr bwMode="auto">
            <a:xfrm>
              <a:off x="720" y="3072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D</a:t>
              </a:r>
            </a:p>
          </p:txBody>
        </p:sp>
        <p:sp>
          <p:nvSpPr>
            <p:cNvPr id="3112" name="Rectangle 40"/>
            <p:cNvSpPr>
              <a:spLocks noChangeArrowheads="1"/>
            </p:cNvSpPr>
            <p:nvPr/>
          </p:nvSpPr>
          <p:spPr bwMode="auto">
            <a:xfrm>
              <a:off x="3648" y="2592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F</a:t>
              </a:r>
            </a:p>
          </p:txBody>
        </p:sp>
      </p:grpSp>
      <p:sp>
        <p:nvSpPr>
          <p:cNvPr id="3113" name="Rectangle 41"/>
          <p:cNvSpPr>
            <a:spLocks noChangeArrowheads="1"/>
          </p:cNvSpPr>
          <p:nvPr/>
        </p:nvSpPr>
        <p:spPr bwMode="auto">
          <a:xfrm>
            <a:off x="298450" y="1096963"/>
            <a:ext cx="6918325" cy="579438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(1)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电路由逻辑门构成，无记忆元件；</a:t>
            </a:r>
          </a:p>
        </p:txBody>
      </p:sp>
      <p:sp>
        <p:nvSpPr>
          <p:cNvPr id="3114" name="Rectangle 42"/>
          <p:cNvSpPr>
            <a:spLocks noChangeArrowheads="1"/>
          </p:cNvSpPr>
          <p:nvPr/>
        </p:nvSpPr>
        <p:spPr bwMode="auto">
          <a:xfrm>
            <a:off x="304800" y="1943100"/>
            <a:ext cx="7326313" cy="579438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(2)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输入信号是单向传输，一般无反馈。</a:t>
            </a:r>
          </a:p>
        </p:txBody>
      </p:sp>
      <p:sp>
        <p:nvSpPr>
          <p:cNvPr id="3116" name="Rectangle 44"/>
          <p:cNvSpPr/>
          <p:nvPr/>
        </p:nvSpPr>
        <p:spPr>
          <a:xfrm>
            <a:off x="4572000" y="5157788"/>
            <a:ext cx="692150" cy="7016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4000" b="1" dirty="0">
                <a:solidFill>
                  <a:srgbClr val="FF0000"/>
                </a:solidFill>
              </a:rPr>
              <a:t>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3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8" dur="500"/>
                                        <p:tgtEl>
                                          <p:spTgt spid="3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4" grpId="0" animBg="1"/>
      <p:bldP spid="3113" grpId="0" animBg="1"/>
      <p:bldP spid="3114" grpId="0" animBg="1"/>
      <p:bldP spid="31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灯片编号占位符 3"/>
          <p:cNvSpPr txBox="1">
            <a:spLocks noGrp="1"/>
          </p:cNvSpPr>
          <p:nvPr>
            <p:ph type="sldNum" sz="quarter" idx="12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9C33564-62DB-4059-9920-1EA752742257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146" name="Rectangle 2"/>
          <p:cNvSpPr/>
          <p:nvPr/>
        </p:nvSpPr>
        <p:spPr>
          <a:xfrm>
            <a:off x="1371600" y="228600"/>
            <a:ext cx="6629400" cy="762000"/>
          </a:xfrm>
          <a:prstGeom prst="rect">
            <a:avLst/>
          </a:prstGeom>
          <a:solidFill>
            <a:srgbClr val="FF99FF"/>
          </a:solidFill>
          <a:ln w="9525">
            <a:noFill/>
          </a:ln>
        </p:spPr>
        <p:txBody>
          <a:bodyPr anchor="b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44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4.1 </a:t>
            </a:r>
            <a:r>
              <a:rPr lang="zh-CN" altLang="en-US" sz="44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组合逻辑电路的分析</a:t>
            </a:r>
          </a:p>
        </p:txBody>
      </p:sp>
      <p:sp>
        <p:nvSpPr>
          <p:cNvPr id="6147" name="Rectangle 3"/>
          <p:cNvSpPr>
            <a:spLocks noChangeArrowheads="1"/>
          </p:cNvSpPr>
          <p:nvPr/>
        </p:nvSpPr>
        <p:spPr bwMode="auto">
          <a:xfrm>
            <a:off x="304800" y="1325563"/>
            <a:ext cx="1816100" cy="579438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分析步骤</a:t>
            </a:r>
          </a:p>
        </p:txBody>
      </p:sp>
      <p:grpSp>
        <p:nvGrpSpPr>
          <p:cNvPr id="6148" name="Group 4"/>
          <p:cNvGrpSpPr/>
          <p:nvPr/>
        </p:nvGrpSpPr>
        <p:grpSpPr>
          <a:xfrm>
            <a:off x="6835775" y="3048000"/>
            <a:ext cx="1220788" cy="1322388"/>
            <a:chOff x="3936" y="1861"/>
            <a:chExt cx="769" cy="833"/>
          </a:xfrm>
        </p:grpSpPr>
        <p:sp>
          <p:nvSpPr>
            <p:cNvPr id="6149" name="Line 5"/>
            <p:cNvSpPr>
              <a:spLocks noChangeShapeType="1"/>
            </p:cNvSpPr>
            <p:nvPr/>
          </p:nvSpPr>
          <p:spPr bwMode="auto">
            <a:xfrm>
              <a:off x="3936" y="2693"/>
              <a:ext cx="768" cy="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6150" name="Line 6"/>
            <p:cNvSpPr>
              <a:spLocks noChangeShapeType="1"/>
            </p:cNvSpPr>
            <p:nvPr/>
          </p:nvSpPr>
          <p:spPr bwMode="auto">
            <a:xfrm flipV="1">
              <a:off x="4704" y="1861"/>
              <a:ext cx="1" cy="82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</p:grpSp>
      <p:grpSp>
        <p:nvGrpSpPr>
          <p:cNvPr id="6166" name="Group 22"/>
          <p:cNvGrpSpPr/>
          <p:nvPr/>
        </p:nvGrpSpPr>
        <p:grpSpPr>
          <a:xfrm>
            <a:off x="457200" y="2430463"/>
            <a:ext cx="4800600" cy="579437"/>
            <a:chOff x="144" y="1531"/>
            <a:chExt cx="3024" cy="365"/>
          </a:xfrm>
        </p:grpSpPr>
        <p:sp>
          <p:nvSpPr>
            <p:cNvPr id="6167" name="Rectangle 23"/>
            <p:cNvSpPr>
              <a:spLocks noChangeArrowheads="1"/>
            </p:cNvSpPr>
            <p:nvPr/>
          </p:nvSpPr>
          <p:spPr bwMode="auto">
            <a:xfrm>
              <a:off x="144" y="1531"/>
              <a:ext cx="139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逻辑电路图</a:t>
              </a:r>
            </a:p>
          </p:txBody>
        </p:sp>
        <p:sp>
          <p:nvSpPr>
            <p:cNvPr id="6168" name="Line 24"/>
            <p:cNvSpPr>
              <a:spLocks noChangeShapeType="1"/>
            </p:cNvSpPr>
            <p:nvPr/>
          </p:nvSpPr>
          <p:spPr bwMode="auto">
            <a:xfrm>
              <a:off x="1488" y="1721"/>
              <a:ext cx="336" cy="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6169" name="Rectangle 25"/>
            <p:cNvSpPr>
              <a:spLocks noChangeArrowheads="1"/>
            </p:cNvSpPr>
            <p:nvPr/>
          </p:nvSpPr>
          <p:spPr bwMode="auto">
            <a:xfrm>
              <a:off x="1772" y="1531"/>
              <a:ext cx="139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函数表达式</a:t>
              </a:r>
            </a:p>
          </p:txBody>
        </p:sp>
      </p:grpSp>
      <p:grpSp>
        <p:nvGrpSpPr>
          <p:cNvPr id="6170" name="Group 26"/>
          <p:cNvGrpSpPr/>
          <p:nvPr/>
        </p:nvGrpSpPr>
        <p:grpSpPr>
          <a:xfrm>
            <a:off x="5154613" y="2430463"/>
            <a:ext cx="1550987" cy="579437"/>
            <a:chOff x="3024" y="1531"/>
            <a:chExt cx="977" cy="365"/>
          </a:xfrm>
        </p:grpSpPr>
        <p:sp>
          <p:nvSpPr>
            <p:cNvPr id="6171" name="Line 27"/>
            <p:cNvSpPr>
              <a:spLocks noChangeShapeType="1"/>
            </p:cNvSpPr>
            <p:nvPr/>
          </p:nvSpPr>
          <p:spPr bwMode="auto">
            <a:xfrm>
              <a:off x="3024" y="1724"/>
              <a:ext cx="384" cy="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6172" name="Rectangle 28"/>
            <p:cNvSpPr>
              <a:spLocks noChangeArrowheads="1"/>
            </p:cNvSpPr>
            <p:nvPr/>
          </p:nvSpPr>
          <p:spPr bwMode="auto">
            <a:xfrm>
              <a:off x="3373" y="1531"/>
              <a:ext cx="6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化简</a:t>
              </a:r>
            </a:p>
          </p:txBody>
        </p:sp>
      </p:grpSp>
      <p:grpSp>
        <p:nvGrpSpPr>
          <p:cNvPr id="6173" name="Group 29"/>
          <p:cNvGrpSpPr/>
          <p:nvPr/>
        </p:nvGrpSpPr>
        <p:grpSpPr>
          <a:xfrm>
            <a:off x="6627813" y="2430463"/>
            <a:ext cx="2287587" cy="579437"/>
            <a:chOff x="3984" y="1531"/>
            <a:chExt cx="1441" cy="365"/>
          </a:xfrm>
        </p:grpSpPr>
        <p:sp>
          <p:nvSpPr>
            <p:cNvPr id="6174" name="Line 30"/>
            <p:cNvSpPr>
              <a:spLocks noChangeShapeType="1"/>
            </p:cNvSpPr>
            <p:nvPr/>
          </p:nvSpPr>
          <p:spPr bwMode="auto">
            <a:xfrm>
              <a:off x="3984" y="1724"/>
              <a:ext cx="336" cy="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6175" name="Rectangle 31"/>
            <p:cNvSpPr>
              <a:spLocks noChangeArrowheads="1"/>
            </p:cNvSpPr>
            <p:nvPr/>
          </p:nvSpPr>
          <p:spPr bwMode="auto">
            <a:xfrm>
              <a:off x="4285" y="1531"/>
              <a:ext cx="114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功能描述</a:t>
              </a:r>
            </a:p>
          </p:txBody>
        </p:sp>
      </p:grpSp>
      <p:grpSp>
        <p:nvGrpSpPr>
          <p:cNvPr id="6176" name="Group 32"/>
          <p:cNvGrpSpPr/>
          <p:nvPr/>
        </p:nvGrpSpPr>
        <p:grpSpPr>
          <a:xfrm>
            <a:off x="5507038" y="3124200"/>
            <a:ext cx="1403350" cy="1487488"/>
            <a:chOff x="3168" y="1967"/>
            <a:chExt cx="884" cy="937"/>
          </a:xfrm>
        </p:grpSpPr>
        <p:sp>
          <p:nvSpPr>
            <p:cNvPr id="6177" name="Line 33"/>
            <p:cNvSpPr>
              <a:spLocks noChangeShapeType="1"/>
            </p:cNvSpPr>
            <p:nvPr/>
          </p:nvSpPr>
          <p:spPr bwMode="auto">
            <a:xfrm>
              <a:off x="3600" y="1967"/>
              <a:ext cx="1" cy="533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6178" name="Rectangle 34"/>
            <p:cNvSpPr>
              <a:spLocks noChangeArrowheads="1"/>
            </p:cNvSpPr>
            <p:nvPr/>
          </p:nvSpPr>
          <p:spPr bwMode="auto">
            <a:xfrm>
              <a:off x="3168" y="2539"/>
              <a:ext cx="88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真值表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6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animBg="1"/>
      <p:bldP spid="614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灯片编号占位符 3"/>
          <p:cNvSpPr txBox="1">
            <a:spLocks noGrp="1"/>
          </p:cNvSpPr>
          <p:nvPr>
            <p:ph type="sldNum" sz="quarter" idx="12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79C8656-DB6D-46A8-9BE8-F26DA9864CE0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187" name="Rectangle 19"/>
          <p:cNvSpPr>
            <a:spLocks noChangeArrowheads="1"/>
          </p:cNvSpPr>
          <p:nvPr/>
        </p:nvSpPr>
        <p:spPr bwMode="auto">
          <a:xfrm>
            <a:off x="304800" y="304800"/>
            <a:ext cx="30289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例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1: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试分析电路</a:t>
            </a:r>
          </a:p>
        </p:txBody>
      </p:sp>
      <p:grpSp>
        <p:nvGrpSpPr>
          <p:cNvPr id="7243" name="Group 75"/>
          <p:cNvGrpSpPr/>
          <p:nvPr/>
        </p:nvGrpSpPr>
        <p:grpSpPr>
          <a:xfrm>
            <a:off x="1905000" y="1104900"/>
            <a:ext cx="5187950" cy="2209800"/>
            <a:chOff x="1200" y="696"/>
            <a:chExt cx="3268" cy="1392"/>
          </a:xfrm>
        </p:grpSpPr>
        <p:sp>
          <p:nvSpPr>
            <p:cNvPr id="7188" name="Rectangle 20"/>
            <p:cNvSpPr>
              <a:spLocks noChangeArrowheads="1"/>
            </p:cNvSpPr>
            <p:nvPr/>
          </p:nvSpPr>
          <p:spPr bwMode="auto">
            <a:xfrm>
              <a:off x="2112" y="1128"/>
              <a:ext cx="336" cy="57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189" name="Oval 21"/>
            <p:cNvSpPr>
              <a:spLocks noChangeArrowheads="1"/>
            </p:cNvSpPr>
            <p:nvPr/>
          </p:nvSpPr>
          <p:spPr bwMode="auto">
            <a:xfrm>
              <a:off x="2448" y="1368"/>
              <a:ext cx="96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190" name="Rectangle 22"/>
            <p:cNvSpPr>
              <a:spLocks noChangeArrowheads="1"/>
            </p:cNvSpPr>
            <p:nvPr/>
          </p:nvSpPr>
          <p:spPr bwMode="auto">
            <a:xfrm>
              <a:off x="2976" y="696"/>
              <a:ext cx="336" cy="57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191" name="Oval 23"/>
            <p:cNvSpPr>
              <a:spLocks noChangeArrowheads="1"/>
            </p:cNvSpPr>
            <p:nvPr/>
          </p:nvSpPr>
          <p:spPr bwMode="auto">
            <a:xfrm>
              <a:off x="3312" y="936"/>
              <a:ext cx="96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192" name="Rectangle 24"/>
            <p:cNvSpPr>
              <a:spLocks noChangeArrowheads="1"/>
            </p:cNvSpPr>
            <p:nvPr/>
          </p:nvSpPr>
          <p:spPr bwMode="auto">
            <a:xfrm>
              <a:off x="2976" y="1512"/>
              <a:ext cx="336" cy="57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193" name="Oval 25"/>
            <p:cNvSpPr>
              <a:spLocks noChangeArrowheads="1"/>
            </p:cNvSpPr>
            <p:nvPr/>
          </p:nvSpPr>
          <p:spPr bwMode="auto">
            <a:xfrm>
              <a:off x="3312" y="1752"/>
              <a:ext cx="96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194" name="Rectangle 26"/>
            <p:cNvSpPr>
              <a:spLocks noChangeArrowheads="1"/>
            </p:cNvSpPr>
            <p:nvPr/>
          </p:nvSpPr>
          <p:spPr bwMode="auto">
            <a:xfrm>
              <a:off x="3648" y="1080"/>
              <a:ext cx="336" cy="57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195" name="Oval 27"/>
            <p:cNvSpPr>
              <a:spLocks noChangeArrowheads="1"/>
            </p:cNvSpPr>
            <p:nvPr/>
          </p:nvSpPr>
          <p:spPr bwMode="auto">
            <a:xfrm>
              <a:off x="3984" y="1320"/>
              <a:ext cx="96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196" name="Line 28"/>
            <p:cNvSpPr>
              <a:spLocks noChangeShapeType="1"/>
            </p:cNvSpPr>
            <p:nvPr/>
          </p:nvSpPr>
          <p:spPr bwMode="auto">
            <a:xfrm flipH="1">
              <a:off x="1536" y="1320"/>
              <a:ext cx="57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197" name="Line 29"/>
            <p:cNvSpPr>
              <a:spLocks noChangeShapeType="1"/>
            </p:cNvSpPr>
            <p:nvPr/>
          </p:nvSpPr>
          <p:spPr bwMode="auto">
            <a:xfrm flipH="1">
              <a:off x="1536" y="1560"/>
              <a:ext cx="57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198" name="Line 30"/>
            <p:cNvSpPr>
              <a:spLocks noChangeShapeType="1"/>
            </p:cNvSpPr>
            <p:nvPr/>
          </p:nvSpPr>
          <p:spPr bwMode="auto">
            <a:xfrm>
              <a:off x="2544" y="1416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199" name="Line 31"/>
            <p:cNvSpPr>
              <a:spLocks noChangeShapeType="1"/>
            </p:cNvSpPr>
            <p:nvPr/>
          </p:nvSpPr>
          <p:spPr bwMode="auto">
            <a:xfrm>
              <a:off x="2688" y="1416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200" name="Line 32"/>
            <p:cNvSpPr>
              <a:spLocks noChangeShapeType="1"/>
            </p:cNvSpPr>
            <p:nvPr/>
          </p:nvSpPr>
          <p:spPr bwMode="auto">
            <a:xfrm>
              <a:off x="2688" y="1704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201" name="Line 33"/>
            <p:cNvSpPr>
              <a:spLocks noChangeShapeType="1"/>
            </p:cNvSpPr>
            <p:nvPr/>
          </p:nvSpPr>
          <p:spPr bwMode="auto">
            <a:xfrm flipV="1">
              <a:off x="2688" y="1080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202" name="Line 34"/>
            <p:cNvSpPr>
              <a:spLocks noChangeShapeType="1"/>
            </p:cNvSpPr>
            <p:nvPr/>
          </p:nvSpPr>
          <p:spPr bwMode="auto">
            <a:xfrm>
              <a:off x="2688" y="1032"/>
              <a:ext cx="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203" name="Line 35"/>
            <p:cNvSpPr>
              <a:spLocks noChangeShapeType="1"/>
            </p:cNvSpPr>
            <p:nvPr/>
          </p:nvSpPr>
          <p:spPr bwMode="auto">
            <a:xfrm>
              <a:off x="2688" y="1080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204" name="Line 36"/>
            <p:cNvSpPr>
              <a:spLocks noChangeShapeType="1"/>
            </p:cNvSpPr>
            <p:nvPr/>
          </p:nvSpPr>
          <p:spPr bwMode="auto">
            <a:xfrm flipH="1">
              <a:off x="1872" y="888"/>
              <a:ext cx="110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205" name="Line 37"/>
            <p:cNvSpPr>
              <a:spLocks noChangeShapeType="1"/>
            </p:cNvSpPr>
            <p:nvPr/>
          </p:nvSpPr>
          <p:spPr bwMode="auto">
            <a:xfrm>
              <a:off x="1872" y="888"/>
              <a:ext cx="0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206" name="Line 38"/>
            <p:cNvSpPr>
              <a:spLocks noChangeShapeType="1"/>
            </p:cNvSpPr>
            <p:nvPr/>
          </p:nvSpPr>
          <p:spPr bwMode="auto">
            <a:xfrm flipH="1">
              <a:off x="1872" y="1896"/>
              <a:ext cx="110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207" name="Line 39"/>
            <p:cNvSpPr>
              <a:spLocks noChangeShapeType="1"/>
            </p:cNvSpPr>
            <p:nvPr/>
          </p:nvSpPr>
          <p:spPr bwMode="auto">
            <a:xfrm flipV="1">
              <a:off x="1872" y="1560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208" name="Line 40"/>
            <p:cNvSpPr>
              <a:spLocks noChangeShapeType="1"/>
            </p:cNvSpPr>
            <p:nvPr/>
          </p:nvSpPr>
          <p:spPr bwMode="auto">
            <a:xfrm flipH="1">
              <a:off x="3504" y="1224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209" name="Line 41"/>
            <p:cNvSpPr>
              <a:spLocks noChangeShapeType="1"/>
            </p:cNvSpPr>
            <p:nvPr/>
          </p:nvSpPr>
          <p:spPr bwMode="auto">
            <a:xfrm flipV="1">
              <a:off x="3504" y="984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210" name="Line 42"/>
            <p:cNvSpPr>
              <a:spLocks noChangeShapeType="1"/>
            </p:cNvSpPr>
            <p:nvPr/>
          </p:nvSpPr>
          <p:spPr bwMode="auto">
            <a:xfrm flipH="1">
              <a:off x="3408" y="984"/>
              <a:ext cx="9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211" name="Line 43"/>
            <p:cNvSpPr>
              <a:spLocks noChangeShapeType="1"/>
            </p:cNvSpPr>
            <p:nvPr/>
          </p:nvSpPr>
          <p:spPr bwMode="auto">
            <a:xfrm flipH="1">
              <a:off x="3504" y="1464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212" name="Line 44"/>
            <p:cNvSpPr>
              <a:spLocks noChangeShapeType="1"/>
            </p:cNvSpPr>
            <p:nvPr/>
          </p:nvSpPr>
          <p:spPr bwMode="auto">
            <a:xfrm>
              <a:off x="3504" y="1464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213" name="Line 45"/>
            <p:cNvSpPr>
              <a:spLocks noChangeShapeType="1"/>
            </p:cNvSpPr>
            <p:nvPr/>
          </p:nvSpPr>
          <p:spPr bwMode="auto">
            <a:xfrm flipH="1">
              <a:off x="3408" y="1800"/>
              <a:ext cx="9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214" name="Line 46"/>
            <p:cNvSpPr>
              <a:spLocks noChangeShapeType="1"/>
            </p:cNvSpPr>
            <p:nvPr/>
          </p:nvSpPr>
          <p:spPr bwMode="auto">
            <a:xfrm>
              <a:off x="4080" y="1368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215" name="Rectangle 47"/>
            <p:cNvSpPr>
              <a:spLocks noChangeArrowheads="1"/>
            </p:cNvSpPr>
            <p:nvPr/>
          </p:nvSpPr>
          <p:spPr bwMode="auto">
            <a:xfrm>
              <a:off x="3696" y="1170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&amp;</a:t>
              </a:r>
            </a:p>
          </p:txBody>
        </p:sp>
        <p:sp>
          <p:nvSpPr>
            <p:cNvPr id="7216" name="Rectangle 48"/>
            <p:cNvSpPr>
              <a:spLocks noChangeArrowheads="1"/>
            </p:cNvSpPr>
            <p:nvPr/>
          </p:nvSpPr>
          <p:spPr bwMode="auto">
            <a:xfrm>
              <a:off x="2976" y="786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&amp;</a:t>
              </a:r>
            </a:p>
          </p:txBody>
        </p:sp>
        <p:sp>
          <p:nvSpPr>
            <p:cNvPr id="7217" name="Rectangle 49"/>
            <p:cNvSpPr>
              <a:spLocks noChangeArrowheads="1"/>
            </p:cNvSpPr>
            <p:nvPr/>
          </p:nvSpPr>
          <p:spPr bwMode="auto">
            <a:xfrm>
              <a:off x="2976" y="1602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&amp;</a:t>
              </a:r>
            </a:p>
          </p:txBody>
        </p:sp>
        <p:sp>
          <p:nvSpPr>
            <p:cNvPr id="7218" name="Rectangle 50"/>
            <p:cNvSpPr>
              <a:spLocks noChangeArrowheads="1"/>
            </p:cNvSpPr>
            <p:nvPr/>
          </p:nvSpPr>
          <p:spPr bwMode="auto">
            <a:xfrm>
              <a:off x="2112" y="1218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&amp;</a:t>
              </a:r>
            </a:p>
          </p:txBody>
        </p:sp>
        <p:sp>
          <p:nvSpPr>
            <p:cNvPr id="7219" name="Rectangle 51"/>
            <p:cNvSpPr>
              <a:spLocks noChangeArrowheads="1"/>
            </p:cNvSpPr>
            <p:nvPr/>
          </p:nvSpPr>
          <p:spPr bwMode="auto">
            <a:xfrm>
              <a:off x="1200" y="1056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A</a:t>
              </a:r>
            </a:p>
          </p:txBody>
        </p:sp>
        <p:sp>
          <p:nvSpPr>
            <p:cNvPr id="7220" name="Rectangle 52"/>
            <p:cNvSpPr>
              <a:spLocks noChangeArrowheads="1"/>
            </p:cNvSpPr>
            <p:nvPr/>
          </p:nvSpPr>
          <p:spPr bwMode="auto">
            <a:xfrm>
              <a:off x="1200" y="1392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B</a:t>
              </a:r>
            </a:p>
          </p:txBody>
        </p:sp>
        <p:sp>
          <p:nvSpPr>
            <p:cNvPr id="7221" name="Rectangle 53"/>
            <p:cNvSpPr>
              <a:spLocks noChangeArrowheads="1"/>
            </p:cNvSpPr>
            <p:nvPr/>
          </p:nvSpPr>
          <p:spPr bwMode="auto">
            <a:xfrm>
              <a:off x="4224" y="930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F</a:t>
              </a:r>
            </a:p>
          </p:txBody>
        </p:sp>
        <p:sp>
          <p:nvSpPr>
            <p:cNvPr id="7222" name="Oval 54"/>
            <p:cNvSpPr>
              <a:spLocks noChangeArrowheads="1"/>
            </p:cNvSpPr>
            <p:nvPr/>
          </p:nvSpPr>
          <p:spPr bwMode="auto">
            <a:xfrm>
              <a:off x="1824" y="1512"/>
              <a:ext cx="96" cy="96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223" name="Oval 55"/>
            <p:cNvSpPr>
              <a:spLocks noChangeArrowheads="1"/>
            </p:cNvSpPr>
            <p:nvPr/>
          </p:nvSpPr>
          <p:spPr bwMode="auto">
            <a:xfrm>
              <a:off x="1824" y="1272"/>
              <a:ext cx="96" cy="96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224" name="Oval 56"/>
            <p:cNvSpPr>
              <a:spLocks noChangeArrowheads="1"/>
            </p:cNvSpPr>
            <p:nvPr/>
          </p:nvSpPr>
          <p:spPr bwMode="auto">
            <a:xfrm>
              <a:off x="2640" y="1368"/>
              <a:ext cx="96" cy="96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</p:grpSp>
      <p:grpSp>
        <p:nvGrpSpPr>
          <p:cNvPr id="7242" name="Group 74"/>
          <p:cNvGrpSpPr/>
          <p:nvPr/>
        </p:nvGrpSpPr>
        <p:grpSpPr>
          <a:xfrm>
            <a:off x="2895600" y="2476500"/>
            <a:ext cx="1219200" cy="1684338"/>
            <a:chOff x="1824" y="1560"/>
            <a:chExt cx="768" cy="1061"/>
          </a:xfrm>
        </p:grpSpPr>
        <p:sp>
          <p:nvSpPr>
            <p:cNvPr id="7228" name="Line 60"/>
            <p:cNvSpPr>
              <a:spLocks noChangeShapeType="1"/>
            </p:cNvSpPr>
            <p:nvPr/>
          </p:nvSpPr>
          <p:spPr bwMode="auto">
            <a:xfrm>
              <a:off x="1872" y="2328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grpSp>
          <p:nvGrpSpPr>
            <p:cNvPr id="11288" name="Group 70"/>
            <p:cNvGrpSpPr/>
            <p:nvPr/>
          </p:nvGrpSpPr>
          <p:grpSpPr>
            <a:xfrm>
              <a:off x="1824" y="1560"/>
              <a:ext cx="768" cy="1061"/>
              <a:chOff x="1824" y="1560"/>
              <a:chExt cx="768" cy="1061"/>
            </a:xfrm>
          </p:grpSpPr>
          <p:sp>
            <p:nvSpPr>
              <p:cNvPr id="7225" name="Rectangle 57"/>
              <p:cNvSpPr>
                <a:spLocks noChangeArrowheads="1"/>
              </p:cNvSpPr>
              <p:nvPr/>
            </p:nvSpPr>
            <p:spPr bwMode="auto">
              <a:xfrm>
                <a:off x="1824" y="2256"/>
                <a:ext cx="372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32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AB</a:t>
                </a:r>
              </a:p>
            </p:txBody>
          </p:sp>
          <p:sp>
            <p:nvSpPr>
              <p:cNvPr id="7229" name="Line 61"/>
              <p:cNvSpPr>
                <a:spLocks noChangeShapeType="1"/>
              </p:cNvSpPr>
              <p:nvPr/>
            </p:nvSpPr>
            <p:spPr bwMode="auto">
              <a:xfrm flipV="1">
                <a:off x="2208" y="1560"/>
                <a:ext cx="384" cy="57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endParaRPr>
              </a:p>
            </p:txBody>
          </p:sp>
        </p:grpSp>
      </p:grpSp>
      <p:grpSp>
        <p:nvGrpSpPr>
          <p:cNvPr id="7240" name="Group 72"/>
          <p:cNvGrpSpPr/>
          <p:nvPr/>
        </p:nvGrpSpPr>
        <p:grpSpPr>
          <a:xfrm>
            <a:off x="5638800" y="2628900"/>
            <a:ext cx="869950" cy="1379538"/>
            <a:chOff x="3552" y="1656"/>
            <a:chExt cx="548" cy="869"/>
          </a:xfrm>
        </p:grpSpPr>
        <p:sp>
          <p:nvSpPr>
            <p:cNvPr id="7232" name="Line 64"/>
            <p:cNvSpPr>
              <a:spLocks noChangeShapeType="1"/>
            </p:cNvSpPr>
            <p:nvPr/>
          </p:nvSpPr>
          <p:spPr bwMode="auto">
            <a:xfrm>
              <a:off x="3840" y="2232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233" name="Line 65"/>
            <p:cNvSpPr>
              <a:spLocks noChangeShapeType="1"/>
            </p:cNvSpPr>
            <p:nvPr/>
          </p:nvSpPr>
          <p:spPr bwMode="auto">
            <a:xfrm>
              <a:off x="3648" y="2184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grpSp>
          <p:nvGrpSpPr>
            <p:cNvPr id="11284" name="Group 71"/>
            <p:cNvGrpSpPr/>
            <p:nvPr/>
          </p:nvGrpSpPr>
          <p:grpSpPr>
            <a:xfrm>
              <a:off x="3552" y="1656"/>
              <a:ext cx="548" cy="869"/>
              <a:chOff x="3552" y="1656"/>
              <a:chExt cx="548" cy="869"/>
            </a:xfrm>
          </p:grpSpPr>
          <p:sp>
            <p:nvSpPr>
              <p:cNvPr id="7227" name="Rectangle 59"/>
              <p:cNvSpPr>
                <a:spLocks noChangeArrowheads="1"/>
              </p:cNvSpPr>
              <p:nvPr/>
            </p:nvSpPr>
            <p:spPr bwMode="auto">
              <a:xfrm>
                <a:off x="3600" y="2160"/>
                <a:ext cx="500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32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BAB</a:t>
                </a:r>
              </a:p>
            </p:txBody>
          </p:sp>
          <p:sp>
            <p:nvSpPr>
              <p:cNvPr id="7234" name="Line 66"/>
              <p:cNvSpPr>
                <a:spLocks noChangeShapeType="1"/>
              </p:cNvSpPr>
              <p:nvPr/>
            </p:nvSpPr>
            <p:spPr bwMode="auto">
              <a:xfrm flipH="1" flipV="1">
                <a:off x="3552" y="1656"/>
                <a:ext cx="192" cy="33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endParaRPr>
              </a:p>
            </p:txBody>
          </p:sp>
        </p:grpSp>
      </p:grpSp>
      <p:grpSp>
        <p:nvGrpSpPr>
          <p:cNvPr id="7241" name="Group 73"/>
          <p:cNvGrpSpPr/>
          <p:nvPr/>
        </p:nvGrpSpPr>
        <p:grpSpPr>
          <a:xfrm>
            <a:off x="5562600" y="533400"/>
            <a:ext cx="869950" cy="952500"/>
            <a:chOff x="3504" y="336"/>
            <a:chExt cx="548" cy="600"/>
          </a:xfrm>
        </p:grpSpPr>
        <p:sp>
          <p:nvSpPr>
            <p:cNvPr id="7230" name="Line 62"/>
            <p:cNvSpPr>
              <a:spLocks noChangeShapeType="1"/>
            </p:cNvSpPr>
            <p:nvPr/>
          </p:nvSpPr>
          <p:spPr bwMode="auto">
            <a:xfrm>
              <a:off x="3744" y="408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231" name="Line 63"/>
            <p:cNvSpPr>
              <a:spLocks noChangeShapeType="1"/>
            </p:cNvSpPr>
            <p:nvPr/>
          </p:nvSpPr>
          <p:spPr bwMode="auto">
            <a:xfrm>
              <a:off x="3648" y="360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grpSp>
          <p:nvGrpSpPr>
            <p:cNvPr id="11279" name="Group 69"/>
            <p:cNvGrpSpPr/>
            <p:nvPr/>
          </p:nvGrpSpPr>
          <p:grpSpPr>
            <a:xfrm>
              <a:off x="3504" y="336"/>
              <a:ext cx="548" cy="600"/>
              <a:chOff x="3504" y="336"/>
              <a:chExt cx="548" cy="600"/>
            </a:xfrm>
          </p:grpSpPr>
          <p:sp>
            <p:nvSpPr>
              <p:cNvPr id="7226" name="Rectangle 58"/>
              <p:cNvSpPr>
                <a:spLocks noChangeArrowheads="1"/>
              </p:cNvSpPr>
              <p:nvPr/>
            </p:nvSpPr>
            <p:spPr bwMode="auto">
              <a:xfrm>
                <a:off x="3552" y="336"/>
                <a:ext cx="500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32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AAB</a:t>
                </a:r>
              </a:p>
            </p:txBody>
          </p:sp>
          <p:sp>
            <p:nvSpPr>
              <p:cNvPr id="7235" name="Line 67"/>
              <p:cNvSpPr>
                <a:spLocks noChangeShapeType="1"/>
              </p:cNvSpPr>
              <p:nvPr/>
            </p:nvSpPr>
            <p:spPr bwMode="auto">
              <a:xfrm flipH="1">
                <a:off x="3504" y="696"/>
                <a:ext cx="336" cy="24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endParaRPr>
              </a:p>
            </p:txBody>
          </p:sp>
        </p:grpSp>
      </p:grpSp>
      <p:graphicFrame>
        <p:nvGraphicFramePr>
          <p:cNvPr id="7236" name="Object 68"/>
          <p:cNvGraphicFramePr>
            <a:graphicFrameLocks noChangeAspect="1"/>
          </p:cNvGraphicFramePr>
          <p:nvPr/>
        </p:nvGraphicFramePr>
        <p:xfrm>
          <a:off x="893763" y="4343400"/>
          <a:ext cx="2306637" cy="59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687705" imgH="131445" progId="Equation.3">
                  <p:embed/>
                </p:oleObj>
              </mc:Choice>
              <mc:Fallback>
                <p:oleObj r:id="rId3" imgW="687705" imgH="131445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93763" y="4343400"/>
                        <a:ext cx="2306637" cy="5984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44" name="Object 76"/>
          <p:cNvGraphicFramePr>
            <a:graphicFrameLocks noChangeAspect="1"/>
          </p:cNvGraphicFramePr>
          <p:nvPr/>
        </p:nvGraphicFramePr>
        <p:xfrm>
          <a:off x="1247775" y="4941888"/>
          <a:ext cx="2171700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888365" imgH="203200" progId="Equation.3">
                  <p:embed/>
                </p:oleObj>
              </mc:Choice>
              <mc:Fallback>
                <p:oleObj r:id="rId5" imgW="888365" imgH="2032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47775" y="4941888"/>
                        <a:ext cx="2171700" cy="4968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45" name="Object 77"/>
          <p:cNvGraphicFramePr>
            <a:graphicFrameLocks noChangeAspect="1"/>
          </p:cNvGraphicFramePr>
          <p:nvPr/>
        </p:nvGraphicFramePr>
        <p:xfrm>
          <a:off x="1254125" y="5486400"/>
          <a:ext cx="3352800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397000" imgH="241300" progId="Equation.3">
                  <p:embed/>
                </p:oleObj>
              </mc:Choice>
              <mc:Fallback>
                <p:oleObj r:id="rId7" imgW="1397000" imgH="2413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254125" y="5486400"/>
                        <a:ext cx="3352800" cy="5762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46" name="Object 78"/>
          <p:cNvGraphicFramePr>
            <a:graphicFrameLocks noChangeAspect="1"/>
          </p:cNvGraphicFramePr>
          <p:nvPr/>
        </p:nvGraphicFramePr>
        <p:xfrm>
          <a:off x="1254125" y="6061075"/>
          <a:ext cx="1295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532765" imgH="177800" progId="Equation.3">
                  <p:embed/>
                </p:oleObj>
              </mc:Choice>
              <mc:Fallback>
                <p:oleObj r:id="rId9" imgW="532765" imgH="1778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254125" y="6061075"/>
                        <a:ext cx="12954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47" name="Rectangle 79"/>
          <p:cNvSpPr>
            <a:spLocks noChangeArrowheads="1"/>
          </p:cNvSpPr>
          <p:nvPr/>
        </p:nvSpPr>
        <p:spPr bwMode="auto">
          <a:xfrm>
            <a:off x="4716463" y="4810125"/>
            <a:ext cx="42672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结论：该电路实现两个输入信号的异或逻辑。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7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7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7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7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7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7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87" grpId="0"/>
      <p:bldP spid="724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灯片编号占位符 3"/>
          <p:cNvSpPr txBox="1">
            <a:spLocks noGrp="1"/>
          </p:cNvSpPr>
          <p:nvPr>
            <p:ph type="sldNum" sz="quarter" idx="12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3E5487-BCD7-4AD0-AE0E-7798F9310EFA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6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228600" y="266700"/>
            <a:ext cx="86106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例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2: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设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A=A</a:t>
            </a:r>
            <a:r>
              <a:rPr kumimoji="1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A</a:t>
            </a:r>
            <a:r>
              <a:rPr kumimoji="1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0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、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B=B</a:t>
            </a:r>
            <a:r>
              <a:rPr kumimoji="1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B</a:t>
            </a:r>
            <a:r>
              <a:rPr kumimoji="1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0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均为二位的二进制数。试分析电路</a:t>
            </a:r>
          </a:p>
        </p:txBody>
      </p:sp>
      <p:grpSp>
        <p:nvGrpSpPr>
          <p:cNvPr id="8196" name="Group 4"/>
          <p:cNvGrpSpPr/>
          <p:nvPr/>
        </p:nvGrpSpPr>
        <p:grpSpPr>
          <a:xfrm>
            <a:off x="1828800" y="1676400"/>
            <a:ext cx="5721350" cy="2532063"/>
            <a:chOff x="768" y="1861"/>
            <a:chExt cx="3604" cy="1595"/>
          </a:xfrm>
        </p:grpSpPr>
        <p:sp>
          <p:nvSpPr>
            <p:cNvPr id="8197" name="Rectangle 5"/>
            <p:cNvSpPr>
              <a:spLocks noChangeArrowheads="1"/>
            </p:cNvSpPr>
            <p:nvPr/>
          </p:nvSpPr>
          <p:spPr bwMode="auto">
            <a:xfrm>
              <a:off x="2160" y="2068"/>
              <a:ext cx="307" cy="58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198" name="Oval 6"/>
            <p:cNvSpPr>
              <a:spLocks noChangeArrowheads="1"/>
            </p:cNvSpPr>
            <p:nvPr/>
          </p:nvSpPr>
          <p:spPr bwMode="auto">
            <a:xfrm>
              <a:off x="2448" y="2301"/>
              <a:ext cx="94" cy="99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199" name="Rectangle 7"/>
            <p:cNvSpPr>
              <a:spLocks noChangeArrowheads="1"/>
            </p:cNvSpPr>
            <p:nvPr/>
          </p:nvSpPr>
          <p:spPr bwMode="auto">
            <a:xfrm>
              <a:off x="2160" y="2872"/>
              <a:ext cx="307" cy="58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200" name="Oval 8"/>
            <p:cNvSpPr>
              <a:spLocks noChangeArrowheads="1"/>
            </p:cNvSpPr>
            <p:nvPr/>
          </p:nvSpPr>
          <p:spPr bwMode="auto">
            <a:xfrm>
              <a:off x="2448" y="3122"/>
              <a:ext cx="88" cy="9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201" name="Rectangle 9"/>
            <p:cNvSpPr>
              <a:spLocks noChangeArrowheads="1"/>
            </p:cNvSpPr>
            <p:nvPr/>
          </p:nvSpPr>
          <p:spPr bwMode="auto">
            <a:xfrm>
              <a:off x="2832" y="2446"/>
              <a:ext cx="307" cy="58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202" name="Line 10"/>
            <p:cNvSpPr>
              <a:spLocks noChangeShapeType="1"/>
            </p:cNvSpPr>
            <p:nvPr/>
          </p:nvSpPr>
          <p:spPr bwMode="auto">
            <a:xfrm>
              <a:off x="1728" y="3172"/>
              <a:ext cx="425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203" name="Line 11"/>
            <p:cNvSpPr>
              <a:spLocks noChangeShapeType="1"/>
            </p:cNvSpPr>
            <p:nvPr/>
          </p:nvSpPr>
          <p:spPr bwMode="auto">
            <a:xfrm>
              <a:off x="1728" y="2368"/>
              <a:ext cx="425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204" name="Line 12"/>
            <p:cNvSpPr>
              <a:spLocks noChangeShapeType="1"/>
            </p:cNvSpPr>
            <p:nvPr/>
          </p:nvSpPr>
          <p:spPr bwMode="auto">
            <a:xfrm flipV="1">
              <a:off x="2688" y="2344"/>
              <a:ext cx="1" cy="26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205" name="Line 13"/>
            <p:cNvSpPr>
              <a:spLocks noChangeShapeType="1"/>
            </p:cNvSpPr>
            <p:nvPr/>
          </p:nvSpPr>
          <p:spPr bwMode="auto">
            <a:xfrm flipH="1">
              <a:off x="2688" y="2841"/>
              <a:ext cx="142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206" name="Line 14"/>
            <p:cNvSpPr>
              <a:spLocks noChangeShapeType="1"/>
            </p:cNvSpPr>
            <p:nvPr/>
          </p:nvSpPr>
          <p:spPr bwMode="auto">
            <a:xfrm>
              <a:off x="2688" y="2831"/>
              <a:ext cx="1" cy="34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207" name="Rectangle 15"/>
            <p:cNvSpPr>
              <a:spLocks noChangeArrowheads="1"/>
            </p:cNvSpPr>
            <p:nvPr/>
          </p:nvSpPr>
          <p:spPr bwMode="auto">
            <a:xfrm>
              <a:off x="2832" y="2541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&amp;</a:t>
              </a:r>
            </a:p>
          </p:txBody>
        </p:sp>
        <p:sp>
          <p:nvSpPr>
            <p:cNvPr id="8208" name="Rectangle 16"/>
            <p:cNvSpPr>
              <a:spLocks noChangeArrowheads="1"/>
            </p:cNvSpPr>
            <p:nvPr/>
          </p:nvSpPr>
          <p:spPr bwMode="auto">
            <a:xfrm>
              <a:off x="4128" y="2352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F</a:t>
              </a:r>
            </a:p>
          </p:txBody>
        </p:sp>
        <p:sp>
          <p:nvSpPr>
            <p:cNvPr id="8209" name="Rectangle 17"/>
            <p:cNvSpPr>
              <a:spLocks noChangeArrowheads="1"/>
            </p:cNvSpPr>
            <p:nvPr/>
          </p:nvSpPr>
          <p:spPr bwMode="auto">
            <a:xfrm>
              <a:off x="3648" y="2446"/>
              <a:ext cx="307" cy="58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210" name="Line 18"/>
            <p:cNvSpPr>
              <a:spLocks noChangeShapeType="1"/>
            </p:cNvSpPr>
            <p:nvPr/>
          </p:nvSpPr>
          <p:spPr bwMode="auto">
            <a:xfrm>
              <a:off x="3216" y="2736"/>
              <a:ext cx="425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211" name="Rectangle 19"/>
            <p:cNvSpPr>
              <a:spLocks noChangeArrowheads="1"/>
            </p:cNvSpPr>
            <p:nvPr/>
          </p:nvSpPr>
          <p:spPr bwMode="auto">
            <a:xfrm>
              <a:off x="1440" y="2068"/>
              <a:ext cx="307" cy="58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212" name="Line 20"/>
            <p:cNvSpPr>
              <a:spLocks noChangeShapeType="1"/>
            </p:cNvSpPr>
            <p:nvPr/>
          </p:nvSpPr>
          <p:spPr bwMode="auto">
            <a:xfrm>
              <a:off x="1152" y="2256"/>
              <a:ext cx="264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213" name="Rectangle 21"/>
            <p:cNvSpPr>
              <a:spLocks noChangeArrowheads="1"/>
            </p:cNvSpPr>
            <p:nvPr/>
          </p:nvSpPr>
          <p:spPr bwMode="auto">
            <a:xfrm>
              <a:off x="1440" y="2872"/>
              <a:ext cx="307" cy="58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214" name="Line 22"/>
            <p:cNvSpPr>
              <a:spLocks noChangeShapeType="1"/>
            </p:cNvSpPr>
            <p:nvPr/>
          </p:nvSpPr>
          <p:spPr bwMode="auto">
            <a:xfrm>
              <a:off x="1152" y="3024"/>
              <a:ext cx="264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215" name="Line 23"/>
            <p:cNvSpPr>
              <a:spLocks noChangeShapeType="1"/>
            </p:cNvSpPr>
            <p:nvPr/>
          </p:nvSpPr>
          <p:spPr bwMode="auto">
            <a:xfrm>
              <a:off x="1152" y="2496"/>
              <a:ext cx="264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216" name="Line 24"/>
            <p:cNvSpPr>
              <a:spLocks noChangeShapeType="1"/>
            </p:cNvSpPr>
            <p:nvPr/>
          </p:nvSpPr>
          <p:spPr bwMode="auto">
            <a:xfrm>
              <a:off x="1152" y="3312"/>
              <a:ext cx="264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217" name="Rectangle 25"/>
            <p:cNvSpPr>
              <a:spLocks noChangeArrowheads="1"/>
            </p:cNvSpPr>
            <p:nvPr/>
          </p:nvSpPr>
          <p:spPr bwMode="auto">
            <a:xfrm>
              <a:off x="1392" y="2162"/>
              <a:ext cx="3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=1</a:t>
              </a:r>
            </a:p>
          </p:txBody>
        </p:sp>
        <p:sp>
          <p:nvSpPr>
            <p:cNvPr id="8218" name="Rectangle 26"/>
            <p:cNvSpPr>
              <a:spLocks noChangeArrowheads="1"/>
            </p:cNvSpPr>
            <p:nvPr/>
          </p:nvSpPr>
          <p:spPr bwMode="auto">
            <a:xfrm>
              <a:off x="1392" y="2966"/>
              <a:ext cx="3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=1</a:t>
              </a:r>
            </a:p>
          </p:txBody>
        </p:sp>
        <p:sp>
          <p:nvSpPr>
            <p:cNvPr id="8219" name="Rectangle 27"/>
            <p:cNvSpPr>
              <a:spLocks noChangeArrowheads="1"/>
            </p:cNvSpPr>
            <p:nvPr/>
          </p:nvSpPr>
          <p:spPr bwMode="auto">
            <a:xfrm>
              <a:off x="2208" y="2021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</a:t>
              </a:r>
            </a:p>
          </p:txBody>
        </p:sp>
        <p:sp>
          <p:nvSpPr>
            <p:cNvPr id="8220" name="Rectangle 28"/>
            <p:cNvSpPr>
              <a:spLocks noChangeArrowheads="1"/>
            </p:cNvSpPr>
            <p:nvPr/>
          </p:nvSpPr>
          <p:spPr bwMode="auto">
            <a:xfrm>
              <a:off x="2208" y="2824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</a:t>
              </a:r>
            </a:p>
          </p:txBody>
        </p:sp>
        <p:sp>
          <p:nvSpPr>
            <p:cNvPr id="8221" name="Rectangle 29"/>
            <p:cNvSpPr>
              <a:spLocks noChangeArrowheads="1"/>
            </p:cNvSpPr>
            <p:nvPr/>
          </p:nvSpPr>
          <p:spPr bwMode="auto">
            <a:xfrm>
              <a:off x="3696" y="2399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</a:t>
              </a:r>
            </a:p>
          </p:txBody>
        </p:sp>
        <p:sp>
          <p:nvSpPr>
            <p:cNvPr id="8222" name="Rectangle 30"/>
            <p:cNvSpPr>
              <a:spLocks noChangeArrowheads="1"/>
            </p:cNvSpPr>
            <p:nvPr/>
          </p:nvSpPr>
          <p:spPr bwMode="auto">
            <a:xfrm>
              <a:off x="768" y="1861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A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</a:t>
              </a:r>
            </a:p>
          </p:txBody>
        </p:sp>
        <p:sp>
          <p:nvSpPr>
            <p:cNvPr id="8223" name="Rectangle 31"/>
            <p:cNvSpPr>
              <a:spLocks noChangeArrowheads="1"/>
            </p:cNvSpPr>
            <p:nvPr/>
          </p:nvSpPr>
          <p:spPr bwMode="auto">
            <a:xfrm>
              <a:off x="768" y="2239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B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</a:t>
              </a:r>
            </a:p>
          </p:txBody>
        </p:sp>
        <p:sp>
          <p:nvSpPr>
            <p:cNvPr id="8224" name="Rectangle 32"/>
            <p:cNvSpPr>
              <a:spLocks noChangeArrowheads="1"/>
            </p:cNvSpPr>
            <p:nvPr/>
          </p:nvSpPr>
          <p:spPr bwMode="auto">
            <a:xfrm>
              <a:off x="768" y="2712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A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0</a:t>
              </a:r>
            </a:p>
          </p:txBody>
        </p:sp>
        <p:sp>
          <p:nvSpPr>
            <p:cNvPr id="8225" name="Rectangle 33"/>
            <p:cNvSpPr>
              <a:spLocks noChangeArrowheads="1"/>
            </p:cNvSpPr>
            <p:nvPr/>
          </p:nvSpPr>
          <p:spPr bwMode="auto">
            <a:xfrm>
              <a:off x="768" y="3043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B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0</a:t>
              </a:r>
            </a:p>
          </p:txBody>
        </p:sp>
        <p:sp>
          <p:nvSpPr>
            <p:cNvPr id="8226" name="Line 34"/>
            <p:cNvSpPr>
              <a:spLocks noChangeShapeType="1"/>
            </p:cNvSpPr>
            <p:nvPr/>
          </p:nvSpPr>
          <p:spPr bwMode="auto">
            <a:xfrm>
              <a:off x="2544" y="3172"/>
              <a:ext cx="142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227" name="Line 35"/>
            <p:cNvSpPr>
              <a:spLocks noChangeShapeType="1"/>
            </p:cNvSpPr>
            <p:nvPr/>
          </p:nvSpPr>
          <p:spPr bwMode="auto">
            <a:xfrm>
              <a:off x="2544" y="2352"/>
              <a:ext cx="14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228" name="Line 36"/>
            <p:cNvSpPr>
              <a:spLocks noChangeShapeType="1"/>
            </p:cNvSpPr>
            <p:nvPr/>
          </p:nvSpPr>
          <p:spPr bwMode="auto">
            <a:xfrm>
              <a:off x="2688" y="2592"/>
              <a:ext cx="14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229" name="Oval 37"/>
            <p:cNvSpPr>
              <a:spLocks noChangeArrowheads="1"/>
            </p:cNvSpPr>
            <p:nvPr/>
          </p:nvSpPr>
          <p:spPr bwMode="auto">
            <a:xfrm>
              <a:off x="3120" y="2685"/>
              <a:ext cx="94" cy="9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230" name="Oval 38"/>
            <p:cNvSpPr>
              <a:spLocks noChangeArrowheads="1"/>
            </p:cNvSpPr>
            <p:nvPr/>
          </p:nvSpPr>
          <p:spPr bwMode="auto">
            <a:xfrm>
              <a:off x="3936" y="2685"/>
              <a:ext cx="94" cy="9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231" name="Line 39"/>
            <p:cNvSpPr>
              <a:spLocks noChangeShapeType="1"/>
            </p:cNvSpPr>
            <p:nvPr/>
          </p:nvSpPr>
          <p:spPr bwMode="auto">
            <a:xfrm>
              <a:off x="4032" y="2736"/>
              <a:ext cx="189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</p:grpSp>
      <p:grpSp>
        <p:nvGrpSpPr>
          <p:cNvPr id="8232" name="Group 40"/>
          <p:cNvGrpSpPr/>
          <p:nvPr/>
        </p:nvGrpSpPr>
        <p:grpSpPr>
          <a:xfrm>
            <a:off x="1047750" y="4754563"/>
            <a:ext cx="7105650" cy="731837"/>
            <a:chOff x="528" y="240"/>
            <a:chExt cx="4476" cy="461"/>
          </a:xfrm>
        </p:grpSpPr>
        <p:sp>
          <p:nvSpPr>
            <p:cNvPr id="8233" name="AutoShape 41"/>
            <p:cNvSpPr>
              <a:spLocks noChangeArrowheads="1"/>
            </p:cNvSpPr>
            <p:nvPr/>
          </p:nvSpPr>
          <p:spPr bwMode="auto">
            <a:xfrm>
              <a:off x="1200" y="480"/>
              <a:ext cx="144" cy="144"/>
            </a:xfrm>
            <a:prstGeom prst="flowChartOr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234" name="AutoShape 42"/>
            <p:cNvSpPr>
              <a:spLocks noChangeArrowheads="1"/>
            </p:cNvSpPr>
            <p:nvPr/>
          </p:nvSpPr>
          <p:spPr bwMode="auto">
            <a:xfrm>
              <a:off x="2256" y="480"/>
              <a:ext cx="144" cy="144"/>
            </a:xfrm>
            <a:prstGeom prst="flowChartOr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235" name="Line 43"/>
            <p:cNvSpPr>
              <a:spLocks noChangeShapeType="1"/>
            </p:cNvSpPr>
            <p:nvPr/>
          </p:nvSpPr>
          <p:spPr bwMode="auto">
            <a:xfrm>
              <a:off x="960" y="432"/>
              <a:ext cx="62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236" name="Line 44"/>
            <p:cNvSpPr>
              <a:spLocks noChangeShapeType="1"/>
            </p:cNvSpPr>
            <p:nvPr/>
          </p:nvSpPr>
          <p:spPr bwMode="auto">
            <a:xfrm>
              <a:off x="1968" y="432"/>
              <a:ext cx="7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237" name="Line 45"/>
            <p:cNvSpPr>
              <a:spLocks noChangeShapeType="1"/>
            </p:cNvSpPr>
            <p:nvPr/>
          </p:nvSpPr>
          <p:spPr bwMode="auto">
            <a:xfrm>
              <a:off x="960" y="336"/>
              <a:ext cx="182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238" name="Oval 46"/>
            <p:cNvSpPr>
              <a:spLocks noChangeArrowheads="1"/>
            </p:cNvSpPr>
            <p:nvPr/>
          </p:nvSpPr>
          <p:spPr bwMode="auto">
            <a:xfrm>
              <a:off x="1728" y="528"/>
              <a:ext cx="48" cy="48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239" name="Rectangle 47"/>
            <p:cNvSpPr>
              <a:spLocks noChangeArrowheads="1"/>
            </p:cNvSpPr>
            <p:nvPr/>
          </p:nvSpPr>
          <p:spPr bwMode="auto">
            <a:xfrm>
              <a:off x="528" y="336"/>
              <a:ext cx="447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F= A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   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B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    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A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0    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B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0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= (A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   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B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)(A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0    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B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0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)</a:t>
              </a:r>
            </a:p>
          </p:txBody>
        </p:sp>
        <p:sp>
          <p:nvSpPr>
            <p:cNvPr id="8240" name="Line 48"/>
            <p:cNvSpPr>
              <a:spLocks noChangeShapeType="1"/>
            </p:cNvSpPr>
            <p:nvPr/>
          </p:nvSpPr>
          <p:spPr bwMode="auto">
            <a:xfrm>
              <a:off x="960" y="240"/>
              <a:ext cx="182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241" name="Oval 49"/>
            <p:cNvSpPr>
              <a:spLocks noChangeArrowheads="1"/>
            </p:cNvSpPr>
            <p:nvPr/>
          </p:nvSpPr>
          <p:spPr bwMode="auto">
            <a:xfrm>
              <a:off x="3408" y="480"/>
              <a:ext cx="144" cy="14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242" name="Oval 50"/>
            <p:cNvSpPr>
              <a:spLocks noChangeArrowheads="1"/>
            </p:cNvSpPr>
            <p:nvPr/>
          </p:nvSpPr>
          <p:spPr bwMode="auto">
            <a:xfrm>
              <a:off x="3456" y="528"/>
              <a:ext cx="48" cy="48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243" name="Oval 51"/>
            <p:cNvSpPr>
              <a:spLocks noChangeArrowheads="1"/>
            </p:cNvSpPr>
            <p:nvPr/>
          </p:nvSpPr>
          <p:spPr bwMode="auto">
            <a:xfrm>
              <a:off x="4368" y="480"/>
              <a:ext cx="144" cy="14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244" name="Oval 52"/>
            <p:cNvSpPr>
              <a:spLocks noChangeArrowheads="1"/>
            </p:cNvSpPr>
            <p:nvPr/>
          </p:nvSpPr>
          <p:spPr bwMode="auto">
            <a:xfrm>
              <a:off x="4416" y="528"/>
              <a:ext cx="48" cy="48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灯片编号占位符 3"/>
          <p:cNvSpPr txBox="1">
            <a:spLocks noGrp="1"/>
          </p:cNvSpPr>
          <p:nvPr>
            <p:ph type="sldNum" sz="quarter" idx="12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65C7BE7-5194-49D1-90F5-B2837AF9B648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7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5363" name="Group 2"/>
          <p:cNvGrpSpPr/>
          <p:nvPr/>
        </p:nvGrpSpPr>
        <p:grpSpPr>
          <a:xfrm>
            <a:off x="609600" y="334963"/>
            <a:ext cx="7105650" cy="731837"/>
            <a:chOff x="528" y="240"/>
            <a:chExt cx="4476" cy="461"/>
          </a:xfrm>
        </p:grpSpPr>
        <p:sp>
          <p:nvSpPr>
            <p:cNvPr id="9219" name="AutoShape 3"/>
            <p:cNvSpPr>
              <a:spLocks noChangeArrowheads="1"/>
            </p:cNvSpPr>
            <p:nvPr/>
          </p:nvSpPr>
          <p:spPr bwMode="auto">
            <a:xfrm>
              <a:off x="1200" y="480"/>
              <a:ext cx="144" cy="144"/>
            </a:xfrm>
            <a:prstGeom prst="flowChartOr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9220" name="AutoShape 4"/>
            <p:cNvSpPr>
              <a:spLocks noChangeArrowheads="1"/>
            </p:cNvSpPr>
            <p:nvPr/>
          </p:nvSpPr>
          <p:spPr bwMode="auto">
            <a:xfrm>
              <a:off x="2256" y="480"/>
              <a:ext cx="144" cy="144"/>
            </a:xfrm>
            <a:prstGeom prst="flowChartOr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9221" name="Line 5"/>
            <p:cNvSpPr>
              <a:spLocks noChangeShapeType="1"/>
            </p:cNvSpPr>
            <p:nvPr/>
          </p:nvSpPr>
          <p:spPr bwMode="auto">
            <a:xfrm>
              <a:off x="960" y="432"/>
              <a:ext cx="62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9222" name="Line 6"/>
            <p:cNvSpPr>
              <a:spLocks noChangeShapeType="1"/>
            </p:cNvSpPr>
            <p:nvPr/>
          </p:nvSpPr>
          <p:spPr bwMode="auto">
            <a:xfrm>
              <a:off x="1968" y="432"/>
              <a:ext cx="7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9223" name="Line 7"/>
            <p:cNvSpPr>
              <a:spLocks noChangeShapeType="1"/>
            </p:cNvSpPr>
            <p:nvPr/>
          </p:nvSpPr>
          <p:spPr bwMode="auto">
            <a:xfrm>
              <a:off x="960" y="336"/>
              <a:ext cx="182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9224" name="Oval 8"/>
            <p:cNvSpPr>
              <a:spLocks noChangeArrowheads="1"/>
            </p:cNvSpPr>
            <p:nvPr/>
          </p:nvSpPr>
          <p:spPr bwMode="auto">
            <a:xfrm>
              <a:off x="1728" y="528"/>
              <a:ext cx="48" cy="48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9225" name="Rectangle 9"/>
            <p:cNvSpPr>
              <a:spLocks noChangeArrowheads="1"/>
            </p:cNvSpPr>
            <p:nvPr/>
          </p:nvSpPr>
          <p:spPr bwMode="auto">
            <a:xfrm>
              <a:off x="528" y="336"/>
              <a:ext cx="447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F= A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   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B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    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A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0    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B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0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= (A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   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B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)(A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0    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B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0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)</a:t>
              </a:r>
            </a:p>
          </p:txBody>
        </p:sp>
        <p:sp>
          <p:nvSpPr>
            <p:cNvPr id="9226" name="Line 10"/>
            <p:cNvSpPr>
              <a:spLocks noChangeShapeType="1"/>
            </p:cNvSpPr>
            <p:nvPr/>
          </p:nvSpPr>
          <p:spPr bwMode="auto">
            <a:xfrm>
              <a:off x="960" y="240"/>
              <a:ext cx="182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9227" name="Oval 11"/>
            <p:cNvSpPr>
              <a:spLocks noChangeArrowheads="1"/>
            </p:cNvSpPr>
            <p:nvPr/>
          </p:nvSpPr>
          <p:spPr bwMode="auto">
            <a:xfrm>
              <a:off x="3408" y="480"/>
              <a:ext cx="144" cy="14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9228" name="Oval 12"/>
            <p:cNvSpPr>
              <a:spLocks noChangeArrowheads="1"/>
            </p:cNvSpPr>
            <p:nvPr/>
          </p:nvSpPr>
          <p:spPr bwMode="auto">
            <a:xfrm>
              <a:off x="3456" y="528"/>
              <a:ext cx="48" cy="48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9229" name="Oval 13"/>
            <p:cNvSpPr>
              <a:spLocks noChangeArrowheads="1"/>
            </p:cNvSpPr>
            <p:nvPr/>
          </p:nvSpPr>
          <p:spPr bwMode="auto">
            <a:xfrm>
              <a:off x="4368" y="480"/>
              <a:ext cx="144" cy="14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9230" name="Oval 14"/>
            <p:cNvSpPr>
              <a:spLocks noChangeArrowheads="1"/>
            </p:cNvSpPr>
            <p:nvPr/>
          </p:nvSpPr>
          <p:spPr bwMode="auto">
            <a:xfrm>
              <a:off x="4416" y="528"/>
              <a:ext cx="48" cy="48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</p:grpSp>
      <p:sp>
        <p:nvSpPr>
          <p:cNvPr id="9231" name="Rectangle 15"/>
          <p:cNvSpPr>
            <a:spLocks noChangeArrowheads="1"/>
          </p:cNvSpPr>
          <p:nvPr/>
        </p:nvSpPr>
        <p:spPr bwMode="auto">
          <a:xfrm>
            <a:off x="457200" y="1477963"/>
            <a:ext cx="7010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若 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A</a:t>
            </a:r>
            <a:r>
              <a:rPr kumimoji="1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= B</a:t>
            </a:r>
            <a:r>
              <a:rPr kumimoji="1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 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，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A</a:t>
            </a:r>
            <a:r>
              <a:rPr kumimoji="1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0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= B</a:t>
            </a:r>
            <a:r>
              <a:rPr kumimoji="1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0 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，   则  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F=1</a:t>
            </a:r>
          </a:p>
        </p:txBody>
      </p:sp>
      <p:grpSp>
        <p:nvGrpSpPr>
          <p:cNvPr id="9241" name="Group 25"/>
          <p:cNvGrpSpPr/>
          <p:nvPr/>
        </p:nvGrpSpPr>
        <p:grpSpPr>
          <a:xfrm>
            <a:off x="4344988" y="2560638"/>
            <a:ext cx="2124075" cy="1824037"/>
            <a:chOff x="2737" y="1613"/>
            <a:chExt cx="1338" cy="1149"/>
          </a:xfrm>
        </p:grpSpPr>
        <p:sp>
          <p:nvSpPr>
            <p:cNvPr id="9233" name="Rectangle 17"/>
            <p:cNvSpPr>
              <a:spLocks noChangeArrowheads="1"/>
            </p:cNvSpPr>
            <p:nvPr/>
          </p:nvSpPr>
          <p:spPr bwMode="auto">
            <a:xfrm>
              <a:off x="3063" y="1968"/>
              <a:ext cx="101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则  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F=0</a:t>
              </a:r>
            </a:p>
          </p:txBody>
        </p:sp>
        <p:sp>
          <p:nvSpPr>
            <p:cNvPr id="9234" name="AutoShape 18"/>
            <p:cNvSpPr/>
            <p:nvPr/>
          </p:nvSpPr>
          <p:spPr bwMode="auto">
            <a:xfrm>
              <a:off x="2737" y="1613"/>
              <a:ext cx="240" cy="1149"/>
            </a:xfrm>
            <a:prstGeom prst="rightBrace">
              <a:avLst>
                <a:gd name="adj1" fmla="val 39896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</p:grpSp>
      <p:sp>
        <p:nvSpPr>
          <p:cNvPr id="9235" name="Rectangle 19"/>
          <p:cNvSpPr>
            <a:spLocks noChangeArrowheads="1"/>
          </p:cNvSpPr>
          <p:nvPr/>
        </p:nvSpPr>
        <p:spPr bwMode="auto">
          <a:xfrm>
            <a:off x="457200" y="2316163"/>
            <a:ext cx="36957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若 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A</a:t>
            </a:r>
            <a:r>
              <a:rPr kumimoji="1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≠B</a:t>
            </a:r>
            <a:r>
              <a:rPr kumimoji="1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 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，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A</a:t>
            </a:r>
            <a:r>
              <a:rPr kumimoji="1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0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≠ B</a:t>
            </a:r>
            <a:r>
              <a:rPr kumimoji="1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0</a:t>
            </a:r>
          </a:p>
        </p:txBody>
      </p:sp>
      <p:sp>
        <p:nvSpPr>
          <p:cNvPr id="9236" name="Rectangle 20"/>
          <p:cNvSpPr>
            <a:spLocks noChangeArrowheads="1"/>
          </p:cNvSpPr>
          <p:nvPr/>
        </p:nvSpPr>
        <p:spPr bwMode="auto">
          <a:xfrm>
            <a:off x="1066800" y="3078163"/>
            <a:ext cx="30861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A</a:t>
            </a:r>
            <a:r>
              <a:rPr kumimoji="1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= B</a:t>
            </a:r>
            <a:r>
              <a:rPr kumimoji="1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 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，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A</a:t>
            </a:r>
            <a:r>
              <a:rPr kumimoji="1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0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≠ B</a:t>
            </a:r>
            <a:r>
              <a:rPr kumimoji="1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0</a:t>
            </a:r>
          </a:p>
        </p:txBody>
      </p:sp>
      <p:sp>
        <p:nvSpPr>
          <p:cNvPr id="9237" name="Rectangle 21"/>
          <p:cNvSpPr>
            <a:spLocks noChangeArrowheads="1"/>
          </p:cNvSpPr>
          <p:nvPr/>
        </p:nvSpPr>
        <p:spPr bwMode="auto">
          <a:xfrm>
            <a:off x="1028700" y="3886200"/>
            <a:ext cx="30162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A</a:t>
            </a:r>
            <a:r>
              <a:rPr kumimoji="1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≠B</a:t>
            </a:r>
            <a:r>
              <a:rPr kumimoji="1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 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，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A</a:t>
            </a:r>
            <a:r>
              <a:rPr kumimoji="1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0 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= B</a:t>
            </a:r>
            <a:r>
              <a:rPr kumimoji="1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0</a:t>
            </a:r>
          </a:p>
        </p:txBody>
      </p:sp>
      <p:sp>
        <p:nvSpPr>
          <p:cNvPr id="9240" name="Rectangle 24"/>
          <p:cNvSpPr>
            <a:spLocks noChangeArrowheads="1"/>
          </p:cNvSpPr>
          <p:nvPr/>
        </p:nvSpPr>
        <p:spPr bwMode="auto">
          <a:xfrm>
            <a:off x="381000" y="4953000"/>
            <a:ext cx="84582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由分析可知：这是一个判断两位二进制数是否相等的电路。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9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31" grpId="0"/>
      <p:bldP spid="9235" grpId="0"/>
      <p:bldP spid="9236" grpId="0"/>
      <p:bldP spid="9237" grpId="0"/>
      <p:bldP spid="924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3"/>
          <p:cNvSpPr txBox="1">
            <a:spLocks noGrp="1"/>
          </p:cNvSpPr>
          <p:nvPr>
            <p:ph type="sldNum" sz="quarter" idx="12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E7EB4BD-1EBB-4D32-B933-44851431171F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8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290" name="Rectangle 2"/>
          <p:cNvSpPr/>
          <p:nvPr/>
        </p:nvSpPr>
        <p:spPr>
          <a:xfrm>
            <a:off x="1143000" y="152400"/>
            <a:ext cx="6705600" cy="762000"/>
          </a:xfrm>
          <a:prstGeom prst="rect">
            <a:avLst/>
          </a:prstGeom>
          <a:solidFill>
            <a:srgbClr val="FF99FF"/>
          </a:solidFill>
          <a:ln w="9525">
            <a:noFill/>
          </a:ln>
        </p:spPr>
        <p:txBody>
          <a:bodyPr anchor="b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44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4.2 </a:t>
            </a:r>
            <a:r>
              <a:rPr lang="zh-CN" altLang="en-US" sz="44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组合逻辑电路的设计</a:t>
            </a: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241300" y="1011238"/>
            <a:ext cx="1816100" cy="579438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49" charset="-122"/>
                <a:cs typeface="+mn-cs"/>
              </a:rPr>
              <a:t>设计步骤</a:t>
            </a: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228600" y="1752600"/>
            <a:ext cx="2514600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rgbClr val="FF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、逻辑抽象</a:t>
            </a:r>
          </a:p>
        </p:txBody>
      </p:sp>
      <p:sp>
        <p:nvSpPr>
          <p:cNvPr id="12296" name="Rectangle 8"/>
          <p:cNvSpPr>
            <a:spLocks noChangeArrowheads="1"/>
          </p:cNvSpPr>
          <p:nvPr/>
        </p:nvSpPr>
        <p:spPr bwMode="auto">
          <a:xfrm>
            <a:off x="247650" y="2971800"/>
            <a:ext cx="2428875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、逻辑赋值</a:t>
            </a:r>
          </a:p>
        </p:txBody>
      </p:sp>
      <p:sp>
        <p:nvSpPr>
          <p:cNvPr id="12297" name="Rectangle 9"/>
          <p:cNvSpPr>
            <a:spLocks noChangeArrowheads="1"/>
          </p:cNvSpPr>
          <p:nvPr/>
        </p:nvSpPr>
        <p:spPr bwMode="auto">
          <a:xfrm>
            <a:off x="228600" y="3581400"/>
            <a:ext cx="8839200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定义逻辑状态的含义，即以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“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0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”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、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“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”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分别表示输入和输出的不同状态。</a:t>
            </a:r>
          </a:p>
        </p:txBody>
      </p:sp>
      <p:sp>
        <p:nvSpPr>
          <p:cNvPr id="12298" name="Rectangle 10"/>
          <p:cNvSpPr>
            <a:spLocks noChangeArrowheads="1"/>
          </p:cNvSpPr>
          <p:nvPr/>
        </p:nvSpPr>
        <p:spPr bwMode="auto">
          <a:xfrm>
            <a:off x="217488" y="4648200"/>
            <a:ext cx="5284788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、根据因果关系列出真值表</a:t>
            </a:r>
          </a:p>
        </p:txBody>
      </p:sp>
      <p:sp>
        <p:nvSpPr>
          <p:cNvPr id="12299" name="Rectangle 11"/>
          <p:cNvSpPr>
            <a:spLocks noChangeArrowheads="1"/>
          </p:cNvSpPr>
          <p:nvPr/>
        </p:nvSpPr>
        <p:spPr bwMode="auto">
          <a:xfrm>
            <a:off x="228600" y="2286000"/>
            <a:ext cx="8839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分析事件的因果关系，确定输入变量和输出变量。</a:t>
            </a:r>
          </a:p>
        </p:txBody>
      </p:sp>
      <p:sp>
        <p:nvSpPr>
          <p:cNvPr id="12300" name="Rectangle 12"/>
          <p:cNvSpPr>
            <a:spLocks noChangeArrowheads="1"/>
          </p:cNvSpPr>
          <p:nvPr/>
        </p:nvSpPr>
        <p:spPr bwMode="auto">
          <a:xfrm>
            <a:off x="228600" y="6049963"/>
            <a:ext cx="3652838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5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、画出逻辑电路图</a:t>
            </a:r>
          </a:p>
        </p:txBody>
      </p:sp>
      <p:sp>
        <p:nvSpPr>
          <p:cNvPr id="12301" name="Rectangle 13"/>
          <p:cNvSpPr>
            <a:spLocks noChangeArrowheads="1"/>
          </p:cNvSpPr>
          <p:nvPr/>
        </p:nvSpPr>
        <p:spPr bwMode="auto">
          <a:xfrm>
            <a:off x="207963" y="5354638"/>
            <a:ext cx="7324725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4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、化简或变换后，得到逻辑函数表达式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2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9" dur="500"/>
                                        <p:tgtEl>
                                          <p:spTgt spid="1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9" dur="500"/>
                                        <p:tgtEl>
                                          <p:spTgt spid="12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4" dur="500"/>
                                        <p:tgtEl>
                                          <p:spTgt spid="12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9" dur="500"/>
                                        <p:tgtEl>
                                          <p:spTgt spid="12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 animBg="1"/>
      <p:bldP spid="12291" grpId="0" animBg="1"/>
      <p:bldP spid="12293" grpId="0" animBg="1"/>
      <p:bldP spid="12296" grpId="0" animBg="1"/>
      <p:bldP spid="12297" grpId="0"/>
      <p:bldP spid="12298" grpId="0" animBg="1"/>
      <p:bldP spid="12299" grpId="0"/>
      <p:bldP spid="12300" grpId="0" animBg="1"/>
      <p:bldP spid="1230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灯片编号占位符 3"/>
          <p:cNvSpPr txBox="1">
            <a:spLocks noGrp="1"/>
          </p:cNvSpPr>
          <p:nvPr>
            <p:ph type="sldNum" sz="quarter" idx="12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9B42A6C-CA74-41C5-8028-67724B56B6CF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9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228600" y="228600"/>
            <a:ext cx="8718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例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1: 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试设计一个三变量的判奇电路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(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奇数个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1)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。</a:t>
            </a:r>
          </a:p>
        </p:txBody>
      </p:sp>
      <p:sp>
        <p:nvSpPr>
          <p:cNvPr id="13315" name="Rectangle 3"/>
          <p:cNvSpPr>
            <a:spLocks noChangeArrowheads="1"/>
          </p:cNvSpPr>
          <p:nvPr/>
        </p:nvSpPr>
        <p:spPr bwMode="auto">
          <a:xfrm>
            <a:off x="304800" y="868363"/>
            <a:ext cx="5467350" cy="579438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、逻辑抽象 及 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、逻辑赋值</a:t>
            </a:r>
          </a:p>
        </p:txBody>
      </p:sp>
      <p:sp>
        <p:nvSpPr>
          <p:cNvPr id="13316" name="Rectangle 4"/>
          <p:cNvSpPr>
            <a:spLocks noChangeArrowheads="1"/>
          </p:cNvSpPr>
          <p:nvPr/>
        </p:nvSpPr>
        <p:spPr bwMode="auto">
          <a:xfrm>
            <a:off x="304800" y="1447800"/>
            <a:ext cx="88392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由题设可知：三个输入变量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A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、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B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、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C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，分别取值为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“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0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”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和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“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”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；一个输出变量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F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，当输入变量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A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、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B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、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C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为奇数个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时，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F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为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“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”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，否则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F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为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“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0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”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。</a:t>
            </a:r>
          </a:p>
        </p:txBody>
      </p:sp>
      <p:grpSp>
        <p:nvGrpSpPr>
          <p:cNvPr id="13356" name="Group 44"/>
          <p:cNvGrpSpPr/>
          <p:nvPr/>
        </p:nvGrpSpPr>
        <p:grpSpPr>
          <a:xfrm>
            <a:off x="5784850" y="2697163"/>
            <a:ext cx="2908300" cy="3657600"/>
            <a:chOff x="3644" y="1699"/>
            <a:chExt cx="1832" cy="2304"/>
          </a:xfrm>
        </p:grpSpPr>
        <p:sp>
          <p:nvSpPr>
            <p:cNvPr id="13318" name="Line 6"/>
            <p:cNvSpPr>
              <a:spLocks noChangeShapeType="1"/>
            </p:cNvSpPr>
            <p:nvPr/>
          </p:nvSpPr>
          <p:spPr bwMode="auto">
            <a:xfrm>
              <a:off x="3644" y="2083"/>
              <a:ext cx="182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3319" name="Line 7"/>
            <p:cNvSpPr>
              <a:spLocks noChangeShapeType="1"/>
            </p:cNvSpPr>
            <p:nvPr/>
          </p:nvSpPr>
          <p:spPr bwMode="auto">
            <a:xfrm>
              <a:off x="5036" y="1795"/>
              <a:ext cx="0" cy="22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3320" name="Rectangle 8"/>
            <p:cNvSpPr>
              <a:spLocks noChangeArrowheads="1"/>
            </p:cNvSpPr>
            <p:nvPr/>
          </p:nvSpPr>
          <p:spPr bwMode="auto">
            <a:xfrm>
              <a:off x="3696" y="1699"/>
              <a:ext cx="178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A   B   C   F</a:t>
              </a:r>
            </a:p>
          </p:txBody>
        </p:sp>
      </p:grpSp>
      <p:sp>
        <p:nvSpPr>
          <p:cNvPr id="13321" name="Rectangle 9"/>
          <p:cNvSpPr>
            <a:spLocks noChangeArrowheads="1"/>
          </p:cNvSpPr>
          <p:nvPr/>
        </p:nvSpPr>
        <p:spPr bwMode="auto">
          <a:xfrm>
            <a:off x="5861050" y="3154363"/>
            <a:ext cx="2825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0   0   0   0</a:t>
            </a:r>
          </a:p>
        </p:txBody>
      </p:sp>
      <p:sp>
        <p:nvSpPr>
          <p:cNvPr id="13322" name="Rectangle 10"/>
          <p:cNvSpPr>
            <a:spLocks noChangeArrowheads="1"/>
          </p:cNvSpPr>
          <p:nvPr/>
        </p:nvSpPr>
        <p:spPr bwMode="auto">
          <a:xfrm>
            <a:off x="5861050" y="3535363"/>
            <a:ext cx="2825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0   0   1   1</a:t>
            </a:r>
          </a:p>
        </p:txBody>
      </p:sp>
      <p:sp>
        <p:nvSpPr>
          <p:cNvPr id="13323" name="Rectangle 11"/>
          <p:cNvSpPr>
            <a:spLocks noChangeArrowheads="1"/>
          </p:cNvSpPr>
          <p:nvPr/>
        </p:nvSpPr>
        <p:spPr bwMode="auto">
          <a:xfrm>
            <a:off x="5861050" y="3916363"/>
            <a:ext cx="2825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0   1   0   1</a:t>
            </a:r>
          </a:p>
        </p:txBody>
      </p:sp>
      <p:sp>
        <p:nvSpPr>
          <p:cNvPr id="13324" name="Rectangle 12"/>
          <p:cNvSpPr>
            <a:spLocks noChangeArrowheads="1"/>
          </p:cNvSpPr>
          <p:nvPr/>
        </p:nvSpPr>
        <p:spPr bwMode="auto">
          <a:xfrm>
            <a:off x="5861050" y="4297363"/>
            <a:ext cx="2825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0   1   1   0</a:t>
            </a:r>
          </a:p>
        </p:txBody>
      </p:sp>
      <p:sp>
        <p:nvSpPr>
          <p:cNvPr id="13325" name="Rectangle 13"/>
          <p:cNvSpPr>
            <a:spLocks noChangeArrowheads="1"/>
          </p:cNvSpPr>
          <p:nvPr/>
        </p:nvSpPr>
        <p:spPr bwMode="auto">
          <a:xfrm>
            <a:off x="5861050" y="4678363"/>
            <a:ext cx="2825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1   0   0   1</a:t>
            </a:r>
          </a:p>
        </p:txBody>
      </p:sp>
      <p:sp>
        <p:nvSpPr>
          <p:cNvPr id="13326" name="Rectangle 14"/>
          <p:cNvSpPr>
            <a:spLocks noChangeArrowheads="1"/>
          </p:cNvSpPr>
          <p:nvPr/>
        </p:nvSpPr>
        <p:spPr bwMode="auto">
          <a:xfrm>
            <a:off x="5861050" y="5059363"/>
            <a:ext cx="2825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1   0   1   0</a:t>
            </a:r>
          </a:p>
        </p:txBody>
      </p:sp>
      <p:sp>
        <p:nvSpPr>
          <p:cNvPr id="13327" name="Rectangle 15"/>
          <p:cNvSpPr>
            <a:spLocks noChangeArrowheads="1"/>
          </p:cNvSpPr>
          <p:nvPr/>
        </p:nvSpPr>
        <p:spPr bwMode="auto">
          <a:xfrm>
            <a:off x="5861050" y="5440363"/>
            <a:ext cx="2825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1   1   0   0</a:t>
            </a:r>
          </a:p>
        </p:txBody>
      </p:sp>
      <p:sp>
        <p:nvSpPr>
          <p:cNvPr id="13328" name="Rectangle 16"/>
          <p:cNvSpPr>
            <a:spLocks noChangeArrowheads="1"/>
          </p:cNvSpPr>
          <p:nvPr/>
        </p:nvSpPr>
        <p:spPr bwMode="auto">
          <a:xfrm>
            <a:off x="5861050" y="5821363"/>
            <a:ext cx="2825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1   1   1   1</a:t>
            </a:r>
          </a:p>
        </p:txBody>
      </p:sp>
      <p:sp>
        <p:nvSpPr>
          <p:cNvPr id="13330" name="Rectangle 18"/>
          <p:cNvSpPr>
            <a:spLocks noChangeArrowheads="1"/>
          </p:cNvSpPr>
          <p:nvPr/>
        </p:nvSpPr>
        <p:spPr bwMode="auto">
          <a:xfrm>
            <a:off x="304800" y="2819400"/>
            <a:ext cx="2825750" cy="579438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、列出真值表</a:t>
            </a:r>
          </a:p>
        </p:txBody>
      </p:sp>
      <p:sp>
        <p:nvSpPr>
          <p:cNvPr id="13331" name="Rectangle 19"/>
          <p:cNvSpPr>
            <a:spLocks noChangeArrowheads="1"/>
          </p:cNvSpPr>
          <p:nvPr/>
        </p:nvSpPr>
        <p:spPr bwMode="auto">
          <a:xfrm>
            <a:off x="304800" y="3505200"/>
            <a:ext cx="1606550" cy="579438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4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、化简</a:t>
            </a:r>
          </a:p>
        </p:txBody>
      </p:sp>
      <p:grpSp>
        <p:nvGrpSpPr>
          <p:cNvPr id="13332" name="Group 20"/>
          <p:cNvGrpSpPr/>
          <p:nvPr/>
        </p:nvGrpSpPr>
        <p:grpSpPr>
          <a:xfrm>
            <a:off x="755650" y="3887788"/>
            <a:ext cx="4200525" cy="2781300"/>
            <a:chOff x="2736" y="936"/>
            <a:chExt cx="2646" cy="1752"/>
          </a:xfrm>
        </p:grpSpPr>
        <p:sp>
          <p:nvSpPr>
            <p:cNvPr id="13333" name="Rectangle 21"/>
            <p:cNvSpPr>
              <a:spLocks noChangeArrowheads="1"/>
            </p:cNvSpPr>
            <p:nvPr/>
          </p:nvSpPr>
          <p:spPr bwMode="auto">
            <a:xfrm>
              <a:off x="3360" y="1632"/>
              <a:ext cx="2022" cy="105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3334" name="Line 22"/>
            <p:cNvSpPr>
              <a:spLocks noChangeShapeType="1"/>
            </p:cNvSpPr>
            <p:nvPr/>
          </p:nvSpPr>
          <p:spPr bwMode="auto">
            <a:xfrm>
              <a:off x="3360" y="2160"/>
              <a:ext cx="2022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3335" name="Line 23"/>
            <p:cNvSpPr>
              <a:spLocks noChangeShapeType="1"/>
            </p:cNvSpPr>
            <p:nvPr/>
          </p:nvSpPr>
          <p:spPr bwMode="auto">
            <a:xfrm>
              <a:off x="3888" y="1632"/>
              <a:ext cx="1" cy="10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3336" name="Line 24"/>
            <p:cNvSpPr>
              <a:spLocks noChangeShapeType="1"/>
            </p:cNvSpPr>
            <p:nvPr/>
          </p:nvSpPr>
          <p:spPr bwMode="auto">
            <a:xfrm>
              <a:off x="4848" y="1632"/>
              <a:ext cx="1" cy="10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3337" name="Line 25"/>
            <p:cNvSpPr>
              <a:spLocks noChangeShapeType="1"/>
            </p:cNvSpPr>
            <p:nvPr/>
          </p:nvSpPr>
          <p:spPr bwMode="auto">
            <a:xfrm>
              <a:off x="4368" y="1632"/>
              <a:ext cx="1" cy="10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3338" name="Line 26"/>
            <p:cNvSpPr>
              <a:spLocks noChangeShapeType="1"/>
            </p:cNvSpPr>
            <p:nvPr/>
          </p:nvSpPr>
          <p:spPr bwMode="auto">
            <a:xfrm flipH="1" flipV="1">
              <a:off x="3072" y="1344"/>
              <a:ext cx="296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3339" name="Rectangle 27"/>
            <p:cNvSpPr>
              <a:spLocks noChangeArrowheads="1"/>
            </p:cNvSpPr>
            <p:nvPr/>
          </p:nvSpPr>
          <p:spPr bwMode="auto">
            <a:xfrm>
              <a:off x="2880" y="1368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A</a:t>
              </a:r>
            </a:p>
          </p:txBody>
        </p:sp>
        <p:sp>
          <p:nvSpPr>
            <p:cNvPr id="13340" name="Rectangle 28"/>
            <p:cNvSpPr>
              <a:spLocks noChangeArrowheads="1"/>
            </p:cNvSpPr>
            <p:nvPr/>
          </p:nvSpPr>
          <p:spPr bwMode="auto">
            <a:xfrm>
              <a:off x="3120" y="984"/>
              <a:ext cx="3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BC</a:t>
              </a:r>
            </a:p>
          </p:txBody>
        </p:sp>
        <p:sp>
          <p:nvSpPr>
            <p:cNvPr id="13341" name="Rectangle 29"/>
            <p:cNvSpPr>
              <a:spLocks noChangeArrowheads="1"/>
            </p:cNvSpPr>
            <p:nvPr/>
          </p:nvSpPr>
          <p:spPr bwMode="auto">
            <a:xfrm>
              <a:off x="3360" y="1272"/>
              <a:ext cx="3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00</a:t>
              </a:r>
            </a:p>
          </p:txBody>
        </p:sp>
        <p:sp>
          <p:nvSpPr>
            <p:cNvPr id="13342" name="Rectangle 30"/>
            <p:cNvSpPr>
              <a:spLocks noChangeArrowheads="1"/>
            </p:cNvSpPr>
            <p:nvPr/>
          </p:nvSpPr>
          <p:spPr bwMode="auto">
            <a:xfrm>
              <a:off x="3792" y="1272"/>
              <a:ext cx="50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 01</a:t>
              </a:r>
            </a:p>
          </p:txBody>
        </p:sp>
        <p:sp>
          <p:nvSpPr>
            <p:cNvPr id="13343" name="Rectangle 31"/>
            <p:cNvSpPr>
              <a:spLocks noChangeArrowheads="1"/>
            </p:cNvSpPr>
            <p:nvPr/>
          </p:nvSpPr>
          <p:spPr bwMode="auto">
            <a:xfrm>
              <a:off x="4368" y="1272"/>
              <a:ext cx="3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11</a:t>
              </a:r>
            </a:p>
          </p:txBody>
        </p:sp>
        <p:sp>
          <p:nvSpPr>
            <p:cNvPr id="13344" name="Rectangle 32"/>
            <p:cNvSpPr>
              <a:spLocks noChangeArrowheads="1"/>
            </p:cNvSpPr>
            <p:nvPr/>
          </p:nvSpPr>
          <p:spPr bwMode="auto">
            <a:xfrm>
              <a:off x="4848" y="1272"/>
              <a:ext cx="3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10</a:t>
              </a:r>
            </a:p>
          </p:txBody>
        </p:sp>
        <p:sp>
          <p:nvSpPr>
            <p:cNvPr id="13345" name="Rectangle 33"/>
            <p:cNvSpPr>
              <a:spLocks noChangeArrowheads="1"/>
            </p:cNvSpPr>
            <p:nvPr/>
          </p:nvSpPr>
          <p:spPr bwMode="auto">
            <a:xfrm>
              <a:off x="3024" y="1656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0</a:t>
              </a:r>
            </a:p>
          </p:txBody>
        </p:sp>
        <p:sp>
          <p:nvSpPr>
            <p:cNvPr id="13346" name="Rectangle 34"/>
            <p:cNvSpPr>
              <a:spLocks noChangeArrowheads="1"/>
            </p:cNvSpPr>
            <p:nvPr/>
          </p:nvSpPr>
          <p:spPr bwMode="auto">
            <a:xfrm>
              <a:off x="3072" y="2184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</a:t>
              </a:r>
            </a:p>
          </p:txBody>
        </p:sp>
        <p:sp>
          <p:nvSpPr>
            <p:cNvPr id="13347" name="Rectangle 35"/>
            <p:cNvSpPr>
              <a:spLocks noChangeArrowheads="1"/>
            </p:cNvSpPr>
            <p:nvPr/>
          </p:nvSpPr>
          <p:spPr bwMode="auto">
            <a:xfrm>
              <a:off x="2736" y="936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F</a:t>
              </a:r>
            </a:p>
          </p:txBody>
        </p:sp>
        <p:sp>
          <p:nvSpPr>
            <p:cNvPr id="13348" name="Rectangle 36"/>
            <p:cNvSpPr>
              <a:spLocks noChangeArrowheads="1"/>
            </p:cNvSpPr>
            <p:nvPr/>
          </p:nvSpPr>
          <p:spPr bwMode="auto">
            <a:xfrm>
              <a:off x="3456" y="1704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0</a:t>
              </a:r>
            </a:p>
          </p:txBody>
        </p:sp>
        <p:sp>
          <p:nvSpPr>
            <p:cNvPr id="13349" name="Rectangle 37"/>
            <p:cNvSpPr>
              <a:spLocks noChangeArrowheads="1"/>
            </p:cNvSpPr>
            <p:nvPr/>
          </p:nvSpPr>
          <p:spPr bwMode="auto">
            <a:xfrm>
              <a:off x="4416" y="1728"/>
              <a:ext cx="29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0</a:t>
              </a:r>
            </a:p>
          </p:txBody>
        </p:sp>
        <p:sp>
          <p:nvSpPr>
            <p:cNvPr id="13350" name="Rectangle 38"/>
            <p:cNvSpPr>
              <a:spLocks noChangeArrowheads="1"/>
            </p:cNvSpPr>
            <p:nvPr/>
          </p:nvSpPr>
          <p:spPr bwMode="auto">
            <a:xfrm>
              <a:off x="3984" y="2184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0</a:t>
              </a:r>
            </a:p>
          </p:txBody>
        </p:sp>
        <p:sp>
          <p:nvSpPr>
            <p:cNvPr id="13351" name="Rectangle 39"/>
            <p:cNvSpPr>
              <a:spLocks noChangeArrowheads="1"/>
            </p:cNvSpPr>
            <p:nvPr/>
          </p:nvSpPr>
          <p:spPr bwMode="auto">
            <a:xfrm>
              <a:off x="4944" y="2184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0</a:t>
              </a:r>
            </a:p>
          </p:txBody>
        </p:sp>
        <p:sp>
          <p:nvSpPr>
            <p:cNvPr id="13352" name="Rectangle 40"/>
            <p:cNvSpPr>
              <a:spLocks noChangeArrowheads="1"/>
            </p:cNvSpPr>
            <p:nvPr/>
          </p:nvSpPr>
          <p:spPr bwMode="auto">
            <a:xfrm>
              <a:off x="3936" y="1704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</a:t>
              </a:r>
            </a:p>
          </p:txBody>
        </p:sp>
        <p:sp>
          <p:nvSpPr>
            <p:cNvPr id="13353" name="Rectangle 41"/>
            <p:cNvSpPr>
              <a:spLocks noChangeArrowheads="1"/>
            </p:cNvSpPr>
            <p:nvPr/>
          </p:nvSpPr>
          <p:spPr bwMode="auto">
            <a:xfrm>
              <a:off x="4944" y="1704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</a:t>
              </a:r>
            </a:p>
          </p:txBody>
        </p:sp>
        <p:sp>
          <p:nvSpPr>
            <p:cNvPr id="13354" name="Rectangle 42"/>
            <p:cNvSpPr>
              <a:spLocks noChangeArrowheads="1"/>
            </p:cNvSpPr>
            <p:nvPr/>
          </p:nvSpPr>
          <p:spPr bwMode="auto">
            <a:xfrm>
              <a:off x="3456" y="2184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</a:t>
              </a:r>
            </a:p>
          </p:txBody>
        </p:sp>
        <p:sp>
          <p:nvSpPr>
            <p:cNvPr id="13355" name="Rectangle 43"/>
            <p:cNvSpPr>
              <a:spLocks noChangeArrowheads="1"/>
            </p:cNvSpPr>
            <p:nvPr/>
          </p:nvSpPr>
          <p:spPr bwMode="auto">
            <a:xfrm>
              <a:off x="4416" y="2184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3" dur="500"/>
                                        <p:tgtEl>
                                          <p:spTgt spid="13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3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3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3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3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3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33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33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3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33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33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33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33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33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33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1" dur="500"/>
                                        <p:tgtEl>
                                          <p:spTgt spid="13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13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  <p:bldP spid="13315" grpId="0" animBg="1"/>
      <p:bldP spid="13316" grpId="0"/>
      <p:bldP spid="13321" grpId="0"/>
      <p:bldP spid="13322" grpId="0"/>
      <p:bldP spid="13323" grpId="0"/>
      <p:bldP spid="13324" grpId="0"/>
      <p:bldP spid="13325" grpId="0"/>
      <p:bldP spid="13326" grpId="0"/>
      <p:bldP spid="13327" grpId="0"/>
      <p:bldP spid="13328" grpId="0"/>
      <p:bldP spid="13330" grpId="0" animBg="1"/>
      <p:bldP spid="1333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灯片编号占位符 3"/>
          <p:cNvSpPr txBox="1">
            <a:spLocks noGrp="1"/>
          </p:cNvSpPr>
          <p:nvPr>
            <p:ph type="sldNum" sz="quarter" idx="12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3C24BC2-02D3-4D52-A03E-56D3E1FFBE3D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10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4338" name="Object 2"/>
          <p:cNvGraphicFramePr>
            <a:graphicFrameLocks noChangeAspect="1"/>
          </p:cNvGraphicFramePr>
          <p:nvPr/>
        </p:nvGraphicFramePr>
        <p:xfrm>
          <a:off x="1763713" y="404813"/>
          <a:ext cx="5176837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543685" imgH="102235" progId="Equation.3">
                  <p:embed/>
                </p:oleObj>
              </mc:Choice>
              <mc:Fallback>
                <p:oleObj r:id="rId3" imgW="1543685" imgH="102235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763713" y="404813"/>
                        <a:ext cx="5176837" cy="5318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339" name="Group 3"/>
          <p:cNvGrpSpPr/>
          <p:nvPr/>
        </p:nvGrpSpPr>
        <p:grpSpPr>
          <a:xfrm>
            <a:off x="2411413" y="4076700"/>
            <a:ext cx="4148137" cy="1793875"/>
            <a:chOff x="1056" y="2520"/>
            <a:chExt cx="2435" cy="993"/>
          </a:xfrm>
        </p:grpSpPr>
        <p:sp>
          <p:nvSpPr>
            <p:cNvPr id="14340" name="Rectangle 4"/>
            <p:cNvSpPr>
              <a:spLocks noChangeArrowheads="1"/>
            </p:cNvSpPr>
            <p:nvPr/>
          </p:nvSpPr>
          <p:spPr bwMode="auto">
            <a:xfrm>
              <a:off x="1824" y="2688"/>
              <a:ext cx="288" cy="52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4341" name="Line 5"/>
            <p:cNvSpPr>
              <a:spLocks noChangeShapeType="1"/>
            </p:cNvSpPr>
            <p:nvPr/>
          </p:nvSpPr>
          <p:spPr bwMode="auto">
            <a:xfrm flipH="1">
              <a:off x="1440" y="3072"/>
              <a:ext cx="384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4342" name="Rectangle 6"/>
            <p:cNvSpPr>
              <a:spLocks noChangeArrowheads="1"/>
            </p:cNvSpPr>
            <p:nvPr/>
          </p:nvSpPr>
          <p:spPr bwMode="auto">
            <a:xfrm>
              <a:off x="1056" y="3192"/>
              <a:ext cx="347" cy="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 C</a:t>
              </a:r>
            </a:p>
          </p:txBody>
        </p:sp>
        <p:sp>
          <p:nvSpPr>
            <p:cNvPr id="14343" name="Rectangle 7"/>
            <p:cNvSpPr>
              <a:spLocks noChangeArrowheads="1"/>
            </p:cNvSpPr>
            <p:nvPr/>
          </p:nvSpPr>
          <p:spPr bwMode="auto">
            <a:xfrm>
              <a:off x="1152" y="2856"/>
              <a:ext cx="227" cy="3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B</a:t>
              </a:r>
            </a:p>
          </p:txBody>
        </p:sp>
        <p:sp>
          <p:nvSpPr>
            <p:cNvPr id="14344" name="Rectangle 8"/>
            <p:cNvSpPr>
              <a:spLocks noChangeArrowheads="1"/>
            </p:cNvSpPr>
            <p:nvPr/>
          </p:nvSpPr>
          <p:spPr bwMode="auto">
            <a:xfrm>
              <a:off x="1152" y="2520"/>
              <a:ext cx="227" cy="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A</a:t>
              </a:r>
            </a:p>
          </p:txBody>
        </p:sp>
        <p:sp>
          <p:nvSpPr>
            <p:cNvPr id="14345" name="Rectangle 9"/>
            <p:cNvSpPr>
              <a:spLocks noChangeArrowheads="1"/>
            </p:cNvSpPr>
            <p:nvPr/>
          </p:nvSpPr>
          <p:spPr bwMode="auto">
            <a:xfrm>
              <a:off x="1824" y="2736"/>
              <a:ext cx="349" cy="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=1</a:t>
              </a:r>
            </a:p>
          </p:txBody>
        </p:sp>
        <p:sp>
          <p:nvSpPr>
            <p:cNvPr id="14346" name="Rectangle 10"/>
            <p:cNvSpPr>
              <a:spLocks noChangeArrowheads="1"/>
            </p:cNvSpPr>
            <p:nvPr/>
          </p:nvSpPr>
          <p:spPr bwMode="auto">
            <a:xfrm>
              <a:off x="2688" y="2784"/>
              <a:ext cx="288" cy="52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4347" name="Line 11"/>
            <p:cNvSpPr>
              <a:spLocks noChangeShapeType="1"/>
            </p:cNvSpPr>
            <p:nvPr/>
          </p:nvSpPr>
          <p:spPr bwMode="auto">
            <a:xfrm flipH="1">
              <a:off x="2304" y="3168"/>
              <a:ext cx="384" cy="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4348" name="Rectangle 12"/>
            <p:cNvSpPr>
              <a:spLocks noChangeArrowheads="1"/>
            </p:cNvSpPr>
            <p:nvPr/>
          </p:nvSpPr>
          <p:spPr bwMode="auto">
            <a:xfrm>
              <a:off x="2688" y="2832"/>
              <a:ext cx="349" cy="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=1</a:t>
              </a:r>
            </a:p>
          </p:txBody>
        </p:sp>
        <p:sp>
          <p:nvSpPr>
            <p:cNvPr id="14349" name="Line 13"/>
            <p:cNvSpPr>
              <a:spLocks noChangeShapeType="1"/>
            </p:cNvSpPr>
            <p:nvPr/>
          </p:nvSpPr>
          <p:spPr bwMode="auto">
            <a:xfrm>
              <a:off x="2304" y="3168"/>
              <a:ext cx="1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4350" name="Line 14"/>
            <p:cNvSpPr>
              <a:spLocks noChangeShapeType="1"/>
            </p:cNvSpPr>
            <p:nvPr/>
          </p:nvSpPr>
          <p:spPr bwMode="auto">
            <a:xfrm flipH="1">
              <a:off x="1440" y="3360"/>
              <a:ext cx="864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4351" name="Rectangle 15"/>
            <p:cNvSpPr>
              <a:spLocks noChangeArrowheads="1"/>
            </p:cNvSpPr>
            <p:nvPr/>
          </p:nvSpPr>
          <p:spPr bwMode="auto">
            <a:xfrm>
              <a:off x="3264" y="2826"/>
              <a:ext cx="227" cy="3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F</a:t>
              </a:r>
            </a:p>
          </p:txBody>
        </p:sp>
        <p:sp>
          <p:nvSpPr>
            <p:cNvPr id="14352" name="Line 16"/>
            <p:cNvSpPr>
              <a:spLocks noChangeShapeType="1"/>
            </p:cNvSpPr>
            <p:nvPr/>
          </p:nvSpPr>
          <p:spPr bwMode="auto">
            <a:xfrm flipH="1">
              <a:off x="1440" y="2832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4353" name="Line 17"/>
            <p:cNvSpPr>
              <a:spLocks noChangeShapeType="1"/>
            </p:cNvSpPr>
            <p:nvPr/>
          </p:nvSpPr>
          <p:spPr bwMode="auto">
            <a:xfrm>
              <a:off x="2112" y="2928"/>
              <a:ext cx="57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4354" name="Line 18"/>
            <p:cNvSpPr>
              <a:spLocks noChangeShapeType="1"/>
            </p:cNvSpPr>
            <p:nvPr/>
          </p:nvSpPr>
          <p:spPr bwMode="auto">
            <a:xfrm>
              <a:off x="2976" y="3024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</p:grpSp>
      <p:sp>
        <p:nvSpPr>
          <p:cNvPr id="14355" name="Rectangle 19"/>
          <p:cNvSpPr>
            <a:spLocks noChangeArrowheads="1"/>
          </p:cNvSpPr>
          <p:nvPr/>
        </p:nvSpPr>
        <p:spPr bwMode="auto">
          <a:xfrm>
            <a:off x="228600" y="3200400"/>
            <a:ext cx="3638550" cy="579438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5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、画出逻辑电路图</a:t>
            </a:r>
          </a:p>
        </p:txBody>
      </p:sp>
      <p:graphicFrame>
        <p:nvGraphicFramePr>
          <p:cNvPr id="14356" name="Object 20"/>
          <p:cNvGraphicFramePr>
            <a:graphicFrameLocks noChangeAspect="1"/>
          </p:cNvGraphicFramePr>
          <p:nvPr/>
        </p:nvGraphicFramePr>
        <p:xfrm>
          <a:off x="2124075" y="1009650"/>
          <a:ext cx="4897438" cy="623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892300" imgH="241300" progId="Equation.3">
                  <p:embed/>
                </p:oleObj>
              </mc:Choice>
              <mc:Fallback>
                <p:oleObj r:id="rId5" imgW="1892300" imgH="2413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24075" y="1009650"/>
                        <a:ext cx="4897438" cy="6238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57" name="Object 21"/>
          <p:cNvGraphicFramePr>
            <a:graphicFrameLocks noChangeAspect="1"/>
          </p:cNvGraphicFramePr>
          <p:nvPr/>
        </p:nvGraphicFramePr>
        <p:xfrm>
          <a:off x="2149475" y="1557338"/>
          <a:ext cx="4679950" cy="687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815465" imgH="266700" progId="Equation.3">
                  <p:embed/>
                </p:oleObj>
              </mc:Choice>
              <mc:Fallback>
                <p:oleObj r:id="rId7" imgW="1815465" imgH="266700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149475" y="1557338"/>
                        <a:ext cx="4679950" cy="6873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58" name="Object 22"/>
          <p:cNvGraphicFramePr>
            <a:graphicFrameLocks noChangeAspect="1"/>
          </p:cNvGraphicFramePr>
          <p:nvPr/>
        </p:nvGraphicFramePr>
        <p:xfrm>
          <a:off x="2157413" y="2311400"/>
          <a:ext cx="2160587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812165" imgH="177800" progId="Equation.3">
                  <p:embed/>
                </p:oleObj>
              </mc:Choice>
              <mc:Fallback>
                <p:oleObj r:id="rId9" imgW="812165" imgH="177800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157413" y="2311400"/>
                        <a:ext cx="2160587" cy="473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14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5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灯片编号占位符 3"/>
          <p:cNvSpPr txBox="1">
            <a:spLocks noGrp="1"/>
          </p:cNvSpPr>
          <p:nvPr>
            <p:ph type="sldNum" sz="quarter" idx="12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4017380-1C23-4CD2-A629-A31F596CBD26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9698" name="Rectangle 2"/>
          <p:cNvSpPr/>
          <p:nvPr/>
        </p:nvSpPr>
        <p:spPr>
          <a:xfrm>
            <a:off x="924560" y="2710180"/>
            <a:ext cx="7696200" cy="768350"/>
          </a:xfrm>
          <a:prstGeom prst="rect">
            <a:avLst/>
          </a:prstGeom>
          <a:solidFill>
            <a:srgbClr val="FF99FF"/>
          </a:solidFill>
          <a:ln w="9525">
            <a:noFill/>
          </a:ln>
        </p:spPr>
        <p:txBody>
          <a:bodyPr wrap="square" anchor="b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44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4.3 </a:t>
            </a:r>
            <a:r>
              <a:rPr lang="zh-CN" altLang="en-US" sz="44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典型组合逻辑电路的设计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6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6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8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灯片编号占位符 3"/>
          <p:cNvSpPr txBox="1">
            <a:spLocks noGrp="1"/>
          </p:cNvSpPr>
          <p:nvPr>
            <p:ph type="sldNum" sz="quarter" idx="12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117574D-1E37-4490-B6F6-89232040F7B0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12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0658" name="Rectangle 2"/>
          <p:cNvSpPr/>
          <p:nvPr/>
        </p:nvSpPr>
        <p:spPr>
          <a:xfrm>
            <a:off x="228600" y="152400"/>
            <a:ext cx="3810000" cy="762000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anchor="b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44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4.3.4 </a:t>
            </a:r>
            <a:r>
              <a:rPr lang="zh-CN" altLang="en-US" sz="44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编码器</a:t>
            </a:r>
          </a:p>
        </p:txBody>
      </p:sp>
      <p:sp>
        <p:nvSpPr>
          <p:cNvPr id="70661" name="Rectangle 5"/>
          <p:cNvSpPr>
            <a:spLocks noChangeArrowheads="1"/>
          </p:cNvSpPr>
          <p:nvPr/>
        </p:nvSpPr>
        <p:spPr bwMode="auto">
          <a:xfrm>
            <a:off x="228600" y="1066800"/>
            <a:ext cx="8763000" cy="1592263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所谓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编码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，就是在选定的一系列二值代码中赋予每个代码以固定的含义。执行编码功能的电路称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编码器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。</a:t>
            </a:r>
          </a:p>
        </p:txBody>
      </p:sp>
      <p:grpSp>
        <p:nvGrpSpPr>
          <p:cNvPr id="70688" name="Group 32"/>
          <p:cNvGrpSpPr/>
          <p:nvPr/>
        </p:nvGrpSpPr>
        <p:grpSpPr>
          <a:xfrm>
            <a:off x="2743200" y="3657600"/>
            <a:ext cx="3644900" cy="2828925"/>
            <a:chOff x="1728" y="2304"/>
            <a:chExt cx="2296" cy="1782"/>
          </a:xfrm>
        </p:grpSpPr>
        <p:sp>
          <p:nvSpPr>
            <p:cNvPr id="70665" name="Rectangle 9"/>
            <p:cNvSpPr>
              <a:spLocks noChangeArrowheads="1"/>
            </p:cNvSpPr>
            <p:nvPr/>
          </p:nvSpPr>
          <p:spPr bwMode="auto">
            <a:xfrm>
              <a:off x="2496" y="2358"/>
              <a:ext cx="971" cy="172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0666" name="Line 10"/>
            <p:cNvSpPr>
              <a:spLocks noChangeShapeType="1"/>
            </p:cNvSpPr>
            <p:nvPr/>
          </p:nvSpPr>
          <p:spPr bwMode="auto">
            <a:xfrm>
              <a:off x="2304" y="2694"/>
              <a:ext cx="1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0667" name="Line 11"/>
            <p:cNvSpPr>
              <a:spLocks noChangeShapeType="1"/>
            </p:cNvSpPr>
            <p:nvPr/>
          </p:nvSpPr>
          <p:spPr bwMode="auto">
            <a:xfrm>
              <a:off x="2304" y="2886"/>
              <a:ext cx="1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0668" name="Line 12"/>
            <p:cNvSpPr>
              <a:spLocks noChangeShapeType="1"/>
            </p:cNvSpPr>
            <p:nvPr/>
          </p:nvSpPr>
          <p:spPr bwMode="auto">
            <a:xfrm>
              <a:off x="2304" y="3126"/>
              <a:ext cx="1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0669" name="Line 13"/>
            <p:cNvSpPr>
              <a:spLocks noChangeShapeType="1"/>
            </p:cNvSpPr>
            <p:nvPr/>
          </p:nvSpPr>
          <p:spPr bwMode="auto">
            <a:xfrm>
              <a:off x="2304" y="3366"/>
              <a:ext cx="1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0670" name="Line 14"/>
            <p:cNvSpPr>
              <a:spLocks noChangeShapeType="1"/>
            </p:cNvSpPr>
            <p:nvPr/>
          </p:nvSpPr>
          <p:spPr bwMode="auto">
            <a:xfrm>
              <a:off x="2304" y="3606"/>
              <a:ext cx="1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0671" name="Line 15"/>
            <p:cNvSpPr>
              <a:spLocks noChangeShapeType="1"/>
            </p:cNvSpPr>
            <p:nvPr/>
          </p:nvSpPr>
          <p:spPr bwMode="auto">
            <a:xfrm flipH="1">
              <a:off x="2160" y="3894"/>
              <a:ext cx="340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0672" name="Line 16"/>
            <p:cNvSpPr>
              <a:spLocks noChangeShapeType="1"/>
            </p:cNvSpPr>
            <p:nvPr/>
          </p:nvSpPr>
          <p:spPr bwMode="auto">
            <a:xfrm>
              <a:off x="3648" y="2646"/>
              <a:ext cx="1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0673" name="Line 17"/>
            <p:cNvSpPr>
              <a:spLocks noChangeShapeType="1"/>
            </p:cNvSpPr>
            <p:nvPr/>
          </p:nvSpPr>
          <p:spPr bwMode="auto">
            <a:xfrm>
              <a:off x="3648" y="2886"/>
              <a:ext cx="1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0674" name="Line 18"/>
            <p:cNvSpPr>
              <a:spLocks noChangeShapeType="1"/>
            </p:cNvSpPr>
            <p:nvPr/>
          </p:nvSpPr>
          <p:spPr bwMode="auto">
            <a:xfrm>
              <a:off x="3648" y="3078"/>
              <a:ext cx="1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0675" name="Line 19"/>
            <p:cNvSpPr>
              <a:spLocks noChangeShapeType="1"/>
            </p:cNvSpPr>
            <p:nvPr/>
          </p:nvSpPr>
          <p:spPr bwMode="auto">
            <a:xfrm>
              <a:off x="3648" y="3366"/>
              <a:ext cx="1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0676" name="Line 20"/>
            <p:cNvSpPr>
              <a:spLocks noChangeShapeType="1"/>
            </p:cNvSpPr>
            <p:nvPr/>
          </p:nvSpPr>
          <p:spPr bwMode="auto">
            <a:xfrm>
              <a:off x="3648" y="3606"/>
              <a:ext cx="1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0677" name="Line 21"/>
            <p:cNvSpPr>
              <a:spLocks noChangeShapeType="1"/>
            </p:cNvSpPr>
            <p:nvPr/>
          </p:nvSpPr>
          <p:spPr bwMode="auto">
            <a:xfrm>
              <a:off x="3456" y="3894"/>
              <a:ext cx="29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0678" name="Rectangle 22"/>
            <p:cNvSpPr>
              <a:spLocks noChangeArrowheads="1"/>
            </p:cNvSpPr>
            <p:nvPr/>
          </p:nvSpPr>
          <p:spPr bwMode="auto">
            <a:xfrm>
              <a:off x="1824" y="2304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X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</a:t>
              </a:r>
            </a:p>
          </p:txBody>
        </p:sp>
        <p:sp>
          <p:nvSpPr>
            <p:cNvPr id="70679" name="Rectangle 23"/>
            <p:cNvSpPr>
              <a:spLocks noChangeArrowheads="1"/>
            </p:cNvSpPr>
            <p:nvPr/>
          </p:nvSpPr>
          <p:spPr bwMode="auto">
            <a:xfrm>
              <a:off x="1728" y="3648"/>
              <a:ext cx="41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X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2</a:t>
              </a:r>
              <a:r>
                <a:rPr kumimoji="1" lang="en-US" altLang="zh-CN" sz="3200" b="0" i="0" u="none" strike="noStrike" kern="1200" cap="none" spc="0" normalizeH="0" baseline="30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n</a:t>
              </a:r>
            </a:p>
          </p:txBody>
        </p:sp>
        <p:sp>
          <p:nvSpPr>
            <p:cNvPr id="70680" name="Rectangle 24"/>
            <p:cNvSpPr>
              <a:spLocks noChangeArrowheads="1"/>
            </p:cNvSpPr>
            <p:nvPr/>
          </p:nvSpPr>
          <p:spPr bwMode="auto">
            <a:xfrm>
              <a:off x="3696" y="2304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Y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</a:t>
              </a:r>
            </a:p>
          </p:txBody>
        </p:sp>
        <p:sp>
          <p:nvSpPr>
            <p:cNvPr id="70681" name="Rectangle 25"/>
            <p:cNvSpPr>
              <a:spLocks noChangeArrowheads="1"/>
            </p:cNvSpPr>
            <p:nvPr/>
          </p:nvSpPr>
          <p:spPr bwMode="auto">
            <a:xfrm>
              <a:off x="3696" y="3654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Y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n</a:t>
              </a:r>
            </a:p>
          </p:txBody>
        </p:sp>
        <p:sp>
          <p:nvSpPr>
            <p:cNvPr id="70682" name="Rectangle 26"/>
            <p:cNvSpPr>
              <a:spLocks noChangeArrowheads="1"/>
            </p:cNvSpPr>
            <p:nvPr/>
          </p:nvSpPr>
          <p:spPr bwMode="auto">
            <a:xfrm>
              <a:off x="2784" y="2454"/>
              <a:ext cx="3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编</a:t>
              </a:r>
            </a:p>
          </p:txBody>
        </p:sp>
        <p:sp>
          <p:nvSpPr>
            <p:cNvPr id="70683" name="Rectangle 27"/>
            <p:cNvSpPr>
              <a:spLocks noChangeArrowheads="1"/>
            </p:cNvSpPr>
            <p:nvPr/>
          </p:nvSpPr>
          <p:spPr bwMode="auto">
            <a:xfrm>
              <a:off x="2784" y="2971"/>
              <a:ext cx="3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码</a:t>
              </a:r>
            </a:p>
          </p:txBody>
        </p:sp>
        <p:sp>
          <p:nvSpPr>
            <p:cNvPr id="70684" name="Rectangle 28"/>
            <p:cNvSpPr>
              <a:spLocks noChangeArrowheads="1"/>
            </p:cNvSpPr>
            <p:nvPr/>
          </p:nvSpPr>
          <p:spPr bwMode="auto">
            <a:xfrm>
              <a:off x="2784" y="3462"/>
              <a:ext cx="3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器</a:t>
              </a:r>
            </a:p>
          </p:txBody>
        </p:sp>
        <p:sp>
          <p:nvSpPr>
            <p:cNvPr id="70685" name="Line 29"/>
            <p:cNvSpPr>
              <a:spLocks noChangeShapeType="1"/>
            </p:cNvSpPr>
            <p:nvPr/>
          </p:nvSpPr>
          <p:spPr bwMode="auto">
            <a:xfrm flipH="1">
              <a:off x="2160" y="2502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0686" name="Line 30"/>
            <p:cNvSpPr>
              <a:spLocks noChangeShapeType="1"/>
            </p:cNvSpPr>
            <p:nvPr/>
          </p:nvSpPr>
          <p:spPr bwMode="auto">
            <a:xfrm>
              <a:off x="3456" y="2502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</p:grpSp>
      <p:sp>
        <p:nvSpPr>
          <p:cNvPr id="70687" name="Rectangle 31"/>
          <p:cNvSpPr>
            <a:spLocks noChangeArrowheads="1"/>
          </p:cNvSpPr>
          <p:nvPr/>
        </p:nvSpPr>
        <p:spPr bwMode="auto">
          <a:xfrm>
            <a:off x="228600" y="2895600"/>
            <a:ext cx="6850063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一、二进制编码器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(2</a:t>
            </a:r>
            <a:r>
              <a:rPr kumimoji="1" lang="en-US" altLang="zh-CN" sz="3200" b="1" i="0" u="none" strike="noStrike" kern="1200" cap="none" spc="0" normalizeH="0" baseline="30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n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线－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n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线编码器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06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06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70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06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06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70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8" grpId="0" animBg="1"/>
      <p:bldP spid="70661" grpId="0" animBg="1"/>
      <p:bldP spid="7068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3"/>
          <p:cNvSpPr txBox="1">
            <a:spLocks noGrp="1"/>
          </p:cNvSpPr>
          <p:nvPr>
            <p:ph type="sldNum" sz="quarter" idx="12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6DF6B7F-D679-499F-8E68-FD3909202134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13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71682" name="Group 2"/>
          <p:cNvGrpSpPr/>
          <p:nvPr/>
        </p:nvGrpSpPr>
        <p:grpSpPr>
          <a:xfrm>
            <a:off x="2590800" y="2438400"/>
            <a:ext cx="4025900" cy="2743200"/>
            <a:chOff x="1728" y="1584"/>
            <a:chExt cx="2536" cy="1728"/>
          </a:xfrm>
        </p:grpSpPr>
        <p:sp>
          <p:nvSpPr>
            <p:cNvPr id="71683" name="Rectangle 3"/>
            <p:cNvSpPr>
              <a:spLocks noChangeArrowheads="1"/>
            </p:cNvSpPr>
            <p:nvPr/>
          </p:nvSpPr>
          <p:spPr bwMode="auto">
            <a:xfrm>
              <a:off x="2352" y="1584"/>
              <a:ext cx="1152" cy="172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1684" name="Line 4"/>
            <p:cNvSpPr>
              <a:spLocks noChangeShapeType="1"/>
            </p:cNvSpPr>
            <p:nvPr/>
          </p:nvSpPr>
          <p:spPr bwMode="auto">
            <a:xfrm flipH="1">
              <a:off x="2016" y="1728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1685" name="Line 5"/>
            <p:cNvSpPr>
              <a:spLocks noChangeShapeType="1"/>
            </p:cNvSpPr>
            <p:nvPr/>
          </p:nvSpPr>
          <p:spPr bwMode="auto">
            <a:xfrm>
              <a:off x="2160" y="2352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1686" name="Line 6"/>
            <p:cNvSpPr>
              <a:spLocks noChangeShapeType="1"/>
            </p:cNvSpPr>
            <p:nvPr/>
          </p:nvSpPr>
          <p:spPr bwMode="auto">
            <a:xfrm>
              <a:off x="2160" y="2592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1687" name="Line 7"/>
            <p:cNvSpPr>
              <a:spLocks noChangeShapeType="1"/>
            </p:cNvSpPr>
            <p:nvPr/>
          </p:nvSpPr>
          <p:spPr bwMode="auto">
            <a:xfrm>
              <a:off x="2160" y="2832"/>
              <a:ext cx="0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1688" name="Line 8"/>
            <p:cNvSpPr>
              <a:spLocks noChangeShapeType="1"/>
            </p:cNvSpPr>
            <p:nvPr/>
          </p:nvSpPr>
          <p:spPr bwMode="auto">
            <a:xfrm flipH="1">
              <a:off x="2016" y="3120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1689" name="Line 9"/>
            <p:cNvSpPr>
              <a:spLocks noChangeShapeType="1"/>
            </p:cNvSpPr>
            <p:nvPr/>
          </p:nvSpPr>
          <p:spPr bwMode="auto">
            <a:xfrm>
              <a:off x="3504" y="1968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1690" name="Line 10"/>
            <p:cNvSpPr>
              <a:spLocks noChangeShapeType="1"/>
            </p:cNvSpPr>
            <p:nvPr/>
          </p:nvSpPr>
          <p:spPr bwMode="auto">
            <a:xfrm>
              <a:off x="3504" y="2448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1691" name="Line 11"/>
            <p:cNvSpPr>
              <a:spLocks noChangeShapeType="1"/>
            </p:cNvSpPr>
            <p:nvPr/>
          </p:nvSpPr>
          <p:spPr bwMode="auto">
            <a:xfrm flipH="1">
              <a:off x="2064" y="2112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1692" name="Line 12"/>
            <p:cNvSpPr>
              <a:spLocks noChangeShapeType="1"/>
            </p:cNvSpPr>
            <p:nvPr/>
          </p:nvSpPr>
          <p:spPr bwMode="auto">
            <a:xfrm>
              <a:off x="3504" y="2880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1693" name="Rectangle 13"/>
            <p:cNvSpPr>
              <a:spLocks noChangeArrowheads="1"/>
            </p:cNvSpPr>
            <p:nvPr/>
          </p:nvSpPr>
          <p:spPr bwMode="auto">
            <a:xfrm>
              <a:off x="1776" y="1584"/>
              <a:ext cx="35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I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0</a:t>
              </a:r>
            </a:p>
          </p:txBody>
        </p:sp>
        <p:sp>
          <p:nvSpPr>
            <p:cNvPr id="71694" name="Rectangle 14"/>
            <p:cNvSpPr>
              <a:spLocks noChangeArrowheads="1"/>
            </p:cNvSpPr>
            <p:nvPr/>
          </p:nvSpPr>
          <p:spPr bwMode="auto">
            <a:xfrm>
              <a:off x="1776" y="1920"/>
              <a:ext cx="48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I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</a:t>
              </a:r>
            </a:p>
          </p:txBody>
        </p:sp>
        <p:sp>
          <p:nvSpPr>
            <p:cNvPr id="71695" name="Rectangle 15"/>
            <p:cNvSpPr>
              <a:spLocks noChangeArrowheads="1"/>
            </p:cNvSpPr>
            <p:nvPr/>
          </p:nvSpPr>
          <p:spPr bwMode="auto">
            <a:xfrm>
              <a:off x="1728" y="2874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I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7</a:t>
              </a:r>
            </a:p>
          </p:txBody>
        </p:sp>
        <p:sp>
          <p:nvSpPr>
            <p:cNvPr id="71696" name="Rectangle 16"/>
            <p:cNvSpPr>
              <a:spLocks noChangeArrowheads="1"/>
            </p:cNvSpPr>
            <p:nvPr/>
          </p:nvSpPr>
          <p:spPr bwMode="auto">
            <a:xfrm>
              <a:off x="3888" y="1728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Y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0</a:t>
              </a:r>
            </a:p>
          </p:txBody>
        </p:sp>
        <p:sp>
          <p:nvSpPr>
            <p:cNvPr id="71697" name="Rectangle 17"/>
            <p:cNvSpPr>
              <a:spLocks noChangeArrowheads="1"/>
            </p:cNvSpPr>
            <p:nvPr/>
          </p:nvSpPr>
          <p:spPr bwMode="auto">
            <a:xfrm>
              <a:off x="3936" y="2208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Y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</a:t>
              </a:r>
            </a:p>
          </p:txBody>
        </p:sp>
        <p:sp>
          <p:nvSpPr>
            <p:cNvPr id="71698" name="Rectangle 18"/>
            <p:cNvSpPr>
              <a:spLocks noChangeArrowheads="1"/>
            </p:cNvSpPr>
            <p:nvPr/>
          </p:nvSpPr>
          <p:spPr bwMode="auto">
            <a:xfrm>
              <a:off x="3936" y="2640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Y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2</a:t>
              </a:r>
            </a:p>
          </p:txBody>
        </p:sp>
        <p:sp>
          <p:nvSpPr>
            <p:cNvPr id="71699" name="Rectangle 19"/>
            <p:cNvSpPr>
              <a:spLocks noChangeArrowheads="1"/>
            </p:cNvSpPr>
            <p:nvPr/>
          </p:nvSpPr>
          <p:spPr bwMode="auto">
            <a:xfrm>
              <a:off x="2400" y="1866"/>
              <a:ext cx="101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8</a:t>
              </a:r>
              <a:r>
                <a:rPr kumimoji="1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线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-3</a:t>
              </a:r>
              <a:r>
                <a:rPr kumimoji="1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线</a:t>
              </a:r>
            </a:p>
          </p:txBody>
        </p:sp>
        <p:sp>
          <p:nvSpPr>
            <p:cNvPr id="71700" name="Rectangle 20"/>
            <p:cNvSpPr>
              <a:spLocks noChangeArrowheads="1"/>
            </p:cNvSpPr>
            <p:nvPr/>
          </p:nvSpPr>
          <p:spPr bwMode="auto">
            <a:xfrm>
              <a:off x="2448" y="2463"/>
              <a:ext cx="88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编码器</a:t>
              </a:r>
            </a:p>
          </p:txBody>
        </p:sp>
        <p:sp>
          <p:nvSpPr>
            <p:cNvPr id="71701" name="Line 21"/>
            <p:cNvSpPr>
              <a:spLocks noChangeShapeType="1"/>
            </p:cNvSpPr>
            <p:nvPr/>
          </p:nvSpPr>
          <p:spPr bwMode="auto">
            <a:xfrm>
              <a:off x="1824" y="1632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1702" name="Line 22"/>
            <p:cNvSpPr>
              <a:spLocks noChangeShapeType="1"/>
            </p:cNvSpPr>
            <p:nvPr/>
          </p:nvSpPr>
          <p:spPr bwMode="auto">
            <a:xfrm>
              <a:off x="1824" y="1968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1703" name="Line 23"/>
            <p:cNvSpPr>
              <a:spLocks noChangeShapeType="1"/>
            </p:cNvSpPr>
            <p:nvPr/>
          </p:nvSpPr>
          <p:spPr bwMode="auto">
            <a:xfrm>
              <a:off x="1776" y="2928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</p:grpSp>
      <p:sp>
        <p:nvSpPr>
          <p:cNvPr id="71704" name="Rectangle 24"/>
          <p:cNvSpPr>
            <a:spLocks noChangeArrowheads="1"/>
          </p:cNvSpPr>
          <p:nvPr/>
        </p:nvSpPr>
        <p:spPr bwMode="auto">
          <a:xfrm>
            <a:off x="1003300" y="1055688"/>
            <a:ext cx="80645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低电平有效，即对输入为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“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0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”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的位进行编码。</a:t>
            </a:r>
          </a:p>
        </p:txBody>
      </p:sp>
      <p:sp>
        <p:nvSpPr>
          <p:cNvPr id="71705" name="Rectangle 25"/>
          <p:cNvSpPr>
            <a:spLocks noChangeArrowheads="1"/>
          </p:cNvSpPr>
          <p:nvPr/>
        </p:nvSpPr>
        <p:spPr bwMode="auto">
          <a:xfrm>
            <a:off x="228600" y="228600"/>
            <a:ext cx="3841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例：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8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线－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线编码器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17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71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4" grpId="0" build="p" advAuto="1000"/>
      <p:bldP spid="7170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灯片编号占位符 3"/>
          <p:cNvSpPr txBox="1">
            <a:spLocks noGrp="1"/>
          </p:cNvSpPr>
          <p:nvPr>
            <p:ph type="sldNum" sz="quarter" idx="12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639C478-FA8F-4321-B48A-4F9FD3E46D61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14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2706" name="Rectangle 2"/>
          <p:cNvSpPr>
            <a:spLocks noChangeArrowheads="1"/>
          </p:cNvSpPr>
          <p:nvPr/>
        </p:nvSpPr>
        <p:spPr bwMode="auto">
          <a:xfrm>
            <a:off x="450850" y="381000"/>
            <a:ext cx="42481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8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线－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线编码器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49" charset="-122"/>
                <a:cs typeface="+mn-cs"/>
              </a:rPr>
              <a:t>真值表</a:t>
            </a:r>
          </a:p>
        </p:txBody>
      </p:sp>
      <p:sp>
        <p:nvSpPr>
          <p:cNvPr id="72707" name="Rectangle 3"/>
          <p:cNvSpPr>
            <a:spLocks noChangeArrowheads="1"/>
          </p:cNvSpPr>
          <p:nvPr/>
        </p:nvSpPr>
        <p:spPr bwMode="auto">
          <a:xfrm>
            <a:off x="609600" y="1905000"/>
            <a:ext cx="70929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0  1  1   1   1  1  1  1   0  0  0</a:t>
            </a:r>
          </a:p>
        </p:txBody>
      </p:sp>
      <p:sp>
        <p:nvSpPr>
          <p:cNvPr id="72708" name="Rectangle 4"/>
          <p:cNvSpPr>
            <a:spLocks noChangeArrowheads="1"/>
          </p:cNvSpPr>
          <p:nvPr/>
        </p:nvSpPr>
        <p:spPr bwMode="auto">
          <a:xfrm>
            <a:off x="609600" y="2438400"/>
            <a:ext cx="70929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1  0  1   1   1  1  1  1   0  0  1</a:t>
            </a:r>
          </a:p>
        </p:txBody>
      </p:sp>
      <p:sp>
        <p:nvSpPr>
          <p:cNvPr id="72709" name="Rectangle 5"/>
          <p:cNvSpPr>
            <a:spLocks noChangeArrowheads="1"/>
          </p:cNvSpPr>
          <p:nvPr/>
        </p:nvSpPr>
        <p:spPr bwMode="auto">
          <a:xfrm>
            <a:off x="609600" y="2971800"/>
            <a:ext cx="70929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1  1  0   1   1  1  1  1   0  1  0</a:t>
            </a:r>
          </a:p>
        </p:txBody>
      </p:sp>
      <p:sp>
        <p:nvSpPr>
          <p:cNvPr id="72710" name="Rectangle 6"/>
          <p:cNvSpPr>
            <a:spLocks noChangeArrowheads="1"/>
          </p:cNvSpPr>
          <p:nvPr/>
        </p:nvSpPr>
        <p:spPr bwMode="auto">
          <a:xfrm>
            <a:off x="609600" y="3505200"/>
            <a:ext cx="70929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1  1  1   0   1  1  1  1   0  1  1</a:t>
            </a:r>
          </a:p>
        </p:txBody>
      </p:sp>
      <p:sp>
        <p:nvSpPr>
          <p:cNvPr id="72711" name="Rectangle 7"/>
          <p:cNvSpPr>
            <a:spLocks noChangeArrowheads="1"/>
          </p:cNvSpPr>
          <p:nvPr/>
        </p:nvSpPr>
        <p:spPr bwMode="auto">
          <a:xfrm>
            <a:off x="609600" y="4038600"/>
            <a:ext cx="70929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1  1  1   1   0  1  1  1   1  0  0</a:t>
            </a:r>
          </a:p>
        </p:txBody>
      </p:sp>
      <p:sp>
        <p:nvSpPr>
          <p:cNvPr id="72712" name="Rectangle 8"/>
          <p:cNvSpPr>
            <a:spLocks noChangeArrowheads="1"/>
          </p:cNvSpPr>
          <p:nvPr/>
        </p:nvSpPr>
        <p:spPr bwMode="auto">
          <a:xfrm>
            <a:off x="609600" y="4572000"/>
            <a:ext cx="70929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1  1  1   1   1  0  1  1   1  0  1</a:t>
            </a:r>
          </a:p>
        </p:txBody>
      </p:sp>
      <p:sp>
        <p:nvSpPr>
          <p:cNvPr id="72713" name="Rectangle 9"/>
          <p:cNvSpPr>
            <a:spLocks noChangeArrowheads="1"/>
          </p:cNvSpPr>
          <p:nvPr/>
        </p:nvSpPr>
        <p:spPr bwMode="auto">
          <a:xfrm>
            <a:off x="609600" y="5105400"/>
            <a:ext cx="70929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1  1  1   1   1  1  0  1   1  1  0</a:t>
            </a:r>
          </a:p>
        </p:txBody>
      </p:sp>
      <p:sp>
        <p:nvSpPr>
          <p:cNvPr id="72714" name="Rectangle 10"/>
          <p:cNvSpPr>
            <a:spLocks noChangeArrowheads="1"/>
          </p:cNvSpPr>
          <p:nvPr/>
        </p:nvSpPr>
        <p:spPr bwMode="auto">
          <a:xfrm>
            <a:off x="609600" y="5638800"/>
            <a:ext cx="70929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1  1  1   1   1  1  1  0   1  1  1</a:t>
            </a:r>
          </a:p>
        </p:txBody>
      </p:sp>
      <p:grpSp>
        <p:nvGrpSpPr>
          <p:cNvPr id="72715" name="Group 11"/>
          <p:cNvGrpSpPr/>
          <p:nvPr/>
        </p:nvGrpSpPr>
        <p:grpSpPr>
          <a:xfrm>
            <a:off x="596900" y="1257300"/>
            <a:ext cx="7099300" cy="4914900"/>
            <a:chOff x="376" y="792"/>
            <a:chExt cx="4472" cy="3096"/>
          </a:xfrm>
        </p:grpSpPr>
        <p:sp>
          <p:nvSpPr>
            <p:cNvPr id="72716" name="Line 12"/>
            <p:cNvSpPr>
              <a:spLocks noChangeShapeType="1"/>
            </p:cNvSpPr>
            <p:nvPr/>
          </p:nvSpPr>
          <p:spPr bwMode="auto">
            <a:xfrm>
              <a:off x="376" y="1200"/>
              <a:ext cx="4472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2717" name="Line 13"/>
            <p:cNvSpPr>
              <a:spLocks noChangeShapeType="1"/>
            </p:cNvSpPr>
            <p:nvPr/>
          </p:nvSpPr>
          <p:spPr bwMode="auto">
            <a:xfrm>
              <a:off x="3759" y="912"/>
              <a:ext cx="1" cy="29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2718" name="Rectangle 14"/>
            <p:cNvSpPr>
              <a:spLocks noChangeArrowheads="1"/>
            </p:cNvSpPr>
            <p:nvPr/>
          </p:nvSpPr>
          <p:spPr bwMode="auto">
            <a:xfrm>
              <a:off x="384" y="792"/>
              <a:ext cx="446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I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0  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I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  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I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2   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I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3   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I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4  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I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5   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I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6  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I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7   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Y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2  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Y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  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Y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0</a:t>
              </a:r>
            </a:p>
          </p:txBody>
        </p:sp>
        <p:sp>
          <p:nvSpPr>
            <p:cNvPr id="72719" name="Line 15"/>
            <p:cNvSpPr>
              <a:spLocks noChangeShapeType="1"/>
            </p:cNvSpPr>
            <p:nvPr/>
          </p:nvSpPr>
          <p:spPr bwMode="auto">
            <a:xfrm>
              <a:off x="432" y="864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2720" name="Line 16"/>
            <p:cNvSpPr>
              <a:spLocks noChangeShapeType="1"/>
            </p:cNvSpPr>
            <p:nvPr/>
          </p:nvSpPr>
          <p:spPr bwMode="auto">
            <a:xfrm>
              <a:off x="816" y="864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2721" name="Line 17"/>
            <p:cNvSpPr>
              <a:spLocks noChangeShapeType="1"/>
            </p:cNvSpPr>
            <p:nvPr/>
          </p:nvSpPr>
          <p:spPr bwMode="auto">
            <a:xfrm>
              <a:off x="1200" y="864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2722" name="Line 18"/>
            <p:cNvSpPr>
              <a:spLocks noChangeShapeType="1"/>
            </p:cNvSpPr>
            <p:nvPr/>
          </p:nvSpPr>
          <p:spPr bwMode="auto">
            <a:xfrm>
              <a:off x="1680" y="864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2723" name="Line 19"/>
            <p:cNvSpPr>
              <a:spLocks noChangeShapeType="1"/>
            </p:cNvSpPr>
            <p:nvPr/>
          </p:nvSpPr>
          <p:spPr bwMode="auto">
            <a:xfrm>
              <a:off x="2112" y="864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2724" name="Line 20"/>
            <p:cNvSpPr>
              <a:spLocks noChangeShapeType="1"/>
            </p:cNvSpPr>
            <p:nvPr/>
          </p:nvSpPr>
          <p:spPr bwMode="auto">
            <a:xfrm>
              <a:off x="2496" y="864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2725" name="Line 21"/>
            <p:cNvSpPr>
              <a:spLocks noChangeShapeType="1"/>
            </p:cNvSpPr>
            <p:nvPr/>
          </p:nvSpPr>
          <p:spPr bwMode="auto">
            <a:xfrm>
              <a:off x="2976" y="864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2726" name="Line 22"/>
            <p:cNvSpPr>
              <a:spLocks noChangeShapeType="1"/>
            </p:cNvSpPr>
            <p:nvPr/>
          </p:nvSpPr>
          <p:spPr bwMode="auto">
            <a:xfrm>
              <a:off x="3360" y="864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</p:grpSp>
      <p:sp>
        <p:nvSpPr>
          <p:cNvPr id="72728" name="AutoShape 2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101013" y="4365625"/>
            <a:ext cx="609600" cy="533400"/>
          </a:xfrm>
          <a:prstGeom prst="actionButtonForwardNex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2729" name="AutoShape 2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101013" y="5445125"/>
            <a:ext cx="609600" cy="533400"/>
          </a:xfrm>
          <a:prstGeom prst="actionButtonForwardNex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27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27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72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2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2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27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27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27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27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27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27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27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27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27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27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727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27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727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27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727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727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727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727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6" grpId="0"/>
      <p:bldP spid="72707" grpId="0" build="p"/>
      <p:bldP spid="72708" grpId="0" build="p"/>
      <p:bldP spid="72709" grpId="0" build="p"/>
      <p:bldP spid="72710" grpId="0" build="p"/>
      <p:bldP spid="72711" grpId="0" build="p"/>
      <p:bldP spid="72712" grpId="0" build="p"/>
      <p:bldP spid="72713" grpId="0" build="p"/>
      <p:bldP spid="72714" grpId="0" build="p"/>
      <p:bldP spid="72728" grpId="0" animBg="1"/>
      <p:bldP spid="7272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3"/>
          <p:cNvSpPr txBox="1">
            <a:spLocks noGrp="1"/>
          </p:cNvSpPr>
          <p:nvPr>
            <p:ph type="sldNum" sz="quarter" idx="12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9235997-EF2B-4D13-B41D-EE06C3D2CE22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15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3730" name="Rectangle 2"/>
          <p:cNvSpPr>
            <a:spLocks noChangeArrowheads="1"/>
          </p:cNvSpPr>
          <p:nvPr/>
        </p:nvSpPr>
        <p:spPr bwMode="auto">
          <a:xfrm>
            <a:off x="304800" y="3733800"/>
            <a:ext cx="5873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8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线－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线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49" charset="-122"/>
                <a:cs typeface="+mn-cs"/>
              </a:rPr>
              <a:t>编码器的函数表达式：</a:t>
            </a:r>
          </a:p>
        </p:txBody>
      </p:sp>
      <p:sp>
        <p:nvSpPr>
          <p:cNvPr id="73731" name="Rectangle 3"/>
          <p:cNvSpPr>
            <a:spLocks noChangeArrowheads="1"/>
          </p:cNvSpPr>
          <p:nvPr/>
        </p:nvSpPr>
        <p:spPr bwMode="auto">
          <a:xfrm>
            <a:off x="228600" y="228600"/>
            <a:ext cx="883920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8</a:t>
            </a: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线－</a:t>
            </a: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</a:t>
            </a: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线编码器有</a:t>
            </a: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8</a:t>
            </a: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个输入变量，一共有</a:t>
            </a: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256</a:t>
            </a: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种输入组合，而这里只用了</a:t>
            </a: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8</a:t>
            </a: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种，其余的</a:t>
            </a: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248</a:t>
            </a: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种都视为约束条件，即</a:t>
            </a: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任一时刻输入只允许一位为</a:t>
            </a: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“</a:t>
            </a: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0</a:t>
            </a: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”</a:t>
            </a: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，可得：</a:t>
            </a:r>
            <a:endParaRPr kumimoji="1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graphicFrame>
        <p:nvGraphicFramePr>
          <p:cNvPr id="73739" name="Object 11"/>
          <p:cNvGraphicFramePr>
            <a:graphicFrameLocks noChangeAspect="1"/>
          </p:cNvGraphicFramePr>
          <p:nvPr/>
        </p:nvGraphicFramePr>
        <p:xfrm>
          <a:off x="1014413" y="4540250"/>
          <a:ext cx="7138987" cy="1277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099310" imgH="321945" progId="Equation.3">
                  <p:embed/>
                </p:oleObj>
              </mc:Choice>
              <mc:Fallback>
                <p:oleObj r:id="rId3" imgW="2099310" imgH="321945" progId="Equation.3">
                  <p:embed/>
                  <p:pic>
                    <p:nvPicPr>
                      <p:cNvPr id="0" name="图片 3149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14413" y="4540250"/>
                        <a:ext cx="7138987" cy="12779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40" name="AutoShape 12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243888" y="5373688"/>
            <a:ext cx="609600" cy="533400"/>
          </a:xfrm>
          <a:prstGeom prst="actionButtonBackPreviou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2337956-E3F4-3F93-BD9F-94FBC4D5A4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503" y="2352947"/>
            <a:ext cx="7445385" cy="141744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3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37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37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37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37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37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37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0" grpId="0"/>
      <p:bldP spid="73731" grpId="0"/>
      <p:bldP spid="7374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3"/>
          <p:cNvSpPr txBox="1">
            <a:spLocks noGrp="1"/>
          </p:cNvSpPr>
          <p:nvPr>
            <p:ph type="sldNum" sz="quarter" idx="12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3F5C263-18E3-4A0C-9813-A29DE09B8DB8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16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74754" name="Object 2"/>
          <p:cNvGraphicFramePr>
            <a:graphicFrameLocks noChangeAspect="1"/>
          </p:cNvGraphicFramePr>
          <p:nvPr/>
        </p:nvGraphicFramePr>
        <p:xfrm>
          <a:off x="373063" y="1554163"/>
          <a:ext cx="8086725" cy="1189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443480" imgH="307340" progId="Equation.3">
                  <p:embed/>
                </p:oleObj>
              </mc:Choice>
              <mc:Fallback>
                <p:oleObj r:id="rId3" imgW="2443480" imgH="307340" progId="Equation.3">
                  <p:embed/>
                  <p:pic>
                    <p:nvPicPr>
                      <p:cNvPr id="0" name="图片 3147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73063" y="1554163"/>
                        <a:ext cx="8086725" cy="11890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4760" name="Group 8"/>
          <p:cNvGrpSpPr/>
          <p:nvPr/>
        </p:nvGrpSpPr>
        <p:grpSpPr>
          <a:xfrm>
            <a:off x="228600" y="187325"/>
            <a:ext cx="4133850" cy="650875"/>
            <a:chOff x="144" y="96"/>
            <a:chExt cx="2604" cy="410"/>
          </a:xfrm>
        </p:grpSpPr>
        <p:sp>
          <p:nvSpPr>
            <p:cNvPr id="74756" name="Rectangle 4"/>
            <p:cNvSpPr>
              <a:spLocks noChangeArrowheads="1"/>
            </p:cNvSpPr>
            <p:nvPr/>
          </p:nvSpPr>
          <p:spPr bwMode="auto">
            <a:xfrm>
              <a:off x="144" y="96"/>
              <a:ext cx="6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 Black" panose="020B0A04020102020204" pitchFamily="34" charset="0"/>
                  <a:ea typeface="黑体" panose="02010609060101010101" pitchFamily="49" charset="-122"/>
                  <a:cs typeface="+mn-cs"/>
                </a:rPr>
                <a:t>令：</a:t>
              </a:r>
            </a:p>
          </p:txBody>
        </p:sp>
        <p:graphicFrame>
          <p:nvGraphicFramePr>
            <p:cNvPr id="142350" name="Object 5"/>
            <p:cNvGraphicFramePr>
              <a:graphicFrameLocks noChangeAspect="1"/>
            </p:cNvGraphicFramePr>
            <p:nvPr/>
          </p:nvGraphicFramePr>
          <p:xfrm>
            <a:off x="587" y="131"/>
            <a:ext cx="2161" cy="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995045" imgH="116840" progId="Equation.3">
                    <p:embed/>
                  </p:oleObj>
                </mc:Choice>
                <mc:Fallback>
                  <p:oleObj r:id="rId5" imgW="995045" imgH="116840" progId="Equation.3">
                    <p:embed/>
                    <p:pic>
                      <p:nvPicPr>
                        <p:cNvPr id="0" name="图片 3148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87" y="131"/>
                          <a:ext cx="2161" cy="37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4759" name="Rectangle 7"/>
          <p:cNvSpPr>
            <a:spLocks noChangeArrowheads="1"/>
          </p:cNvSpPr>
          <p:nvPr/>
        </p:nvSpPr>
        <p:spPr bwMode="auto">
          <a:xfrm>
            <a:off x="228600" y="914400"/>
            <a:ext cx="5670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根据约束条件，可把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A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式写为：</a:t>
            </a:r>
          </a:p>
        </p:txBody>
      </p:sp>
      <p:graphicFrame>
        <p:nvGraphicFramePr>
          <p:cNvPr id="74761" name="Object 9"/>
          <p:cNvGraphicFramePr>
            <a:graphicFrameLocks noChangeAspect="1"/>
          </p:cNvGraphicFramePr>
          <p:nvPr/>
        </p:nvGraphicFramePr>
        <p:xfrm>
          <a:off x="700088" y="2819400"/>
          <a:ext cx="8120062" cy="1314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2450465" imgH="343535" progId="Equation.3">
                  <p:embed/>
                </p:oleObj>
              </mc:Choice>
              <mc:Fallback>
                <p:oleObj r:id="rId7" imgW="2450465" imgH="343535" progId="Equation.3">
                  <p:embed/>
                  <p:pic>
                    <p:nvPicPr>
                      <p:cNvPr id="0" name="图片 3156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00088" y="2819400"/>
                        <a:ext cx="8120062" cy="1314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4762" name="Group 10"/>
          <p:cNvGrpSpPr/>
          <p:nvPr/>
        </p:nvGrpSpPr>
        <p:grpSpPr>
          <a:xfrm>
            <a:off x="304800" y="4267200"/>
            <a:ext cx="6172200" cy="708025"/>
            <a:chOff x="96" y="1524"/>
            <a:chExt cx="3888" cy="446"/>
          </a:xfrm>
        </p:grpSpPr>
        <p:sp>
          <p:nvSpPr>
            <p:cNvPr id="74763" name="Rectangle 11"/>
            <p:cNvSpPr>
              <a:spLocks noChangeArrowheads="1"/>
            </p:cNvSpPr>
            <p:nvPr/>
          </p:nvSpPr>
          <p:spPr bwMode="auto">
            <a:xfrm>
              <a:off x="96" y="1574"/>
              <a:ext cx="6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 Black" panose="020B0A04020102020204" pitchFamily="34" charset="0"/>
                  <a:ea typeface="黑体" panose="02010609060101010101" pitchFamily="49" charset="-122"/>
                  <a:cs typeface="+mn-cs"/>
                </a:rPr>
                <a:t>故：</a:t>
              </a:r>
            </a:p>
          </p:txBody>
        </p:sp>
        <p:graphicFrame>
          <p:nvGraphicFramePr>
            <p:cNvPr id="142348" name="Object 12"/>
            <p:cNvGraphicFramePr>
              <a:graphicFrameLocks noChangeAspect="1"/>
            </p:cNvGraphicFramePr>
            <p:nvPr/>
          </p:nvGraphicFramePr>
          <p:xfrm>
            <a:off x="624" y="1524"/>
            <a:ext cx="3360" cy="4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1543685" imgH="146050" progId="Equation.3">
                    <p:embed/>
                  </p:oleObj>
                </mc:Choice>
                <mc:Fallback>
                  <p:oleObj r:id="rId9" imgW="1543685" imgH="146050" progId="Equation.3">
                    <p:embed/>
                    <p:pic>
                      <p:nvPicPr>
                        <p:cNvPr id="0" name="图片 3151"/>
                        <p:cNvPicPr/>
                        <p:nvPr/>
                      </p:nvPicPr>
                      <p:blipFill>
                        <a:blip r:embed="rId10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624" y="1524"/>
                          <a:ext cx="3360" cy="44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4765" name="Object 13"/>
          <p:cNvGraphicFramePr>
            <a:graphicFrameLocks noChangeAspect="1"/>
          </p:cNvGraphicFramePr>
          <p:nvPr/>
        </p:nvGraphicFramePr>
        <p:xfrm>
          <a:off x="1143000" y="5029200"/>
          <a:ext cx="5334000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1536065" imgH="146050" progId="Equation.3">
                  <p:embed/>
                </p:oleObj>
              </mc:Choice>
              <mc:Fallback>
                <p:oleObj r:id="rId11" imgW="1536065" imgH="146050" progId="Equation.3">
                  <p:embed/>
                  <p:pic>
                    <p:nvPicPr>
                      <p:cNvPr id="0" name="图片 3154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43000" y="5029200"/>
                        <a:ext cx="5334000" cy="701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66" name="Object 14"/>
          <p:cNvGraphicFramePr>
            <a:graphicFrameLocks noChangeAspect="1"/>
          </p:cNvGraphicFramePr>
          <p:nvPr/>
        </p:nvGraphicFramePr>
        <p:xfrm>
          <a:off x="1143000" y="5776913"/>
          <a:ext cx="5257800" cy="70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1514475" imgH="146050" progId="Equation.3">
                  <p:embed/>
                </p:oleObj>
              </mc:Choice>
              <mc:Fallback>
                <p:oleObj r:id="rId13" imgW="1514475" imgH="146050" progId="Equation.3">
                  <p:embed/>
                  <p:pic>
                    <p:nvPicPr>
                      <p:cNvPr id="0" name="图片 3152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43000" y="5776913"/>
                        <a:ext cx="5257800" cy="7000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67" name="AutoShape 15">
            <a:hlinkClick r:id="rId15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885113" y="5589588"/>
            <a:ext cx="609600" cy="533400"/>
          </a:xfrm>
          <a:prstGeom prst="actionButtonBackPrevious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7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7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47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47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47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47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47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47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47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47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47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47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47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47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47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47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9" grpId="0"/>
      <p:bldP spid="7476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/>
          <p:cNvSpPr txBox="1">
            <a:spLocks noGrp="1"/>
          </p:cNvSpPr>
          <p:nvPr>
            <p:ph type="sldNum" sz="quarter" idx="12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79C299C-5B36-4596-B856-5E8C373E5028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17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2946" name="Rectangle 2"/>
          <p:cNvSpPr/>
          <p:nvPr/>
        </p:nvSpPr>
        <p:spPr>
          <a:xfrm>
            <a:off x="193675" y="207963"/>
            <a:ext cx="3810000" cy="762000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anchor="b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44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4.3.5 </a:t>
            </a:r>
            <a:r>
              <a:rPr lang="zh-CN" altLang="en-US" sz="44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译码器</a:t>
            </a:r>
          </a:p>
        </p:txBody>
      </p:sp>
      <p:sp>
        <p:nvSpPr>
          <p:cNvPr id="82948" name="Rectangle 4"/>
          <p:cNvSpPr>
            <a:spLocks noChangeArrowheads="1"/>
          </p:cNvSpPr>
          <p:nvPr/>
        </p:nvSpPr>
        <p:spPr bwMode="auto">
          <a:xfrm>
            <a:off x="228600" y="1143000"/>
            <a:ext cx="8763000" cy="1104900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译码是编码的逆过程，其功能是将具有特定含义的不同二进制代码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“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翻译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”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出来。</a:t>
            </a:r>
          </a:p>
        </p:txBody>
      </p:sp>
      <p:sp>
        <p:nvSpPr>
          <p:cNvPr id="82950" name="Rectangle 6"/>
          <p:cNvSpPr>
            <a:spLocks noChangeArrowheads="1"/>
          </p:cNvSpPr>
          <p:nvPr/>
        </p:nvSpPr>
        <p:spPr bwMode="auto">
          <a:xfrm>
            <a:off x="228600" y="2544763"/>
            <a:ext cx="3448050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一、二进制译码器</a:t>
            </a:r>
          </a:p>
        </p:txBody>
      </p:sp>
      <p:sp>
        <p:nvSpPr>
          <p:cNvPr id="82952" name="Rectangle 8"/>
          <p:cNvSpPr>
            <a:spLocks noChangeArrowheads="1"/>
          </p:cNvSpPr>
          <p:nvPr/>
        </p:nvSpPr>
        <p:spPr bwMode="auto">
          <a:xfrm>
            <a:off x="228600" y="3352800"/>
            <a:ext cx="8763000" cy="1592263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二进制译码器属于完全译码器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(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设译码器有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n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个输入和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m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个输出，则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m=2</a:t>
            </a:r>
            <a:r>
              <a:rPr kumimoji="1" lang="en-US" altLang="zh-CN" sz="3200" b="0" i="0" u="none" strike="noStrike" kern="1200" cap="none" spc="0" normalizeH="0" baseline="30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n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)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，不满足该条件的称为部分译码器。</a:t>
            </a:r>
          </a:p>
        </p:txBody>
      </p:sp>
      <p:sp>
        <p:nvSpPr>
          <p:cNvPr id="82956" name="Rectangle 12"/>
          <p:cNvSpPr>
            <a:spLocks noChangeArrowheads="1"/>
          </p:cNvSpPr>
          <p:nvPr/>
        </p:nvSpPr>
        <p:spPr bwMode="auto">
          <a:xfrm>
            <a:off x="228600" y="5257800"/>
            <a:ext cx="8839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这里以二线－四线译码器为例。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29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29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82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29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29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82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29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29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6" grpId="0" animBg="1"/>
      <p:bldP spid="82948" grpId="0" animBg="1"/>
      <p:bldP spid="82950" grpId="0" animBg="1"/>
      <p:bldP spid="82952" grpId="0" animBg="1"/>
      <p:bldP spid="8295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灯片编号占位符 3"/>
          <p:cNvSpPr txBox="1">
            <a:spLocks noGrp="1"/>
          </p:cNvSpPr>
          <p:nvPr>
            <p:ph type="sldNum" sz="quarter" idx="12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92919B2-E7FE-4001-AC30-6BC16D295AAE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18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14715" name="Group 27"/>
          <p:cNvGrpSpPr/>
          <p:nvPr/>
        </p:nvGrpSpPr>
        <p:grpSpPr>
          <a:xfrm>
            <a:off x="2743200" y="838200"/>
            <a:ext cx="3721100" cy="3124200"/>
            <a:chOff x="1640" y="144"/>
            <a:chExt cx="2344" cy="1968"/>
          </a:xfrm>
        </p:grpSpPr>
        <p:sp>
          <p:nvSpPr>
            <p:cNvPr id="114690" name="Rectangle 2"/>
            <p:cNvSpPr>
              <a:spLocks noChangeArrowheads="1"/>
            </p:cNvSpPr>
            <p:nvPr/>
          </p:nvSpPr>
          <p:spPr bwMode="auto">
            <a:xfrm>
              <a:off x="2312" y="336"/>
              <a:ext cx="1056" cy="177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14691" name="Line 3"/>
            <p:cNvSpPr>
              <a:spLocks noChangeShapeType="1"/>
            </p:cNvSpPr>
            <p:nvPr/>
          </p:nvSpPr>
          <p:spPr bwMode="auto">
            <a:xfrm flipH="1">
              <a:off x="1928" y="768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14692" name="Line 4"/>
            <p:cNvSpPr>
              <a:spLocks noChangeShapeType="1"/>
            </p:cNvSpPr>
            <p:nvPr/>
          </p:nvSpPr>
          <p:spPr bwMode="auto">
            <a:xfrm flipH="1">
              <a:off x="1976" y="1680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14693" name="Line 5"/>
            <p:cNvSpPr>
              <a:spLocks noChangeShapeType="1"/>
            </p:cNvSpPr>
            <p:nvPr/>
          </p:nvSpPr>
          <p:spPr bwMode="auto">
            <a:xfrm>
              <a:off x="3464" y="576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14694" name="Line 6"/>
            <p:cNvSpPr>
              <a:spLocks noChangeShapeType="1"/>
            </p:cNvSpPr>
            <p:nvPr/>
          </p:nvSpPr>
          <p:spPr bwMode="auto">
            <a:xfrm>
              <a:off x="3464" y="960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14695" name="Line 7"/>
            <p:cNvSpPr>
              <a:spLocks noChangeShapeType="1"/>
            </p:cNvSpPr>
            <p:nvPr/>
          </p:nvSpPr>
          <p:spPr bwMode="auto">
            <a:xfrm>
              <a:off x="3464" y="1488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14696" name="Line 8"/>
            <p:cNvSpPr>
              <a:spLocks noChangeShapeType="1"/>
            </p:cNvSpPr>
            <p:nvPr/>
          </p:nvSpPr>
          <p:spPr bwMode="auto">
            <a:xfrm>
              <a:off x="3464" y="1872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14697" name="Rectangle 9"/>
            <p:cNvSpPr>
              <a:spLocks noChangeArrowheads="1"/>
            </p:cNvSpPr>
            <p:nvPr/>
          </p:nvSpPr>
          <p:spPr bwMode="auto">
            <a:xfrm>
              <a:off x="2360" y="810"/>
              <a:ext cx="101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2</a:t>
              </a:r>
              <a:r>
                <a:rPr kumimoji="1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线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-4</a:t>
              </a:r>
              <a:r>
                <a:rPr kumimoji="1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线</a:t>
              </a:r>
            </a:p>
          </p:txBody>
        </p:sp>
        <p:sp>
          <p:nvSpPr>
            <p:cNvPr id="114698" name="Rectangle 10"/>
            <p:cNvSpPr>
              <a:spLocks noChangeArrowheads="1"/>
            </p:cNvSpPr>
            <p:nvPr/>
          </p:nvSpPr>
          <p:spPr bwMode="auto">
            <a:xfrm>
              <a:off x="2456" y="1215"/>
              <a:ext cx="88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译码器</a:t>
              </a:r>
            </a:p>
          </p:txBody>
        </p:sp>
        <p:sp>
          <p:nvSpPr>
            <p:cNvPr id="114699" name="Rectangle 11"/>
            <p:cNvSpPr>
              <a:spLocks noChangeArrowheads="1"/>
            </p:cNvSpPr>
            <p:nvPr/>
          </p:nvSpPr>
          <p:spPr bwMode="auto">
            <a:xfrm>
              <a:off x="1640" y="1434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A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0</a:t>
              </a:r>
            </a:p>
          </p:txBody>
        </p:sp>
        <p:sp>
          <p:nvSpPr>
            <p:cNvPr id="114700" name="Rectangle 12"/>
            <p:cNvSpPr>
              <a:spLocks noChangeArrowheads="1"/>
            </p:cNvSpPr>
            <p:nvPr/>
          </p:nvSpPr>
          <p:spPr bwMode="auto">
            <a:xfrm>
              <a:off x="1640" y="570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A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</a:t>
              </a:r>
            </a:p>
          </p:txBody>
        </p:sp>
        <p:sp>
          <p:nvSpPr>
            <p:cNvPr id="114701" name="Rectangle 13"/>
            <p:cNvSpPr>
              <a:spLocks noChangeArrowheads="1"/>
            </p:cNvSpPr>
            <p:nvPr/>
          </p:nvSpPr>
          <p:spPr bwMode="auto">
            <a:xfrm>
              <a:off x="3656" y="378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Z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0</a:t>
              </a:r>
            </a:p>
          </p:txBody>
        </p:sp>
        <p:sp>
          <p:nvSpPr>
            <p:cNvPr id="114702" name="Rectangle 14"/>
            <p:cNvSpPr>
              <a:spLocks noChangeArrowheads="1"/>
            </p:cNvSpPr>
            <p:nvPr/>
          </p:nvSpPr>
          <p:spPr bwMode="auto">
            <a:xfrm>
              <a:off x="3656" y="762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Z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</a:t>
              </a:r>
            </a:p>
          </p:txBody>
        </p:sp>
        <p:sp>
          <p:nvSpPr>
            <p:cNvPr id="114703" name="Rectangle 15"/>
            <p:cNvSpPr>
              <a:spLocks noChangeArrowheads="1"/>
            </p:cNvSpPr>
            <p:nvPr/>
          </p:nvSpPr>
          <p:spPr bwMode="auto">
            <a:xfrm>
              <a:off x="3656" y="1242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Z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2</a:t>
              </a:r>
            </a:p>
          </p:txBody>
        </p:sp>
        <p:sp>
          <p:nvSpPr>
            <p:cNvPr id="114704" name="Rectangle 16"/>
            <p:cNvSpPr>
              <a:spLocks noChangeArrowheads="1"/>
            </p:cNvSpPr>
            <p:nvPr/>
          </p:nvSpPr>
          <p:spPr bwMode="auto">
            <a:xfrm>
              <a:off x="3656" y="1626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Z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3</a:t>
              </a:r>
            </a:p>
          </p:txBody>
        </p:sp>
        <p:sp>
          <p:nvSpPr>
            <p:cNvPr id="114705" name="Line 17"/>
            <p:cNvSpPr>
              <a:spLocks noChangeShapeType="1"/>
            </p:cNvSpPr>
            <p:nvPr/>
          </p:nvSpPr>
          <p:spPr bwMode="auto">
            <a:xfrm>
              <a:off x="3704" y="432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14706" name="Line 18"/>
            <p:cNvSpPr>
              <a:spLocks noChangeShapeType="1"/>
            </p:cNvSpPr>
            <p:nvPr/>
          </p:nvSpPr>
          <p:spPr bwMode="auto">
            <a:xfrm>
              <a:off x="3704" y="816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14707" name="Line 19"/>
            <p:cNvSpPr>
              <a:spLocks noChangeShapeType="1"/>
            </p:cNvSpPr>
            <p:nvPr/>
          </p:nvSpPr>
          <p:spPr bwMode="auto">
            <a:xfrm>
              <a:off x="3704" y="1296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14708" name="Line 20"/>
            <p:cNvSpPr>
              <a:spLocks noChangeShapeType="1"/>
            </p:cNvSpPr>
            <p:nvPr/>
          </p:nvSpPr>
          <p:spPr bwMode="auto">
            <a:xfrm>
              <a:off x="3704" y="1680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14709" name="Line 21"/>
            <p:cNvSpPr>
              <a:spLocks noChangeShapeType="1"/>
            </p:cNvSpPr>
            <p:nvPr/>
          </p:nvSpPr>
          <p:spPr bwMode="auto">
            <a:xfrm flipV="1">
              <a:off x="2792" y="144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14710" name="Rectangle 22"/>
            <p:cNvSpPr>
              <a:spLocks noChangeArrowheads="1"/>
            </p:cNvSpPr>
            <p:nvPr/>
          </p:nvSpPr>
          <p:spPr bwMode="auto">
            <a:xfrm>
              <a:off x="2648" y="282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E</a:t>
              </a:r>
            </a:p>
          </p:txBody>
        </p:sp>
        <p:sp>
          <p:nvSpPr>
            <p:cNvPr id="114711" name="Oval 23"/>
            <p:cNvSpPr>
              <a:spLocks noChangeArrowheads="1"/>
            </p:cNvSpPr>
            <p:nvPr/>
          </p:nvSpPr>
          <p:spPr bwMode="auto">
            <a:xfrm>
              <a:off x="3368" y="1824"/>
              <a:ext cx="96" cy="9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14712" name="Oval 24"/>
            <p:cNvSpPr>
              <a:spLocks noChangeArrowheads="1"/>
            </p:cNvSpPr>
            <p:nvPr/>
          </p:nvSpPr>
          <p:spPr bwMode="auto">
            <a:xfrm>
              <a:off x="3368" y="1440"/>
              <a:ext cx="96" cy="9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14713" name="Oval 25"/>
            <p:cNvSpPr>
              <a:spLocks noChangeArrowheads="1"/>
            </p:cNvSpPr>
            <p:nvPr/>
          </p:nvSpPr>
          <p:spPr bwMode="auto">
            <a:xfrm>
              <a:off x="3368" y="912"/>
              <a:ext cx="96" cy="9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14714" name="Oval 26"/>
            <p:cNvSpPr>
              <a:spLocks noChangeArrowheads="1"/>
            </p:cNvSpPr>
            <p:nvPr/>
          </p:nvSpPr>
          <p:spPr bwMode="auto">
            <a:xfrm>
              <a:off x="3368" y="528"/>
              <a:ext cx="96" cy="9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</p:grpSp>
      <p:sp>
        <p:nvSpPr>
          <p:cNvPr id="114728" name="Rectangle 40"/>
          <p:cNvSpPr>
            <a:spLocks noChangeArrowheads="1"/>
          </p:cNvSpPr>
          <p:nvPr/>
        </p:nvSpPr>
        <p:spPr bwMode="auto">
          <a:xfrm>
            <a:off x="212725" y="4754563"/>
            <a:ext cx="8718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根据译码器的定义和要求可得译码真值表如下：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4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47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47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72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灯片编号占位符 3"/>
          <p:cNvSpPr txBox="1">
            <a:spLocks noGrp="1"/>
          </p:cNvSpPr>
          <p:nvPr>
            <p:ph type="sldNum" sz="quarter" idx="12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FBA40F9-B748-4E25-8CDB-37721A3CB099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19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3970" name="Line 2"/>
          <p:cNvSpPr>
            <a:spLocks noChangeShapeType="1"/>
          </p:cNvSpPr>
          <p:nvPr/>
        </p:nvSpPr>
        <p:spPr bwMode="auto">
          <a:xfrm>
            <a:off x="1314450" y="836613"/>
            <a:ext cx="6477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83971" name="Line 3"/>
          <p:cNvSpPr>
            <a:spLocks noChangeShapeType="1"/>
          </p:cNvSpPr>
          <p:nvPr/>
        </p:nvSpPr>
        <p:spPr bwMode="auto">
          <a:xfrm>
            <a:off x="3829050" y="328613"/>
            <a:ext cx="0" cy="3276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83972" name="Line 4"/>
          <p:cNvSpPr>
            <a:spLocks noChangeShapeType="1"/>
          </p:cNvSpPr>
          <p:nvPr/>
        </p:nvSpPr>
        <p:spPr bwMode="auto">
          <a:xfrm>
            <a:off x="4057650" y="328613"/>
            <a:ext cx="304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83973" name="Line 5"/>
          <p:cNvSpPr>
            <a:spLocks noChangeShapeType="1"/>
          </p:cNvSpPr>
          <p:nvPr/>
        </p:nvSpPr>
        <p:spPr bwMode="auto">
          <a:xfrm>
            <a:off x="5048250" y="328613"/>
            <a:ext cx="304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83974" name="Line 6"/>
          <p:cNvSpPr>
            <a:spLocks noChangeShapeType="1"/>
          </p:cNvSpPr>
          <p:nvPr/>
        </p:nvSpPr>
        <p:spPr bwMode="auto">
          <a:xfrm>
            <a:off x="6191250" y="328613"/>
            <a:ext cx="304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83975" name="Line 7"/>
          <p:cNvSpPr>
            <a:spLocks noChangeShapeType="1"/>
          </p:cNvSpPr>
          <p:nvPr/>
        </p:nvSpPr>
        <p:spPr bwMode="auto">
          <a:xfrm>
            <a:off x="7181850" y="328613"/>
            <a:ext cx="304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83976" name="Rectangle 8"/>
          <p:cNvSpPr>
            <a:spLocks noChangeArrowheads="1"/>
          </p:cNvSpPr>
          <p:nvPr/>
        </p:nvSpPr>
        <p:spPr bwMode="auto">
          <a:xfrm>
            <a:off x="1314450" y="214313"/>
            <a:ext cx="6350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E   A</a:t>
            </a:r>
            <a:r>
              <a:rPr kumimoji="1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    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A</a:t>
            </a:r>
            <a:r>
              <a:rPr kumimoji="1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0     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Z</a:t>
            </a:r>
            <a:r>
              <a:rPr kumimoji="1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     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Z</a:t>
            </a:r>
            <a:r>
              <a:rPr kumimoji="1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      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Z</a:t>
            </a:r>
            <a:r>
              <a:rPr kumimoji="1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     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Z</a:t>
            </a:r>
            <a:r>
              <a:rPr kumimoji="1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0</a:t>
            </a:r>
          </a:p>
        </p:txBody>
      </p:sp>
      <p:sp>
        <p:nvSpPr>
          <p:cNvPr id="83977" name="Rectangle 9"/>
          <p:cNvSpPr>
            <a:spLocks noChangeArrowheads="1"/>
          </p:cNvSpPr>
          <p:nvPr/>
        </p:nvSpPr>
        <p:spPr bwMode="auto">
          <a:xfrm>
            <a:off x="1314450" y="3040063"/>
            <a:ext cx="62801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0   d    d    1    1    1    1</a:t>
            </a:r>
          </a:p>
        </p:txBody>
      </p:sp>
      <p:sp>
        <p:nvSpPr>
          <p:cNvPr id="83978" name="Rectangle 10"/>
          <p:cNvSpPr>
            <a:spLocks noChangeArrowheads="1"/>
          </p:cNvSpPr>
          <p:nvPr/>
        </p:nvSpPr>
        <p:spPr bwMode="auto">
          <a:xfrm>
            <a:off x="1314450" y="2466975"/>
            <a:ext cx="62801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1   1    1    0    1    1    1</a:t>
            </a:r>
          </a:p>
        </p:txBody>
      </p:sp>
      <p:sp>
        <p:nvSpPr>
          <p:cNvPr id="83979" name="Rectangle 11"/>
          <p:cNvSpPr>
            <a:spLocks noChangeArrowheads="1"/>
          </p:cNvSpPr>
          <p:nvPr/>
        </p:nvSpPr>
        <p:spPr bwMode="auto">
          <a:xfrm>
            <a:off x="1314450" y="1933575"/>
            <a:ext cx="62801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1   1    0    1    0    1    1</a:t>
            </a:r>
          </a:p>
        </p:txBody>
      </p:sp>
      <p:sp>
        <p:nvSpPr>
          <p:cNvPr id="83980" name="Rectangle 12"/>
          <p:cNvSpPr>
            <a:spLocks noChangeArrowheads="1"/>
          </p:cNvSpPr>
          <p:nvPr/>
        </p:nvSpPr>
        <p:spPr bwMode="auto">
          <a:xfrm>
            <a:off x="1314450" y="1370013"/>
            <a:ext cx="62801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1   0    1    1    1    0    1</a:t>
            </a:r>
          </a:p>
        </p:txBody>
      </p:sp>
      <p:sp>
        <p:nvSpPr>
          <p:cNvPr id="83981" name="Rectangle 13"/>
          <p:cNvSpPr>
            <a:spLocks noChangeArrowheads="1"/>
          </p:cNvSpPr>
          <p:nvPr/>
        </p:nvSpPr>
        <p:spPr bwMode="auto">
          <a:xfrm>
            <a:off x="1314450" y="836613"/>
            <a:ext cx="62801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1   0    0    1    1    1    0</a:t>
            </a:r>
          </a:p>
        </p:txBody>
      </p:sp>
      <p:sp>
        <p:nvSpPr>
          <p:cNvPr id="83982" name="Rectangle 14"/>
          <p:cNvSpPr>
            <a:spLocks noChangeArrowheads="1"/>
          </p:cNvSpPr>
          <p:nvPr/>
        </p:nvSpPr>
        <p:spPr bwMode="auto">
          <a:xfrm>
            <a:off x="171450" y="4038600"/>
            <a:ext cx="6686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由真值表可得译码器的函数表达式：</a:t>
            </a:r>
          </a:p>
        </p:txBody>
      </p:sp>
      <p:grpSp>
        <p:nvGrpSpPr>
          <p:cNvPr id="83983" name="Group 15"/>
          <p:cNvGrpSpPr/>
          <p:nvPr/>
        </p:nvGrpSpPr>
        <p:grpSpPr>
          <a:xfrm>
            <a:off x="1616075" y="4876800"/>
            <a:ext cx="5775325" cy="1539875"/>
            <a:chOff x="260" y="2976"/>
            <a:chExt cx="3638" cy="970"/>
          </a:xfrm>
        </p:grpSpPr>
        <p:graphicFrame>
          <p:nvGraphicFramePr>
            <p:cNvPr id="162833" name="Object 16"/>
            <p:cNvGraphicFramePr>
              <a:graphicFrameLocks noChangeAspect="1"/>
            </p:cNvGraphicFramePr>
            <p:nvPr/>
          </p:nvGraphicFramePr>
          <p:xfrm>
            <a:off x="270" y="2976"/>
            <a:ext cx="1250" cy="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548640" imgH="116840" progId="Equation.3">
                    <p:embed/>
                  </p:oleObj>
                </mc:Choice>
                <mc:Fallback>
                  <p:oleObj r:id="rId3" imgW="548640" imgH="116840" progId="Equation.3">
                    <p:embed/>
                    <p:pic>
                      <p:nvPicPr>
                        <p:cNvPr id="0" name="图片 3177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70" y="2976"/>
                          <a:ext cx="1250" cy="37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2834" name="Object 17"/>
            <p:cNvGraphicFramePr>
              <a:graphicFrameLocks noChangeAspect="1"/>
            </p:cNvGraphicFramePr>
            <p:nvPr/>
          </p:nvGraphicFramePr>
          <p:xfrm>
            <a:off x="2708" y="2991"/>
            <a:ext cx="1190" cy="4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519430" imgH="146050" progId="Equation.3">
                    <p:embed/>
                  </p:oleObj>
                </mc:Choice>
                <mc:Fallback>
                  <p:oleObj r:id="rId5" imgW="519430" imgH="146050" progId="Equation.3">
                    <p:embed/>
                    <p:pic>
                      <p:nvPicPr>
                        <p:cNvPr id="0" name="图片 3178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708" y="2991"/>
                          <a:ext cx="1190" cy="43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2835" name="Object 18"/>
            <p:cNvGraphicFramePr>
              <a:graphicFrameLocks noChangeAspect="1"/>
            </p:cNvGraphicFramePr>
            <p:nvPr/>
          </p:nvGraphicFramePr>
          <p:xfrm>
            <a:off x="260" y="3510"/>
            <a:ext cx="1209" cy="4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526415" imgH="139065" progId="Equation.3">
                    <p:embed/>
                  </p:oleObj>
                </mc:Choice>
                <mc:Fallback>
                  <p:oleObj r:id="rId7" imgW="526415" imgH="139065" progId="Equation.3">
                    <p:embed/>
                    <p:pic>
                      <p:nvPicPr>
                        <p:cNvPr id="0" name="图片 3176"/>
                        <p:cNvPicPr/>
                        <p:nvPr/>
                      </p:nvPicPr>
                      <p:blipFill>
                        <a:blip r:embed="rId8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60" y="3510"/>
                          <a:ext cx="1209" cy="41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2836" name="Object 19"/>
            <p:cNvGraphicFramePr>
              <a:graphicFrameLocks noChangeAspect="1"/>
            </p:cNvGraphicFramePr>
            <p:nvPr/>
          </p:nvGraphicFramePr>
          <p:xfrm>
            <a:off x="2708" y="3552"/>
            <a:ext cx="1150" cy="3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497205" imgH="131445" progId="Equation.3">
                    <p:embed/>
                  </p:oleObj>
                </mc:Choice>
                <mc:Fallback>
                  <p:oleObj r:id="rId9" imgW="497205" imgH="131445" progId="Equation.3">
                    <p:embed/>
                    <p:pic>
                      <p:nvPicPr>
                        <p:cNvPr id="0" name="图片 3179"/>
                        <p:cNvPicPr/>
                        <p:nvPr/>
                      </p:nvPicPr>
                      <p:blipFill>
                        <a:blip r:embed="rId10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708" y="3552"/>
                          <a:ext cx="1150" cy="39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39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39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39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39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3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3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39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39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39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39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39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39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83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7" grpId="0" build="p"/>
      <p:bldP spid="83978" grpId="0" build="p"/>
      <p:bldP spid="83979" grpId="0" build="p"/>
      <p:bldP spid="83980" grpId="0" build="p"/>
      <p:bldP spid="83981" grpId="0" build="p"/>
      <p:bldP spid="83982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灯片编号占位符 3"/>
          <p:cNvSpPr txBox="1">
            <a:spLocks noGrp="1"/>
          </p:cNvSpPr>
          <p:nvPr>
            <p:ph type="sldNum" sz="quarter" idx="12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B31310D-EDB3-4216-ACAF-E426ECC2DD95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86120" name="Group 104"/>
          <p:cNvGrpSpPr/>
          <p:nvPr/>
        </p:nvGrpSpPr>
        <p:grpSpPr>
          <a:xfrm>
            <a:off x="990600" y="1752600"/>
            <a:ext cx="3797300" cy="1685925"/>
            <a:chOff x="624" y="1104"/>
            <a:chExt cx="2392" cy="1062"/>
          </a:xfrm>
        </p:grpSpPr>
        <p:sp>
          <p:nvSpPr>
            <p:cNvPr id="86046" name="Rectangle 30"/>
            <p:cNvSpPr>
              <a:spLocks noChangeArrowheads="1"/>
            </p:cNvSpPr>
            <p:nvPr/>
          </p:nvSpPr>
          <p:spPr bwMode="auto">
            <a:xfrm>
              <a:off x="1296" y="1638"/>
              <a:ext cx="288" cy="52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6047" name="Oval 31"/>
            <p:cNvSpPr>
              <a:spLocks noChangeArrowheads="1"/>
            </p:cNvSpPr>
            <p:nvPr/>
          </p:nvSpPr>
          <p:spPr bwMode="auto">
            <a:xfrm>
              <a:off x="1584" y="1878"/>
              <a:ext cx="96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6048" name="Rectangle 32"/>
            <p:cNvSpPr>
              <a:spLocks noChangeArrowheads="1"/>
            </p:cNvSpPr>
            <p:nvPr/>
          </p:nvSpPr>
          <p:spPr bwMode="auto">
            <a:xfrm>
              <a:off x="1920" y="1638"/>
              <a:ext cx="288" cy="52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6049" name="Oval 33"/>
            <p:cNvSpPr>
              <a:spLocks noChangeArrowheads="1"/>
            </p:cNvSpPr>
            <p:nvPr/>
          </p:nvSpPr>
          <p:spPr bwMode="auto">
            <a:xfrm>
              <a:off x="2208" y="1878"/>
              <a:ext cx="96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6050" name="Line 34"/>
            <p:cNvSpPr>
              <a:spLocks noChangeShapeType="1"/>
            </p:cNvSpPr>
            <p:nvPr/>
          </p:nvSpPr>
          <p:spPr bwMode="auto">
            <a:xfrm>
              <a:off x="1680" y="1926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6051" name="Line 35"/>
            <p:cNvSpPr>
              <a:spLocks noChangeShapeType="1"/>
            </p:cNvSpPr>
            <p:nvPr/>
          </p:nvSpPr>
          <p:spPr bwMode="auto">
            <a:xfrm>
              <a:off x="1728" y="1926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6052" name="Line 36"/>
            <p:cNvSpPr>
              <a:spLocks noChangeShapeType="1"/>
            </p:cNvSpPr>
            <p:nvPr/>
          </p:nvSpPr>
          <p:spPr bwMode="auto">
            <a:xfrm flipH="1">
              <a:off x="1824" y="1926"/>
              <a:ext cx="9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6053" name="Line 37"/>
            <p:cNvSpPr>
              <a:spLocks noChangeShapeType="1"/>
            </p:cNvSpPr>
            <p:nvPr/>
          </p:nvSpPr>
          <p:spPr bwMode="auto">
            <a:xfrm flipH="1">
              <a:off x="912" y="1926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6054" name="Line 38"/>
            <p:cNvSpPr>
              <a:spLocks noChangeShapeType="1"/>
            </p:cNvSpPr>
            <p:nvPr/>
          </p:nvSpPr>
          <p:spPr bwMode="auto">
            <a:xfrm flipV="1">
              <a:off x="1776" y="1302"/>
              <a:ext cx="0" cy="6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6055" name="Line 39"/>
            <p:cNvSpPr>
              <a:spLocks noChangeShapeType="1"/>
            </p:cNvSpPr>
            <p:nvPr/>
          </p:nvSpPr>
          <p:spPr bwMode="auto">
            <a:xfrm>
              <a:off x="1776" y="1302"/>
              <a:ext cx="76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6056" name="Line 40"/>
            <p:cNvSpPr>
              <a:spLocks noChangeShapeType="1"/>
            </p:cNvSpPr>
            <p:nvPr/>
          </p:nvSpPr>
          <p:spPr bwMode="auto">
            <a:xfrm>
              <a:off x="2304" y="1926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6057" name="Line 41"/>
            <p:cNvSpPr>
              <a:spLocks noChangeShapeType="1"/>
            </p:cNvSpPr>
            <p:nvPr/>
          </p:nvSpPr>
          <p:spPr bwMode="auto">
            <a:xfrm>
              <a:off x="2112" y="1302"/>
              <a:ext cx="57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6058" name="Line 42"/>
            <p:cNvSpPr>
              <a:spLocks noChangeShapeType="1"/>
            </p:cNvSpPr>
            <p:nvPr/>
          </p:nvSpPr>
          <p:spPr bwMode="auto">
            <a:xfrm>
              <a:off x="2400" y="1926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6084" name="Oval 68"/>
            <p:cNvSpPr>
              <a:spLocks noChangeArrowheads="1"/>
            </p:cNvSpPr>
            <p:nvPr/>
          </p:nvSpPr>
          <p:spPr bwMode="auto">
            <a:xfrm>
              <a:off x="1728" y="1878"/>
              <a:ext cx="96" cy="96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6086" name="Rectangle 70"/>
            <p:cNvSpPr>
              <a:spLocks noChangeArrowheads="1"/>
            </p:cNvSpPr>
            <p:nvPr/>
          </p:nvSpPr>
          <p:spPr bwMode="auto">
            <a:xfrm>
              <a:off x="624" y="1728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A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</a:t>
              </a:r>
            </a:p>
          </p:txBody>
        </p:sp>
        <p:sp>
          <p:nvSpPr>
            <p:cNvPr id="86098" name="Rectangle 82"/>
            <p:cNvSpPr>
              <a:spLocks noChangeArrowheads="1"/>
            </p:cNvSpPr>
            <p:nvPr/>
          </p:nvSpPr>
          <p:spPr bwMode="auto">
            <a:xfrm>
              <a:off x="2640" y="1104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A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</a:t>
              </a:r>
            </a:p>
          </p:txBody>
        </p:sp>
        <p:sp>
          <p:nvSpPr>
            <p:cNvPr id="86099" name="Rectangle 83"/>
            <p:cNvSpPr>
              <a:spLocks noChangeArrowheads="1"/>
            </p:cNvSpPr>
            <p:nvPr/>
          </p:nvSpPr>
          <p:spPr bwMode="auto">
            <a:xfrm>
              <a:off x="2688" y="1728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A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</a:t>
              </a:r>
            </a:p>
          </p:txBody>
        </p:sp>
        <p:sp>
          <p:nvSpPr>
            <p:cNvPr id="86108" name="Line 92"/>
            <p:cNvSpPr>
              <a:spLocks noChangeShapeType="1"/>
            </p:cNvSpPr>
            <p:nvPr/>
          </p:nvSpPr>
          <p:spPr bwMode="auto">
            <a:xfrm>
              <a:off x="2640" y="1158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6115" name="Rectangle 99"/>
            <p:cNvSpPr>
              <a:spLocks noChangeArrowheads="1"/>
            </p:cNvSpPr>
            <p:nvPr/>
          </p:nvSpPr>
          <p:spPr bwMode="auto">
            <a:xfrm>
              <a:off x="1296" y="1584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</a:t>
              </a:r>
            </a:p>
          </p:txBody>
        </p:sp>
        <p:sp>
          <p:nvSpPr>
            <p:cNvPr id="86116" name="Rectangle 100"/>
            <p:cNvSpPr>
              <a:spLocks noChangeArrowheads="1"/>
            </p:cNvSpPr>
            <p:nvPr/>
          </p:nvSpPr>
          <p:spPr bwMode="auto">
            <a:xfrm>
              <a:off x="1920" y="1638"/>
              <a:ext cx="265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</a:t>
              </a:r>
            </a:p>
          </p:txBody>
        </p:sp>
      </p:grpSp>
      <p:grpSp>
        <p:nvGrpSpPr>
          <p:cNvPr id="86121" name="Group 105"/>
          <p:cNvGrpSpPr/>
          <p:nvPr/>
        </p:nvGrpSpPr>
        <p:grpSpPr>
          <a:xfrm>
            <a:off x="990600" y="3581400"/>
            <a:ext cx="3797300" cy="1762125"/>
            <a:chOff x="624" y="2256"/>
            <a:chExt cx="2392" cy="1110"/>
          </a:xfrm>
        </p:grpSpPr>
        <p:sp>
          <p:nvSpPr>
            <p:cNvPr id="86059" name="Rectangle 43"/>
            <p:cNvSpPr>
              <a:spLocks noChangeArrowheads="1"/>
            </p:cNvSpPr>
            <p:nvPr/>
          </p:nvSpPr>
          <p:spPr bwMode="auto">
            <a:xfrm>
              <a:off x="1296" y="2838"/>
              <a:ext cx="288" cy="52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6060" name="Oval 44"/>
            <p:cNvSpPr>
              <a:spLocks noChangeArrowheads="1"/>
            </p:cNvSpPr>
            <p:nvPr/>
          </p:nvSpPr>
          <p:spPr bwMode="auto">
            <a:xfrm>
              <a:off x="1584" y="3078"/>
              <a:ext cx="96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6061" name="Rectangle 45"/>
            <p:cNvSpPr>
              <a:spLocks noChangeArrowheads="1"/>
            </p:cNvSpPr>
            <p:nvPr/>
          </p:nvSpPr>
          <p:spPr bwMode="auto">
            <a:xfrm>
              <a:off x="1920" y="2838"/>
              <a:ext cx="288" cy="52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6062" name="Oval 46"/>
            <p:cNvSpPr>
              <a:spLocks noChangeArrowheads="1"/>
            </p:cNvSpPr>
            <p:nvPr/>
          </p:nvSpPr>
          <p:spPr bwMode="auto">
            <a:xfrm>
              <a:off x="2208" y="3078"/>
              <a:ext cx="96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6063" name="Line 47"/>
            <p:cNvSpPr>
              <a:spLocks noChangeShapeType="1"/>
            </p:cNvSpPr>
            <p:nvPr/>
          </p:nvSpPr>
          <p:spPr bwMode="auto">
            <a:xfrm>
              <a:off x="1680" y="3126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6064" name="Line 48"/>
            <p:cNvSpPr>
              <a:spLocks noChangeShapeType="1"/>
            </p:cNvSpPr>
            <p:nvPr/>
          </p:nvSpPr>
          <p:spPr bwMode="auto">
            <a:xfrm>
              <a:off x="1728" y="3126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6065" name="Line 49"/>
            <p:cNvSpPr>
              <a:spLocks noChangeShapeType="1"/>
            </p:cNvSpPr>
            <p:nvPr/>
          </p:nvSpPr>
          <p:spPr bwMode="auto">
            <a:xfrm flipH="1">
              <a:off x="1824" y="3126"/>
              <a:ext cx="9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6066" name="Line 50"/>
            <p:cNvSpPr>
              <a:spLocks noChangeShapeType="1"/>
            </p:cNvSpPr>
            <p:nvPr/>
          </p:nvSpPr>
          <p:spPr bwMode="auto">
            <a:xfrm flipH="1">
              <a:off x="912" y="3126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6067" name="Line 51"/>
            <p:cNvSpPr>
              <a:spLocks noChangeShapeType="1"/>
            </p:cNvSpPr>
            <p:nvPr/>
          </p:nvSpPr>
          <p:spPr bwMode="auto">
            <a:xfrm flipV="1">
              <a:off x="1776" y="2502"/>
              <a:ext cx="0" cy="6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6068" name="Line 52"/>
            <p:cNvSpPr>
              <a:spLocks noChangeShapeType="1"/>
            </p:cNvSpPr>
            <p:nvPr/>
          </p:nvSpPr>
          <p:spPr bwMode="auto">
            <a:xfrm>
              <a:off x="1776" y="2502"/>
              <a:ext cx="76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6069" name="Line 53"/>
            <p:cNvSpPr>
              <a:spLocks noChangeShapeType="1"/>
            </p:cNvSpPr>
            <p:nvPr/>
          </p:nvSpPr>
          <p:spPr bwMode="auto">
            <a:xfrm>
              <a:off x="2304" y="3126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6070" name="Line 54"/>
            <p:cNvSpPr>
              <a:spLocks noChangeShapeType="1"/>
            </p:cNvSpPr>
            <p:nvPr/>
          </p:nvSpPr>
          <p:spPr bwMode="auto">
            <a:xfrm>
              <a:off x="2112" y="2502"/>
              <a:ext cx="57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6071" name="Line 55"/>
            <p:cNvSpPr>
              <a:spLocks noChangeShapeType="1"/>
            </p:cNvSpPr>
            <p:nvPr/>
          </p:nvSpPr>
          <p:spPr bwMode="auto">
            <a:xfrm>
              <a:off x="2400" y="3126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6085" name="Oval 69"/>
            <p:cNvSpPr>
              <a:spLocks noChangeArrowheads="1"/>
            </p:cNvSpPr>
            <p:nvPr/>
          </p:nvSpPr>
          <p:spPr bwMode="auto">
            <a:xfrm>
              <a:off x="1728" y="3078"/>
              <a:ext cx="96" cy="96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6087" name="Rectangle 71"/>
            <p:cNvSpPr>
              <a:spLocks noChangeArrowheads="1"/>
            </p:cNvSpPr>
            <p:nvPr/>
          </p:nvSpPr>
          <p:spPr bwMode="auto">
            <a:xfrm>
              <a:off x="624" y="2928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A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0</a:t>
              </a:r>
            </a:p>
          </p:txBody>
        </p:sp>
        <p:sp>
          <p:nvSpPr>
            <p:cNvPr id="86096" name="Rectangle 80"/>
            <p:cNvSpPr>
              <a:spLocks noChangeArrowheads="1"/>
            </p:cNvSpPr>
            <p:nvPr/>
          </p:nvSpPr>
          <p:spPr bwMode="auto">
            <a:xfrm>
              <a:off x="2640" y="2256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A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0</a:t>
              </a:r>
            </a:p>
          </p:txBody>
        </p:sp>
        <p:sp>
          <p:nvSpPr>
            <p:cNvPr id="86097" name="Rectangle 81"/>
            <p:cNvSpPr>
              <a:spLocks noChangeArrowheads="1"/>
            </p:cNvSpPr>
            <p:nvPr/>
          </p:nvSpPr>
          <p:spPr bwMode="auto">
            <a:xfrm>
              <a:off x="2688" y="2928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A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0</a:t>
              </a:r>
            </a:p>
          </p:txBody>
        </p:sp>
        <p:sp>
          <p:nvSpPr>
            <p:cNvPr id="86109" name="Line 93"/>
            <p:cNvSpPr>
              <a:spLocks noChangeShapeType="1"/>
            </p:cNvSpPr>
            <p:nvPr/>
          </p:nvSpPr>
          <p:spPr bwMode="auto">
            <a:xfrm>
              <a:off x="2688" y="2310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6117" name="Rectangle 101"/>
            <p:cNvSpPr>
              <a:spLocks noChangeArrowheads="1"/>
            </p:cNvSpPr>
            <p:nvPr/>
          </p:nvSpPr>
          <p:spPr bwMode="auto">
            <a:xfrm>
              <a:off x="1296" y="2784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</a:t>
              </a:r>
            </a:p>
          </p:txBody>
        </p:sp>
        <p:sp>
          <p:nvSpPr>
            <p:cNvPr id="86118" name="Rectangle 102"/>
            <p:cNvSpPr>
              <a:spLocks noChangeArrowheads="1"/>
            </p:cNvSpPr>
            <p:nvPr/>
          </p:nvSpPr>
          <p:spPr bwMode="auto">
            <a:xfrm>
              <a:off x="1920" y="2784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</a:t>
              </a:r>
            </a:p>
          </p:txBody>
        </p:sp>
      </p:grpSp>
      <p:grpSp>
        <p:nvGrpSpPr>
          <p:cNvPr id="86122" name="Group 106"/>
          <p:cNvGrpSpPr/>
          <p:nvPr/>
        </p:nvGrpSpPr>
        <p:grpSpPr>
          <a:xfrm>
            <a:off x="1676400" y="381000"/>
            <a:ext cx="6616700" cy="5846763"/>
            <a:chOff x="1056" y="240"/>
            <a:chExt cx="4168" cy="3683"/>
          </a:xfrm>
        </p:grpSpPr>
        <p:sp>
          <p:nvSpPr>
            <p:cNvPr id="86018" name="Rectangle 2"/>
            <p:cNvSpPr>
              <a:spLocks noChangeArrowheads="1"/>
            </p:cNvSpPr>
            <p:nvPr/>
          </p:nvSpPr>
          <p:spPr bwMode="auto">
            <a:xfrm>
              <a:off x="4128" y="342"/>
              <a:ext cx="384" cy="76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6019" name="Oval 3"/>
            <p:cNvSpPr>
              <a:spLocks noChangeArrowheads="1"/>
            </p:cNvSpPr>
            <p:nvPr/>
          </p:nvSpPr>
          <p:spPr bwMode="auto">
            <a:xfrm>
              <a:off x="4512" y="678"/>
              <a:ext cx="96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6020" name="Rectangle 4"/>
            <p:cNvSpPr>
              <a:spLocks noChangeArrowheads="1"/>
            </p:cNvSpPr>
            <p:nvPr/>
          </p:nvSpPr>
          <p:spPr bwMode="auto">
            <a:xfrm>
              <a:off x="4176" y="528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&amp;</a:t>
              </a:r>
            </a:p>
          </p:txBody>
        </p:sp>
        <p:sp>
          <p:nvSpPr>
            <p:cNvPr id="86021" name="Line 5"/>
            <p:cNvSpPr>
              <a:spLocks noChangeShapeType="1"/>
            </p:cNvSpPr>
            <p:nvPr/>
          </p:nvSpPr>
          <p:spPr bwMode="auto">
            <a:xfrm flipH="1">
              <a:off x="3792" y="486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6022" name="Line 6"/>
            <p:cNvSpPr>
              <a:spLocks noChangeShapeType="1"/>
            </p:cNvSpPr>
            <p:nvPr/>
          </p:nvSpPr>
          <p:spPr bwMode="auto">
            <a:xfrm flipH="1">
              <a:off x="3840" y="726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6023" name="Line 7"/>
            <p:cNvSpPr>
              <a:spLocks noChangeShapeType="1"/>
            </p:cNvSpPr>
            <p:nvPr/>
          </p:nvSpPr>
          <p:spPr bwMode="auto">
            <a:xfrm flipH="1">
              <a:off x="3840" y="966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6024" name="Rectangle 8"/>
            <p:cNvSpPr>
              <a:spLocks noChangeArrowheads="1"/>
            </p:cNvSpPr>
            <p:nvPr/>
          </p:nvSpPr>
          <p:spPr bwMode="auto">
            <a:xfrm>
              <a:off x="4128" y="1302"/>
              <a:ext cx="384" cy="76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6025" name="Oval 9"/>
            <p:cNvSpPr>
              <a:spLocks noChangeArrowheads="1"/>
            </p:cNvSpPr>
            <p:nvPr/>
          </p:nvSpPr>
          <p:spPr bwMode="auto">
            <a:xfrm>
              <a:off x="4512" y="1638"/>
              <a:ext cx="96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6026" name="Rectangle 10"/>
            <p:cNvSpPr>
              <a:spLocks noChangeArrowheads="1"/>
            </p:cNvSpPr>
            <p:nvPr/>
          </p:nvSpPr>
          <p:spPr bwMode="auto">
            <a:xfrm>
              <a:off x="4176" y="1488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&amp;</a:t>
              </a:r>
            </a:p>
          </p:txBody>
        </p:sp>
        <p:sp>
          <p:nvSpPr>
            <p:cNvPr id="86027" name="Line 11"/>
            <p:cNvSpPr>
              <a:spLocks noChangeShapeType="1"/>
            </p:cNvSpPr>
            <p:nvPr/>
          </p:nvSpPr>
          <p:spPr bwMode="auto">
            <a:xfrm flipH="1">
              <a:off x="3792" y="1446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6028" name="Line 12"/>
            <p:cNvSpPr>
              <a:spLocks noChangeShapeType="1"/>
            </p:cNvSpPr>
            <p:nvPr/>
          </p:nvSpPr>
          <p:spPr bwMode="auto">
            <a:xfrm flipH="1">
              <a:off x="3840" y="1686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6029" name="Line 13"/>
            <p:cNvSpPr>
              <a:spLocks noChangeShapeType="1"/>
            </p:cNvSpPr>
            <p:nvPr/>
          </p:nvSpPr>
          <p:spPr bwMode="auto">
            <a:xfrm flipH="1">
              <a:off x="3840" y="1926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6030" name="Rectangle 14"/>
            <p:cNvSpPr>
              <a:spLocks noChangeArrowheads="1"/>
            </p:cNvSpPr>
            <p:nvPr/>
          </p:nvSpPr>
          <p:spPr bwMode="auto">
            <a:xfrm>
              <a:off x="4128" y="2166"/>
              <a:ext cx="384" cy="76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6031" name="Oval 15"/>
            <p:cNvSpPr>
              <a:spLocks noChangeArrowheads="1"/>
            </p:cNvSpPr>
            <p:nvPr/>
          </p:nvSpPr>
          <p:spPr bwMode="auto">
            <a:xfrm>
              <a:off x="4512" y="2502"/>
              <a:ext cx="96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6032" name="Rectangle 16"/>
            <p:cNvSpPr>
              <a:spLocks noChangeArrowheads="1"/>
            </p:cNvSpPr>
            <p:nvPr/>
          </p:nvSpPr>
          <p:spPr bwMode="auto">
            <a:xfrm>
              <a:off x="4176" y="2352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&amp;</a:t>
              </a:r>
            </a:p>
          </p:txBody>
        </p:sp>
        <p:sp>
          <p:nvSpPr>
            <p:cNvPr id="86033" name="Line 17"/>
            <p:cNvSpPr>
              <a:spLocks noChangeShapeType="1"/>
            </p:cNvSpPr>
            <p:nvPr/>
          </p:nvSpPr>
          <p:spPr bwMode="auto">
            <a:xfrm flipH="1">
              <a:off x="3792" y="2310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6034" name="Line 18"/>
            <p:cNvSpPr>
              <a:spLocks noChangeShapeType="1"/>
            </p:cNvSpPr>
            <p:nvPr/>
          </p:nvSpPr>
          <p:spPr bwMode="auto">
            <a:xfrm flipH="1">
              <a:off x="3840" y="2550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6035" name="Line 19"/>
            <p:cNvSpPr>
              <a:spLocks noChangeShapeType="1"/>
            </p:cNvSpPr>
            <p:nvPr/>
          </p:nvSpPr>
          <p:spPr bwMode="auto">
            <a:xfrm flipH="1">
              <a:off x="3840" y="2790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6036" name="Rectangle 20"/>
            <p:cNvSpPr>
              <a:spLocks noChangeArrowheads="1"/>
            </p:cNvSpPr>
            <p:nvPr/>
          </p:nvSpPr>
          <p:spPr bwMode="auto">
            <a:xfrm>
              <a:off x="4128" y="3126"/>
              <a:ext cx="384" cy="76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6037" name="Oval 21"/>
            <p:cNvSpPr>
              <a:spLocks noChangeArrowheads="1"/>
            </p:cNvSpPr>
            <p:nvPr/>
          </p:nvSpPr>
          <p:spPr bwMode="auto">
            <a:xfrm>
              <a:off x="4512" y="3462"/>
              <a:ext cx="96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6038" name="Rectangle 22"/>
            <p:cNvSpPr>
              <a:spLocks noChangeArrowheads="1"/>
            </p:cNvSpPr>
            <p:nvPr/>
          </p:nvSpPr>
          <p:spPr bwMode="auto">
            <a:xfrm>
              <a:off x="4176" y="3312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&amp;</a:t>
              </a:r>
            </a:p>
          </p:txBody>
        </p:sp>
        <p:sp>
          <p:nvSpPr>
            <p:cNvPr id="86039" name="Line 23"/>
            <p:cNvSpPr>
              <a:spLocks noChangeShapeType="1"/>
            </p:cNvSpPr>
            <p:nvPr/>
          </p:nvSpPr>
          <p:spPr bwMode="auto">
            <a:xfrm flipH="1">
              <a:off x="3840" y="3270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6040" name="Line 24"/>
            <p:cNvSpPr>
              <a:spLocks noChangeShapeType="1"/>
            </p:cNvSpPr>
            <p:nvPr/>
          </p:nvSpPr>
          <p:spPr bwMode="auto">
            <a:xfrm flipH="1">
              <a:off x="3840" y="3510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6041" name="Line 25"/>
            <p:cNvSpPr>
              <a:spLocks noChangeShapeType="1"/>
            </p:cNvSpPr>
            <p:nvPr/>
          </p:nvSpPr>
          <p:spPr bwMode="auto">
            <a:xfrm flipH="1">
              <a:off x="3840" y="3750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6042" name="Line 26"/>
            <p:cNvSpPr>
              <a:spLocks noChangeShapeType="1"/>
            </p:cNvSpPr>
            <p:nvPr/>
          </p:nvSpPr>
          <p:spPr bwMode="auto">
            <a:xfrm>
              <a:off x="4608" y="726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6043" name="Line 27"/>
            <p:cNvSpPr>
              <a:spLocks noChangeShapeType="1"/>
            </p:cNvSpPr>
            <p:nvPr/>
          </p:nvSpPr>
          <p:spPr bwMode="auto">
            <a:xfrm>
              <a:off x="4608" y="1686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6044" name="Line 28"/>
            <p:cNvSpPr>
              <a:spLocks noChangeShapeType="1"/>
            </p:cNvSpPr>
            <p:nvPr/>
          </p:nvSpPr>
          <p:spPr bwMode="auto">
            <a:xfrm>
              <a:off x="4608" y="2550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6045" name="Line 29"/>
            <p:cNvSpPr>
              <a:spLocks noChangeShapeType="1"/>
            </p:cNvSpPr>
            <p:nvPr/>
          </p:nvSpPr>
          <p:spPr bwMode="auto">
            <a:xfrm>
              <a:off x="4608" y="3510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6072" name="Line 56"/>
            <p:cNvSpPr>
              <a:spLocks noChangeShapeType="1"/>
            </p:cNvSpPr>
            <p:nvPr/>
          </p:nvSpPr>
          <p:spPr bwMode="auto">
            <a:xfrm flipH="1">
              <a:off x="1296" y="486"/>
              <a:ext cx="25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6073" name="Line 57"/>
            <p:cNvSpPr>
              <a:spLocks noChangeShapeType="1"/>
            </p:cNvSpPr>
            <p:nvPr/>
          </p:nvSpPr>
          <p:spPr bwMode="auto">
            <a:xfrm>
              <a:off x="3840" y="486"/>
              <a:ext cx="0" cy="27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6074" name="Line 58"/>
            <p:cNvSpPr>
              <a:spLocks noChangeShapeType="1"/>
            </p:cNvSpPr>
            <p:nvPr/>
          </p:nvSpPr>
          <p:spPr bwMode="auto">
            <a:xfrm flipH="1">
              <a:off x="3552" y="726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6075" name="Line 59"/>
            <p:cNvSpPr>
              <a:spLocks noChangeShapeType="1"/>
            </p:cNvSpPr>
            <p:nvPr/>
          </p:nvSpPr>
          <p:spPr bwMode="auto">
            <a:xfrm flipH="1">
              <a:off x="3552" y="966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6076" name="Line 60"/>
            <p:cNvSpPr>
              <a:spLocks noChangeShapeType="1"/>
            </p:cNvSpPr>
            <p:nvPr/>
          </p:nvSpPr>
          <p:spPr bwMode="auto">
            <a:xfrm flipH="1">
              <a:off x="3600" y="1686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6077" name="Line 61"/>
            <p:cNvSpPr>
              <a:spLocks noChangeShapeType="1"/>
            </p:cNvSpPr>
            <p:nvPr/>
          </p:nvSpPr>
          <p:spPr bwMode="auto">
            <a:xfrm flipH="1">
              <a:off x="3600" y="1926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6078" name="Line 62"/>
            <p:cNvSpPr>
              <a:spLocks noChangeShapeType="1"/>
            </p:cNvSpPr>
            <p:nvPr/>
          </p:nvSpPr>
          <p:spPr bwMode="auto">
            <a:xfrm flipH="1">
              <a:off x="3552" y="2550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6079" name="Line 63"/>
            <p:cNvSpPr>
              <a:spLocks noChangeShapeType="1"/>
            </p:cNvSpPr>
            <p:nvPr/>
          </p:nvSpPr>
          <p:spPr bwMode="auto">
            <a:xfrm flipH="1">
              <a:off x="3552" y="2790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6080" name="Line 64"/>
            <p:cNvSpPr>
              <a:spLocks noChangeShapeType="1"/>
            </p:cNvSpPr>
            <p:nvPr/>
          </p:nvSpPr>
          <p:spPr bwMode="auto">
            <a:xfrm flipH="1">
              <a:off x="3504" y="3510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6081" name="Line 65"/>
            <p:cNvSpPr>
              <a:spLocks noChangeShapeType="1"/>
            </p:cNvSpPr>
            <p:nvPr/>
          </p:nvSpPr>
          <p:spPr bwMode="auto">
            <a:xfrm flipH="1">
              <a:off x="3504" y="3750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6082" name="Oval 66"/>
            <p:cNvSpPr>
              <a:spLocks noChangeArrowheads="1"/>
            </p:cNvSpPr>
            <p:nvPr/>
          </p:nvSpPr>
          <p:spPr bwMode="auto">
            <a:xfrm>
              <a:off x="3792" y="1398"/>
              <a:ext cx="96" cy="96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6083" name="Oval 67"/>
            <p:cNvSpPr>
              <a:spLocks noChangeArrowheads="1"/>
            </p:cNvSpPr>
            <p:nvPr/>
          </p:nvSpPr>
          <p:spPr bwMode="auto">
            <a:xfrm>
              <a:off x="3792" y="2262"/>
              <a:ext cx="96" cy="96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6088" name="Rectangle 72"/>
            <p:cNvSpPr>
              <a:spLocks noChangeArrowheads="1"/>
            </p:cNvSpPr>
            <p:nvPr/>
          </p:nvSpPr>
          <p:spPr bwMode="auto">
            <a:xfrm>
              <a:off x="3072" y="528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A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</a:t>
              </a:r>
            </a:p>
          </p:txBody>
        </p:sp>
        <p:sp>
          <p:nvSpPr>
            <p:cNvPr id="86089" name="Rectangle 73"/>
            <p:cNvSpPr>
              <a:spLocks noChangeArrowheads="1"/>
            </p:cNvSpPr>
            <p:nvPr/>
          </p:nvSpPr>
          <p:spPr bwMode="auto">
            <a:xfrm>
              <a:off x="3120" y="1392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A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</a:t>
              </a:r>
            </a:p>
          </p:txBody>
        </p:sp>
        <p:sp>
          <p:nvSpPr>
            <p:cNvPr id="86090" name="Rectangle 74"/>
            <p:cNvSpPr>
              <a:spLocks noChangeArrowheads="1"/>
            </p:cNvSpPr>
            <p:nvPr/>
          </p:nvSpPr>
          <p:spPr bwMode="auto">
            <a:xfrm>
              <a:off x="3168" y="2256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A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</a:t>
              </a:r>
            </a:p>
          </p:txBody>
        </p:sp>
        <p:sp>
          <p:nvSpPr>
            <p:cNvPr id="86091" name="Rectangle 75"/>
            <p:cNvSpPr>
              <a:spLocks noChangeArrowheads="1"/>
            </p:cNvSpPr>
            <p:nvPr/>
          </p:nvSpPr>
          <p:spPr bwMode="auto">
            <a:xfrm>
              <a:off x="3168" y="3168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A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</a:t>
              </a:r>
            </a:p>
          </p:txBody>
        </p:sp>
        <p:sp>
          <p:nvSpPr>
            <p:cNvPr id="86092" name="Rectangle 76"/>
            <p:cNvSpPr>
              <a:spLocks noChangeArrowheads="1"/>
            </p:cNvSpPr>
            <p:nvPr/>
          </p:nvSpPr>
          <p:spPr bwMode="auto">
            <a:xfrm>
              <a:off x="3072" y="864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A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0</a:t>
              </a:r>
            </a:p>
          </p:txBody>
        </p:sp>
        <p:sp>
          <p:nvSpPr>
            <p:cNvPr id="86093" name="Rectangle 77"/>
            <p:cNvSpPr>
              <a:spLocks noChangeArrowheads="1"/>
            </p:cNvSpPr>
            <p:nvPr/>
          </p:nvSpPr>
          <p:spPr bwMode="auto">
            <a:xfrm>
              <a:off x="3120" y="1776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A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0</a:t>
              </a:r>
            </a:p>
          </p:txBody>
        </p:sp>
        <p:sp>
          <p:nvSpPr>
            <p:cNvPr id="86094" name="Rectangle 78"/>
            <p:cNvSpPr>
              <a:spLocks noChangeArrowheads="1"/>
            </p:cNvSpPr>
            <p:nvPr/>
          </p:nvSpPr>
          <p:spPr bwMode="auto">
            <a:xfrm>
              <a:off x="3216" y="2688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A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0</a:t>
              </a:r>
            </a:p>
          </p:txBody>
        </p:sp>
        <p:sp>
          <p:nvSpPr>
            <p:cNvPr id="86095" name="Rectangle 79"/>
            <p:cNvSpPr>
              <a:spLocks noChangeArrowheads="1"/>
            </p:cNvSpPr>
            <p:nvPr/>
          </p:nvSpPr>
          <p:spPr bwMode="auto">
            <a:xfrm>
              <a:off x="3168" y="3558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A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0</a:t>
              </a:r>
            </a:p>
          </p:txBody>
        </p:sp>
        <p:sp>
          <p:nvSpPr>
            <p:cNvPr id="86100" name="Rectangle 84"/>
            <p:cNvSpPr>
              <a:spLocks noChangeArrowheads="1"/>
            </p:cNvSpPr>
            <p:nvPr/>
          </p:nvSpPr>
          <p:spPr bwMode="auto">
            <a:xfrm>
              <a:off x="4800" y="528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Z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0</a:t>
              </a:r>
            </a:p>
          </p:txBody>
        </p:sp>
        <p:sp>
          <p:nvSpPr>
            <p:cNvPr id="86101" name="Rectangle 85"/>
            <p:cNvSpPr>
              <a:spLocks noChangeArrowheads="1"/>
            </p:cNvSpPr>
            <p:nvPr/>
          </p:nvSpPr>
          <p:spPr bwMode="auto">
            <a:xfrm>
              <a:off x="4848" y="1488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Z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</a:t>
              </a:r>
            </a:p>
          </p:txBody>
        </p:sp>
        <p:sp>
          <p:nvSpPr>
            <p:cNvPr id="86102" name="Rectangle 86"/>
            <p:cNvSpPr>
              <a:spLocks noChangeArrowheads="1"/>
            </p:cNvSpPr>
            <p:nvPr/>
          </p:nvSpPr>
          <p:spPr bwMode="auto">
            <a:xfrm>
              <a:off x="4896" y="2352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Z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2</a:t>
              </a:r>
            </a:p>
          </p:txBody>
        </p:sp>
        <p:sp>
          <p:nvSpPr>
            <p:cNvPr id="86103" name="Rectangle 87"/>
            <p:cNvSpPr>
              <a:spLocks noChangeArrowheads="1"/>
            </p:cNvSpPr>
            <p:nvPr/>
          </p:nvSpPr>
          <p:spPr bwMode="auto">
            <a:xfrm>
              <a:off x="4896" y="3264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Z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3</a:t>
              </a:r>
            </a:p>
          </p:txBody>
        </p:sp>
        <p:sp>
          <p:nvSpPr>
            <p:cNvPr id="86104" name="Line 88"/>
            <p:cNvSpPr>
              <a:spLocks noChangeShapeType="1"/>
            </p:cNvSpPr>
            <p:nvPr/>
          </p:nvSpPr>
          <p:spPr bwMode="auto">
            <a:xfrm>
              <a:off x="4848" y="582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6105" name="Line 89"/>
            <p:cNvSpPr>
              <a:spLocks noChangeShapeType="1"/>
            </p:cNvSpPr>
            <p:nvPr/>
          </p:nvSpPr>
          <p:spPr bwMode="auto">
            <a:xfrm>
              <a:off x="4896" y="1542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6106" name="Line 90"/>
            <p:cNvSpPr>
              <a:spLocks noChangeShapeType="1"/>
            </p:cNvSpPr>
            <p:nvPr/>
          </p:nvSpPr>
          <p:spPr bwMode="auto">
            <a:xfrm>
              <a:off x="4944" y="2406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6107" name="Line 91"/>
            <p:cNvSpPr>
              <a:spLocks noChangeShapeType="1"/>
            </p:cNvSpPr>
            <p:nvPr/>
          </p:nvSpPr>
          <p:spPr bwMode="auto">
            <a:xfrm>
              <a:off x="4944" y="3318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6110" name="Line 94"/>
            <p:cNvSpPr>
              <a:spLocks noChangeShapeType="1"/>
            </p:cNvSpPr>
            <p:nvPr/>
          </p:nvSpPr>
          <p:spPr bwMode="auto">
            <a:xfrm>
              <a:off x="3120" y="582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6111" name="Line 95"/>
            <p:cNvSpPr>
              <a:spLocks noChangeShapeType="1"/>
            </p:cNvSpPr>
            <p:nvPr/>
          </p:nvSpPr>
          <p:spPr bwMode="auto">
            <a:xfrm>
              <a:off x="3120" y="918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6112" name="Line 96"/>
            <p:cNvSpPr>
              <a:spLocks noChangeShapeType="1"/>
            </p:cNvSpPr>
            <p:nvPr/>
          </p:nvSpPr>
          <p:spPr bwMode="auto">
            <a:xfrm>
              <a:off x="3168" y="1446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6113" name="Line 97"/>
            <p:cNvSpPr>
              <a:spLocks noChangeShapeType="1"/>
            </p:cNvSpPr>
            <p:nvPr/>
          </p:nvSpPr>
          <p:spPr bwMode="auto">
            <a:xfrm>
              <a:off x="3264" y="2742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6114" name="Rectangle 98"/>
            <p:cNvSpPr>
              <a:spLocks noChangeArrowheads="1"/>
            </p:cNvSpPr>
            <p:nvPr/>
          </p:nvSpPr>
          <p:spPr bwMode="auto">
            <a:xfrm>
              <a:off x="1056" y="240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E</a:t>
              </a:r>
            </a:p>
          </p:txBody>
        </p:sp>
        <p:sp>
          <p:nvSpPr>
            <p:cNvPr id="86119" name="Oval 103"/>
            <p:cNvSpPr>
              <a:spLocks noChangeArrowheads="1"/>
            </p:cNvSpPr>
            <p:nvPr/>
          </p:nvSpPr>
          <p:spPr bwMode="auto">
            <a:xfrm>
              <a:off x="3792" y="438"/>
              <a:ext cx="96" cy="96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6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6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6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6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6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6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3"/>
          <p:cNvSpPr txBox="1">
            <a:spLocks noGrp="1"/>
          </p:cNvSpPr>
          <p:nvPr>
            <p:ph type="sldNum" sz="quarter" idx="12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76ED3E9-FA12-40B0-8BBE-38F17DA1C318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21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7044" name="Rectangle 4"/>
          <p:cNvSpPr>
            <a:spLocks noChangeArrowheads="1"/>
          </p:cNvSpPr>
          <p:nvPr/>
        </p:nvSpPr>
        <p:spPr bwMode="auto">
          <a:xfrm>
            <a:off x="152400" y="3886200"/>
            <a:ext cx="8758238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例：用两片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线－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4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线译码器扩展成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线－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8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线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49" charset="-122"/>
                <a:cs typeface="+mn-cs"/>
              </a:rPr>
              <a:t>译码器。</a:t>
            </a:r>
          </a:p>
        </p:txBody>
      </p:sp>
      <p:sp>
        <p:nvSpPr>
          <p:cNvPr id="87045" name="Rectangle 5"/>
          <p:cNvSpPr>
            <a:spLocks noChangeArrowheads="1"/>
          </p:cNvSpPr>
          <p:nvPr/>
        </p:nvSpPr>
        <p:spPr bwMode="auto">
          <a:xfrm>
            <a:off x="228600" y="3143250"/>
            <a:ext cx="40449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、用于译码器的扩展</a:t>
            </a:r>
          </a:p>
        </p:txBody>
      </p:sp>
      <p:sp>
        <p:nvSpPr>
          <p:cNvPr id="87046" name="Rectangle 6"/>
          <p:cNvSpPr>
            <a:spLocks noChangeArrowheads="1"/>
          </p:cNvSpPr>
          <p:nvPr/>
        </p:nvSpPr>
        <p:spPr bwMode="auto">
          <a:xfrm>
            <a:off x="228600" y="228600"/>
            <a:ext cx="2836863" cy="579438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使能端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E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的作用</a:t>
            </a:r>
          </a:p>
        </p:txBody>
      </p:sp>
      <p:sp>
        <p:nvSpPr>
          <p:cNvPr id="87047" name="Rectangle 7"/>
          <p:cNvSpPr>
            <a:spLocks noChangeArrowheads="1"/>
          </p:cNvSpPr>
          <p:nvPr/>
        </p:nvSpPr>
        <p:spPr bwMode="auto">
          <a:xfrm>
            <a:off x="228600" y="1020763"/>
            <a:ext cx="40449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、控制译码器的状态</a:t>
            </a:r>
          </a:p>
        </p:txBody>
      </p:sp>
      <p:sp>
        <p:nvSpPr>
          <p:cNvPr id="87048" name="Rectangle 8"/>
          <p:cNvSpPr>
            <a:spLocks noChangeArrowheads="1"/>
          </p:cNvSpPr>
          <p:nvPr/>
        </p:nvSpPr>
        <p:spPr bwMode="auto">
          <a:xfrm>
            <a:off x="228600" y="1752600"/>
            <a:ext cx="8686800" cy="1104900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当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E=1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时，译码器处于工作状态；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当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E=0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时，译码器处于非工作状态。</a:t>
            </a:r>
          </a:p>
        </p:txBody>
      </p:sp>
      <p:sp>
        <p:nvSpPr>
          <p:cNvPr id="87049" name="Rectangle 9"/>
          <p:cNvSpPr>
            <a:spLocks noChangeArrowheads="1"/>
          </p:cNvSpPr>
          <p:nvPr/>
        </p:nvSpPr>
        <p:spPr bwMode="auto">
          <a:xfrm>
            <a:off x="173038" y="5029200"/>
            <a:ext cx="8970963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线－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8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线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49" charset="-122"/>
                <a:cs typeface="+mn-cs"/>
              </a:rPr>
              <a:t>译码器的输入为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A</a:t>
            </a:r>
            <a:r>
              <a:rPr kumimoji="1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49" charset="-122"/>
                <a:cs typeface="+mn-cs"/>
              </a:rPr>
              <a:t>、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A</a:t>
            </a:r>
            <a:r>
              <a:rPr kumimoji="1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49" charset="-122"/>
                <a:cs typeface="+mn-cs"/>
              </a:rPr>
              <a:t>、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A</a:t>
            </a:r>
            <a:r>
              <a:rPr kumimoji="1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0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49" charset="-122"/>
                <a:cs typeface="+mn-cs"/>
              </a:rPr>
              <a:t>，由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A</a:t>
            </a:r>
            <a:r>
              <a:rPr kumimoji="1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黑体" panose="02010609060101010101" pitchFamily="49" charset="-122"/>
                <a:cs typeface="+mn-cs"/>
              </a:rPr>
              <a:t>控制两个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线－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4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线译码器的使能端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E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87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70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70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87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70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70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87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87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4" grpId="0"/>
      <p:bldP spid="87045" grpId="0"/>
      <p:bldP spid="87046" grpId="0" animBg="1"/>
      <p:bldP spid="87047" grpId="0"/>
      <p:bldP spid="87048" grpId="0" animBg="1"/>
      <p:bldP spid="8704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灯片编号占位符 3"/>
          <p:cNvSpPr txBox="1">
            <a:spLocks noGrp="1"/>
          </p:cNvSpPr>
          <p:nvPr>
            <p:ph type="sldNum" sz="quarter" idx="12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4A76FD0-05DF-4143-988E-81FC43008473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22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8166" name="Line 102"/>
          <p:cNvSpPr>
            <a:spLocks noChangeShapeType="1"/>
          </p:cNvSpPr>
          <p:nvPr/>
        </p:nvSpPr>
        <p:spPr bwMode="auto">
          <a:xfrm flipH="1">
            <a:off x="3505200" y="1981200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88167" name="Line 103"/>
          <p:cNvSpPr>
            <a:spLocks noChangeShapeType="1"/>
          </p:cNvSpPr>
          <p:nvPr/>
        </p:nvSpPr>
        <p:spPr bwMode="auto">
          <a:xfrm flipH="1">
            <a:off x="3581400" y="2819400"/>
            <a:ext cx="533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88221" name="Line 157"/>
          <p:cNvSpPr>
            <a:spLocks noChangeShapeType="1"/>
          </p:cNvSpPr>
          <p:nvPr/>
        </p:nvSpPr>
        <p:spPr bwMode="auto">
          <a:xfrm>
            <a:off x="2590800" y="6629400"/>
            <a:ext cx="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grpSp>
        <p:nvGrpSpPr>
          <p:cNvPr id="88316" name="Group 252"/>
          <p:cNvGrpSpPr/>
          <p:nvPr/>
        </p:nvGrpSpPr>
        <p:grpSpPr>
          <a:xfrm>
            <a:off x="1371600" y="952500"/>
            <a:ext cx="1328738" cy="1951038"/>
            <a:chOff x="864" y="600"/>
            <a:chExt cx="837" cy="1229"/>
          </a:xfrm>
        </p:grpSpPr>
        <p:sp>
          <p:nvSpPr>
            <p:cNvPr id="88225" name="Line 161"/>
            <p:cNvSpPr>
              <a:spLocks noChangeShapeType="1"/>
            </p:cNvSpPr>
            <p:nvPr/>
          </p:nvSpPr>
          <p:spPr bwMode="auto">
            <a:xfrm flipH="1">
              <a:off x="1296" y="912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8226" name="Line 162"/>
            <p:cNvSpPr>
              <a:spLocks noChangeShapeType="1"/>
            </p:cNvSpPr>
            <p:nvPr/>
          </p:nvSpPr>
          <p:spPr bwMode="auto">
            <a:xfrm flipH="1">
              <a:off x="1248" y="1248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8227" name="Line 163"/>
            <p:cNvSpPr>
              <a:spLocks noChangeShapeType="1"/>
            </p:cNvSpPr>
            <p:nvPr/>
          </p:nvSpPr>
          <p:spPr bwMode="auto">
            <a:xfrm flipH="1">
              <a:off x="1248" y="1779"/>
              <a:ext cx="45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8236" name="Rectangle 172"/>
            <p:cNvSpPr>
              <a:spLocks noChangeArrowheads="1"/>
            </p:cNvSpPr>
            <p:nvPr/>
          </p:nvSpPr>
          <p:spPr bwMode="auto">
            <a:xfrm>
              <a:off x="864" y="984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A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</a:t>
              </a:r>
            </a:p>
          </p:txBody>
        </p:sp>
        <p:sp>
          <p:nvSpPr>
            <p:cNvPr id="88237" name="Rectangle 173"/>
            <p:cNvSpPr>
              <a:spLocks noChangeArrowheads="1"/>
            </p:cNvSpPr>
            <p:nvPr/>
          </p:nvSpPr>
          <p:spPr bwMode="auto">
            <a:xfrm>
              <a:off x="864" y="600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A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2</a:t>
              </a:r>
            </a:p>
          </p:txBody>
        </p:sp>
        <p:sp>
          <p:nvSpPr>
            <p:cNvPr id="88238" name="Rectangle 174"/>
            <p:cNvSpPr>
              <a:spLocks noChangeArrowheads="1"/>
            </p:cNvSpPr>
            <p:nvPr/>
          </p:nvSpPr>
          <p:spPr bwMode="auto">
            <a:xfrm>
              <a:off x="864" y="1464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A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0</a:t>
              </a:r>
            </a:p>
          </p:txBody>
        </p:sp>
      </p:grpSp>
      <p:grpSp>
        <p:nvGrpSpPr>
          <p:cNvPr id="88301" name="Group 237"/>
          <p:cNvGrpSpPr/>
          <p:nvPr/>
        </p:nvGrpSpPr>
        <p:grpSpPr>
          <a:xfrm>
            <a:off x="4114800" y="533400"/>
            <a:ext cx="2654300" cy="3160713"/>
            <a:chOff x="2592" y="336"/>
            <a:chExt cx="1672" cy="1991"/>
          </a:xfrm>
        </p:grpSpPr>
        <p:sp>
          <p:nvSpPr>
            <p:cNvPr id="88165" name="Rectangle 101"/>
            <p:cNvSpPr>
              <a:spLocks noChangeArrowheads="1"/>
            </p:cNvSpPr>
            <p:nvPr/>
          </p:nvSpPr>
          <p:spPr bwMode="auto">
            <a:xfrm>
              <a:off x="2592" y="816"/>
              <a:ext cx="1056" cy="148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8168" name="Line 104"/>
            <p:cNvSpPr>
              <a:spLocks noChangeShapeType="1"/>
            </p:cNvSpPr>
            <p:nvPr/>
          </p:nvSpPr>
          <p:spPr bwMode="auto">
            <a:xfrm>
              <a:off x="3744" y="912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8169" name="Line 105"/>
            <p:cNvSpPr>
              <a:spLocks noChangeShapeType="1"/>
            </p:cNvSpPr>
            <p:nvPr/>
          </p:nvSpPr>
          <p:spPr bwMode="auto">
            <a:xfrm>
              <a:off x="3744" y="1296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8170" name="Line 106"/>
            <p:cNvSpPr>
              <a:spLocks noChangeShapeType="1"/>
            </p:cNvSpPr>
            <p:nvPr/>
          </p:nvSpPr>
          <p:spPr bwMode="auto">
            <a:xfrm>
              <a:off x="3744" y="1824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8171" name="Line 107"/>
            <p:cNvSpPr>
              <a:spLocks noChangeShapeType="1"/>
            </p:cNvSpPr>
            <p:nvPr/>
          </p:nvSpPr>
          <p:spPr bwMode="auto">
            <a:xfrm>
              <a:off x="3744" y="2208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8172" name="Rectangle 108"/>
            <p:cNvSpPr>
              <a:spLocks noChangeArrowheads="1"/>
            </p:cNvSpPr>
            <p:nvPr/>
          </p:nvSpPr>
          <p:spPr bwMode="auto">
            <a:xfrm>
              <a:off x="2592" y="1578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A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0</a:t>
              </a:r>
            </a:p>
          </p:txBody>
        </p:sp>
        <p:sp>
          <p:nvSpPr>
            <p:cNvPr id="88173" name="Rectangle 109"/>
            <p:cNvSpPr>
              <a:spLocks noChangeArrowheads="1"/>
            </p:cNvSpPr>
            <p:nvPr/>
          </p:nvSpPr>
          <p:spPr bwMode="auto">
            <a:xfrm>
              <a:off x="2592" y="1050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A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</a:t>
              </a:r>
            </a:p>
          </p:txBody>
        </p:sp>
        <p:sp>
          <p:nvSpPr>
            <p:cNvPr id="88174" name="Rectangle 110"/>
            <p:cNvSpPr>
              <a:spLocks noChangeArrowheads="1"/>
            </p:cNvSpPr>
            <p:nvPr/>
          </p:nvSpPr>
          <p:spPr bwMode="auto">
            <a:xfrm>
              <a:off x="3936" y="714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Z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0</a:t>
              </a:r>
            </a:p>
          </p:txBody>
        </p:sp>
        <p:sp>
          <p:nvSpPr>
            <p:cNvPr id="88175" name="Rectangle 111"/>
            <p:cNvSpPr>
              <a:spLocks noChangeArrowheads="1"/>
            </p:cNvSpPr>
            <p:nvPr/>
          </p:nvSpPr>
          <p:spPr bwMode="auto">
            <a:xfrm>
              <a:off x="3936" y="1098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Z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</a:t>
              </a:r>
            </a:p>
          </p:txBody>
        </p:sp>
        <p:sp>
          <p:nvSpPr>
            <p:cNvPr id="88176" name="Rectangle 112"/>
            <p:cNvSpPr>
              <a:spLocks noChangeArrowheads="1"/>
            </p:cNvSpPr>
            <p:nvPr/>
          </p:nvSpPr>
          <p:spPr bwMode="auto">
            <a:xfrm>
              <a:off x="3936" y="1578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Z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2</a:t>
              </a:r>
            </a:p>
          </p:txBody>
        </p:sp>
        <p:sp>
          <p:nvSpPr>
            <p:cNvPr id="88177" name="Rectangle 113"/>
            <p:cNvSpPr>
              <a:spLocks noChangeArrowheads="1"/>
            </p:cNvSpPr>
            <p:nvPr/>
          </p:nvSpPr>
          <p:spPr bwMode="auto">
            <a:xfrm>
              <a:off x="3936" y="1962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Z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3</a:t>
              </a:r>
            </a:p>
          </p:txBody>
        </p:sp>
        <p:sp>
          <p:nvSpPr>
            <p:cNvPr id="88178" name="Line 114"/>
            <p:cNvSpPr>
              <a:spLocks noChangeShapeType="1"/>
            </p:cNvSpPr>
            <p:nvPr/>
          </p:nvSpPr>
          <p:spPr bwMode="auto">
            <a:xfrm>
              <a:off x="3984" y="768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8179" name="Line 115"/>
            <p:cNvSpPr>
              <a:spLocks noChangeShapeType="1"/>
            </p:cNvSpPr>
            <p:nvPr/>
          </p:nvSpPr>
          <p:spPr bwMode="auto">
            <a:xfrm>
              <a:off x="3984" y="1152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8180" name="Line 116"/>
            <p:cNvSpPr>
              <a:spLocks noChangeShapeType="1"/>
            </p:cNvSpPr>
            <p:nvPr/>
          </p:nvSpPr>
          <p:spPr bwMode="auto">
            <a:xfrm>
              <a:off x="3984" y="1632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8181" name="Line 117"/>
            <p:cNvSpPr>
              <a:spLocks noChangeShapeType="1"/>
            </p:cNvSpPr>
            <p:nvPr/>
          </p:nvSpPr>
          <p:spPr bwMode="auto">
            <a:xfrm>
              <a:off x="3936" y="2016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8182" name="Line 118"/>
            <p:cNvSpPr>
              <a:spLocks noChangeShapeType="1"/>
            </p:cNvSpPr>
            <p:nvPr/>
          </p:nvSpPr>
          <p:spPr bwMode="auto">
            <a:xfrm flipV="1">
              <a:off x="3120" y="624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8183" name="Rectangle 119"/>
            <p:cNvSpPr>
              <a:spLocks noChangeArrowheads="1"/>
            </p:cNvSpPr>
            <p:nvPr/>
          </p:nvSpPr>
          <p:spPr bwMode="auto">
            <a:xfrm>
              <a:off x="2976" y="762"/>
              <a:ext cx="500" cy="9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E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(1)</a:t>
              </a:r>
            </a:p>
          </p:txBody>
        </p:sp>
        <p:sp>
          <p:nvSpPr>
            <p:cNvPr id="88209" name="Line 145"/>
            <p:cNvSpPr>
              <a:spLocks noChangeShapeType="1"/>
            </p:cNvSpPr>
            <p:nvPr/>
          </p:nvSpPr>
          <p:spPr bwMode="auto">
            <a:xfrm flipV="1">
              <a:off x="3120" y="336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8256" name="Oval 192"/>
            <p:cNvSpPr>
              <a:spLocks noChangeArrowheads="1"/>
            </p:cNvSpPr>
            <p:nvPr/>
          </p:nvSpPr>
          <p:spPr bwMode="auto">
            <a:xfrm>
              <a:off x="3648" y="864"/>
              <a:ext cx="96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8257" name="Oval 193"/>
            <p:cNvSpPr>
              <a:spLocks noChangeArrowheads="1"/>
            </p:cNvSpPr>
            <p:nvPr/>
          </p:nvSpPr>
          <p:spPr bwMode="auto">
            <a:xfrm>
              <a:off x="3648" y="1248"/>
              <a:ext cx="96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8258" name="Oval 194"/>
            <p:cNvSpPr>
              <a:spLocks noChangeArrowheads="1"/>
            </p:cNvSpPr>
            <p:nvPr/>
          </p:nvSpPr>
          <p:spPr bwMode="auto">
            <a:xfrm>
              <a:off x="3648" y="1776"/>
              <a:ext cx="96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8259" name="Oval 195"/>
            <p:cNvSpPr>
              <a:spLocks noChangeArrowheads="1"/>
            </p:cNvSpPr>
            <p:nvPr/>
          </p:nvSpPr>
          <p:spPr bwMode="auto">
            <a:xfrm>
              <a:off x="3648" y="2160"/>
              <a:ext cx="96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</p:grpSp>
      <p:grpSp>
        <p:nvGrpSpPr>
          <p:cNvPr id="88302" name="Group 238"/>
          <p:cNvGrpSpPr/>
          <p:nvPr/>
        </p:nvGrpSpPr>
        <p:grpSpPr>
          <a:xfrm>
            <a:off x="4114800" y="3886200"/>
            <a:ext cx="2654300" cy="2627313"/>
            <a:chOff x="2592" y="2448"/>
            <a:chExt cx="1672" cy="1655"/>
          </a:xfrm>
        </p:grpSpPr>
        <p:sp>
          <p:nvSpPr>
            <p:cNvPr id="88184" name="Rectangle 120"/>
            <p:cNvSpPr>
              <a:spLocks noChangeArrowheads="1"/>
            </p:cNvSpPr>
            <p:nvPr/>
          </p:nvSpPr>
          <p:spPr bwMode="auto">
            <a:xfrm>
              <a:off x="2592" y="2592"/>
              <a:ext cx="1056" cy="144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8187" name="Line 123"/>
            <p:cNvSpPr>
              <a:spLocks noChangeShapeType="1"/>
            </p:cNvSpPr>
            <p:nvPr/>
          </p:nvSpPr>
          <p:spPr bwMode="auto">
            <a:xfrm>
              <a:off x="3744" y="2688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8188" name="Line 124"/>
            <p:cNvSpPr>
              <a:spLocks noChangeShapeType="1"/>
            </p:cNvSpPr>
            <p:nvPr/>
          </p:nvSpPr>
          <p:spPr bwMode="auto">
            <a:xfrm>
              <a:off x="3744" y="3072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8189" name="Line 125"/>
            <p:cNvSpPr>
              <a:spLocks noChangeShapeType="1"/>
            </p:cNvSpPr>
            <p:nvPr/>
          </p:nvSpPr>
          <p:spPr bwMode="auto">
            <a:xfrm>
              <a:off x="3744" y="3600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8190" name="Line 126"/>
            <p:cNvSpPr>
              <a:spLocks noChangeShapeType="1"/>
            </p:cNvSpPr>
            <p:nvPr/>
          </p:nvSpPr>
          <p:spPr bwMode="auto">
            <a:xfrm>
              <a:off x="3744" y="3984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8191" name="Rectangle 127"/>
            <p:cNvSpPr>
              <a:spLocks noChangeArrowheads="1"/>
            </p:cNvSpPr>
            <p:nvPr/>
          </p:nvSpPr>
          <p:spPr bwMode="auto">
            <a:xfrm>
              <a:off x="2640" y="3306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A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0</a:t>
              </a:r>
            </a:p>
          </p:txBody>
        </p:sp>
        <p:sp>
          <p:nvSpPr>
            <p:cNvPr id="88192" name="Rectangle 128"/>
            <p:cNvSpPr>
              <a:spLocks noChangeArrowheads="1"/>
            </p:cNvSpPr>
            <p:nvPr/>
          </p:nvSpPr>
          <p:spPr bwMode="auto">
            <a:xfrm>
              <a:off x="2640" y="2874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A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</a:t>
              </a:r>
            </a:p>
          </p:txBody>
        </p:sp>
        <p:sp>
          <p:nvSpPr>
            <p:cNvPr id="88193" name="Rectangle 129"/>
            <p:cNvSpPr>
              <a:spLocks noChangeArrowheads="1"/>
            </p:cNvSpPr>
            <p:nvPr/>
          </p:nvSpPr>
          <p:spPr bwMode="auto">
            <a:xfrm>
              <a:off x="3936" y="2490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Z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0</a:t>
              </a:r>
            </a:p>
          </p:txBody>
        </p:sp>
        <p:sp>
          <p:nvSpPr>
            <p:cNvPr id="88194" name="Rectangle 130"/>
            <p:cNvSpPr>
              <a:spLocks noChangeArrowheads="1"/>
            </p:cNvSpPr>
            <p:nvPr/>
          </p:nvSpPr>
          <p:spPr bwMode="auto">
            <a:xfrm>
              <a:off x="3936" y="2874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Z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</a:t>
              </a:r>
            </a:p>
          </p:txBody>
        </p:sp>
        <p:sp>
          <p:nvSpPr>
            <p:cNvPr id="88195" name="Rectangle 131"/>
            <p:cNvSpPr>
              <a:spLocks noChangeArrowheads="1"/>
            </p:cNvSpPr>
            <p:nvPr/>
          </p:nvSpPr>
          <p:spPr bwMode="auto">
            <a:xfrm>
              <a:off x="3936" y="3354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Z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2</a:t>
              </a:r>
            </a:p>
          </p:txBody>
        </p:sp>
        <p:sp>
          <p:nvSpPr>
            <p:cNvPr id="88196" name="Rectangle 132"/>
            <p:cNvSpPr>
              <a:spLocks noChangeArrowheads="1"/>
            </p:cNvSpPr>
            <p:nvPr/>
          </p:nvSpPr>
          <p:spPr bwMode="auto">
            <a:xfrm>
              <a:off x="3936" y="3738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Z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3</a:t>
              </a:r>
            </a:p>
          </p:txBody>
        </p:sp>
        <p:sp>
          <p:nvSpPr>
            <p:cNvPr id="88197" name="Line 133"/>
            <p:cNvSpPr>
              <a:spLocks noChangeShapeType="1"/>
            </p:cNvSpPr>
            <p:nvPr/>
          </p:nvSpPr>
          <p:spPr bwMode="auto">
            <a:xfrm>
              <a:off x="3984" y="2544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8198" name="Line 134"/>
            <p:cNvSpPr>
              <a:spLocks noChangeShapeType="1"/>
            </p:cNvSpPr>
            <p:nvPr/>
          </p:nvSpPr>
          <p:spPr bwMode="auto">
            <a:xfrm>
              <a:off x="3984" y="2928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8199" name="Line 135"/>
            <p:cNvSpPr>
              <a:spLocks noChangeShapeType="1"/>
            </p:cNvSpPr>
            <p:nvPr/>
          </p:nvSpPr>
          <p:spPr bwMode="auto">
            <a:xfrm>
              <a:off x="3984" y="3408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8200" name="Line 136"/>
            <p:cNvSpPr>
              <a:spLocks noChangeShapeType="1"/>
            </p:cNvSpPr>
            <p:nvPr/>
          </p:nvSpPr>
          <p:spPr bwMode="auto">
            <a:xfrm>
              <a:off x="3936" y="3792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8201" name="Line 137"/>
            <p:cNvSpPr>
              <a:spLocks noChangeShapeType="1"/>
            </p:cNvSpPr>
            <p:nvPr/>
          </p:nvSpPr>
          <p:spPr bwMode="auto">
            <a:xfrm flipV="1">
              <a:off x="3120" y="2448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8202" name="Rectangle 138"/>
            <p:cNvSpPr>
              <a:spLocks noChangeArrowheads="1"/>
            </p:cNvSpPr>
            <p:nvPr/>
          </p:nvSpPr>
          <p:spPr bwMode="auto">
            <a:xfrm>
              <a:off x="2976" y="2538"/>
              <a:ext cx="500" cy="9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E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(2)</a:t>
              </a:r>
            </a:p>
          </p:txBody>
        </p:sp>
        <p:sp>
          <p:nvSpPr>
            <p:cNvPr id="88260" name="Oval 196"/>
            <p:cNvSpPr>
              <a:spLocks noChangeArrowheads="1"/>
            </p:cNvSpPr>
            <p:nvPr/>
          </p:nvSpPr>
          <p:spPr bwMode="auto">
            <a:xfrm>
              <a:off x="3648" y="2640"/>
              <a:ext cx="96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8261" name="Oval 197"/>
            <p:cNvSpPr>
              <a:spLocks noChangeArrowheads="1"/>
            </p:cNvSpPr>
            <p:nvPr/>
          </p:nvSpPr>
          <p:spPr bwMode="auto">
            <a:xfrm>
              <a:off x="3648" y="3024"/>
              <a:ext cx="96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8262" name="Oval 198"/>
            <p:cNvSpPr>
              <a:spLocks noChangeArrowheads="1"/>
            </p:cNvSpPr>
            <p:nvPr/>
          </p:nvSpPr>
          <p:spPr bwMode="auto">
            <a:xfrm>
              <a:off x="3648" y="3552"/>
              <a:ext cx="96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8263" name="Oval 199"/>
            <p:cNvSpPr>
              <a:spLocks noChangeArrowheads="1"/>
            </p:cNvSpPr>
            <p:nvPr/>
          </p:nvSpPr>
          <p:spPr bwMode="auto">
            <a:xfrm>
              <a:off x="3648" y="3936"/>
              <a:ext cx="96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</p:grpSp>
      <p:grpSp>
        <p:nvGrpSpPr>
          <p:cNvPr id="88271" name="Group 207"/>
          <p:cNvGrpSpPr/>
          <p:nvPr/>
        </p:nvGrpSpPr>
        <p:grpSpPr>
          <a:xfrm>
            <a:off x="2590800" y="228600"/>
            <a:ext cx="5549900" cy="6400800"/>
            <a:chOff x="1632" y="144"/>
            <a:chExt cx="3496" cy="4032"/>
          </a:xfrm>
        </p:grpSpPr>
        <p:sp>
          <p:nvSpPr>
            <p:cNvPr id="88272" name="Line 208"/>
            <p:cNvSpPr>
              <a:spLocks noChangeShapeType="1"/>
            </p:cNvSpPr>
            <p:nvPr/>
          </p:nvSpPr>
          <p:spPr bwMode="auto">
            <a:xfrm flipV="1">
              <a:off x="4368" y="144"/>
              <a:ext cx="0" cy="403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grpSp>
          <p:nvGrpSpPr>
            <p:cNvPr id="168996" name="Group 209"/>
            <p:cNvGrpSpPr/>
            <p:nvPr/>
          </p:nvGrpSpPr>
          <p:grpSpPr>
            <a:xfrm>
              <a:off x="1632" y="144"/>
              <a:ext cx="2736" cy="4032"/>
              <a:chOff x="1632" y="144"/>
              <a:chExt cx="2736" cy="4032"/>
            </a:xfrm>
          </p:grpSpPr>
          <p:sp>
            <p:nvSpPr>
              <p:cNvPr id="88274" name="Line 210"/>
              <p:cNvSpPr>
                <a:spLocks noChangeShapeType="1"/>
              </p:cNvSpPr>
              <p:nvPr/>
            </p:nvSpPr>
            <p:spPr bwMode="auto">
              <a:xfrm>
                <a:off x="1632" y="144"/>
                <a:ext cx="0" cy="4032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88275" name="Line 211"/>
              <p:cNvSpPr>
                <a:spLocks noChangeShapeType="1"/>
              </p:cNvSpPr>
              <p:nvPr/>
            </p:nvSpPr>
            <p:spPr bwMode="auto">
              <a:xfrm>
                <a:off x="1632" y="4176"/>
                <a:ext cx="2736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88276" name="Line 212"/>
              <p:cNvSpPr>
                <a:spLocks noChangeShapeType="1"/>
              </p:cNvSpPr>
              <p:nvPr/>
            </p:nvSpPr>
            <p:spPr bwMode="auto">
              <a:xfrm>
                <a:off x="1632" y="144"/>
                <a:ext cx="2736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endParaRPr>
              </a:p>
            </p:txBody>
          </p:sp>
        </p:grpSp>
        <p:sp>
          <p:nvSpPr>
            <p:cNvPr id="88277" name="Line 213"/>
            <p:cNvSpPr>
              <a:spLocks noChangeShapeType="1"/>
            </p:cNvSpPr>
            <p:nvPr/>
          </p:nvSpPr>
          <p:spPr bwMode="auto">
            <a:xfrm>
              <a:off x="4368" y="864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8278" name="Line 214"/>
            <p:cNvSpPr>
              <a:spLocks noChangeShapeType="1"/>
            </p:cNvSpPr>
            <p:nvPr/>
          </p:nvSpPr>
          <p:spPr bwMode="auto">
            <a:xfrm>
              <a:off x="4368" y="1296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8279" name="Line 215"/>
            <p:cNvSpPr>
              <a:spLocks noChangeShapeType="1"/>
            </p:cNvSpPr>
            <p:nvPr/>
          </p:nvSpPr>
          <p:spPr bwMode="auto">
            <a:xfrm>
              <a:off x="4368" y="1776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8280" name="Line 216"/>
            <p:cNvSpPr>
              <a:spLocks noChangeShapeType="1"/>
            </p:cNvSpPr>
            <p:nvPr/>
          </p:nvSpPr>
          <p:spPr bwMode="auto">
            <a:xfrm>
              <a:off x="4368" y="2208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8281" name="Line 217"/>
            <p:cNvSpPr>
              <a:spLocks noChangeShapeType="1"/>
            </p:cNvSpPr>
            <p:nvPr/>
          </p:nvSpPr>
          <p:spPr bwMode="auto">
            <a:xfrm>
              <a:off x="4368" y="2688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8282" name="Line 218"/>
            <p:cNvSpPr>
              <a:spLocks noChangeShapeType="1"/>
            </p:cNvSpPr>
            <p:nvPr/>
          </p:nvSpPr>
          <p:spPr bwMode="auto">
            <a:xfrm>
              <a:off x="4368" y="3072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8283" name="Line 219"/>
            <p:cNvSpPr>
              <a:spLocks noChangeShapeType="1"/>
            </p:cNvSpPr>
            <p:nvPr/>
          </p:nvSpPr>
          <p:spPr bwMode="auto">
            <a:xfrm>
              <a:off x="4368" y="3552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8284" name="Line 220"/>
            <p:cNvSpPr>
              <a:spLocks noChangeShapeType="1"/>
            </p:cNvSpPr>
            <p:nvPr/>
          </p:nvSpPr>
          <p:spPr bwMode="auto">
            <a:xfrm>
              <a:off x="4368" y="3984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8285" name="Rectangle 221"/>
            <p:cNvSpPr>
              <a:spLocks noChangeArrowheads="1"/>
            </p:cNvSpPr>
            <p:nvPr/>
          </p:nvSpPr>
          <p:spPr bwMode="auto">
            <a:xfrm>
              <a:off x="4752" y="618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Z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0</a:t>
              </a:r>
            </a:p>
          </p:txBody>
        </p:sp>
        <p:sp>
          <p:nvSpPr>
            <p:cNvPr id="88286" name="Rectangle 222"/>
            <p:cNvSpPr>
              <a:spLocks noChangeArrowheads="1"/>
            </p:cNvSpPr>
            <p:nvPr/>
          </p:nvSpPr>
          <p:spPr bwMode="auto">
            <a:xfrm>
              <a:off x="4752" y="1002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Z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</a:t>
              </a:r>
            </a:p>
          </p:txBody>
        </p:sp>
        <p:sp>
          <p:nvSpPr>
            <p:cNvPr id="88287" name="Rectangle 223"/>
            <p:cNvSpPr>
              <a:spLocks noChangeArrowheads="1"/>
            </p:cNvSpPr>
            <p:nvPr/>
          </p:nvSpPr>
          <p:spPr bwMode="auto">
            <a:xfrm>
              <a:off x="4800" y="1482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Z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2</a:t>
              </a:r>
            </a:p>
          </p:txBody>
        </p:sp>
        <p:sp>
          <p:nvSpPr>
            <p:cNvPr id="88288" name="Rectangle 224"/>
            <p:cNvSpPr>
              <a:spLocks noChangeArrowheads="1"/>
            </p:cNvSpPr>
            <p:nvPr/>
          </p:nvSpPr>
          <p:spPr bwMode="auto">
            <a:xfrm>
              <a:off x="4800" y="1914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Z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3</a:t>
              </a:r>
            </a:p>
          </p:txBody>
        </p:sp>
        <p:sp>
          <p:nvSpPr>
            <p:cNvPr id="88289" name="Rectangle 225"/>
            <p:cNvSpPr>
              <a:spLocks noChangeArrowheads="1"/>
            </p:cNvSpPr>
            <p:nvPr/>
          </p:nvSpPr>
          <p:spPr bwMode="auto">
            <a:xfrm>
              <a:off x="4800" y="2394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Z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4</a:t>
              </a:r>
            </a:p>
          </p:txBody>
        </p:sp>
        <p:sp>
          <p:nvSpPr>
            <p:cNvPr id="88290" name="Rectangle 226"/>
            <p:cNvSpPr>
              <a:spLocks noChangeArrowheads="1"/>
            </p:cNvSpPr>
            <p:nvPr/>
          </p:nvSpPr>
          <p:spPr bwMode="auto">
            <a:xfrm>
              <a:off x="4800" y="2826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Z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5</a:t>
              </a:r>
            </a:p>
          </p:txBody>
        </p:sp>
        <p:sp>
          <p:nvSpPr>
            <p:cNvPr id="88291" name="Rectangle 227"/>
            <p:cNvSpPr>
              <a:spLocks noChangeArrowheads="1"/>
            </p:cNvSpPr>
            <p:nvPr/>
          </p:nvSpPr>
          <p:spPr bwMode="auto">
            <a:xfrm>
              <a:off x="4800" y="3258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Z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6</a:t>
              </a:r>
            </a:p>
          </p:txBody>
        </p:sp>
        <p:sp>
          <p:nvSpPr>
            <p:cNvPr id="88292" name="Rectangle 228"/>
            <p:cNvSpPr>
              <a:spLocks noChangeArrowheads="1"/>
            </p:cNvSpPr>
            <p:nvPr/>
          </p:nvSpPr>
          <p:spPr bwMode="auto">
            <a:xfrm>
              <a:off x="4800" y="3690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Z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7</a:t>
              </a:r>
            </a:p>
          </p:txBody>
        </p:sp>
        <p:sp>
          <p:nvSpPr>
            <p:cNvPr id="88293" name="Line 229"/>
            <p:cNvSpPr>
              <a:spLocks noChangeShapeType="1"/>
            </p:cNvSpPr>
            <p:nvPr/>
          </p:nvSpPr>
          <p:spPr bwMode="auto">
            <a:xfrm>
              <a:off x="4800" y="672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8294" name="Line 230"/>
            <p:cNvSpPr>
              <a:spLocks noChangeShapeType="1"/>
            </p:cNvSpPr>
            <p:nvPr/>
          </p:nvSpPr>
          <p:spPr bwMode="auto">
            <a:xfrm>
              <a:off x="4800" y="1056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8295" name="Line 231"/>
            <p:cNvSpPr>
              <a:spLocks noChangeShapeType="1"/>
            </p:cNvSpPr>
            <p:nvPr/>
          </p:nvSpPr>
          <p:spPr bwMode="auto">
            <a:xfrm>
              <a:off x="4848" y="1536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8296" name="Line 232"/>
            <p:cNvSpPr>
              <a:spLocks noChangeShapeType="1"/>
            </p:cNvSpPr>
            <p:nvPr/>
          </p:nvSpPr>
          <p:spPr bwMode="auto">
            <a:xfrm>
              <a:off x="4848" y="1968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8297" name="Line 233"/>
            <p:cNvSpPr>
              <a:spLocks noChangeShapeType="1"/>
            </p:cNvSpPr>
            <p:nvPr/>
          </p:nvSpPr>
          <p:spPr bwMode="auto">
            <a:xfrm>
              <a:off x="4848" y="2448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8298" name="Line 234"/>
            <p:cNvSpPr>
              <a:spLocks noChangeShapeType="1"/>
            </p:cNvSpPr>
            <p:nvPr/>
          </p:nvSpPr>
          <p:spPr bwMode="auto">
            <a:xfrm>
              <a:off x="4848" y="2880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8299" name="Line 235"/>
            <p:cNvSpPr>
              <a:spLocks noChangeShapeType="1"/>
            </p:cNvSpPr>
            <p:nvPr/>
          </p:nvSpPr>
          <p:spPr bwMode="auto">
            <a:xfrm>
              <a:off x="4848" y="3312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8300" name="Line 236"/>
            <p:cNvSpPr>
              <a:spLocks noChangeShapeType="1"/>
            </p:cNvSpPr>
            <p:nvPr/>
          </p:nvSpPr>
          <p:spPr bwMode="auto">
            <a:xfrm>
              <a:off x="4800" y="3744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</p:grpSp>
      <p:grpSp>
        <p:nvGrpSpPr>
          <p:cNvPr id="88306" name="Group 242"/>
          <p:cNvGrpSpPr/>
          <p:nvPr/>
        </p:nvGrpSpPr>
        <p:grpSpPr>
          <a:xfrm>
            <a:off x="2514600" y="533400"/>
            <a:ext cx="2438400" cy="3352800"/>
            <a:chOff x="1584" y="336"/>
            <a:chExt cx="1536" cy="2112"/>
          </a:xfrm>
        </p:grpSpPr>
        <p:sp>
          <p:nvSpPr>
            <p:cNvPr id="88307" name="Rectangle 243"/>
            <p:cNvSpPr>
              <a:spLocks noChangeArrowheads="1"/>
            </p:cNvSpPr>
            <p:nvPr/>
          </p:nvSpPr>
          <p:spPr bwMode="auto">
            <a:xfrm>
              <a:off x="1968" y="528"/>
              <a:ext cx="528" cy="28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8308" name="Oval 244"/>
            <p:cNvSpPr>
              <a:spLocks noChangeArrowheads="1"/>
            </p:cNvSpPr>
            <p:nvPr/>
          </p:nvSpPr>
          <p:spPr bwMode="auto">
            <a:xfrm>
              <a:off x="2160" y="432"/>
              <a:ext cx="96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8309" name="Line 245"/>
            <p:cNvSpPr>
              <a:spLocks noChangeShapeType="1"/>
            </p:cNvSpPr>
            <p:nvPr/>
          </p:nvSpPr>
          <p:spPr bwMode="auto">
            <a:xfrm flipV="1">
              <a:off x="2208" y="336"/>
              <a:ext cx="0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8310" name="Line 246"/>
            <p:cNvSpPr>
              <a:spLocks noChangeShapeType="1"/>
            </p:cNvSpPr>
            <p:nvPr/>
          </p:nvSpPr>
          <p:spPr bwMode="auto">
            <a:xfrm>
              <a:off x="2208" y="336"/>
              <a:ext cx="9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8311" name="Line 247"/>
            <p:cNvSpPr>
              <a:spLocks noChangeShapeType="1"/>
            </p:cNvSpPr>
            <p:nvPr/>
          </p:nvSpPr>
          <p:spPr bwMode="auto">
            <a:xfrm>
              <a:off x="2208" y="816"/>
              <a:ext cx="0" cy="16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8312" name="Line 248"/>
            <p:cNvSpPr>
              <a:spLocks noChangeShapeType="1"/>
            </p:cNvSpPr>
            <p:nvPr/>
          </p:nvSpPr>
          <p:spPr bwMode="auto">
            <a:xfrm flipH="1">
              <a:off x="1584" y="912"/>
              <a:ext cx="61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8313" name="Oval 249"/>
            <p:cNvSpPr>
              <a:spLocks noChangeArrowheads="1"/>
            </p:cNvSpPr>
            <p:nvPr/>
          </p:nvSpPr>
          <p:spPr bwMode="auto">
            <a:xfrm>
              <a:off x="2160" y="864"/>
              <a:ext cx="96" cy="96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8314" name="Line 250"/>
            <p:cNvSpPr>
              <a:spLocks noChangeShapeType="1"/>
            </p:cNvSpPr>
            <p:nvPr/>
          </p:nvSpPr>
          <p:spPr bwMode="auto">
            <a:xfrm flipH="1">
              <a:off x="2208" y="2448"/>
              <a:ext cx="9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8315" name="Rectangle 251"/>
            <p:cNvSpPr>
              <a:spLocks noChangeArrowheads="1"/>
            </p:cNvSpPr>
            <p:nvPr/>
          </p:nvSpPr>
          <p:spPr bwMode="auto">
            <a:xfrm>
              <a:off x="2112" y="474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</a:t>
              </a:r>
            </a:p>
          </p:txBody>
        </p:sp>
      </p:grpSp>
      <p:grpSp>
        <p:nvGrpSpPr>
          <p:cNvPr id="88347" name="Group 283"/>
          <p:cNvGrpSpPr/>
          <p:nvPr/>
        </p:nvGrpSpPr>
        <p:grpSpPr>
          <a:xfrm>
            <a:off x="2362200" y="1905000"/>
            <a:ext cx="1752600" cy="3657600"/>
            <a:chOff x="1488" y="1200"/>
            <a:chExt cx="1104" cy="2304"/>
          </a:xfrm>
        </p:grpSpPr>
        <p:sp>
          <p:nvSpPr>
            <p:cNvPr id="88348" name="Line 284"/>
            <p:cNvSpPr>
              <a:spLocks noChangeShapeType="1"/>
            </p:cNvSpPr>
            <p:nvPr/>
          </p:nvSpPr>
          <p:spPr bwMode="auto">
            <a:xfrm flipH="1">
              <a:off x="2208" y="1248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8349" name="Line 285"/>
            <p:cNvSpPr>
              <a:spLocks noChangeShapeType="1"/>
            </p:cNvSpPr>
            <p:nvPr/>
          </p:nvSpPr>
          <p:spPr bwMode="auto">
            <a:xfrm flipH="1">
              <a:off x="2256" y="1776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grpSp>
          <p:nvGrpSpPr>
            <p:cNvPr id="168974" name="Group 286"/>
            <p:cNvGrpSpPr/>
            <p:nvPr/>
          </p:nvGrpSpPr>
          <p:grpSpPr>
            <a:xfrm>
              <a:off x="1488" y="1248"/>
              <a:ext cx="1104" cy="2256"/>
              <a:chOff x="1488" y="1248"/>
              <a:chExt cx="1104" cy="2256"/>
            </a:xfrm>
          </p:grpSpPr>
          <p:sp>
            <p:nvSpPr>
              <p:cNvPr id="88351" name="Line 287"/>
              <p:cNvSpPr>
                <a:spLocks noChangeShapeType="1"/>
              </p:cNvSpPr>
              <p:nvPr/>
            </p:nvSpPr>
            <p:spPr bwMode="auto">
              <a:xfrm flipH="1">
                <a:off x="2016" y="3072"/>
                <a:ext cx="3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endParaRPr>
              </a:p>
            </p:txBody>
          </p:sp>
          <p:grpSp>
            <p:nvGrpSpPr>
              <p:cNvPr id="168978" name="Group 288"/>
              <p:cNvGrpSpPr/>
              <p:nvPr/>
            </p:nvGrpSpPr>
            <p:grpSpPr>
              <a:xfrm>
                <a:off x="1488" y="1248"/>
                <a:ext cx="1104" cy="2256"/>
                <a:chOff x="1488" y="1248"/>
                <a:chExt cx="1104" cy="2256"/>
              </a:xfrm>
            </p:grpSpPr>
            <p:sp>
              <p:nvSpPr>
                <p:cNvPr id="88353" name="Line 289"/>
                <p:cNvSpPr>
                  <a:spLocks noChangeShapeType="1"/>
                </p:cNvSpPr>
                <p:nvPr/>
              </p:nvSpPr>
              <p:spPr bwMode="auto">
                <a:xfrm flipH="1">
                  <a:off x="2208" y="3072"/>
                  <a:ext cx="384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32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88354" name="Line 290"/>
                <p:cNvSpPr>
                  <a:spLocks noChangeShapeType="1"/>
                </p:cNvSpPr>
                <p:nvPr/>
              </p:nvSpPr>
              <p:spPr bwMode="auto">
                <a:xfrm flipH="1">
                  <a:off x="2256" y="3504"/>
                  <a:ext cx="336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32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88355" name="Line 291"/>
                <p:cNvSpPr>
                  <a:spLocks noChangeShapeType="1"/>
                </p:cNvSpPr>
                <p:nvPr/>
              </p:nvSpPr>
              <p:spPr bwMode="auto">
                <a:xfrm flipH="1">
                  <a:off x="1488" y="1248"/>
                  <a:ext cx="1056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32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88356" name="Line 292"/>
                <p:cNvSpPr>
                  <a:spLocks noChangeShapeType="1"/>
                </p:cNvSpPr>
                <p:nvPr/>
              </p:nvSpPr>
              <p:spPr bwMode="auto">
                <a:xfrm flipH="1">
                  <a:off x="1488" y="1776"/>
                  <a:ext cx="96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32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88357" name="Line 293"/>
                <p:cNvSpPr>
                  <a:spLocks noChangeShapeType="1"/>
                </p:cNvSpPr>
                <p:nvPr/>
              </p:nvSpPr>
              <p:spPr bwMode="auto">
                <a:xfrm>
                  <a:off x="2016" y="1248"/>
                  <a:ext cx="0" cy="182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32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88358" name="Line 294"/>
                <p:cNvSpPr>
                  <a:spLocks noChangeShapeType="1"/>
                </p:cNvSpPr>
                <p:nvPr/>
              </p:nvSpPr>
              <p:spPr bwMode="auto">
                <a:xfrm>
                  <a:off x="1776" y="1797"/>
                  <a:ext cx="0" cy="170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32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88359" name="Line 295"/>
                <p:cNvSpPr>
                  <a:spLocks noChangeShapeType="1"/>
                </p:cNvSpPr>
                <p:nvPr/>
              </p:nvSpPr>
              <p:spPr bwMode="auto">
                <a:xfrm flipH="1">
                  <a:off x="1776" y="3504"/>
                  <a:ext cx="576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32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endParaRPr>
                </a:p>
              </p:txBody>
            </p:sp>
          </p:grpSp>
        </p:grpSp>
        <p:sp>
          <p:nvSpPr>
            <p:cNvPr id="88360" name="Oval 296"/>
            <p:cNvSpPr>
              <a:spLocks noChangeArrowheads="1"/>
            </p:cNvSpPr>
            <p:nvPr/>
          </p:nvSpPr>
          <p:spPr bwMode="auto">
            <a:xfrm>
              <a:off x="1968" y="1200"/>
              <a:ext cx="96" cy="96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8361" name="Oval 297"/>
            <p:cNvSpPr>
              <a:spLocks noChangeArrowheads="1"/>
            </p:cNvSpPr>
            <p:nvPr/>
          </p:nvSpPr>
          <p:spPr bwMode="auto">
            <a:xfrm>
              <a:off x="1728" y="1728"/>
              <a:ext cx="96" cy="96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8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8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8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88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88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88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88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88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灯片编号占位符 3"/>
          <p:cNvSpPr txBox="1">
            <a:spLocks noGrp="1"/>
          </p:cNvSpPr>
          <p:nvPr>
            <p:ph type="sldNum" sz="quarter" idx="12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BDAEF3-2CA4-4296-A8D2-F8FF53A1802B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23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9330" name="Rectangle 2"/>
          <p:cNvSpPr>
            <a:spLocks noChangeArrowheads="1"/>
          </p:cNvSpPr>
          <p:nvPr/>
        </p:nvSpPr>
        <p:spPr bwMode="auto">
          <a:xfrm>
            <a:off x="228600" y="228600"/>
            <a:ext cx="3448050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四、译码器的应用</a:t>
            </a:r>
          </a:p>
        </p:txBody>
      </p:sp>
      <p:grpSp>
        <p:nvGrpSpPr>
          <p:cNvPr id="99331" name="Group 3"/>
          <p:cNvGrpSpPr/>
          <p:nvPr/>
        </p:nvGrpSpPr>
        <p:grpSpPr>
          <a:xfrm>
            <a:off x="2057400" y="1981200"/>
            <a:ext cx="5029200" cy="3865563"/>
            <a:chOff x="1344" y="1146"/>
            <a:chExt cx="3168" cy="2435"/>
          </a:xfrm>
        </p:grpSpPr>
        <p:sp>
          <p:nvSpPr>
            <p:cNvPr id="99332" name="Rectangle 4"/>
            <p:cNvSpPr>
              <a:spLocks noChangeArrowheads="1"/>
            </p:cNvSpPr>
            <p:nvPr/>
          </p:nvSpPr>
          <p:spPr bwMode="auto">
            <a:xfrm>
              <a:off x="1392" y="1728"/>
              <a:ext cx="3120" cy="129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99333" name="Line 5"/>
            <p:cNvSpPr>
              <a:spLocks noChangeShapeType="1"/>
            </p:cNvSpPr>
            <p:nvPr/>
          </p:nvSpPr>
          <p:spPr bwMode="auto">
            <a:xfrm>
              <a:off x="1536" y="3024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99334" name="Line 6"/>
            <p:cNvSpPr>
              <a:spLocks noChangeShapeType="1"/>
            </p:cNvSpPr>
            <p:nvPr/>
          </p:nvSpPr>
          <p:spPr bwMode="auto">
            <a:xfrm>
              <a:off x="1920" y="3024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99335" name="Line 7"/>
            <p:cNvSpPr>
              <a:spLocks noChangeShapeType="1"/>
            </p:cNvSpPr>
            <p:nvPr/>
          </p:nvSpPr>
          <p:spPr bwMode="auto">
            <a:xfrm>
              <a:off x="2304" y="3024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99336" name="Line 8"/>
            <p:cNvSpPr>
              <a:spLocks noChangeShapeType="1"/>
            </p:cNvSpPr>
            <p:nvPr/>
          </p:nvSpPr>
          <p:spPr bwMode="auto">
            <a:xfrm>
              <a:off x="2736" y="3024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99337" name="Line 9"/>
            <p:cNvSpPr>
              <a:spLocks noChangeShapeType="1"/>
            </p:cNvSpPr>
            <p:nvPr/>
          </p:nvSpPr>
          <p:spPr bwMode="auto">
            <a:xfrm>
              <a:off x="3120" y="3024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99338" name="Line 10"/>
            <p:cNvSpPr>
              <a:spLocks noChangeShapeType="1"/>
            </p:cNvSpPr>
            <p:nvPr/>
          </p:nvSpPr>
          <p:spPr bwMode="auto">
            <a:xfrm>
              <a:off x="3504" y="3024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99339" name="Line 11"/>
            <p:cNvSpPr>
              <a:spLocks noChangeShapeType="1"/>
            </p:cNvSpPr>
            <p:nvPr/>
          </p:nvSpPr>
          <p:spPr bwMode="auto">
            <a:xfrm>
              <a:off x="3888" y="3024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99340" name="Line 12"/>
            <p:cNvSpPr>
              <a:spLocks noChangeShapeType="1"/>
            </p:cNvSpPr>
            <p:nvPr/>
          </p:nvSpPr>
          <p:spPr bwMode="auto">
            <a:xfrm>
              <a:off x="4272" y="3024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99341" name="Line 13"/>
            <p:cNvSpPr>
              <a:spLocks noChangeShapeType="1"/>
            </p:cNvSpPr>
            <p:nvPr/>
          </p:nvSpPr>
          <p:spPr bwMode="auto">
            <a:xfrm>
              <a:off x="4320" y="1488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99342" name="Line 14"/>
            <p:cNvSpPr>
              <a:spLocks noChangeShapeType="1"/>
            </p:cNvSpPr>
            <p:nvPr/>
          </p:nvSpPr>
          <p:spPr bwMode="auto">
            <a:xfrm>
              <a:off x="3936" y="1488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99343" name="Line 15"/>
            <p:cNvSpPr>
              <a:spLocks noChangeShapeType="1"/>
            </p:cNvSpPr>
            <p:nvPr/>
          </p:nvSpPr>
          <p:spPr bwMode="auto">
            <a:xfrm>
              <a:off x="3552" y="1488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99344" name="Line 16"/>
            <p:cNvSpPr>
              <a:spLocks noChangeShapeType="1"/>
            </p:cNvSpPr>
            <p:nvPr/>
          </p:nvSpPr>
          <p:spPr bwMode="auto">
            <a:xfrm>
              <a:off x="3168" y="1488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99345" name="Line 17"/>
            <p:cNvSpPr>
              <a:spLocks noChangeShapeType="1"/>
            </p:cNvSpPr>
            <p:nvPr/>
          </p:nvSpPr>
          <p:spPr bwMode="auto">
            <a:xfrm>
              <a:off x="2784" y="1488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99346" name="Line 18"/>
            <p:cNvSpPr>
              <a:spLocks noChangeShapeType="1"/>
            </p:cNvSpPr>
            <p:nvPr/>
          </p:nvSpPr>
          <p:spPr bwMode="auto">
            <a:xfrm>
              <a:off x="2400" y="1488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99347" name="Line 19"/>
            <p:cNvSpPr>
              <a:spLocks noChangeShapeType="1"/>
            </p:cNvSpPr>
            <p:nvPr/>
          </p:nvSpPr>
          <p:spPr bwMode="auto">
            <a:xfrm>
              <a:off x="2016" y="1488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99348" name="Line 20"/>
            <p:cNvSpPr>
              <a:spLocks noChangeShapeType="1"/>
            </p:cNvSpPr>
            <p:nvPr/>
          </p:nvSpPr>
          <p:spPr bwMode="auto">
            <a:xfrm>
              <a:off x="1632" y="1488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99349" name="Line 21"/>
            <p:cNvSpPr>
              <a:spLocks noChangeShapeType="1"/>
            </p:cNvSpPr>
            <p:nvPr/>
          </p:nvSpPr>
          <p:spPr bwMode="auto">
            <a:xfrm>
              <a:off x="1392" y="2304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99350" name="Line 22"/>
            <p:cNvSpPr>
              <a:spLocks noChangeShapeType="1"/>
            </p:cNvSpPr>
            <p:nvPr/>
          </p:nvSpPr>
          <p:spPr bwMode="auto">
            <a:xfrm>
              <a:off x="1584" y="2304"/>
              <a:ext cx="0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99351" name="Line 23"/>
            <p:cNvSpPr>
              <a:spLocks noChangeShapeType="1"/>
            </p:cNvSpPr>
            <p:nvPr/>
          </p:nvSpPr>
          <p:spPr bwMode="auto">
            <a:xfrm flipH="1">
              <a:off x="1392" y="2400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99352" name="Rectangle 24"/>
            <p:cNvSpPr>
              <a:spLocks noChangeArrowheads="1"/>
            </p:cNvSpPr>
            <p:nvPr/>
          </p:nvSpPr>
          <p:spPr bwMode="auto">
            <a:xfrm>
              <a:off x="1392" y="3210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A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0</a:t>
              </a:r>
              <a:endPara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99353" name="Rectangle 25"/>
            <p:cNvSpPr>
              <a:spLocks noChangeArrowheads="1"/>
            </p:cNvSpPr>
            <p:nvPr/>
          </p:nvSpPr>
          <p:spPr bwMode="auto">
            <a:xfrm>
              <a:off x="1776" y="3210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A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</a:t>
              </a:r>
            </a:p>
          </p:txBody>
        </p:sp>
        <p:sp>
          <p:nvSpPr>
            <p:cNvPr id="99354" name="Rectangle 26"/>
            <p:cNvSpPr>
              <a:spLocks noChangeArrowheads="1"/>
            </p:cNvSpPr>
            <p:nvPr/>
          </p:nvSpPr>
          <p:spPr bwMode="auto">
            <a:xfrm>
              <a:off x="2160" y="3210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A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2</a:t>
              </a:r>
            </a:p>
          </p:txBody>
        </p:sp>
        <p:sp>
          <p:nvSpPr>
            <p:cNvPr id="99355" name="Rectangle 27"/>
            <p:cNvSpPr>
              <a:spLocks noChangeArrowheads="1"/>
            </p:cNvSpPr>
            <p:nvPr/>
          </p:nvSpPr>
          <p:spPr bwMode="auto">
            <a:xfrm>
              <a:off x="2592" y="3210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S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3</a:t>
              </a:r>
            </a:p>
          </p:txBody>
        </p:sp>
        <p:sp>
          <p:nvSpPr>
            <p:cNvPr id="99356" name="Rectangle 28"/>
            <p:cNvSpPr>
              <a:spLocks noChangeArrowheads="1"/>
            </p:cNvSpPr>
            <p:nvPr/>
          </p:nvSpPr>
          <p:spPr bwMode="auto">
            <a:xfrm>
              <a:off x="2976" y="3210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S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2</a:t>
              </a:r>
            </a:p>
          </p:txBody>
        </p:sp>
        <p:sp>
          <p:nvSpPr>
            <p:cNvPr id="99357" name="Rectangle 29"/>
            <p:cNvSpPr>
              <a:spLocks noChangeArrowheads="1"/>
            </p:cNvSpPr>
            <p:nvPr/>
          </p:nvSpPr>
          <p:spPr bwMode="auto">
            <a:xfrm>
              <a:off x="3360" y="3210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S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</a:t>
              </a:r>
            </a:p>
          </p:txBody>
        </p:sp>
        <p:sp>
          <p:nvSpPr>
            <p:cNvPr id="99358" name="Rectangle 30"/>
            <p:cNvSpPr>
              <a:spLocks noChangeArrowheads="1"/>
            </p:cNvSpPr>
            <p:nvPr/>
          </p:nvSpPr>
          <p:spPr bwMode="auto">
            <a:xfrm>
              <a:off x="3744" y="3210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Z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7</a:t>
              </a:r>
            </a:p>
          </p:txBody>
        </p:sp>
        <p:sp>
          <p:nvSpPr>
            <p:cNvPr id="99359" name="Rectangle 31"/>
            <p:cNvSpPr>
              <a:spLocks noChangeArrowheads="1"/>
            </p:cNvSpPr>
            <p:nvPr/>
          </p:nvSpPr>
          <p:spPr bwMode="auto">
            <a:xfrm>
              <a:off x="4128" y="1146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Z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6</a:t>
              </a:r>
            </a:p>
          </p:txBody>
        </p:sp>
        <p:sp>
          <p:nvSpPr>
            <p:cNvPr id="99360" name="Rectangle 32"/>
            <p:cNvSpPr>
              <a:spLocks noChangeArrowheads="1"/>
            </p:cNvSpPr>
            <p:nvPr/>
          </p:nvSpPr>
          <p:spPr bwMode="auto">
            <a:xfrm>
              <a:off x="3744" y="1146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Z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5</a:t>
              </a:r>
            </a:p>
          </p:txBody>
        </p:sp>
        <p:sp>
          <p:nvSpPr>
            <p:cNvPr id="99361" name="Rectangle 33"/>
            <p:cNvSpPr>
              <a:spLocks noChangeArrowheads="1"/>
            </p:cNvSpPr>
            <p:nvPr/>
          </p:nvSpPr>
          <p:spPr bwMode="auto">
            <a:xfrm>
              <a:off x="3360" y="1146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Z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4</a:t>
              </a:r>
            </a:p>
          </p:txBody>
        </p:sp>
        <p:sp>
          <p:nvSpPr>
            <p:cNvPr id="99362" name="Rectangle 34"/>
            <p:cNvSpPr>
              <a:spLocks noChangeArrowheads="1"/>
            </p:cNvSpPr>
            <p:nvPr/>
          </p:nvSpPr>
          <p:spPr bwMode="auto">
            <a:xfrm>
              <a:off x="2976" y="1146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Z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3</a:t>
              </a:r>
            </a:p>
          </p:txBody>
        </p:sp>
        <p:sp>
          <p:nvSpPr>
            <p:cNvPr id="99363" name="Rectangle 35"/>
            <p:cNvSpPr>
              <a:spLocks noChangeArrowheads="1"/>
            </p:cNvSpPr>
            <p:nvPr/>
          </p:nvSpPr>
          <p:spPr bwMode="auto">
            <a:xfrm>
              <a:off x="2592" y="1146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Z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2</a:t>
              </a:r>
            </a:p>
          </p:txBody>
        </p:sp>
        <p:sp>
          <p:nvSpPr>
            <p:cNvPr id="99364" name="Rectangle 36"/>
            <p:cNvSpPr>
              <a:spLocks noChangeArrowheads="1"/>
            </p:cNvSpPr>
            <p:nvPr/>
          </p:nvSpPr>
          <p:spPr bwMode="auto">
            <a:xfrm>
              <a:off x="2208" y="1146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Z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</a:t>
              </a:r>
            </a:p>
          </p:txBody>
        </p:sp>
        <p:sp>
          <p:nvSpPr>
            <p:cNvPr id="99365" name="Rectangle 37"/>
            <p:cNvSpPr>
              <a:spLocks noChangeArrowheads="1"/>
            </p:cNvSpPr>
            <p:nvPr/>
          </p:nvSpPr>
          <p:spPr bwMode="auto">
            <a:xfrm>
              <a:off x="1824" y="1146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Z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0</a:t>
              </a:r>
            </a:p>
          </p:txBody>
        </p:sp>
        <p:sp>
          <p:nvSpPr>
            <p:cNvPr id="99366" name="Rectangle 38"/>
            <p:cNvSpPr>
              <a:spLocks noChangeArrowheads="1"/>
            </p:cNvSpPr>
            <p:nvPr/>
          </p:nvSpPr>
          <p:spPr bwMode="auto">
            <a:xfrm>
              <a:off x="1344" y="1146"/>
              <a:ext cx="41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V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CC</a:t>
              </a:r>
            </a:p>
          </p:txBody>
        </p:sp>
        <p:sp>
          <p:nvSpPr>
            <p:cNvPr id="99367" name="Rectangle 39"/>
            <p:cNvSpPr>
              <a:spLocks noChangeArrowheads="1"/>
            </p:cNvSpPr>
            <p:nvPr/>
          </p:nvSpPr>
          <p:spPr bwMode="auto">
            <a:xfrm>
              <a:off x="1392" y="2634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</a:t>
              </a:r>
            </a:p>
          </p:txBody>
        </p:sp>
        <p:sp>
          <p:nvSpPr>
            <p:cNvPr id="99368" name="Line 40"/>
            <p:cNvSpPr>
              <a:spLocks noChangeShapeType="1"/>
            </p:cNvSpPr>
            <p:nvPr/>
          </p:nvSpPr>
          <p:spPr bwMode="auto">
            <a:xfrm>
              <a:off x="4080" y="3264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99369" name="Rectangle 41"/>
            <p:cNvSpPr>
              <a:spLocks noChangeArrowheads="1"/>
            </p:cNvSpPr>
            <p:nvPr/>
          </p:nvSpPr>
          <p:spPr bwMode="auto">
            <a:xfrm>
              <a:off x="4176" y="2682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8</a:t>
              </a:r>
            </a:p>
          </p:txBody>
        </p:sp>
        <p:sp>
          <p:nvSpPr>
            <p:cNvPr id="99370" name="Rectangle 42"/>
            <p:cNvSpPr>
              <a:spLocks noChangeArrowheads="1"/>
            </p:cNvSpPr>
            <p:nvPr/>
          </p:nvSpPr>
          <p:spPr bwMode="auto">
            <a:xfrm>
              <a:off x="4176" y="1674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9</a:t>
              </a:r>
            </a:p>
          </p:txBody>
        </p:sp>
        <p:sp>
          <p:nvSpPr>
            <p:cNvPr id="99371" name="Rectangle 43"/>
            <p:cNvSpPr>
              <a:spLocks noChangeArrowheads="1"/>
            </p:cNvSpPr>
            <p:nvPr/>
          </p:nvSpPr>
          <p:spPr bwMode="auto">
            <a:xfrm>
              <a:off x="1392" y="1674"/>
              <a:ext cx="3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16</a:t>
              </a:r>
            </a:p>
          </p:txBody>
        </p:sp>
        <p:sp>
          <p:nvSpPr>
            <p:cNvPr id="99372" name="Rectangle 44"/>
            <p:cNvSpPr>
              <a:spLocks noChangeArrowheads="1"/>
            </p:cNvSpPr>
            <p:nvPr/>
          </p:nvSpPr>
          <p:spPr bwMode="auto">
            <a:xfrm>
              <a:off x="4128" y="3216"/>
              <a:ext cx="3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地</a:t>
              </a:r>
            </a:p>
          </p:txBody>
        </p:sp>
        <p:sp>
          <p:nvSpPr>
            <p:cNvPr id="99373" name="Rectangle 45"/>
            <p:cNvSpPr>
              <a:spLocks noChangeArrowheads="1"/>
            </p:cNvSpPr>
            <p:nvPr/>
          </p:nvSpPr>
          <p:spPr bwMode="auto">
            <a:xfrm>
              <a:off x="2352" y="2106"/>
              <a:ext cx="101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74LS138</a:t>
              </a:r>
            </a:p>
          </p:txBody>
        </p:sp>
        <p:sp>
          <p:nvSpPr>
            <p:cNvPr id="99374" name="Line 46"/>
            <p:cNvSpPr>
              <a:spLocks noChangeShapeType="1"/>
            </p:cNvSpPr>
            <p:nvPr/>
          </p:nvSpPr>
          <p:spPr bwMode="auto">
            <a:xfrm>
              <a:off x="2592" y="3264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99375" name="Line 47"/>
            <p:cNvSpPr>
              <a:spLocks noChangeShapeType="1"/>
            </p:cNvSpPr>
            <p:nvPr/>
          </p:nvSpPr>
          <p:spPr bwMode="auto">
            <a:xfrm>
              <a:off x="2976" y="3264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99376" name="Line 48"/>
            <p:cNvSpPr>
              <a:spLocks noChangeShapeType="1"/>
            </p:cNvSpPr>
            <p:nvPr/>
          </p:nvSpPr>
          <p:spPr bwMode="auto">
            <a:xfrm>
              <a:off x="3792" y="3264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99377" name="Line 49"/>
            <p:cNvSpPr>
              <a:spLocks noChangeShapeType="1"/>
            </p:cNvSpPr>
            <p:nvPr/>
          </p:nvSpPr>
          <p:spPr bwMode="auto">
            <a:xfrm>
              <a:off x="4176" y="1200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99378" name="Line 50"/>
            <p:cNvSpPr>
              <a:spLocks noChangeShapeType="1"/>
            </p:cNvSpPr>
            <p:nvPr/>
          </p:nvSpPr>
          <p:spPr bwMode="auto">
            <a:xfrm>
              <a:off x="3792" y="1200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99379" name="Line 51"/>
            <p:cNvSpPr>
              <a:spLocks noChangeShapeType="1"/>
            </p:cNvSpPr>
            <p:nvPr/>
          </p:nvSpPr>
          <p:spPr bwMode="auto">
            <a:xfrm>
              <a:off x="3408" y="1200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99380" name="Line 52"/>
            <p:cNvSpPr>
              <a:spLocks noChangeShapeType="1"/>
            </p:cNvSpPr>
            <p:nvPr/>
          </p:nvSpPr>
          <p:spPr bwMode="auto">
            <a:xfrm>
              <a:off x="3024" y="1200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99381" name="Line 53"/>
            <p:cNvSpPr>
              <a:spLocks noChangeShapeType="1"/>
            </p:cNvSpPr>
            <p:nvPr/>
          </p:nvSpPr>
          <p:spPr bwMode="auto">
            <a:xfrm>
              <a:off x="2640" y="1200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99382" name="Line 54"/>
            <p:cNvSpPr>
              <a:spLocks noChangeShapeType="1"/>
            </p:cNvSpPr>
            <p:nvPr/>
          </p:nvSpPr>
          <p:spPr bwMode="auto">
            <a:xfrm>
              <a:off x="2256" y="1200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99383" name="Line 55"/>
            <p:cNvSpPr>
              <a:spLocks noChangeShapeType="1"/>
            </p:cNvSpPr>
            <p:nvPr/>
          </p:nvSpPr>
          <p:spPr bwMode="auto">
            <a:xfrm>
              <a:off x="1872" y="1200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</p:grpSp>
      <p:sp>
        <p:nvSpPr>
          <p:cNvPr id="99384" name="Rectangle 56"/>
          <p:cNvSpPr>
            <a:spLocks noChangeArrowheads="1"/>
          </p:cNvSpPr>
          <p:nvPr/>
        </p:nvSpPr>
        <p:spPr bwMode="auto">
          <a:xfrm>
            <a:off x="228600" y="1049338"/>
            <a:ext cx="8515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线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—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8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线译码器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74LS138(T4138)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的引脚图如下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993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99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84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灯片编号占位符 3"/>
          <p:cNvSpPr txBox="1">
            <a:spLocks noGrp="1"/>
          </p:cNvSpPr>
          <p:nvPr>
            <p:ph type="sldNum" sz="quarter" idx="12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016CF2-8A03-433E-BAB4-8B4A0CD0D790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24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0354" name="Rectangle 2"/>
          <p:cNvSpPr>
            <a:spLocks noChangeArrowheads="1"/>
          </p:cNvSpPr>
          <p:nvPr/>
        </p:nvSpPr>
        <p:spPr bwMode="auto">
          <a:xfrm>
            <a:off x="228600" y="258763"/>
            <a:ext cx="8718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线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—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8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线译码器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74LS138(T4138)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的真值表如下：</a:t>
            </a:r>
          </a:p>
        </p:txBody>
      </p:sp>
      <p:grpSp>
        <p:nvGrpSpPr>
          <p:cNvPr id="100378" name="Group 26"/>
          <p:cNvGrpSpPr/>
          <p:nvPr/>
        </p:nvGrpSpPr>
        <p:grpSpPr>
          <a:xfrm>
            <a:off x="1066800" y="990600"/>
            <a:ext cx="7010400" cy="4581525"/>
            <a:chOff x="528" y="792"/>
            <a:chExt cx="4416" cy="2886"/>
          </a:xfrm>
        </p:grpSpPr>
        <p:sp>
          <p:nvSpPr>
            <p:cNvPr id="100355" name="Line 3"/>
            <p:cNvSpPr>
              <a:spLocks noChangeShapeType="1"/>
            </p:cNvSpPr>
            <p:nvPr/>
          </p:nvSpPr>
          <p:spPr bwMode="auto">
            <a:xfrm>
              <a:off x="576" y="1176"/>
              <a:ext cx="436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0356" name="Line 4"/>
            <p:cNvSpPr>
              <a:spLocks noChangeShapeType="1"/>
            </p:cNvSpPr>
            <p:nvPr/>
          </p:nvSpPr>
          <p:spPr bwMode="auto">
            <a:xfrm>
              <a:off x="1632" y="840"/>
              <a:ext cx="0" cy="27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0357" name="Line 5"/>
            <p:cNvSpPr>
              <a:spLocks noChangeShapeType="1"/>
            </p:cNvSpPr>
            <p:nvPr/>
          </p:nvSpPr>
          <p:spPr bwMode="auto">
            <a:xfrm>
              <a:off x="2592" y="840"/>
              <a:ext cx="0" cy="283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0358" name="Rectangle 6"/>
            <p:cNvSpPr>
              <a:spLocks noChangeArrowheads="1"/>
            </p:cNvSpPr>
            <p:nvPr/>
          </p:nvSpPr>
          <p:spPr bwMode="auto">
            <a:xfrm>
              <a:off x="528" y="792"/>
              <a:ext cx="439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S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  S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2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+S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3  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A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2 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A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 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A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0  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Z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0 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Z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 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Z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2 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Z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3 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Z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4 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Z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5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Z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6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Z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7</a:t>
              </a:r>
            </a:p>
          </p:txBody>
        </p:sp>
        <p:sp>
          <p:nvSpPr>
            <p:cNvPr id="100368" name="Line 16"/>
            <p:cNvSpPr>
              <a:spLocks noChangeShapeType="1"/>
            </p:cNvSpPr>
            <p:nvPr/>
          </p:nvSpPr>
          <p:spPr bwMode="auto">
            <a:xfrm>
              <a:off x="1008" y="840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0369" name="Line 17"/>
            <p:cNvSpPr>
              <a:spLocks noChangeShapeType="1"/>
            </p:cNvSpPr>
            <p:nvPr/>
          </p:nvSpPr>
          <p:spPr bwMode="auto">
            <a:xfrm>
              <a:off x="1344" y="840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0370" name="Line 18"/>
            <p:cNvSpPr>
              <a:spLocks noChangeShapeType="1"/>
            </p:cNvSpPr>
            <p:nvPr/>
          </p:nvSpPr>
          <p:spPr bwMode="auto">
            <a:xfrm>
              <a:off x="2708" y="849"/>
              <a:ext cx="18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0371" name="Line 19"/>
            <p:cNvSpPr>
              <a:spLocks noChangeShapeType="1"/>
            </p:cNvSpPr>
            <p:nvPr/>
          </p:nvSpPr>
          <p:spPr bwMode="auto">
            <a:xfrm>
              <a:off x="3026" y="849"/>
              <a:ext cx="18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0372" name="Line 20"/>
            <p:cNvSpPr>
              <a:spLocks noChangeShapeType="1"/>
            </p:cNvSpPr>
            <p:nvPr/>
          </p:nvSpPr>
          <p:spPr bwMode="auto">
            <a:xfrm>
              <a:off x="3298" y="849"/>
              <a:ext cx="18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0373" name="Line 21"/>
            <p:cNvSpPr>
              <a:spLocks noChangeShapeType="1"/>
            </p:cNvSpPr>
            <p:nvPr/>
          </p:nvSpPr>
          <p:spPr bwMode="auto">
            <a:xfrm>
              <a:off x="3615" y="849"/>
              <a:ext cx="18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0374" name="Line 22"/>
            <p:cNvSpPr>
              <a:spLocks noChangeShapeType="1"/>
            </p:cNvSpPr>
            <p:nvPr/>
          </p:nvSpPr>
          <p:spPr bwMode="auto">
            <a:xfrm>
              <a:off x="3887" y="849"/>
              <a:ext cx="18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0375" name="Line 23"/>
            <p:cNvSpPr>
              <a:spLocks noChangeShapeType="1"/>
            </p:cNvSpPr>
            <p:nvPr/>
          </p:nvSpPr>
          <p:spPr bwMode="auto">
            <a:xfrm>
              <a:off x="4160" y="849"/>
              <a:ext cx="18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0376" name="Line 24"/>
            <p:cNvSpPr>
              <a:spLocks noChangeShapeType="1"/>
            </p:cNvSpPr>
            <p:nvPr/>
          </p:nvSpPr>
          <p:spPr bwMode="auto">
            <a:xfrm>
              <a:off x="4386" y="849"/>
              <a:ext cx="18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0377" name="Line 25"/>
            <p:cNvSpPr>
              <a:spLocks noChangeShapeType="1"/>
            </p:cNvSpPr>
            <p:nvPr/>
          </p:nvSpPr>
          <p:spPr bwMode="auto">
            <a:xfrm>
              <a:off x="4613" y="849"/>
              <a:ext cx="18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</p:grpSp>
      <p:sp>
        <p:nvSpPr>
          <p:cNvPr id="100379" name="Rectangle 27"/>
          <p:cNvSpPr>
            <a:spLocks noChangeArrowheads="1"/>
          </p:cNvSpPr>
          <p:nvPr/>
        </p:nvSpPr>
        <p:spPr bwMode="auto">
          <a:xfrm>
            <a:off x="1143000" y="1590675"/>
            <a:ext cx="6889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1    0   0 0 0   0 1 1  1 1 1 1 1</a:t>
            </a:r>
          </a:p>
        </p:txBody>
      </p:sp>
      <p:sp>
        <p:nvSpPr>
          <p:cNvPr id="100380" name="Rectangle 28"/>
          <p:cNvSpPr>
            <a:spLocks noChangeArrowheads="1"/>
          </p:cNvSpPr>
          <p:nvPr/>
        </p:nvSpPr>
        <p:spPr bwMode="auto">
          <a:xfrm>
            <a:off x="1143000" y="2047875"/>
            <a:ext cx="6889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1    0   0 0 1   1 0 1  1 1 1 1 1</a:t>
            </a:r>
          </a:p>
        </p:txBody>
      </p:sp>
      <p:sp>
        <p:nvSpPr>
          <p:cNvPr id="100381" name="Rectangle 29"/>
          <p:cNvSpPr>
            <a:spLocks noChangeArrowheads="1"/>
          </p:cNvSpPr>
          <p:nvPr/>
        </p:nvSpPr>
        <p:spPr bwMode="auto">
          <a:xfrm>
            <a:off x="1143000" y="2428875"/>
            <a:ext cx="6889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1    0   0 1 0   1 1 0  1 1 1 1 1</a:t>
            </a:r>
          </a:p>
        </p:txBody>
      </p:sp>
      <p:sp>
        <p:nvSpPr>
          <p:cNvPr id="100382" name="Rectangle 30"/>
          <p:cNvSpPr>
            <a:spLocks noChangeArrowheads="1"/>
          </p:cNvSpPr>
          <p:nvPr/>
        </p:nvSpPr>
        <p:spPr bwMode="auto">
          <a:xfrm>
            <a:off x="1143000" y="2809875"/>
            <a:ext cx="6889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1    0   0 1 1   1 1 1  0 1 1 1 1</a:t>
            </a:r>
          </a:p>
        </p:txBody>
      </p:sp>
      <p:sp>
        <p:nvSpPr>
          <p:cNvPr id="100383" name="Rectangle 31"/>
          <p:cNvSpPr>
            <a:spLocks noChangeArrowheads="1"/>
          </p:cNvSpPr>
          <p:nvPr/>
        </p:nvSpPr>
        <p:spPr bwMode="auto">
          <a:xfrm>
            <a:off x="1143000" y="3190875"/>
            <a:ext cx="6889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1    0   1 0 0   1 1 1  1 0 1 1 1</a:t>
            </a:r>
          </a:p>
        </p:txBody>
      </p:sp>
      <p:sp>
        <p:nvSpPr>
          <p:cNvPr id="100384" name="Rectangle 32"/>
          <p:cNvSpPr>
            <a:spLocks noChangeArrowheads="1"/>
          </p:cNvSpPr>
          <p:nvPr/>
        </p:nvSpPr>
        <p:spPr bwMode="auto">
          <a:xfrm>
            <a:off x="1143000" y="3648075"/>
            <a:ext cx="6889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1    0   1 0 1   1 1 1  1 1 0 1 1</a:t>
            </a:r>
          </a:p>
        </p:txBody>
      </p:sp>
      <p:sp>
        <p:nvSpPr>
          <p:cNvPr id="100385" name="Rectangle 33"/>
          <p:cNvSpPr>
            <a:spLocks noChangeArrowheads="1"/>
          </p:cNvSpPr>
          <p:nvPr/>
        </p:nvSpPr>
        <p:spPr bwMode="auto">
          <a:xfrm>
            <a:off x="1143000" y="4105275"/>
            <a:ext cx="6889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1    0   1 1 0   1 1 1  1 1 1 0 1</a:t>
            </a:r>
          </a:p>
        </p:txBody>
      </p:sp>
      <p:sp>
        <p:nvSpPr>
          <p:cNvPr id="100386" name="Rectangle 34"/>
          <p:cNvSpPr>
            <a:spLocks noChangeArrowheads="1"/>
          </p:cNvSpPr>
          <p:nvPr/>
        </p:nvSpPr>
        <p:spPr bwMode="auto">
          <a:xfrm>
            <a:off x="1143000" y="4562475"/>
            <a:ext cx="6889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1    0   1 1 1   1 1 1  1 1 1 1 0</a:t>
            </a:r>
          </a:p>
        </p:txBody>
      </p:sp>
      <p:sp>
        <p:nvSpPr>
          <p:cNvPr id="100387" name="Rectangle 35"/>
          <p:cNvSpPr>
            <a:spLocks noChangeArrowheads="1"/>
          </p:cNvSpPr>
          <p:nvPr/>
        </p:nvSpPr>
        <p:spPr bwMode="auto">
          <a:xfrm>
            <a:off x="1146175" y="5070475"/>
            <a:ext cx="6889750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0    d   d d d   1 1 1  1 1 1 1 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03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03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0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0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03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03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03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03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03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03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03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03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03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03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03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03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00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00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00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00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4" grpId="0"/>
      <p:bldP spid="100379" grpId="0" build="p"/>
      <p:bldP spid="100380" grpId="0" build="p"/>
      <p:bldP spid="100381" grpId="0" build="p"/>
      <p:bldP spid="100382" grpId="0" build="p"/>
      <p:bldP spid="100383" grpId="0" build="p"/>
      <p:bldP spid="100384" grpId="0" build="p"/>
      <p:bldP spid="100385" grpId="0" build="p"/>
      <p:bldP spid="100386" grpId="0" build="p"/>
      <p:bldP spid="100387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灯片编号占位符 3"/>
          <p:cNvSpPr txBox="1">
            <a:spLocks noGrp="1"/>
          </p:cNvSpPr>
          <p:nvPr>
            <p:ph type="sldNum" sz="quarter" idx="12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DFD1E9-BD0B-4905-8D07-D13904A037A1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25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1387" name="Rectangle 11"/>
          <p:cNvSpPr>
            <a:spLocks noChangeArrowheads="1"/>
          </p:cNvSpPr>
          <p:nvPr/>
        </p:nvSpPr>
        <p:spPr bwMode="auto">
          <a:xfrm>
            <a:off x="228600" y="249238"/>
            <a:ext cx="3028950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由真值表可得：</a:t>
            </a:r>
          </a:p>
        </p:txBody>
      </p:sp>
      <p:graphicFrame>
        <p:nvGraphicFramePr>
          <p:cNvPr id="101388" name="Object 12"/>
          <p:cNvGraphicFramePr>
            <a:graphicFrameLocks noChangeAspect="1"/>
          </p:cNvGraphicFramePr>
          <p:nvPr/>
        </p:nvGraphicFramePr>
        <p:xfrm>
          <a:off x="914400" y="935038"/>
          <a:ext cx="21336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600075" imgH="116840" progId="Equation.3">
                  <p:embed/>
                </p:oleObj>
              </mc:Choice>
              <mc:Fallback>
                <p:oleObj r:id="rId3" imgW="600075" imgH="116840" progId="Equation.3">
                  <p:embed/>
                  <p:pic>
                    <p:nvPicPr>
                      <p:cNvPr id="0" name="图片 3203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14400" y="935038"/>
                        <a:ext cx="2133600" cy="596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89" name="Object 13"/>
          <p:cNvGraphicFramePr>
            <a:graphicFrameLocks noChangeAspect="1"/>
          </p:cNvGraphicFramePr>
          <p:nvPr/>
        </p:nvGraphicFramePr>
        <p:xfrm>
          <a:off x="3702050" y="914400"/>
          <a:ext cx="2012950" cy="681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570865" imgH="146050" progId="Equation.3">
                  <p:embed/>
                </p:oleObj>
              </mc:Choice>
              <mc:Fallback>
                <p:oleObj r:id="rId5" imgW="570865" imgH="146050" progId="Equation.3">
                  <p:embed/>
                  <p:pic>
                    <p:nvPicPr>
                      <p:cNvPr id="0" name="图片 3211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702050" y="914400"/>
                        <a:ext cx="2012950" cy="6810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90" name="Object 14"/>
          <p:cNvGraphicFramePr>
            <a:graphicFrameLocks noChangeAspect="1"/>
          </p:cNvGraphicFramePr>
          <p:nvPr/>
        </p:nvGraphicFramePr>
        <p:xfrm>
          <a:off x="6292850" y="935038"/>
          <a:ext cx="1968500" cy="627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577850" imgH="139065" progId="Equation.3">
                  <p:embed/>
                </p:oleObj>
              </mc:Choice>
              <mc:Fallback>
                <p:oleObj r:id="rId7" imgW="577850" imgH="139065" progId="Equation.3">
                  <p:embed/>
                  <p:pic>
                    <p:nvPicPr>
                      <p:cNvPr id="0" name="图片 3207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292850" y="935038"/>
                        <a:ext cx="1968500" cy="6270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91" name="Object 15"/>
          <p:cNvGraphicFramePr>
            <a:graphicFrameLocks noChangeAspect="1"/>
          </p:cNvGraphicFramePr>
          <p:nvPr/>
        </p:nvGraphicFramePr>
        <p:xfrm>
          <a:off x="915988" y="1793875"/>
          <a:ext cx="1979612" cy="681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556260" imgH="146050" progId="Equation.3">
                  <p:embed/>
                </p:oleObj>
              </mc:Choice>
              <mc:Fallback>
                <p:oleObj r:id="rId9" imgW="556260" imgH="146050" progId="Equation.3">
                  <p:embed/>
                  <p:pic>
                    <p:nvPicPr>
                      <p:cNvPr id="0" name="图片 3208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15988" y="1793875"/>
                        <a:ext cx="1979612" cy="6810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92" name="Object 16"/>
          <p:cNvGraphicFramePr>
            <a:graphicFrameLocks noChangeAspect="1"/>
          </p:cNvGraphicFramePr>
          <p:nvPr/>
        </p:nvGraphicFramePr>
        <p:xfrm>
          <a:off x="3671888" y="1809750"/>
          <a:ext cx="2043112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585470" imgH="139065" progId="Equation.3">
                  <p:embed/>
                </p:oleObj>
              </mc:Choice>
              <mc:Fallback>
                <p:oleObj r:id="rId11" imgW="585470" imgH="139065" progId="Equation.3">
                  <p:embed/>
                  <p:pic>
                    <p:nvPicPr>
                      <p:cNvPr id="0" name="图片 3220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671888" y="1809750"/>
                        <a:ext cx="2043112" cy="6397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93" name="Object 17"/>
          <p:cNvGraphicFramePr>
            <a:graphicFrameLocks noChangeAspect="1"/>
          </p:cNvGraphicFramePr>
          <p:nvPr/>
        </p:nvGraphicFramePr>
        <p:xfrm>
          <a:off x="6332538" y="1830388"/>
          <a:ext cx="1897062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570865" imgH="146050" progId="Equation.3">
                  <p:embed/>
                </p:oleObj>
              </mc:Choice>
              <mc:Fallback>
                <p:oleObj r:id="rId13" imgW="570865" imgH="146050" progId="Equation.3">
                  <p:embed/>
                  <p:pic>
                    <p:nvPicPr>
                      <p:cNvPr id="0" name="图片 3201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332538" y="1830388"/>
                        <a:ext cx="1897062" cy="641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94" name="Object 18"/>
          <p:cNvGraphicFramePr>
            <a:graphicFrameLocks noChangeAspect="1"/>
          </p:cNvGraphicFramePr>
          <p:nvPr/>
        </p:nvGraphicFramePr>
        <p:xfrm>
          <a:off x="922338" y="2627313"/>
          <a:ext cx="1973262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570865" imgH="139065" progId="Equation.3">
                  <p:embed/>
                </p:oleObj>
              </mc:Choice>
              <mc:Fallback>
                <p:oleObj r:id="rId15" imgW="570865" imgH="139065" progId="Equation.3">
                  <p:embed/>
                  <p:pic>
                    <p:nvPicPr>
                      <p:cNvPr id="0" name="图片 3202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22338" y="2627313"/>
                        <a:ext cx="1973262" cy="638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95" name="Object 19"/>
          <p:cNvGraphicFramePr>
            <a:graphicFrameLocks noChangeAspect="1"/>
          </p:cNvGraphicFramePr>
          <p:nvPr/>
        </p:nvGraphicFramePr>
        <p:xfrm>
          <a:off x="3657600" y="2647950"/>
          <a:ext cx="1979613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7" imgW="548640" imgH="131445" progId="Equation.3">
                  <p:embed/>
                </p:oleObj>
              </mc:Choice>
              <mc:Fallback>
                <p:oleObj r:id="rId17" imgW="548640" imgH="131445" progId="Equation.3">
                  <p:embed/>
                  <p:pic>
                    <p:nvPicPr>
                      <p:cNvPr id="0" name="图片 3215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657600" y="2647950"/>
                        <a:ext cx="1979613" cy="628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97" name="Object 21"/>
          <p:cNvGraphicFramePr>
            <a:graphicFrameLocks noChangeAspect="1"/>
          </p:cNvGraphicFramePr>
          <p:nvPr/>
        </p:nvGraphicFramePr>
        <p:xfrm>
          <a:off x="1263650" y="4438650"/>
          <a:ext cx="1236663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9" imgW="343535" imgH="131445" progId="Equation.3">
                  <p:embed/>
                </p:oleObj>
              </mc:Choice>
              <mc:Fallback>
                <p:oleObj r:id="rId19" imgW="343535" imgH="131445" progId="Equation.3">
                  <p:embed/>
                  <p:pic>
                    <p:nvPicPr>
                      <p:cNvPr id="0" name="图片 3205"/>
                      <p:cNvPicPr/>
                      <p:nvPr/>
                    </p:nvPicPr>
                    <p:blipFill>
                      <a:blip r:embed="rId2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263650" y="4438650"/>
                        <a:ext cx="1236663" cy="587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98" name="Object 22"/>
          <p:cNvGraphicFramePr>
            <a:graphicFrameLocks noChangeAspect="1"/>
          </p:cNvGraphicFramePr>
          <p:nvPr/>
        </p:nvGraphicFramePr>
        <p:xfrm>
          <a:off x="3092450" y="4438650"/>
          <a:ext cx="1162050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1" imgW="321945" imgH="116840" progId="Equation.3">
                  <p:embed/>
                </p:oleObj>
              </mc:Choice>
              <mc:Fallback>
                <p:oleObj r:id="rId21" imgW="321945" imgH="116840" progId="Equation.3">
                  <p:embed/>
                  <p:pic>
                    <p:nvPicPr>
                      <p:cNvPr id="0" name="图片 3209"/>
                      <p:cNvPicPr/>
                      <p:nvPr/>
                    </p:nvPicPr>
                    <p:blipFill>
                      <a:blip r:embed="rId2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092450" y="4438650"/>
                        <a:ext cx="1162050" cy="549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99" name="Object 23"/>
          <p:cNvGraphicFramePr>
            <a:graphicFrameLocks noChangeAspect="1"/>
          </p:cNvGraphicFramePr>
          <p:nvPr/>
        </p:nvGraphicFramePr>
        <p:xfrm>
          <a:off x="4906963" y="4438650"/>
          <a:ext cx="1265237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3" imgW="351155" imgH="116840" progId="Equation.3">
                  <p:embed/>
                </p:oleObj>
              </mc:Choice>
              <mc:Fallback>
                <p:oleObj r:id="rId23" imgW="351155" imgH="116840" progId="Equation.3">
                  <p:embed/>
                  <p:pic>
                    <p:nvPicPr>
                      <p:cNvPr id="0" name="图片 3217"/>
                      <p:cNvPicPr/>
                      <p:nvPr/>
                    </p:nvPicPr>
                    <p:blipFill>
                      <a:blip r:embed="rId2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906963" y="4438650"/>
                        <a:ext cx="1265237" cy="5572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400" name="Object 24"/>
          <p:cNvGraphicFramePr>
            <a:graphicFrameLocks noChangeAspect="1"/>
          </p:cNvGraphicFramePr>
          <p:nvPr/>
        </p:nvGraphicFramePr>
        <p:xfrm>
          <a:off x="6734175" y="4438650"/>
          <a:ext cx="1192213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5" imgW="343535" imgH="131445" progId="Equation.3">
                  <p:embed/>
                </p:oleObj>
              </mc:Choice>
              <mc:Fallback>
                <p:oleObj r:id="rId25" imgW="343535" imgH="131445" progId="Equation.3">
                  <p:embed/>
                  <p:pic>
                    <p:nvPicPr>
                      <p:cNvPr id="0" name="图片 3214"/>
                      <p:cNvPicPr/>
                      <p:nvPr/>
                    </p:nvPicPr>
                    <p:blipFill>
                      <a:blip r:embed="rId2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734175" y="4438650"/>
                        <a:ext cx="1192213" cy="565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401" name="Object 25"/>
          <p:cNvGraphicFramePr>
            <a:graphicFrameLocks noChangeAspect="1"/>
          </p:cNvGraphicFramePr>
          <p:nvPr/>
        </p:nvGraphicFramePr>
        <p:xfrm>
          <a:off x="1250950" y="5200650"/>
          <a:ext cx="133985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7" imgW="351155" imgH="116840" progId="Equation.3">
                  <p:embed/>
                </p:oleObj>
              </mc:Choice>
              <mc:Fallback>
                <p:oleObj r:id="rId27" imgW="351155" imgH="116840" progId="Equation.3">
                  <p:embed/>
                  <p:pic>
                    <p:nvPicPr>
                      <p:cNvPr id="0" name="图片 3218"/>
                      <p:cNvPicPr/>
                      <p:nvPr/>
                    </p:nvPicPr>
                    <p:blipFill>
                      <a:blip r:embed="rId2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250950" y="5200650"/>
                        <a:ext cx="1339850" cy="590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402" name="Object 26"/>
          <p:cNvGraphicFramePr>
            <a:graphicFrameLocks noChangeAspect="1"/>
          </p:cNvGraphicFramePr>
          <p:nvPr/>
        </p:nvGraphicFramePr>
        <p:xfrm>
          <a:off x="3092450" y="5200650"/>
          <a:ext cx="1236663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9" imgW="343535" imgH="131445" progId="Equation.3">
                  <p:embed/>
                </p:oleObj>
              </mc:Choice>
              <mc:Fallback>
                <p:oleObj r:id="rId29" imgW="343535" imgH="131445" progId="Equation.3">
                  <p:embed/>
                  <p:pic>
                    <p:nvPicPr>
                      <p:cNvPr id="0" name="图片 3212"/>
                      <p:cNvPicPr/>
                      <p:nvPr/>
                    </p:nvPicPr>
                    <p:blipFill>
                      <a:blip r:embed="rId3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092450" y="5200650"/>
                        <a:ext cx="1236663" cy="5857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403" name="Object 27"/>
          <p:cNvGraphicFramePr>
            <a:graphicFrameLocks noChangeAspect="1"/>
          </p:cNvGraphicFramePr>
          <p:nvPr/>
        </p:nvGraphicFramePr>
        <p:xfrm>
          <a:off x="4922838" y="5200650"/>
          <a:ext cx="1235075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1" imgW="343535" imgH="131445" progId="Equation.3">
                  <p:embed/>
                </p:oleObj>
              </mc:Choice>
              <mc:Fallback>
                <p:oleObj r:id="rId31" imgW="343535" imgH="131445" progId="Equation.3">
                  <p:embed/>
                  <p:pic>
                    <p:nvPicPr>
                      <p:cNvPr id="0" name="图片 3219"/>
                      <p:cNvPicPr/>
                      <p:nvPr/>
                    </p:nvPicPr>
                    <p:blipFill>
                      <a:blip r:embed="rId3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922838" y="5200650"/>
                        <a:ext cx="1235075" cy="5857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404" name="Object 28"/>
          <p:cNvGraphicFramePr>
            <a:graphicFrameLocks noChangeAspect="1"/>
          </p:cNvGraphicFramePr>
          <p:nvPr/>
        </p:nvGraphicFramePr>
        <p:xfrm>
          <a:off x="6735763" y="5200650"/>
          <a:ext cx="1265237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3" imgW="351155" imgH="131445" progId="Equation.3">
                  <p:embed/>
                </p:oleObj>
              </mc:Choice>
              <mc:Fallback>
                <p:oleObj r:id="rId33" imgW="351155" imgH="131445" progId="Equation.3">
                  <p:embed/>
                  <p:pic>
                    <p:nvPicPr>
                      <p:cNvPr id="0" name="图片 3204"/>
                      <p:cNvPicPr/>
                      <p:nvPr/>
                    </p:nvPicPr>
                    <p:blipFill>
                      <a:blip r:embed="rId3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735763" y="5200650"/>
                        <a:ext cx="1265237" cy="5857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405" name="Rectangle 29"/>
          <p:cNvSpPr>
            <a:spLocks noChangeArrowheads="1"/>
          </p:cNvSpPr>
          <p:nvPr/>
        </p:nvSpPr>
        <p:spPr bwMode="auto">
          <a:xfrm>
            <a:off x="228600" y="3600450"/>
            <a:ext cx="6604000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若将</a:t>
            </a:r>
            <a:r>
              <a:rPr kumimoji="1" lang="zh-CN" altLang="en-US" sz="32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A</a:t>
            </a:r>
            <a:r>
              <a:rPr kumimoji="1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 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A</a:t>
            </a:r>
            <a:r>
              <a:rPr kumimoji="1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 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A</a:t>
            </a:r>
            <a:r>
              <a:rPr kumimoji="1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0 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看作输入逻辑变量则：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1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1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1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1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13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13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13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13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13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1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1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1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13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13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13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13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500"/>
                            </p:stCondLst>
                            <p:childTnLst>
                              <p:par>
                                <p:cTn id="4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13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13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014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14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01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01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013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013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013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013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00"/>
                            </p:stCondLst>
                            <p:childTnLst>
                              <p:par>
                                <p:cTn id="7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014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014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000"/>
                            </p:stCondLst>
                            <p:childTnLst>
                              <p:par>
                                <p:cTn id="7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014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014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500"/>
                            </p:stCondLst>
                            <p:childTnLst>
                              <p:par>
                                <p:cTn id="8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01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014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3000"/>
                            </p:stCondLst>
                            <p:childTnLst>
                              <p:par>
                                <p:cTn id="8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014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014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3500"/>
                            </p:stCondLst>
                            <p:childTnLst>
                              <p:par>
                                <p:cTn id="9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01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01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87" grpId="0"/>
      <p:bldP spid="10140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灯片编号占位符 3"/>
          <p:cNvSpPr txBox="1">
            <a:spLocks noGrp="1"/>
          </p:cNvSpPr>
          <p:nvPr>
            <p:ph type="sldNum" sz="quarter" idx="12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D3CAEC6-523A-44D1-8D7B-45A3FED2E2C7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26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07522" name="Group 2"/>
          <p:cNvGrpSpPr/>
          <p:nvPr/>
        </p:nvGrpSpPr>
        <p:grpSpPr>
          <a:xfrm>
            <a:off x="415925" y="1065213"/>
            <a:ext cx="8423275" cy="5183187"/>
            <a:chOff x="295" y="709"/>
            <a:chExt cx="5306" cy="3265"/>
          </a:xfrm>
        </p:grpSpPr>
        <p:sp>
          <p:nvSpPr>
            <p:cNvPr id="107523" name="Rectangle 3"/>
            <p:cNvSpPr>
              <a:spLocks noChangeArrowheads="1"/>
            </p:cNvSpPr>
            <p:nvPr/>
          </p:nvSpPr>
          <p:spPr bwMode="auto">
            <a:xfrm>
              <a:off x="295" y="709"/>
              <a:ext cx="635" cy="326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7524" name="Rectangle 4"/>
            <p:cNvSpPr>
              <a:spLocks noChangeArrowheads="1"/>
            </p:cNvSpPr>
            <p:nvPr/>
          </p:nvSpPr>
          <p:spPr bwMode="auto">
            <a:xfrm>
              <a:off x="1746" y="1933"/>
              <a:ext cx="998" cy="5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7525" name="Rectangle 5"/>
            <p:cNvSpPr>
              <a:spLocks noChangeArrowheads="1"/>
            </p:cNvSpPr>
            <p:nvPr/>
          </p:nvSpPr>
          <p:spPr bwMode="auto">
            <a:xfrm>
              <a:off x="1293" y="2749"/>
              <a:ext cx="408" cy="117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7526" name="Rectangle 6"/>
            <p:cNvSpPr>
              <a:spLocks noChangeArrowheads="1"/>
            </p:cNvSpPr>
            <p:nvPr/>
          </p:nvSpPr>
          <p:spPr bwMode="auto">
            <a:xfrm>
              <a:off x="1701" y="1933"/>
              <a:ext cx="40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Ｄ</a:t>
              </a: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B</a:t>
              </a:r>
            </a:p>
          </p:txBody>
        </p:sp>
        <p:sp>
          <p:nvSpPr>
            <p:cNvPr id="107527" name="Rectangle 7"/>
            <p:cNvSpPr>
              <a:spLocks noChangeArrowheads="1"/>
            </p:cNvSpPr>
            <p:nvPr/>
          </p:nvSpPr>
          <p:spPr bwMode="auto">
            <a:xfrm>
              <a:off x="2064" y="1933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WR</a:t>
              </a:r>
            </a:p>
          </p:txBody>
        </p:sp>
        <p:sp>
          <p:nvSpPr>
            <p:cNvPr id="107528" name="Rectangle 8"/>
            <p:cNvSpPr>
              <a:spLocks noChangeArrowheads="1"/>
            </p:cNvSpPr>
            <p:nvPr/>
          </p:nvSpPr>
          <p:spPr bwMode="auto">
            <a:xfrm>
              <a:off x="2381" y="1933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OE</a:t>
              </a:r>
            </a:p>
          </p:txBody>
        </p:sp>
        <p:sp>
          <p:nvSpPr>
            <p:cNvPr id="107529" name="Rectangle 9"/>
            <p:cNvSpPr>
              <a:spLocks noChangeArrowheads="1"/>
            </p:cNvSpPr>
            <p:nvPr/>
          </p:nvSpPr>
          <p:spPr bwMode="auto">
            <a:xfrm>
              <a:off x="1746" y="2160"/>
              <a:ext cx="37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IO</a:t>
              </a:r>
              <a:r>
                <a:rPr kumimoji="1" lang="en-US" altLang="zh-CN" sz="24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</a:t>
              </a:r>
            </a:p>
          </p:txBody>
        </p:sp>
        <p:sp>
          <p:nvSpPr>
            <p:cNvPr id="107530" name="Rectangle 10"/>
            <p:cNvSpPr>
              <a:spLocks noChangeArrowheads="1"/>
            </p:cNvSpPr>
            <p:nvPr/>
          </p:nvSpPr>
          <p:spPr bwMode="auto">
            <a:xfrm>
              <a:off x="2245" y="2205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CS</a:t>
              </a:r>
            </a:p>
          </p:txBody>
        </p:sp>
        <p:sp>
          <p:nvSpPr>
            <p:cNvPr id="107531" name="Oval 11"/>
            <p:cNvSpPr>
              <a:spLocks noChangeArrowheads="1"/>
            </p:cNvSpPr>
            <p:nvPr/>
          </p:nvSpPr>
          <p:spPr bwMode="auto">
            <a:xfrm>
              <a:off x="2200" y="1842"/>
              <a:ext cx="91" cy="9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7532" name="Oval 12"/>
            <p:cNvSpPr>
              <a:spLocks noChangeArrowheads="1"/>
            </p:cNvSpPr>
            <p:nvPr/>
          </p:nvSpPr>
          <p:spPr bwMode="auto">
            <a:xfrm>
              <a:off x="2518" y="1842"/>
              <a:ext cx="91" cy="9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7533" name="Line 13"/>
            <p:cNvSpPr>
              <a:spLocks noChangeShapeType="1"/>
            </p:cNvSpPr>
            <p:nvPr/>
          </p:nvSpPr>
          <p:spPr bwMode="auto">
            <a:xfrm>
              <a:off x="2109" y="1978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7534" name="Line 14"/>
            <p:cNvSpPr>
              <a:spLocks noChangeShapeType="1"/>
            </p:cNvSpPr>
            <p:nvPr/>
          </p:nvSpPr>
          <p:spPr bwMode="auto">
            <a:xfrm>
              <a:off x="2427" y="1978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7535" name="Line 15"/>
            <p:cNvSpPr>
              <a:spLocks noChangeShapeType="1"/>
            </p:cNvSpPr>
            <p:nvPr/>
          </p:nvSpPr>
          <p:spPr bwMode="auto">
            <a:xfrm>
              <a:off x="2336" y="2250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7536" name="Oval 16"/>
            <p:cNvSpPr>
              <a:spLocks noChangeArrowheads="1"/>
            </p:cNvSpPr>
            <p:nvPr/>
          </p:nvSpPr>
          <p:spPr bwMode="auto">
            <a:xfrm>
              <a:off x="2336" y="2477"/>
              <a:ext cx="91" cy="9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7537" name="Rectangle 17"/>
            <p:cNvSpPr>
              <a:spLocks noChangeArrowheads="1"/>
            </p:cNvSpPr>
            <p:nvPr/>
          </p:nvSpPr>
          <p:spPr bwMode="auto">
            <a:xfrm>
              <a:off x="3016" y="1933"/>
              <a:ext cx="998" cy="5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7538" name="Rectangle 18"/>
            <p:cNvSpPr>
              <a:spLocks noChangeArrowheads="1"/>
            </p:cNvSpPr>
            <p:nvPr/>
          </p:nvSpPr>
          <p:spPr bwMode="auto">
            <a:xfrm>
              <a:off x="2971" y="1933"/>
              <a:ext cx="40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Ｄ</a:t>
              </a: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B</a:t>
              </a:r>
            </a:p>
          </p:txBody>
        </p:sp>
        <p:sp>
          <p:nvSpPr>
            <p:cNvPr id="107539" name="Rectangle 19"/>
            <p:cNvSpPr>
              <a:spLocks noChangeArrowheads="1"/>
            </p:cNvSpPr>
            <p:nvPr/>
          </p:nvSpPr>
          <p:spPr bwMode="auto">
            <a:xfrm>
              <a:off x="3334" y="1933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WR</a:t>
              </a:r>
            </a:p>
          </p:txBody>
        </p:sp>
        <p:sp>
          <p:nvSpPr>
            <p:cNvPr id="107540" name="Rectangle 20"/>
            <p:cNvSpPr>
              <a:spLocks noChangeArrowheads="1"/>
            </p:cNvSpPr>
            <p:nvPr/>
          </p:nvSpPr>
          <p:spPr bwMode="auto">
            <a:xfrm>
              <a:off x="3651" y="1933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OE</a:t>
              </a:r>
            </a:p>
          </p:txBody>
        </p:sp>
        <p:sp>
          <p:nvSpPr>
            <p:cNvPr id="107541" name="Rectangle 21"/>
            <p:cNvSpPr>
              <a:spLocks noChangeArrowheads="1"/>
            </p:cNvSpPr>
            <p:nvPr/>
          </p:nvSpPr>
          <p:spPr bwMode="auto">
            <a:xfrm>
              <a:off x="3016" y="2160"/>
              <a:ext cx="37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IO</a:t>
              </a:r>
              <a:r>
                <a:rPr kumimoji="1" lang="en-US" altLang="zh-CN" sz="24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2</a:t>
              </a:r>
            </a:p>
          </p:txBody>
        </p:sp>
        <p:sp>
          <p:nvSpPr>
            <p:cNvPr id="107542" name="Rectangle 22"/>
            <p:cNvSpPr>
              <a:spLocks noChangeArrowheads="1"/>
            </p:cNvSpPr>
            <p:nvPr/>
          </p:nvSpPr>
          <p:spPr bwMode="auto">
            <a:xfrm>
              <a:off x="3515" y="2205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CS</a:t>
              </a:r>
            </a:p>
          </p:txBody>
        </p:sp>
        <p:sp>
          <p:nvSpPr>
            <p:cNvPr id="107543" name="Oval 23"/>
            <p:cNvSpPr>
              <a:spLocks noChangeArrowheads="1"/>
            </p:cNvSpPr>
            <p:nvPr/>
          </p:nvSpPr>
          <p:spPr bwMode="auto">
            <a:xfrm>
              <a:off x="3470" y="1842"/>
              <a:ext cx="91" cy="9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7544" name="Oval 24"/>
            <p:cNvSpPr>
              <a:spLocks noChangeArrowheads="1"/>
            </p:cNvSpPr>
            <p:nvPr/>
          </p:nvSpPr>
          <p:spPr bwMode="auto">
            <a:xfrm>
              <a:off x="3788" y="1842"/>
              <a:ext cx="91" cy="9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7545" name="Line 25"/>
            <p:cNvSpPr>
              <a:spLocks noChangeShapeType="1"/>
            </p:cNvSpPr>
            <p:nvPr/>
          </p:nvSpPr>
          <p:spPr bwMode="auto">
            <a:xfrm>
              <a:off x="3379" y="1978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7546" name="Line 26"/>
            <p:cNvSpPr>
              <a:spLocks noChangeShapeType="1"/>
            </p:cNvSpPr>
            <p:nvPr/>
          </p:nvSpPr>
          <p:spPr bwMode="auto">
            <a:xfrm>
              <a:off x="3697" y="1978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7547" name="Line 27"/>
            <p:cNvSpPr>
              <a:spLocks noChangeShapeType="1"/>
            </p:cNvSpPr>
            <p:nvPr/>
          </p:nvSpPr>
          <p:spPr bwMode="auto">
            <a:xfrm>
              <a:off x="3606" y="2250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7548" name="Oval 28"/>
            <p:cNvSpPr>
              <a:spLocks noChangeArrowheads="1"/>
            </p:cNvSpPr>
            <p:nvPr/>
          </p:nvSpPr>
          <p:spPr bwMode="auto">
            <a:xfrm>
              <a:off x="3606" y="2477"/>
              <a:ext cx="91" cy="9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7549" name="Rectangle 29"/>
            <p:cNvSpPr>
              <a:spLocks noChangeArrowheads="1"/>
            </p:cNvSpPr>
            <p:nvPr/>
          </p:nvSpPr>
          <p:spPr bwMode="auto">
            <a:xfrm>
              <a:off x="4241" y="1933"/>
              <a:ext cx="998" cy="5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7550" name="Rectangle 30"/>
            <p:cNvSpPr>
              <a:spLocks noChangeArrowheads="1"/>
            </p:cNvSpPr>
            <p:nvPr/>
          </p:nvSpPr>
          <p:spPr bwMode="auto">
            <a:xfrm>
              <a:off x="4196" y="1933"/>
              <a:ext cx="40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Ｄ</a:t>
              </a: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B</a:t>
              </a:r>
            </a:p>
          </p:txBody>
        </p:sp>
        <p:sp>
          <p:nvSpPr>
            <p:cNvPr id="107551" name="Rectangle 31"/>
            <p:cNvSpPr>
              <a:spLocks noChangeArrowheads="1"/>
            </p:cNvSpPr>
            <p:nvPr/>
          </p:nvSpPr>
          <p:spPr bwMode="auto">
            <a:xfrm>
              <a:off x="4559" y="1933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WR</a:t>
              </a:r>
            </a:p>
          </p:txBody>
        </p:sp>
        <p:sp>
          <p:nvSpPr>
            <p:cNvPr id="107552" name="Rectangle 32"/>
            <p:cNvSpPr>
              <a:spLocks noChangeArrowheads="1"/>
            </p:cNvSpPr>
            <p:nvPr/>
          </p:nvSpPr>
          <p:spPr bwMode="auto">
            <a:xfrm>
              <a:off x="4876" y="1933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OE</a:t>
              </a:r>
            </a:p>
          </p:txBody>
        </p:sp>
        <p:sp>
          <p:nvSpPr>
            <p:cNvPr id="107553" name="Rectangle 33"/>
            <p:cNvSpPr>
              <a:spLocks noChangeArrowheads="1"/>
            </p:cNvSpPr>
            <p:nvPr/>
          </p:nvSpPr>
          <p:spPr bwMode="auto">
            <a:xfrm>
              <a:off x="4241" y="2160"/>
              <a:ext cx="37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IO</a:t>
              </a:r>
              <a:r>
                <a:rPr kumimoji="1" lang="en-US" altLang="zh-CN" sz="24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3</a:t>
              </a:r>
            </a:p>
          </p:txBody>
        </p:sp>
        <p:sp>
          <p:nvSpPr>
            <p:cNvPr id="107554" name="Rectangle 34"/>
            <p:cNvSpPr>
              <a:spLocks noChangeArrowheads="1"/>
            </p:cNvSpPr>
            <p:nvPr/>
          </p:nvSpPr>
          <p:spPr bwMode="auto">
            <a:xfrm>
              <a:off x="4740" y="2205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CS</a:t>
              </a:r>
            </a:p>
          </p:txBody>
        </p:sp>
        <p:sp>
          <p:nvSpPr>
            <p:cNvPr id="107555" name="Oval 35"/>
            <p:cNvSpPr>
              <a:spLocks noChangeArrowheads="1"/>
            </p:cNvSpPr>
            <p:nvPr/>
          </p:nvSpPr>
          <p:spPr bwMode="auto">
            <a:xfrm>
              <a:off x="4695" y="1842"/>
              <a:ext cx="91" cy="9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7556" name="Oval 36"/>
            <p:cNvSpPr>
              <a:spLocks noChangeArrowheads="1"/>
            </p:cNvSpPr>
            <p:nvPr/>
          </p:nvSpPr>
          <p:spPr bwMode="auto">
            <a:xfrm>
              <a:off x="5013" y="1842"/>
              <a:ext cx="91" cy="9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7557" name="Line 37"/>
            <p:cNvSpPr>
              <a:spLocks noChangeShapeType="1"/>
            </p:cNvSpPr>
            <p:nvPr/>
          </p:nvSpPr>
          <p:spPr bwMode="auto">
            <a:xfrm>
              <a:off x="4604" y="1978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7558" name="Line 38"/>
            <p:cNvSpPr>
              <a:spLocks noChangeShapeType="1"/>
            </p:cNvSpPr>
            <p:nvPr/>
          </p:nvSpPr>
          <p:spPr bwMode="auto">
            <a:xfrm>
              <a:off x="4922" y="1978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7559" name="Line 39"/>
            <p:cNvSpPr>
              <a:spLocks noChangeShapeType="1"/>
            </p:cNvSpPr>
            <p:nvPr/>
          </p:nvSpPr>
          <p:spPr bwMode="auto">
            <a:xfrm>
              <a:off x="4831" y="2250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7560" name="Oval 40"/>
            <p:cNvSpPr>
              <a:spLocks noChangeArrowheads="1"/>
            </p:cNvSpPr>
            <p:nvPr/>
          </p:nvSpPr>
          <p:spPr bwMode="auto">
            <a:xfrm>
              <a:off x="4831" y="2477"/>
              <a:ext cx="91" cy="9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7561" name="Rectangle 41"/>
            <p:cNvSpPr>
              <a:spLocks noChangeArrowheads="1"/>
            </p:cNvSpPr>
            <p:nvPr/>
          </p:nvSpPr>
          <p:spPr bwMode="auto">
            <a:xfrm>
              <a:off x="521" y="1389"/>
              <a:ext cx="40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 DB</a:t>
              </a:r>
            </a:p>
          </p:txBody>
        </p:sp>
        <p:sp>
          <p:nvSpPr>
            <p:cNvPr id="107562" name="Rectangle 42"/>
            <p:cNvSpPr>
              <a:spLocks noChangeArrowheads="1"/>
            </p:cNvSpPr>
            <p:nvPr/>
          </p:nvSpPr>
          <p:spPr bwMode="auto">
            <a:xfrm>
              <a:off x="612" y="754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WR</a:t>
              </a:r>
            </a:p>
          </p:txBody>
        </p:sp>
        <p:sp>
          <p:nvSpPr>
            <p:cNvPr id="107563" name="Line 43"/>
            <p:cNvSpPr>
              <a:spLocks noChangeShapeType="1"/>
            </p:cNvSpPr>
            <p:nvPr/>
          </p:nvSpPr>
          <p:spPr bwMode="auto">
            <a:xfrm>
              <a:off x="657" y="799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7564" name="Rectangle 44"/>
            <p:cNvSpPr>
              <a:spLocks noChangeArrowheads="1"/>
            </p:cNvSpPr>
            <p:nvPr/>
          </p:nvSpPr>
          <p:spPr bwMode="auto">
            <a:xfrm>
              <a:off x="612" y="1071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RD</a:t>
              </a:r>
            </a:p>
          </p:txBody>
        </p:sp>
        <p:sp>
          <p:nvSpPr>
            <p:cNvPr id="107565" name="Line 45"/>
            <p:cNvSpPr>
              <a:spLocks noChangeShapeType="1"/>
            </p:cNvSpPr>
            <p:nvPr/>
          </p:nvSpPr>
          <p:spPr bwMode="auto">
            <a:xfrm>
              <a:off x="657" y="1116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7566" name="Oval 46"/>
            <p:cNvSpPr>
              <a:spLocks noChangeArrowheads="1"/>
            </p:cNvSpPr>
            <p:nvPr/>
          </p:nvSpPr>
          <p:spPr bwMode="auto">
            <a:xfrm>
              <a:off x="1701" y="2794"/>
              <a:ext cx="91" cy="9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7567" name="Oval 47"/>
            <p:cNvSpPr>
              <a:spLocks noChangeArrowheads="1"/>
            </p:cNvSpPr>
            <p:nvPr/>
          </p:nvSpPr>
          <p:spPr bwMode="auto">
            <a:xfrm>
              <a:off x="1701" y="2930"/>
              <a:ext cx="91" cy="9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7568" name="Oval 48"/>
            <p:cNvSpPr>
              <a:spLocks noChangeArrowheads="1"/>
            </p:cNvSpPr>
            <p:nvPr/>
          </p:nvSpPr>
          <p:spPr bwMode="auto">
            <a:xfrm>
              <a:off x="1701" y="3067"/>
              <a:ext cx="91" cy="9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7569" name="Oval 49"/>
            <p:cNvSpPr>
              <a:spLocks noChangeArrowheads="1"/>
            </p:cNvSpPr>
            <p:nvPr/>
          </p:nvSpPr>
          <p:spPr bwMode="auto">
            <a:xfrm>
              <a:off x="1701" y="3203"/>
              <a:ext cx="91" cy="9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7570" name="Oval 50"/>
            <p:cNvSpPr>
              <a:spLocks noChangeArrowheads="1"/>
            </p:cNvSpPr>
            <p:nvPr/>
          </p:nvSpPr>
          <p:spPr bwMode="auto">
            <a:xfrm>
              <a:off x="1701" y="3339"/>
              <a:ext cx="91" cy="9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7571" name="Oval 51"/>
            <p:cNvSpPr>
              <a:spLocks noChangeArrowheads="1"/>
            </p:cNvSpPr>
            <p:nvPr/>
          </p:nvSpPr>
          <p:spPr bwMode="auto">
            <a:xfrm>
              <a:off x="1701" y="3475"/>
              <a:ext cx="91" cy="9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7572" name="Oval 52"/>
            <p:cNvSpPr>
              <a:spLocks noChangeArrowheads="1"/>
            </p:cNvSpPr>
            <p:nvPr/>
          </p:nvSpPr>
          <p:spPr bwMode="auto">
            <a:xfrm>
              <a:off x="1701" y="3611"/>
              <a:ext cx="91" cy="9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7573" name="Oval 53"/>
            <p:cNvSpPr>
              <a:spLocks noChangeArrowheads="1"/>
            </p:cNvSpPr>
            <p:nvPr/>
          </p:nvSpPr>
          <p:spPr bwMode="auto">
            <a:xfrm>
              <a:off x="1701" y="3747"/>
              <a:ext cx="91" cy="9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7574" name="Line 54"/>
            <p:cNvSpPr>
              <a:spLocks noChangeShapeType="1"/>
            </p:cNvSpPr>
            <p:nvPr/>
          </p:nvSpPr>
          <p:spPr bwMode="auto">
            <a:xfrm flipH="1">
              <a:off x="930" y="3067"/>
              <a:ext cx="3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7575" name="Line 55"/>
            <p:cNvSpPr>
              <a:spLocks noChangeShapeType="1"/>
            </p:cNvSpPr>
            <p:nvPr/>
          </p:nvSpPr>
          <p:spPr bwMode="auto">
            <a:xfrm flipH="1">
              <a:off x="930" y="3339"/>
              <a:ext cx="3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7576" name="Line 56"/>
            <p:cNvSpPr>
              <a:spLocks noChangeShapeType="1"/>
            </p:cNvSpPr>
            <p:nvPr/>
          </p:nvSpPr>
          <p:spPr bwMode="auto">
            <a:xfrm flipH="1">
              <a:off x="930" y="3612"/>
              <a:ext cx="3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7577" name="Line 57"/>
            <p:cNvSpPr>
              <a:spLocks noChangeShapeType="1"/>
            </p:cNvSpPr>
            <p:nvPr/>
          </p:nvSpPr>
          <p:spPr bwMode="auto">
            <a:xfrm>
              <a:off x="1791" y="2840"/>
              <a:ext cx="5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7578" name="Line 58"/>
            <p:cNvSpPr>
              <a:spLocks noChangeShapeType="1"/>
            </p:cNvSpPr>
            <p:nvPr/>
          </p:nvSpPr>
          <p:spPr bwMode="auto">
            <a:xfrm flipV="1">
              <a:off x="2381" y="2568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7579" name="Line 59"/>
            <p:cNvSpPr>
              <a:spLocks noChangeShapeType="1"/>
            </p:cNvSpPr>
            <p:nvPr/>
          </p:nvSpPr>
          <p:spPr bwMode="auto">
            <a:xfrm>
              <a:off x="1791" y="2976"/>
              <a:ext cx="18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7580" name="Line 60"/>
            <p:cNvSpPr>
              <a:spLocks noChangeShapeType="1"/>
            </p:cNvSpPr>
            <p:nvPr/>
          </p:nvSpPr>
          <p:spPr bwMode="auto">
            <a:xfrm>
              <a:off x="3651" y="2568"/>
              <a:ext cx="0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7581" name="Line 61"/>
            <p:cNvSpPr>
              <a:spLocks noChangeShapeType="1"/>
            </p:cNvSpPr>
            <p:nvPr/>
          </p:nvSpPr>
          <p:spPr bwMode="auto">
            <a:xfrm>
              <a:off x="1791" y="3113"/>
              <a:ext cx="308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7582" name="Line 62"/>
            <p:cNvSpPr>
              <a:spLocks noChangeShapeType="1"/>
            </p:cNvSpPr>
            <p:nvPr/>
          </p:nvSpPr>
          <p:spPr bwMode="auto">
            <a:xfrm>
              <a:off x="4876" y="2568"/>
              <a:ext cx="0" cy="5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7583" name="Line 63"/>
            <p:cNvSpPr>
              <a:spLocks noChangeShapeType="1"/>
            </p:cNvSpPr>
            <p:nvPr/>
          </p:nvSpPr>
          <p:spPr bwMode="auto">
            <a:xfrm>
              <a:off x="930" y="1480"/>
              <a:ext cx="44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7584" name="Line 64"/>
            <p:cNvSpPr>
              <a:spLocks noChangeShapeType="1"/>
            </p:cNvSpPr>
            <p:nvPr/>
          </p:nvSpPr>
          <p:spPr bwMode="auto">
            <a:xfrm>
              <a:off x="930" y="1162"/>
              <a:ext cx="41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7585" name="Line 65"/>
            <p:cNvSpPr>
              <a:spLocks noChangeShapeType="1"/>
            </p:cNvSpPr>
            <p:nvPr/>
          </p:nvSpPr>
          <p:spPr bwMode="auto">
            <a:xfrm>
              <a:off x="930" y="890"/>
              <a:ext cx="38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7586" name="Line 66"/>
            <p:cNvSpPr>
              <a:spLocks noChangeShapeType="1"/>
            </p:cNvSpPr>
            <p:nvPr/>
          </p:nvSpPr>
          <p:spPr bwMode="auto">
            <a:xfrm flipV="1">
              <a:off x="4740" y="890"/>
              <a:ext cx="0" cy="9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7587" name="Line 67"/>
            <p:cNvSpPr>
              <a:spLocks noChangeShapeType="1"/>
            </p:cNvSpPr>
            <p:nvPr/>
          </p:nvSpPr>
          <p:spPr bwMode="auto">
            <a:xfrm flipV="1">
              <a:off x="5057" y="1162"/>
              <a:ext cx="0" cy="6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7588" name="Line 68"/>
            <p:cNvSpPr>
              <a:spLocks noChangeShapeType="1"/>
            </p:cNvSpPr>
            <p:nvPr/>
          </p:nvSpPr>
          <p:spPr bwMode="auto">
            <a:xfrm flipV="1">
              <a:off x="3833" y="890"/>
              <a:ext cx="0" cy="9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7589" name="Line 69"/>
            <p:cNvSpPr>
              <a:spLocks noChangeShapeType="1"/>
            </p:cNvSpPr>
            <p:nvPr/>
          </p:nvSpPr>
          <p:spPr bwMode="auto">
            <a:xfrm flipV="1">
              <a:off x="3515" y="1162"/>
              <a:ext cx="0" cy="6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7590" name="Line 70"/>
            <p:cNvSpPr>
              <a:spLocks noChangeShapeType="1"/>
            </p:cNvSpPr>
            <p:nvPr/>
          </p:nvSpPr>
          <p:spPr bwMode="auto">
            <a:xfrm flipV="1">
              <a:off x="2562" y="1162"/>
              <a:ext cx="0" cy="6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7591" name="Line 71"/>
            <p:cNvSpPr>
              <a:spLocks noChangeShapeType="1"/>
            </p:cNvSpPr>
            <p:nvPr/>
          </p:nvSpPr>
          <p:spPr bwMode="auto">
            <a:xfrm flipV="1">
              <a:off x="2245" y="890"/>
              <a:ext cx="0" cy="9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7592" name="Line 72"/>
            <p:cNvSpPr>
              <a:spLocks noChangeShapeType="1"/>
            </p:cNvSpPr>
            <p:nvPr/>
          </p:nvSpPr>
          <p:spPr bwMode="auto">
            <a:xfrm flipV="1">
              <a:off x="1882" y="1480"/>
              <a:ext cx="0" cy="4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7593" name="Line 73"/>
            <p:cNvSpPr>
              <a:spLocks noChangeShapeType="1"/>
            </p:cNvSpPr>
            <p:nvPr/>
          </p:nvSpPr>
          <p:spPr bwMode="auto">
            <a:xfrm flipV="1">
              <a:off x="3198" y="1480"/>
              <a:ext cx="0" cy="4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7594" name="Line 74"/>
            <p:cNvSpPr>
              <a:spLocks noChangeShapeType="1"/>
            </p:cNvSpPr>
            <p:nvPr/>
          </p:nvSpPr>
          <p:spPr bwMode="auto">
            <a:xfrm flipV="1">
              <a:off x="4422" y="1480"/>
              <a:ext cx="0" cy="4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7595" name="Oval 75"/>
            <p:cNvSpPr>
              <a:spLocks noChangeArrowheads="1"/>
            </p:cNvSpPr>
            <p:nvPr/>
          </p:nvSpPr>
          <p:spPr bwMode="auto">
            <a:xfrm>
              <a:off x="2200" y="845"/>
              <a:ext cx="91" cy="9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7596" name="Oval 76"/>
            <p:cNvSpPr>
              <a:spLocks noChangeArrowheads="1"/>
            </p:cNvSpPr>
            <p:nvPr/>
          </p:nvSpPr>
          <p:spPr bwMode="auto">
            <a:xfrm>
              <a:off x="2517" y="1117"/>
              <a:ext cx="91" cy="9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7597" name="Oval 77"/>
            <p:cNvSpPr>
              <a:spLocks noChangeArrowheads="1"/>
            </p:cNvSpPr>
            <p:nvPr/>
          </p:nvSpPr>
          <p:spPr bwMode="auto">
            <a:xfrm>
              <a:off x="3470" y="1117"/>
              <a:ext cx="91" cy="9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7598" name="Oval 78"/>
            <p:cNvSpPr>
              <a:spLocks noChangeArrowheads="1"/>
            </p:cNvSpPr>
            <p:nvPr/>
          </p:nvSpPr>
          <p:spPr bwMode="auto">
            <a:xfrm>
              <a:off x="3787" y="845"/>
              <a:ext cx="91" cy="9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7599" name="Rectangle 79"/>
            <p:cNvSpPr>
              <a:spLocks noChangeArrowheads="1"/>
            </p:cNvSpPr>
            <p:nvPr/>
          </p:nvSpPr>
          <p:spPr bwMode="auto">
            <a:xfrm>
              <a:off x="385" y="2024"/>
              <a:ext cx="40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CPU</a:t>
              </a:r>
            </a:p>
          </p:txBody>
        </p:sp>
        <p:sp>
          <p:nvSpPr>
            <p:cNvPr id="107600" name="Rectangle 80"/>
            <p:cNvSpPr>
              <a:spLocks noChangeArrowheads="1"/>
            </p:cNvSpPr>
            <p:nvPr/>
          </p:nvSpPr>
          <p:spPr bwMode="auto">
            <a:xfrm>
              <a:off x="521" y="3430"/>
              <a:ext cx="4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AB</a:t>
              </a:r>
              <a:r>
                <a:rPr kumimoji="1" lang="en-US" altLang="zh-CN" sz="24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16</a:t>
              </a:r>
            </a:p>
          </p:txBody>
        </p:sp>
        <p:sp>
          <p:nvSpPr>
            <p:cNvPr id="107601" name="Rectangle 81"/>
            <p:cNvSpPr>
              <a:spLocks noChangeArrowheads="1"/>
            </p:cNvSpPr>
            <p:nvPr/>
          </p:nvSpPr>
          <p:spPr bwMode="auto">
            <a:xfrm>
              <a:off x="521" y="3158"/>
              <a:ext cx="4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AB</a:t>
              </a:r>
              <a:r>
                <a:rPr kumimoji="1" lang="en-US" altLang="zh-CN" sz="24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15</a:t>
              </a:r>
            </a:p>
          </p:txBody>
        </p:sp>
        <p:sp>
          <p:nvSpPr>
            <p:cNvPr id="107602" name="Rectangle 82"/>
            <p:cNvSpPr>
              <a:spLocks noChangeArrowheads="1"/>
            </p:cNvSpPr>
            <p:nvPr/>
          </p:nvSpPr>
          <p:spPr bwMode="auto">
            <a:xfrm>
              <a:off x="521" y="2931"/>
              <a:ext cx="4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AB</a:t>
              </a:r>
              <a:r>
                <a:rPr kumimoji="1" lang="en-US" altLang="zh-CN" sz="24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14</a:t>
              </a:r>
            </a:p>
          </p:txBody>
        </p:sp>
        <p:sp>
          <p:nvSpPr>
            <p:cNvPr id="107603" name="Rectangle 83"/>
            <p:cNvSpPr>
              <a:spLocks noChangeArrowheads="1"/>
            </p:cNvSpPr>
            <p:nvPr/>
          </p:nvSpPr>
          <p:spPr bwMode="auto">
            <a:xfrm>
              <a:off x="1292" y="3430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A</a:t>
              </a:r>
              <a:r>
                <a:rPr kumimoji="1" lang="en-US" altLang="zh-CN" sz="24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2</a:t>
              </a:r>
            </a:p>
          </p:txBody>
        </p:sp>
        <p:sp>
          <p:nvSpPr>
            <p:cNvPr id="107604" name="Rectangle 84"/>
            <p:cNvSpPr>
              <a:spLocks noChangeArrowheads="1"/>
            </p:cNvSpPr>
            <p:nvPr/>
          </p:nvSpPr>
          <p:spPr bwMode="auto">
            <a:xfrm>
              <a:off x="1292" y="3203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A</a:t>
              </a:r>
              <a:r>
                <a:rPr kumimoji="1" lang="en-US" altLang="zh-CN" sz="24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</a:t>
              </a:r>
            </a:p>
          </p:txBody>
        </p:sp>
        <p:sp>
          <p:nvSpPr>
            <p:cNvPr id="107605" name="Rectangle 85"/>
            <p:cNvSpPr>
              <a:spLocks noChangeArrowheads="1"/>
            </p:cNvSpPr>
            <p:nvPr/>
          </p:nvSpPr>
          <p:spPr bwMode="auto">
            <a:xfrm>
              <a:off x="1292" y="2931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A</a:t>
              </a:r>
              <a:r>
                <a:rPr kumimoji="1" lang="en-US" altLang="zh-CN" sz="24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0</a:t>
              </a:r>
            </a:p>
          </p:txBody>
        </p:sp>
        <p:sp>
          <p:nvSpPr>
            <p:cNvPr id="107606" name="Rectangle 86"/>
            <p:cNvSpPr>
              <a:spLocks noChangeArrowheads="1"/>
            </p:cNvSpPr>
            <p:nvPr/>
          </p:nvSpPr>
          <p:spPr bwMode="auto">
            <a:xfrm>
              <a:off x="1791" y="2523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Z</a:t>
              </a:r>
              <a:r>
                <a:rPr kumimoji="1" lang="en-US" altLang="zh-CN" sz="24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0</a:t>
              </a:r>
            </a:p>
          </p:txBody>
        </p:sp>
        <p:sp>
          <p:nvSpPr>
            <p:cNvPr id="107607" name="Line 87"/>
            <p:cNvSpPr>
              <a:spLocks noChangeShapeType="1"/>
            </p:cNvSpPr>
            <p:nvPr/>
          </p:nvSpPr>
          <p:spPr bwMode="auto">
            <a:xfrm>
              <a:off x="1837" y="2569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7608" name="Rectangle 88"/>
            <p:cNvSpPr>
              <a:spLocks noChangeArrowheads="1"/>
            </p:cNvSpPr>
            <p:nvPr/>
          </p:nvSpPr>
          <p:spPr bwMode="auto">
            <a:xfrm>
              <a:off x="1791" y="3657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Z</a:t>
              </a:r>
              <a:r>
                <a:rPr kumimoji="1" lang="en-US" altLang="zh-CN" sz="24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7</a:t>
              </a:r>
            </a:p>
          </p:txBody>
        </p:sp>
        <p:sp>
          <p:nvSpPr>
            <p:cNvPr id="107609" name="Line 89"/>
            <p:cNvSpPr>
              <a:spLocks noChangeShapeType="1"/>
            </p:cNvSpPr>
            <p:nvPr/>
          </p:nvSpPr>
          <p:spPr bwMode="auto">
            <a:xfrm>
              <a:off x="1837" y="3702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7610" name="Rectangle 90"/>
            <p:cNvSpPr>
              <a:spLocks noChangeArrowheads="1"/>
            </p:cNvSpPr>
            <p:nvPr/>
          </p:nvSpPr>
          <p:spPr bwMode="auto">
            <a:xfrm>
              <a:off x="1111" y="2478"/>
              <a:ext cx="59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74138</a:t>
              </a:r>
              <a:endParaRPr kumimoji="1" lang="en-US" altLang="zh-CN" sz="24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7611" name="Line 91"/>
            <p:cNvSpPr>
              <a:spLocks noChangeShapeType="1"/>
            </p:cNvSpPr>
            <p:nvPr/>
          </p:nvSpPr>
          <p:spPr bwMode="auto">
            <a:xfrm>
              <a:off x="5329" y="2205"/>
              <a:ext cx="2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</p:grpSp>
      <p:sp>
        <p:nvSpPr>
          <p:cNvPr id="107612" name="Rectangle 92"/>
          <p:cNvSpPr>
            <a:spLocks noChangeArrowheads="1"/>
          </p:cNvSpPr>
          <p:nvPr/>
        </p:nvSpPr>
        <p:spPr bwMode="auto">
          <a:xfrm>
            <a:off x="222250" y="228600"/>
            <a:ext cx="7702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例：在总线传送中利用译码器实现片选。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76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76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75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75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612" grpId="0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黑体" panose="02010609060101010101" pitchFamily="49" charset="-122"/>
            <a:ea typeface="黑体" panose="020106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黑体" panose="02010609060101010101" pitchFamily="49" charset="-122"/>
            <a:ea typeface="黑体" panose="02010609060101010101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1367</Words>
  <Application>Microsoft Office PowerPoint</Application>
  <PresentationFormat>全屏显示(4:3)</PresentationFormat>
  <Paragraphs>349</Paragraphs>
  <Slides>26</Slides>
  <Notes>26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2" baseType="lpstr">
      <vt:lpstr>黑体</vt:lpstr>
      <vt:lpstr>Arial</vt:lpstr>
      <vt:lpstr>Arial Black</vt:lpstr>
      <vt:lpstr>Times New Roman</vt:lpstr>
      <vt:lpstr>默认设计模板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uestc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zhanjy</dc:creator>
  <cp:lastModifiedBy>正华 吴</cp:lastModifiedBy>
  <cp:revision>307</cp:revision>
  <dcterms:created xsi:type="dcterms:W3CDTF">2008-09-01T01:34:59Z</dcterms:created>
  <dcterms:modified xsi:type="dcterms:W3CDTF">2024-04-26T05:41:31Z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2052-11.1.0.9912</vt:lpwstr>
  </property>
</Properties>
</file>