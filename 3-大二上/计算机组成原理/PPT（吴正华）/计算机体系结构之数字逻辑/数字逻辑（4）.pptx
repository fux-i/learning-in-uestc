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27" r:id="rId3"/>
    <p:sldId id="328" r:id="rId4"/>
    <p:sldId id="329" r:id="rId5"/>
    <p:sldId id="330" r:id="rId6"/>
    <p:sldId id="331" r:id="rId7"/>
    <p:sldId id="332" r:id="rId8"/>
    <p:sldId id="338" r:id="rId9"/>
    <p:sldId id="339" r:id="rId10"/>
    <p:sldId id="340" r:id="rId11"/>
    <p:sldId id="341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356" r:id="rId24"/>
    <p:sldId id="357" r:id="rId25"/>
    <p:sldId id="359" r:id="rId2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FF"/>
    <a:srgbClr val="FFFF00"/>
    <a:srgbClr val="FF99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8"/>
    <p:restoredTop sz="94660"/>
  </p:normalViewPr>
  <p:slideViewPr>
    <p:cSldViewPr showGuides="1">
      <p:cViewPr varScale="1">
        <p:scale>
          <a:sx n="82" d="100"/>
          <a:sy n="82" d="100"/>
        </p:scale>
        <p:origin x="124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26C5BF-DCFF-48DF-9CAB-4695E3C7C3BE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</a:t>
            </a:fld>
            <a:endParaRPr lang="en-US" altLang="zh-CN" sz="1200" dirty="0"/>
          </a:p>
        </p:txBody>
      </p:sp>
      <p:sp>
        <p:nvSpPr>
          <p:cNvPr id="40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</a:t>
            </a:fld>
            <a:endParaRPr lang="en-US" altLang="zh-CN" sz="1200" dirty="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3</a:t>
            </a:fld>
            <a:endParaRPr lang="en-US" altLang="zh-CN" sz="1200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4</a:t>
            </a:fld>
            <a:endParaRPr lang="en-US" altLang="zh-CN" sz="1200" dirty="0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5</a:t>
            </a:fld>
            <a:endParaRPr lang="en-US" altLang="zh-CN" sz="1200" dirty="0"/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6</a:t>
            </a:fld>
            <a:endParaRPr lang="en-US" altLang="zh-CN" sz="1200" dirty="0"/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7</a:t>
            </a:fld>
            <a:endParaRPr lang="en-US" altLang="zh-CN" sz="1200" dirty="0"/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8</a:t>
            </a:fld>
            <a:endParaRPr lang="en-US" altLang="zh-CN" sz="1200" dirty="0"/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9</a:t>
            </a:fld>
            <a:endParaRPr lang="en-US" altLang="zh-CN" sz="12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10</a:t>
            </a:fld>
            <a:endParaRPr lang="en-US" altLang="zh-CN" sz="1200" dirty="0"/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11</a:t>
            </a:fld>
            <a:endParaRPr lang="en-US" altLang="zh-CN" sz="1200" dirty="0"/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12</a:t>
            </a:fld>
            <a:endParaRPr lang="en-US" altLang="zh-CN" sz="1200" dirty="0"/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13</a:t>
            </a:fld>
            <a:endParaRPr lang="en-US" altLang="zh-CN" sz="1200" dirty="0"/>
          </a:p>
        </p:txBody>
      </p:sp>
      <p:sp>
        <p:nvSpPr>
          <p:cNvPr id="4915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14</a:t>
            </a:fld>
            <a:endParaRPr lang="en-US" altLang="zh-CN" sz="1200" dirty="0"/>
          </a:p>
        </p:txBody>
      </p:sp>
      <p:sp>
        <p:nvSpPr>
          <p:cNvPr id="5120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15</a:t>
            </a:fld>
            <a:endParaRPr lang="en-US" altLang="zh-CN" sz="1200" dirty="0"/>
          </a:p>
        </p:txBody>
      </p:sp>
      <p:sp>
        <p:nvSpPr>
          <p:cNvPr id="5325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16</a:t>
            </a:fld>
            <a:endParaRPr lang="en-US" altLang="zh-CN" sz="1200" dirty="0"/>
          </a:p>
        </p:txBody>
      </p:sp>
      <p:sp>
        <p:nvSpPr>
          <p:cNvPr id="552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17</a:t>
            </a:fld>
            <a:endParaRPr lang="en-US" altLang="zh-CN" sz="1200" dirty="0"/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直接置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和直接置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端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都是低电平有效，平时应该保持为高电平。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18</a:t>
            </a:fld>
            <a:endParaRPr lang="en-US" altLang="zh-CN" sz="1200" dirty="0"/>
          </a:p>
        </p:txBody>
      </p:sp>
      <p:sp>
        <p:nvSpPr>
          <p:cNvPr id="593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19</a:t>
            </a:fld>
            <a:endParaRPr lang="en-US" altLang="zh-CN" sz="1200" dirty="0"/>
          </a:p>
        </p:txBody>
      </p:sp>
      <p:sp>
        <p:nvSpPr>
          <p:cNvPr id="614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20</a:t>
            </a:fld>
            <a:endParaRPr lang="en-US" altLang="zh-CN" sz="1200" dirty="0"/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21</a:t>
            </a:fld>
            <a:endParaRPr lang="en-US" altLang="zh-CN" sz="1200" dirty="0"/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22</a:t>
            </a:fld>
            <a:endParaRPr lang="en-US" altLang="zh-CN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23</a:t>
            </a:fld>
            <a:endParaRPr lang="en-US" altLang="zh-CN" sz="1200" dirty="0"/>
          </a:p>
        </p:txBody>
      </p:sp>
      <p:sp>
        <p:nvSpPr>
          <p:cNvPr id="10445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24</a:t>
            </a:fld>
            <a:endParaRPr lang="en-US" altLang="zh-CN" sz="1200" dirty="0"/>
          </a:p>
        </p:txBody>
      </p:sp>
      <p:sp>
        <p:nvSpPr>
          <p:cNvPr id="10649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25</a:t>
            </a:fld>
            <a:endParaRPr lang="en-US" altLang="zh-CN" sz="1200" dirty="0"/>
          </a:p>
        </p:txBody>
      </p:sp>
      <p:sp>
        <p:nvSpPr>
          <p:cNvPr id="1105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88681F-1A77-4AF9-9CD4-15E3C94ECE7D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</a:t>
            </a:fld>
            <a:endParaRPr lang="en-US" altLang="zh-CN" sz="1400" dirty="0"/>
          </a:p>
        </p:txBody>
      </p:sp>
      <p:sp>
        <p:nvSpPr>
          <p:cNvPr id="2050" name="Rectangle 2"/>
          <p:cNvSpPr/>
          <p:nvPr/>
        </p:nvSpPr>
        <p:spPr>
          <a:xfrm>
            <a:off x="2438400" y="457200"/>
            <a:ext cx="4191000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第五章 触发器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628650" y="1706563"/>
            <a:ext cx="30432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5.1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触发器概述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28650" y="2667000"/>
            <a:ext cx="345281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5.2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RS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28650" y="3657600"/>
            <a:ext cx="30432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5.3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钟控触发器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50875" y="4606925"/>
            <a:ext cx="30432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5.4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集成触发器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698500" y="5516563"/>
            <a:ext cx="50831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5.5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各类触发器的相互转换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nimBg="1"/>
      <p:bldP spid="2051" grpId="0" animBg="1"/>
      <p:bldP spid="2052" grpId="0" animBg="1"/>
      <p:bldP spid="2053" grpId="0" animBg="1"/>
      <p:bldP spid="2054" grpId="0" animBg="1"/>
      <p:bldP spid="205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</a:t>
            </a:fld>
            <a:endParaRPr lang="en-US" altLang="zh-CN" sz="1400" dirty="0"/>
          </a:p>
        </p:txBody>
      </p:sp>
      <p:sp>
        <p:nvSpPr>
          <p:cNvPr id="146434" name="Rectangle 2"/>
          <p:cNvSpPr/>
          <p:nvPr/>
        </p:nvSpPr>
        <p:spPr>
          <a:xfrm>
            <a:off x="2057400" y="152400"/>
            <a:ext cx="4876800" cy="7620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5.1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触发器概述</a:t>
            </a:r>
          </a:p>
        </p:txBody>
      </p:sp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152400" y="1752600"/>
            <a:ext cx="88392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能够存储一位二进制信息的基本单元电路称触发器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(Flip-Flop)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152400" y="3733800"/>
            <a:ext cx="8845550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、具有两个能自行保持的稳定状态，用来表示逻辑状态的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，或表示二进制数的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grpSp>
        <p:nvGrpSpPr>
          <p:cNvPr id="146437" name="Group 5"/>
          <p:cNvGrpSpPr/>
          <p:nvPr/>
        </p:nvGrpSpPr>
        <p:grpSpPr>
          <a:xfrm>
            <a:off x="152400" y="4953000"/>
            <a:ext cx="5670550" cy="579438"/>
            <a:chOff x="144" y="3264"/>
            <a:chExt cx="3572" cy="365"/>
          </a:xfrm>
        </p:grpSpPr>
        <p:sp>
          <p:nvSpPr>
            <p:cNvPr id="146438" name="Rectangle 6"/>
            <p:cNvSpPr>
              <a:spLocks noChangeArrowheads="1"/>
            </p:cNvSpPr>
            <p:nvPr/>
          </p:nvSpPr>
          <p:spPr bwMode="auto">
            <a:xfrm>
              <a:off x="144" y="3264"/>
              <a:ext cx="3572" cy="36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、具有一对互补输出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 Q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、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 )</a:t>
              </a:r>
            </a:p>
          </p:txBody>
        </p:sp>
        <p:sp>
          <p:nvSpPr>
            <p:cNvPr id="5136" name="Line 7"/>
            <p:cNvSpPr/>
            <p:nvPr/>
          </p:nvSpPr>
          <p:spPr>
            <a:xfrm>
              <a:off x="3226" y="3347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152400" y="1031875"/>
            <a:ext cx="34353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一、触发器的定义</a:t>
            </a: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152400" y="3048000"/>
            <a:ext cx="46545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二、触发器应具备的特点</a:t>
            </a:r>
          </a:p>
        </p:txBody>
      </p:sp>
      <p:grpSp>
        <p:nvGrpSpPr>
          <p:cNvPr id="146442" name="Group 10"/>
          <p:cNvGrpSpPr/>
          <p:nvPr/>
        </p:nvGrpSpPr>
        <p:grpSpPr>
          <a:xfrm>
            <a:off x="381000" y="6202363"/>
            <a:ext cx="7251700" cy="579437"/>
            <a:chOff x="240" y="864"/>
            <a:chExt cx="4568" cy="365"/>
          </a:xfrm>
        </p:grpSpPr>
        <p:sp>
          <p:nvSpPr>
            <p:cNvPr id="146443" name="Rectangle 11"/>
            <p:cNvSpPr>
              <a:spLocks noChangeArrowheads="1"/>
            </p:cNvSpPr>
            <p:nvPr/>
          </p:nvSpPr>
          <p:spPr bwMode="auto">
            <a:xfrm>
              <a:off x="240" y="864"/>
              <a:ext cx="45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当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Q=0( Q=1 )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时称触发器存储了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charset="0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charset="0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。</a:t>
              </a:r>
            </a:p>
          </p:txBody>
        </p:sp>
        <p:sp>
          <p:nvSpPr>
            <p:cNvPr id="5134" name="Line 12"/>
            <p:cNvSpPr/>
            <p:nvPr/>
          </p:nvSpPr>
          <p:spPr>
            <a:xfrm>
              <a:off x="1440" y="91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6445" name="Group 13"/>
          <p:cNvGrpSpPr/>
          <p:nvPr/>
        </p:nvGrpSpPr>
        <p:grpSpPr>
          <a:xfrm>
            <a:off x="368300" y="5635625"/>
            <a:ext cx="7251700" cy="579438"/>
            <a:chOff x="240" y="864"/>
            <a:chExt cx="4568" cy="365"/>
          </a:xfrm>
        </p:grpSpPr>
        <p:sp>
          <p:nvSpPr>
            <p:cNvPr id="146446" name="Rectangle 14"/>
            <p:cNvSpPr>
              <a:spLocks noChangeArrowheads="1"/>
            </p:cNvSpPr>
            <p:nvPr/>
          </p:nvSpPr>
          <p:spPr bwMode="auto">
            <a:xfrm>
              <a:off x="240" y="864"/>
              <a:ext cx="45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当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Q=1( Q=0 )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时称触发器存储了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charset="0"/>
                  <a:ea typeface="黑体" panose="02010609060101010101" pitchFamily="49" charset="-122"/>
                  <a:cs typeface="+mn-cs"/>
                </a:rPr>
                <a:t>“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charset="0"/>
                  <a:ea typeface="黑体" panose="02010609060101010101" pitchFamily="49" charset="-122"/>
                  <a:cs typeface="+mn-cs"/>
                </a:rPr>
                <a:t>”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；</a:t>
              </a:r>
            </a:p>
          </p:txBody>
        </p:sp>
        <p:sp>
          <p:nvSpPr>
            <p:cNvPr id="5132" name="Line 15"/>
            <p:cNvSpPr/>
            <p:nvPr/>
          </p:nvSpPr>
          <p:spPr>
            <a:xfrm>
              <a:off x="1440" y="91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 animBg="1"/>
      <p:bldP spid="146435" grpId="0" animBg="1"/>
      <p:bldP spid="146436" grpId="0" animBg="1"/>
      <p:bldP spid="146440" grpId="0" animBg="1"/>
      <p:bldP spid="1464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3</a:t>
            </a:fld>
            <a:endParaRPr lang="en-US" altLang="zh-CN" sz="1400" dirty="0"/>
          </a:p>
        </p:txBody>
      </p:sp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71450" y="214313"/>
            <a:ext cx="64833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、有一组控制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激励、驱动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输入。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71450" y="955675"/>
            <a:ext cx="7905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、或许有定时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时钟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CP(Clock Pulse)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179388" y="1662113"/>
            <a:ext cx="8743950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、在输入信号消失后，电路能将获得的新状态保存下来。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180975" y="2860675"/>
            <a:ext cx="8734425" cy="204152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、触发器接收输入信号之前的状态叫做现态，用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表示。触发器接收输入信号之后的状态叫做次态，用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表示。现态和次态是两个相邻离散时间里触发器输出端的状态。</a:t>
            </a:r>
          </a:p>
        </p:txBody>
      </p:sp>
      <p:sp>
        <p:nvSpPr>
          <p:cNvPr id="148486" name="Rectangle 6"/>
          <p:cNvSpPr>
            <a:spLocks noChangeArrowheads="1"/>
          </p:cNvSpPr>
          <p:nvPr/>
        </p:nvSpPr>
        <p:spPr bwMode="auto">
          <a:xfrm>
            <a:off x="185738" y="5040313"/>
            <a:ext cx="8729663" cy="155416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7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与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和输入信号之间的逻辑关系，是贯穿本章始终的基本问题，如何获得、描述和理解这种逻辑关系，是本章学习的中心任务。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nimBg="1"/>
      <p:bldP spid="148483" grpId="0" animBg="1"/>
      <p:bldP spid="148484" grpId="0" animBg="1"/>
      <p:bldP spid="148485" grpId="0" animBg="1"/>
      <p:bldP spid="14848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4</a:t>
            </a:fld>
            <a:endParaRPr lang="en-US" altLang="zh-CN" sz="1400" dirty="0"/>
          </a:p>
        </p:txBody>
      </p:sp>
      <p:sp>
        <p:nvSpPr>
          <p:cNvPr id="150530" name="Rectangle 2"/>
          <p:cNvSpPr/>
          <p:nvPr/>
        </p:nvSpPr>
        <p:spPr>
          <a:xfrm>
            <a:off x="1905000" y="228600"/>
            <a:ext cx="5334000" cy="7620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171450" y="2011363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、电路结构</a:t>
            </a:r>
          </a:p>
        </p:txBody>
      </p:sp>
      <p:grpSp>
        <p:nvGrpSpPr>
          <p:cNvPr id="150532" name="Group 4"/>
          <p:cNvGrpSpPr/>
          <p:nvPr/>
        </p:nvGrpSpPr>
        <p:grpSpPr>
          <a:xfrm>
            <a:off x="5562600" y="2784475"/>
            <a:ext cx="2362200" cy="3284538"/>
            <a:chOff x="3504" y="1440"/>
            <a:chExt cx="1488" cy="2069"/>
          </a:xfrm>
        </p:grpSpPr>
        <p:sp>
          <p:nvSpPr>
            <p:cNvPr id="9255" name="Rectangle 5"/>
            <p:cNvSpPr/>
            <p:nvPr/>
          </p:nvSpPr>
          <p:spPr>
            <a:xfrm>
              <a:off x="3504" y="2064"/>
              <a:ext cx="1488" cy="7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56" name="Line 6"/>
            <p:cNvSpPr/>
            <p:nvPr/>
          </p:nvSpPr>
          <p:spPr>
            <a:xfrm>
              <a:off x="3840" y="2880"/>
              <a:ext cx="1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7" name="Line 7"/>
            <p:cNvSpPr/>
            <p:nvPr/>
          </p:nvSpPr>
          <p:spPr>
            <a:xfrm>
              <a:off x="4704" y="2880"/>
              <a:ext cx="1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8" name="Line 8"/>
            <p:cNvSpPr/>
            <p:nvPr/>
          </p:nvSpPr>
          <p:spPr>
            <a:xfrm flipV="1">
              <a:off x="4704" y="1728"/>
              <a:ext cx="1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9" name="Line 9"/>
            <p:cNvSpPr/>
            <p:nvPr/>
          </p:nvSpPr>
          <p:spPr>
            <a:xfrm flipV="1">
              <a:off x="3840" y="1824"/>
              <a:ext cx="1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38" name="Rectangle 10"/>
            <p:cNvSpPr>
              <a:spLocks noChangeArrowheads="1"/>
            </p:cNvSpPr>
            <p:nvPr/>
          </p:nvSpPr>
          <p:spPr bwMode="auto">
            <a:xfrm>
              <a:off x="3696" y="314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</a:p>
          </p:txBody>
        </p:sp>
        <p:sp>
          <p:nvSpPr>
            <p:cNvPr id="150539" name="Rectangle 11"/>
            <p:cNvSpPr>
              <a:spLocks noChangeArrowheads="1"/>
            </p:cNvSpPr>
            <p:nvPr/>
          </p:nvSpPr>
          <p:spPr bwMode="auto">
            <a:xfrm>
              <a:off x="4608" y="31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</a:p>
          </p:txBody>
        </p:sp>
        <p:sp>
          <p:nvSpPr>
            <p:cNvPr id="9262" name="Line 12"/>
            <p:cNvSpPr/>
            <p:nvPr/>
          </p:nvSpPr>
          <p:spPr>
            <a:xfrm>
              <a:off x="3744" y="3168"/>
              <a:ext cx="14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3" name="Line 13"/>
            <p:cNvSpPr/>
            <p:nvPr/>
          </p:nvSpPr>
          <p:spPr>
            <a:xfrm>
              <a:off x="4608" y="3168"/>
              <a:ext cx="19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42" name="Rectangle 14"/>
            <p:cNvSpPr>
              <a:spLocks noChangeArrowheads="1"/>
            </p:cNvSpPr>
            <p:nvPr/>
          </p:nvSpPr>
          <p:spPr bwMode="auto">
            <a:xfrm>
              <a:off x="3696" y="144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150543" name="Rectangle 15"/>
            <p:cNvSpPr>
              <a:spLocks noChangeArrowheads="1"/>
            </p:cNvSpPr>
            <p:nvPr/>
          </p:nvSpPr>
          <p:spPr bwMode="auto">
            <a:xfrm>
              <a:off x="4704" y="144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9266" name="Line 16"/>
            <p:cNvSpPr/>
            <p:nvPr/>
          </p:nvSpPr>
          <p:spPr>
            <a:xfrm>
              <a:off x="4752" y="1512"/>
              <a:ext cx="14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7" name="Oval 17"/>
            <p:cNvSpPr/>
            <p:nvPr/>
          </p:nvSpPr>
          <p:spPr>
            <a:xfrm>
              <a:off x="3792" y="278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68" name="Oval 18"/>
            <p:cNvSpPr/>
            <p:nvPr/>
          </p:nvSpPr>
          <p:spPr>
            <a:xfrm>
              <a:off x="4656" y="278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69" name="Oval 19"/>
            <p:cNvSpPr/>
            <p:nvPr/>
          </p:nvSpPr>
          <p:spPr>
            <a:xfrm>
              <a:off x="4656" y="1968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150548" name="Group 20"/>
          <p:cNvGrpSpPr/>
          <p:nvPr/>
        </p:nvGrpSpPr>
        <p:grpSpPr>
          <a:xfrm>
            <a:off x="1066800" y="2811463"/>
            <a:ext cx="3810000" cy="3284537"/>
            <a:chOff x="336" y="1560"/>
            <a:chExt cx="2400" cy="2069"/>
          </a:xfrm>
        </p:grpSpPr>
        <p:sp>
          <p:nvSpPr>
            <p:cNvPr id="9226" name="Rectangle 21"/>
            <p:cNvSpPr/>
            <p:nvPr/>
          </p:nvSpPr>
          <p:spPr>
            <a:xfrm>
              <a:off x="1680" y="2286"/>
              <a:ext cx="768" cy="38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27" name="Rectangle 22"/>
            <p:cNvSpPr/>
            <p:nvPr/>
          </p:nvSpPr>
          <p:spPr>
            <a:xfrm>
              <a:off x="384" y="2286"/>
              <a:ext cx="768" cy="38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28" name="Oval 23"/>
            <p:cNvSpPr/>
            <p:nvPr/>
          </p:nvSpPr>
          <p:spPr>
            <a:xfrm>
              <a:off x="720" y="2190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29" name="Oval 24"/>
            <p:cNvSpPr/>
            <p:nvPr/>
          </p:nvSpPr>
          <p:spPr>
            <a:xfrm>
              <a:off x="2016" y="2190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30" name="Line 25"/>
            <p:cNvSpPr/>
            <p:nvPr/>
          </p:nvSpPr>
          <p:spPr>
            <a:xfrm flipV="1">
              <a:off x="768" y="1902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1" name="Line 26"/>
            <p:cNvSpPr/>
            <p:nvPr/>
          </p:nvSpPr>
          <p:spPr>
            <a:xfrm flipV="1">
              <a:off x="2064" y="1902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2" name="Line 27"/>
            <p:cNvSpPr/>
            <p:nvPr/>
          </p:nvSpPr>
          <p:spPr>
            <a:xfrm>
              <a:off x="768" y="204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3" name="Line 28"/>
            <p:cNvSpPr/>
            <p:nvPr/>
          </p:nvSpPr>
          <p:spPr>
            <a:xfrm>
              <a:off x="1440" y="204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4" name="Line 29"/>
            <p:cNvSpPr/>
            <p:nvPr/>
          </p:nvSpPr>
          <p:spPr>
            <a:xfrm flipH="1">
              <a:off x="1152" y="2046"/>
              <a:ext cx="288" cy="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5" name="Line 30"/>
            <p:cNvSpPr/>
            <p:nvPr/>
          </p:nvSpPr>
          <p:spPr>
            <a:xfrm>
              <a:off x="1248" y="2046"/>
              <a:ext cx="48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6" name="Line 31"/>
            <p:cNvSpPr/>
            <p:nvPr/>
          </p:nvSpPr>
          <p:spPr>
            <a:xfrm>
              <a:off x="576" y="2670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7" name="Line 32"/>
            <p:cNvSpPr/>
            <p:nvPr/>
          </p:nvSpPr>
          <p:spPr>
            <a:xfrm>
              <a:off x="960" y="2670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8" name="Line 33"/>
            <p:cNvSpPr/>
            <p:nvPr/>
          </p:nvSpPr>
          <p:spPr>
            <a:xfrm>
              <a:off x="1872" y="267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9" name="Line 34"/>
            <p:cNvSpPr/>
            <p:nvPr/>
          </p:nvSpPr>
          <p:spPr>
            <a:xfrm>
              <a:off x="2256" y="2670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0" name="Line 35"/>
            <p:cNvSpPr/>
            <p:nvPr/>
          </p:nvSpPr>
          <p:spPr>
            <a:xfrm flipH="1">
              <a:off x="960" y="286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1" name="Line 36"/>
            <p:cNvSpPr/>
            <p:nvPr/>
          </p:nvSpPr>
          <p:spPr>
            <a:xfrm>
              <a:off x="1872" y="271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2" name="Line 37"/>
            <p:cNvSpPr/>
            <p:nvPr/>
          </p:nvSpPr>
          <p:spPr>
            <a:xfrm>
              <a:off x="1872" y="2862"/>
              <a:ext cx="0" cy="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Line 38"/>
            <p:cNvSpPr/>
            <p:nvPr/>
          </p:nvSpPr>
          <p:spPr>
            <a:xfrm flipH="1">
              <a:off x="1728" y="291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67" name="Rectangle 39"/>
            <p:cNvSpPr>
              <a:spLocks noChangeArrowheads="1"/>
            </p:cNvSpPr>
            <p:nvPr/>
          </p:nvSpPr>
          <p:spPr bwMode="auto">
            <a:xfrm>
              <a:off x="624" y="15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150568" name="Rectangle 40"/>
            <p:cNvSpPr>
              <a:spLocks noChangeArrowheads="1"/>
            </p:cNvSpPr>
            <p:nvPr/>
          </p:nvSpPr>
          <p:spPr bwMode="auto">
            <a:xfrm>
              <a:off x="1920" y="15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150569" name="Rectangle 41"/>
            <p:cNvSpPr>
              <a:spLocks noChangeArrowheads="1"/>
            </p:cNvSpPr>
            <p:nvPr/>
          </p:nvSpPr>
          <p:spPr bwMode="auto">
            <a:xfrm>
              <a:off x="336" y="324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S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0570" name="Rectangle 42"/>
            <p:cNvSpPr>
              <a:spLocks noChangeArrowheads="1"/>
            </p:cNvSpPr>
            <p:nvPr/>
          </p:nvSpPr>
          <p:spPr bwMode="auto">
            <a:xfrm>
              <a:off x="2064" y="326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R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248" name="Line 43"/>
            <p:cNvSpPr/>
            <p:nvPr/>
          </p:nvSpPr>
          <p:spPr>
            <a:xfrm>
              <a:off x="1968" y="161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9" name="Line 44"/>
            <p:cNvSpPr/>
            <p:nvPr/>
          </p:nvSpPr>
          <p:spPr>
            <a:xfrm>
              <a:off x="480" y="329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0" name="Line 45"/>
            <p:cNvSpPr/>
            <p:nvPr/>
          </p:nvSpPr>
          <p:spPr>
            <a:xfrm>
              <a:off x="2208" y="331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0574" name="Rectangle 46"/>
            <p:cNvSpPr>
              <a:spLocks noChangeArrowheads="1"/>
            </p:cNvSpPr>
            <p:nvPr/>
          </p:nvSpPr>
          <p:spPr bwMode="auto">
            <a:xfrm>
              <a:off x="624" y="22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50575" name="Rectangle 47"/>
            <p:cNvSpPr>
              <a:spLocks noChangeArrowheads="1"/>
            </p:cNvSpPr>
            <p:nvPr/>
          </p:nvSpPr>
          <p:spPr bwMode="auto">
            <a:xfrm>
              <a:off x="1920" y="22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9253" name="Oval 48"/>
            <p:cNvSpPr/>
            <p:nvPr/>
          </p:nvSpPr>
          <p:spPr>
            <a:xfrm>
              <a:off x="720" y="196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9254" name="Oval 49"/>
            <p:cNvSpPr/>
            <p:nvPr/>
          </p:nvSpPr>
          <p:spPr>
            <a:xfrm>
              <a:off x="2016" y="196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150578" name="Rectangle 50"/>
          <p:cNvSpPr/>
          <p:nvPr/>
        </p:nvSpPr>
        <p:spPr>
          <a:xfrm>
            <a:off x="152400" y="1143000"/>
            <a:ext cx="7070725" cy="7016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5.2.1 </a:t>
            </a:r>
            <a:r>
              <a:rPr lang="zh-CN" altLang="en-US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与非门构成的</a:t>
            </a:r>
            <a:r>
              <a:rPr lang="en-US" altLang="zh-CN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9224" name="AutoShape 51">
            <a:hlinkClick r:id="" action="ppaction://hlinkshowjump?jump=nextslide"/>
          </p:cNvPr>
          <p:cNvSpPr/>
          <p:nvPr/>
        </p:nvSpPr>
        <p:spPr>
          <a:xfrm>
            <a:off x="4572000" y="5867400"/>
            <a:ext cx="533400" cy="533400"/>
          </a:xfrm>
          <a:prstGeom prst="actionButtonForwardNext">
            <a:avLst/>
          </a:prstGeom>
          <a:solidFill>
            <a:srgbClr val="FFFFFF"/>
          </a:solidFill>
          <a:ln w="952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0580" name="Rectangle 52"/>
          <p:cNvSpPr>
            <a:spLocks noChangeArrowheads="1"/>
          </p:cNvSpPr>
          <p:nvPr/>
        </p:nvSpPr>
        <p:spPr bwMode="auto">
          <a:xfrm>
            <a:off x="8243888" y="2565400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  <a:hlinkClick r:id="rId3" action="ppaction://hlinksldjump"/>
              </a:rPr>
              <a:t>返回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animBg="1"/>
      <p:bldP spid="150531" grpId="0" animBg="1"/>
      <p:bldP spid="15057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5</a:t>
            </a:fld>
            <a:endParaRPr lang="en-US" altLang="zh-CN" sz="1400" dirty="0"/>
          </a:p>
        </p:txBody>
      </p:sp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222250" y="258763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、状态转换表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679450" y="1858963"/>
            <a:ext cx="5124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0    0    0     1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*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1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*</a:t>
            </a:r>
            <a:endParaRPr kumimoji="1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52581" name="Group 5"/>
          <p:cNvGrpSpPr/>
          <p:nvPr/>
        </p:nvGrpSpPr>
        <p:grpSpPr>
          <a:xfrm>
            <a:off x="477838" y="990600"/>
            <a:ext cx="7239000" cy="5197475"/>
            <a:chOff x="240" y="720"/>
            <a:chExt cx="4560" cy="3274"/>
          </a:xfrm>
        </p:grpSpPr>
        <p:sp>
          <p:nvSpPr>
            <p:cNvPr id="11286" name="Line 6"/>
            <p:cNvSpPr/>
            <p:nvPr/>
          </p:nvSpPr>
          <p:spPr>
            <a:xfrm flipV="1">
              <a:off x="240" y="1248"/>
              <a:ext cx="4560" cy="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7" name="Line 7"/>
            <p:cNvSpPr/>
            <p:nvPr/>
          </p:nvSpPr>
          <p:spPr>
            <a:xfrm>
              <a:off x="2064" y="720"/>
              <a:ext cx="1" cy="327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8" name="Line 8"/>
            <p:cNvSpPr/>
            <p:nvPr/>
          </p:nvSpPr>
          <p:spPr>
            <a:xfrm>
              <a:off x="3888" y="720"/>
              <a:ext cx="1" cy="327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2585" name="Rectangle 9"/>
            <p:cNvSpPr>
              <a:spLocks noChangeArrowheads="1"/>
            </p:cNvSpPr>
            <p:nvPr/>
          </p:nvSpPr>
          <p:spPr bwMode="auto">
            <a:xfrm>
              <a:off x="288" y="826"/>
              <a:ext cx="44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 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 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 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n+1 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n+1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注释</a:t>
              </a:r>
            </a:p>
          </p:txBody>
        </p:sp>
        <p:sp>
          <p:nvSpPr>
            <p:cNvPr id="11290" name="Line 10"/>
            <p:cNvSpPr/>
            <p:nvPr/>
          </p:nvSpPr>
          <p:spPr>
            <a:xfrm>
              <a:off x="960" y="864"/>
              <a:ext cx="14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1" name="Line 11"/>
            <p:cNvSpPr/>
            <p:nvPr/>
          </p:nvSpPr>
          <p:spPr>
            <a:xfrm>
              <a:off x="1680" y="864"/>
              <a:ext cx="14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2" name="Line 12"/>
            <p:cNvSpPr/>
            <p:nvPr/>
          </p:nvSpPr>
          <p:spPr>
            <a:xfrm>
              <a:off x="3216" y="864"/>
              <a:ext cx="19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2589" name="Rectangle 13"/>
          <p:cNvSpPr>
            <a:spLocks noChangeArrowheads="1"/>
          </p:cNvSpPr>
          <p:nvPr/>
        </p:nvSpPr>
        <p:spPr bwMode="auto">
          <a:xfrm>
            <a:off x="679450" y="2392363"/>
            <a:ext cx="506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0    0    1     1      0</a:t>
            </a:r>
          </a:p>
        </p:txBody>
      </p:sp>
      <p:sp>
        <p:nvSpPr>
          <p:cNvPr id="152590" name="Rectangle 14"/>
          <p:cNvSpPr>
            <a:spLocks noChangeArrowheads="1"/>
          </p:cNvSpPr>
          <p:nvPr/>
        </p:nvSpPr>
        <p:spPr bwMode="auto">
          <a:xfrm>
            <a:off x="679450" y="2925763"/>
            <a:ext cx="506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0    1    0     0      1</a:t>
            </a:r>
          </a:p>
        </p:txBody>
      </p:sp>
      <p:sp>
        <p:nvSpPr>
          <p:cNvPr id="152591" name="Rectangle 15"/>
          <p:cNvSpPr>
            <a:spLocks noChangeArrowheads="1"/>
          </p:cNvSpPr>
          <p:nvPr/>
        </p:nvSpPr>
        <p:spPr bwMode="auto">
          <a:xfrm>
            <a:off x="679450" y="3459163"/>
            <a:ext cx="506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0    1    1     0      1</a:t>
            </a:r>
          </a:p>
        </p:txBody>
      </p:sp>
      <p:sp>
        <p:nvSpPr>
          <p:cNvPr id="152592" name="Rectangle 16"/>
          <p:cNvSpPr>
            <a:spLocks noChangeArrowheads="1"/>
          </p:cNvSpPr>
          <p:nvPr/>
        </p:nvSpPr>
        <p:spPr bwMode="auto">
          <a:xfrm>
            <a:off x="679450" y="3992563"/>
            <a:ext cx="5124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1    0    0     1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*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1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*</a:t>
            </a:r>
            <a:endParaRPr kumimoji="1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2593" name="Rectangle 17"/>
          <p:cNvSpPr>
            <a:spLocks noChangeArrowheads="1"/>
          </p:cNvSpPr>
          <p:nvPr/>
        </p:nvSpPr>
        <p:spPr bwMode="auto">
          <a:xfrm>
            <a:off x="679450" y="4525963"/>
            <a:ext cx="506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1    0    1     1      0</a:t>
            </a:r>
          </a:p>
        </p:txBody>
      </p:sp>
      <p:sp>
        <p:nvSpPr>
          <p:cNvPr id="152594" name="Rectangle 18"/>
          <p:cNvSpPr>
            <a:spLocks noChangeArrowheads="1"/>
          </p:cNvSpPr>
          <p:nvPr/>
        </p:nvSpPr>
        <p:spPr bwMode="auto">
          <a:xfrm>
            <a:off x="679450" y="5135563"/>
            <a:ext cx="506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1    1    0     0      1</a:t>
            </a:r>
          </a:p>
        </p:txBody>
      </p:sp>
      <p:sp>
        <p:nvSpPr>
          <p:cNvPr id="152595" name="Rectangle 19"/>
          <p:cNvSpPr>
            <a:spLocks noChangeArrowheads="1"/>
          </p:cNvSpPr>
          <p:nvPr/>
        </p:nvSpPr>
        <p:spPr bwMode="auto">
          <a:xfrm>
            <a:off x="679450" y="5668963"/>
            <a:ext cx="506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1    1    1     1      0</a:t>
            </a:r>
          </a:p>
        </p:txBody>
      </p:sp>
      <p:sp>
        <p:nvSpPr>
          <p:cNvPr id="11277" name="AutoShape 20">
            <a:hlinkClick r:id="" action="ppaction://hlinkshowjump?jump=previousslide"/>
          </p:cNvPr>
          <p:cNvSpPr/>
          <p:nvPr/>
        </p:nvSpPr>
        <p:spPr>
          <a:xfrm>
            <a:off x="3276600" y="304800"/>
            <a:ext cx="533400" cy="533400"/>
          </a:xfrm>
          <a:prstGeom prst="actionButtonBackPrevious">
            <a:avLst/>
          </a:prstGeom>
          <a:solidFill>
            <a:schemeClr val="bg1"/>
          </a:solidFill>
          <a:ln w="952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2597" name="Rectangle 21"/>
          <p:cNvSpPr>
            <a:spLocks noChangeArrowheads="1"/>
          </p:cNvSpPr>
          <p:nvPr/>
        </p:nvSpPr>
        <p:spPr bwMode="auto">
          <a:xfrm>
            <a:off x="6580188" y="1830388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禁用</a:t>
            </a:r>
          </a:p>
        </p:txBody>
      </p:sp>
      <p:sp>
        <p:nvSpPr>
          <p:cNvPr id="152598" name="Rectangle 22"/>
          <p:cNvSpPr>
            <a:spLocks noChangeArrowheads="1"/>
          </p:cNvSpPr>
          <p:nvPr/>
        </p:nvSpPr>
        <p:spPr bwMode="auto">
          <a:xfrm>
            <a:off x="6588125" y="2408238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置位</a:t>
            </a:r>
          </a:p>
        </p:txBody>
      </p:sp>
      <p:sp>
        <p:nvSpPr>
          <p:cNvPr id="152599" name="Rectangle 23"/>
          <p:cNvSpPr>
            <a:spLocks noChangeArrowheads="1"/>
          </p:cNvSpPr>
          <p:nvPr/>
        </p:nvSpPr>
        <p:spPr bwMode="auto">
          <a:xfrm>
            <a:off x="6588125" y="2949575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复位</a:t>
            </a:r>
          </a:p>
        </p:txBody>
      </p:sp>
      <p:sp>
        <p:nvSpPr>
          <p:cNvPr id="152600" name="Rectangle 24"/>
          <p:cNvSpPr>
            <a:spLocks noChangeArrowheads="1"/>
          </p:cNvSpPr>
          <p:nvPr/>
        </p:nvSpPr>
        <p:spPr bwMode="auto">
          <a:xfrm>
            <a:off x="6588125" y="34671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保持</a:t>
            </a:r>
          </a:p>
        </p:txBody>
      </p:sp>
      <p:sp>
        <p:nvSpPr>
          <p:cNvPr id="152601" name="Rectangle 25"/>
          <p:cNvSpPr>
            <a:spLocks noChangeArrowheads="1"/>
          </p:cNvSpPr>
          <p:nvPr/>
        </p:nvSpPr>
        <p:spPr bwMode="auto">
          <a:xfrm>
            <a:off x="6578600" y="4002088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禁用</a:t>
            </a:r>
          </a:p>
        </p:txBody>
      </p:sp>
      <p:sp>
        <p:nvSpPr>
          <p:cNvPr id="152602" name="Rectangle 26"/>
          <p:cNvSpPr>
            <a:spLocks noChangeArrowheads="1"/>
          </p:cNvSpPr>
          <p:nvPr/>
        </p:nvSpPr>
        <p:spPr bwMode="auto">
          <a:xfrm>
            <a:off x="6586538" y="45085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置位</a:t>
            </a:r>
          </a:p>
        </p:txBody>
      </p:sp>
      <p:sp>
        <p:nvSpPr>
          <p:cNvPr id="152603" name="Rectangle 27"/>
          <p:cNvSpPr>
            <a:spLocks noChangeArrowheads="1"/>
          </p:cNvSpPr>
          <p:nvPr/>
        </p:nvSpPr>
        <p:spPr bwMode="auto">
          <a:xfrm>
            <a:off x="6586538" y="51308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复位</a:t>
            </a:r>
          </a:p>
        </p:txBody>
      </p:sp>
      <p:sp>
        <p:nvSpPr>
          <p:cNvPr id="152604" name="Rectangle 28"/>
          <p:cNvSpPr>
            <a:spLocks noChangeArrowheads="1"/>
          </p:cNvSpPr>
          <p:nvPr/>
        </p:nvSpPr>
        <p:spPr bwMode="auto">
          <a:xfrm>
            <a:off x="6586538" y="5667375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保持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2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2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5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5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5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5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5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5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animBg="1"/>
      <p:bldP spid="152580" grpId="0" build="p"/>
      <p:bldP spid="152589" grpId="0" build="p"/>
      <p:bldP spid="152590" grpId="0" build="p"/>
      <p:bldP spid="152591" grpId="0" build="p"/>
      <p:bldP spid="152592" grpId="0" build="p"/>
      <p:bldP spid="152593" grpId="0" build="p"/>
      <p:bldP spid="152594" grpId="0" build="p"/>
      <p:bldP spid="152595" grpId="0" build="p"/>
      <p:bldP spid="152597" grpId="0"/>
      <p:bldP spid="152598" grpId="0"/>
      <p:bldP spid="152599" grpId="0"/>
      <p:bldP spid="152600" grpId="0"/>
      <p:bldP spid="152601" grpId="0"/>
      <p:bldP spid="152602" grpId="0"/>
      <p:bldP spid="152603" grpId="0"/>
      <p:bldP spid="1526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6</a:t>
            </a:fld>
            <a:endParaRPr lang="en-US" altLang="zh-CN" sz="1400" dirty="0"/>
          </a:p>
        </p:txBody>
      </p:sp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152400" y="173038"/>
            <a:ext cx="44704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次态方程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</a:p>
        </p:txBody>
      </p:sp>
      <p:grpSp>
        <p:nvGrpSpPr>
          <p:cNvPr id="154627" name="Group 3"/>
          <p:cNvGrpSpPr/>
          <p:nvPr/>
        </p:nvGrpSpPr>
        <p:grpSpPr>
          <a:xfrm>
            <a:off x="1981200" y="990600"/>
            <a:ext cx="3962400" cy="2514600"/>
            <a:chOff x="816" y="667"/>
            <a:chExt cx="2496" cy="1584"/>
          </a:xfrm>
        </p:grpSpPr>
        <p:sp>
          <p:nvSpPr>
            <p:cNvPr id="13324" name="Rectangle 4"/>
            <p:cNvSpPr/>
            <p:nvPr/>
          </p:nvSpPr>
          <p:spPr>
            <a:xfrm>
              <a:off x="1632" y="1387"/>
              <a:ext cx="1680" cy="86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3325" name="Line 5"/>
            <p:cNvSpPr/>
            <p:nvPr/>
          </p:nvSpPr>
          <p:spPr>
            <a:xfrm>
              <a:off x="1632" y="1819"/>
              <a:ext cx="16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6" name="Line 6"/>
            <p:cNvSpPr/>
            <p:nvPr/>
          </p:nvSpPr>
          <p:spPr>
            <a:xfrm>
              <a:off x="2016" y="1387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7" name="Line 7"/>
            <p:cNvSpPr/>
            <p:nvPr/>
          </p:nvSpPr>
          <p:spPr>
            <a:xfrm>
              <a:off x="2880" y="1387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8" name="Line 8"/>
            <p:cNvSpPr/>
            <p:nvPr/>
          </p:nvSpPr>
          <p:spPr>
            <a:xfrm>
              <a:off x="2448" y="1387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9" name="Line 9"/>
            <p:cNvSpPr/>
            <p:nvPr/>
          </p:nvSpPr>
          <p:spPr>
            <a:xfrm flipH="1" flipV="1">
              <a:off x="1248" y="1003"/>
              <a:ext cx="384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34" name="Rectangle 10"/>
            <p:cNvSpPr>
              <a:spLocks noChangeArrowheads="1"/>
            </p:cNvSpPr>
            <p:nvPr/>
          </p:nvSpPr>
          <p:spPr bwMode="auto">
            <a:xfrm>
              <a:off x="1344" y="829"/>
              <a:ext cx="10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 R</a:t>
              </a:r>
            </a:p>
          </p:txBody>
        </p:sp>
        <p:sp>
          <p:nvSpPr>
            <p:cNvPr id="154635" name="Rectangle 11"/>
            <p:cNvSpPr>
              <a:spLocks noChangeArrowheads="1"/>
            </p:cNvSpPr>
            <p:nvPr/>
          </p:nvSpPr>
          <p:spPr bwMode="auto">
            <a:xfrm>
              <a:off x="1632" y="104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00</a:t>
              </a:r>
            </a:p>
          </p:txBody>
        </p:sp>
        <p:sp>
          <p:nvSpPr>
            <p:cNvPr id="154636" name="Rectangle 12"/>
            <p:cNvSpPr>
              <a:spLocks noChangeArrowheads="1"/>
            </p:cNvSpPr>
            <p:nvPr/>
          </p:nvSpPr>
          <p:spPr bwMode="auto">
            <a:xfrm>
              <a:off x="1968" y="1045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01</a:t>
              </a:r>
            </a:p>
          </p:txBody>
        </p:sp>
        <p:sp>
          <p:nvSpPr>
            <p:cNvPr id="154637" name="Rectangle 13"/>
            <p:cNvSpPr>
              <a:spLocks noChangeArrowheads="1"/>
            </p:cNvSpPr>
            <p:nvPr/>
          </p:nvSpPr>
          <p:spPr bwMode="auto">
            <a:xfrm>
              <a:off x="2448" y="104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11</a:t>
              </a:r>
            </a:p>
          </p:txBody>
        </p:sp>
        <p:sp>
          <p:nvSpPr>
            <p:cNvPr id="154638" name="Rectangle 14"/>
            <p:cNvSpPr>
              <a:spLocks noChangeArrowheads="1"/>
            </p:cNvSpPr>
            <p:nvPr/>
          </p:nvSpPr>
          <p:spPr bwMode="auto">
            <a:xfrm>
              <a:off x="2880" y="104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10</a:t>
              </a:r>
            </a:p>
          </p:txBody>
        </p:sp>
        <p:sp>
          <p:nvSpPr>
            <p:cNvPr id="154639" name="Rectangle 15"/>
            <p:cNvSpPr>
              <a:spLocks noChangeArrowheads="1"/>
            </p:cNvSpPr>
            <p:nvPr/>
          </p:nvSpPr>
          <p:spPr bwMode="auto">
            <a:xfrm>
              <a:off x="1392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54640" name="Rectangle 16"/>
            <p:cNvSpPr>
              <a:spLocks noChangeArrowheads="1"/>
            </p:cNvSpPr>
            <p:nvPr/>
          </p:nvSpPr>
          <p:spPr bwMode="auto">
            <a:xfrm>
              <a:off x="1392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54641" name="Rectangle 17"/>
            <p:cNvSpPr>
              <a:spLocks noChangeArrowheads="1"/>
            </p:cNvSpPr>
            <p:nvPr/>
          </p:nvSpPr>
          <p:spPr bwMode="auto">
            <a:xfrm>
              <a:off x="1680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154642" name="Rectangle 18"/>
            <p:cNvSpPr>
              <a:spLocks noChangeArrowheads="1"/>
            </p:cNvSpPr>
            <p:nvPr/>
          </p:nvSpPr>
          <p:spPr bwMode="auto">
            <a:xfrm>
              <a:off x="2544" y="1405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54643" name="Rectangle 19"/>
            <p:cNvSpPr>
              <a:spLocks noChangeArrowheads="1"/>
            </p:cNvSpPr>
            <p:nvPr/>
          </p:nvSpPr>
          <p:spPr bwMode="auto">
            <a:xfrm>
              <a:off x="2112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54644" name="Rectangle 20"/>
            <p:cNvSpPr>
              <a:spLocks noChangeArrowheads="1"/>
            </p:cNvSpPr>
            <p:nvPr/>
          </p:nvSpPr>
          <p:spPr bwMode="auto">
            <a:xfrm>
              <a:off x="2976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54645" name="Rectangle 21"/>
            <p:cNvSpPr>
              <a:spLocks noChangeArrowheads="1"/>
            </p:cNvSpPr>
            <p:nvPr/>
          </p:nvSpPr>
          <p:spPr bwMode="auto">
            <a:xfrm>
              <a:off x="2112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54646" name="Rectangle 22"/>
            <p:cNvSpPr>
              <a:spLocks noChangeArrowheads="1"/>
            </p:cNvSpPr>
            <p:nvPr/>
          </p:nvSpPr>
          <p:spPr bwMode="auto">
            <a:xfrm>
              <a:off x="2976" y="138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54647" name="Rectangle 23"/>
            <p:cNvSpPr>
              <a:spLocks noChangeArrowheads="1"/>
            </p:cNvSpPr>
            <p:nvPr/>
          </p:nvSpPr>
          <p:spPr bwMode="auto">
            <a:xfrm>
              <a:off x="1680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154648" name="Rectangle 24"/>
            <p:cNvSpPr>
              <a:spLocks noChangeArrowheads="1"/>
            </p:cNvSpPr>
            <p:nvPr/>
          </p:nvSpPr>
          <p:spPr bwMode="auto">
            <a:xfrm>
              <a:off x="2544" y="181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54649" name="Rectangle 25"/>
            <p:cNvSpPr>
              <a:spLocks noChangeArrowheads="1"/>
            </p:cNvSpPr>
            <p:nvPr/>
          </p:nvSpPr>
          <p:spPr bwMode="auto">
            <a:xfrm>
              <a:off x="1152" y="106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4650" name="Rectangle 26"/>
            <p:cNvSpPr>
              <a:spLocks noChangeArrowheads="1"/>
            </p:cNvSpPr>
            <p:nvPr/>
          </p:nvSpPr>
          <p:spPr bwMode="auto">
            <a:xfrm>
              <a:off x="816" y="667"/>
              <a:ext cx="8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n+1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47" name="Line 27"/>
            <p:cNvSpPr/>
            <p:nvPr/>
          </p:nvSpPr>
          <p:spPr>
            <a:xfrm>
              <a:off x="1392" y="877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8" name="Line 28"/>
            <p:cNvSpPr/>
            <p:nvPr/>
          </p:nvSpPr>
          <p:spPr>
            <a:xfrm>
              <a:off x="1632" y="877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4653" name="Group 29"/>
          <p:cNvGrpSpPr/>
          <p:nvPr/>
        </p:nvGrpSpPr>
        <p:grpSpPr>
          <a:xfrm>
            <a:off x="2514600" y="4068763"/>
            <a:ext cx="4044950" cy="1341437"/>
            <a:chOff x="912" y="2928"/>
            <a:chExt cx="2548" cy="845"/>
          </a:xfrm>
        </p:grpSpPr>
        <p:sp>
          <p:nvSpPr>
            <p:cNvPr id="13320" name="AutoShape 30"/>
            <p:cNvSpPr/>
            <p:nvPr/>
          </p:nvSpPr>
          <p:spPr>
            <a:xfrm>
              <a:off x="912" y="3059"/>
              <a:ext cx="144" cy="589"/>
            </a:xfrm>
            <a:prstGeom prst="leftBrace">
              <a:avLst>
                <a:gd name="adj1" fmla="val 34085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aphicFrame>
          <p:nvGraphicFramePr>
            <p:cNvPr id="13321" name="Object 31"/>
            <p:cNvGraphicFramePr>
              <a:graphicFrameLocks noChangeAspect="1"/>
            </p:cNvGraphicFramePr>
            <p:nvPr/>
          </p:nvGraphicFramePr>
          <p:xfrm>
            <a:off x="1117" y="2928"/>
            <a:ext cx="153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23900" imgH="146050" progId="Equation.3">
                    <p:embed/>
                  </p:oleObj>
                </mc:Choice>
                <mc:Fallback>
                  <p:oleObj r:id="rId3" imgW="723900" imgH="14605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7" y="2928"/>
                          <a:ext cx="1536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32"/>
            <p:cNvGraphicFramePr>
              <a:graphicFrameLocks noChangeAspect="1"/>
            </p:cNvGraphicFramePr>
            <p:nvPr/>
          </p:nvGraphicFramePr>
          <p:xfrm>
            <a:off x="1104" y="3417"/>
            <a:ext cx="96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24180" imgH="131445" progId="Equation.3">
                    <p:embed/>
                  </p:oleObj>
                </mc:Choice>
                <mc:Fallback>
                  <p:oleObj r:id="rId5" imgW="424180" imgH="131445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04" y="3417"/>
                          <a:ext cx="960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57" name="Rectangle 33"/>
            <p:cNvSpPr>
              <a:spLocks noChangeArrowheads="1"/>
            </p:cNvSpPr>
            <p:nvPr/>
          </p:nvSpPr>
          <p:spPr bwMode="auto">
            <a:xfrm>
              <a:off x="2064" y="340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约束条件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</p:grpSp>
      <p:sp>
        <p:nvSpPr>
          <p:cNvPr id="154658" name="Oval 34"/>
          <p:cNvSpPr/>
          <p:nvPr/>
        </p:nvSpPr>
        <p:spPr>
          <a:xfrm>
            <a:off x="3276600" y="2209800"/>
            <a:ext cx="1371600" cy="1295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54659" name="Oval 35"/>
          <p:cNvSpPr/>
          <p:nvPr/>
        </p:nvSpPr>
        <p:spPr>
          <a:xfrm>
            <a:off x="3810000" y="2847975"/>
            <a:ext cx="15240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nimBg="1"/>
      <p:bldP spid="154658" grpId="0" animBg="1"/>
      <p:bldP spid="1546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7</a:t>
            </a:fld>
            <a:endParaRPr lang="en-US" altLang="zh-CN" sz="1400" dirty="0"/>
          </a:p>
        </p:txBody>
      </p:sp>
      <p:grpSp>
        <p:nvGrpSpPr>
          <p:cNvPr id="156674" name="Group 2"/>
          <p:cNvGrpSpPr/>
          <p:nvPr/>
        </p:nvGrpSpPr>
        <p:grpSpPr>
          <a:xfrm>
            <a:off x="2154238" y="3851275"/>
            <a:ext cx="685800" cy="381000"/>
            <a:chOff x="1357" y="2426"/>
            <a:chExt cx="432" cy="240"/>
          </a:xfrm>
        </p:grpSpPr>
        <p:sp>
          <p:nvSpPr>
            <p:cNvPr id="15468" name="Line 3"/>
            <p:cNvSpPr/>
            <p:nvPr/>
          </p:nvSpPr>
          <p:spPr>
            <a:xfrm>
              <a:off x="1357" y="242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9" name="Line 4"/>
            <p:cNvSpPr/>
            <p:nvPr/>
          </p:nvSpPr>
          <p:spPr>
            <a:xfrm>
              <a:off x="1357" y="266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677" name="Group 5"/>
          <p:cNvGrpSpPr/>
          <p:nvPr/>
        </p:nvGrpSpPr>
        <p:grpSpPr>
          <a:xfrm>
            <a:off x="3297238" y="3394075"/>
            <a:ext cx="338137" cy="1295400"/>
            <a:chOff x="2077" y="2138"/>
            <a:chExt cx="213" cy="816"/>
          </a:xfrm>
        </p:grpSpPr>
        <p:sp>
          <p:nvSpPr>
            <p:cNvPr id="15463" name="Line 6"/>
            <p:cNvSpPr/>
            <p:nvPr/>
          </p:nvSpPr>
          <p:spPr>
            <a:xfrm>
              <a:off x="2077" y="2138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4" name="Line 7"/>
            <p:cNvSpPr/>
            <p:nvPr/>
          </p:nvSpPr>
          <p:spPr>
            <a:xfrm>
              <a:off x="2077" y="266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5465" name="Group 8"/>
            <p:cNvGrpSpPr/>
            <p:nvPr/>
          </p:nvGrpSpPr>
          <p:grpSpPr>
            <a:xfrm>
              <a:off x="2077" y="2432"/>
              <a:ext cx="213" cy="227"/>
              <a:chOff x="2077" y="2432"/>
              <a:chExt cx="213" cy="227"/>
            </a:xfrm>
          </p:grpSpPr>
          <p:sp>
            <p:nvSpPr>
              <p:cNvPr id="15466" name="Line 9"/>
              <p:cNvSpPr/>
              <p:nvPr/>
            </p:nvSpPr>
            <p:spPr>
              <a:xfrm>
                <a:off x="2077" y="2432"/>
                <a:ext cx="21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67" name="Line 10"/>
              <p:cNvSpPr/>
              <p:nvPr/>
            </p:nvSpPr>
            <p:spPr>
              <a:xfrm>
                <a:off x="2077" y="2659"/>
                <a:ext cx="21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6683" name="Group 11"/>
          <p:cNvGrpSpPr/>
          <p:nvPr/>
        </p:nvGrpSpPr>
        <p:grpSpPr>
          <a:xfrm>
            <a:off x="1392238" y="3384550"/>
            <a:ext cx="654050" cy="1265238"/>
            <a:chOff x="877" y="2132"/>
            <a:chExt cx="412" cy="797"/>
          </a:xfrm>
        </p:grpSpPr>
        <p:sp>
          <p:nvSpPr>
            <p:cNvPr id="156684" name="Rectangle 12"/>
            <p:cNvSpPr>
              <a:spLocks noChangeArrowheads="1"/>
            </p:cNvSpPr>
            <p:nvPr/>
          </p:nvSpPr>
          <p:spPr bwMode="auto">
            <a:xfrm>
              <a:off x="877" y="2132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</a:p>
          </p:txBody>
        </p:sp>
        <p:sp>
          <p:nvSpPr>
            <p:cNvPr id="156685" name="Rectangle 13"/>
            <p:cNvSpPr>
              <a:spLocks noChangeArrowheads="1"/>
            </p:cNvSpPr>
            <p:nvPr/>
          </p:nvSpPr>
          <p:spPr bwMode="auto">
            <a:xfrm>
              <a:off x="877" y="2564"/>
              <a:ext cx="4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</a:p>
          </p:txBody>
        </p:sp>
        <p:sp>
          <p:nvSpPr>
            <p:cNvPr id="15462" name="Line 14"/>
            <p:cNvSpPr/>
            <p:nvPr/>
          </p:nvSpPr>
          <p:spPr>
            <a:xfrm>
              <a:off x="1021" y="261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687" name="Group 15"/>
          <p:cNvGrpSpPr/>
          <p:nvPr/>
        </p:nvGrpSpPr>
        <p:grpSpPr>
          <a:xfrm>
            <a:off x="1468438" y="1250950"/>
            <a:ext cx="6705600" cy="1609725"/>
            <a:chOff x="925" y="788"/>
            <a:chExt cx="4224" cy="1014"/>
          </a:xfrm>
        </p:grpSpPr>
        <p:sp>
          <p:nvSpPr>
            <p:cNvPr id="15423" name="Line 16"/>
            <p:cNvSpPr/>
            <p:nvPr/>
          </p:nvSpPr>
          <p:spPr>
            <a:xfrm>
              <a:off x="1357" y="98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4" name="Line 17"/>
            <p:cNvSpPr/>
            <p:nvPr/>
          </p:nvSpPr>
          <p:spPr>
            <a:xfrm>
              <a:off x="1789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5" name="Line 18"/>
            <p:cNvSpPr/>
            <p:nvPr/>
          </p:nvSpPr>
          <p:spPr>
            <a:xfrm>
              <a:off x="1789" y="127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6" name="Line 19"/>
            <p:cNvSpPr/>
            <p:nvPr/>
          </p:nvSpPr>
          <p:spPr>
            <a:xfrm flipV="1">
              <a:off x="1981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7" name="Line 20"/>
            <p:cNvSpPr/>
            <p:nvPr/>
          </p:nvSpPr>
          <p:spPr>
            <a:xfrm>
              <a:off x="1981" y="986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8" name="Line 21"/>
            <p:cNvSpPr/>
            <p:nvPr/>
          </p:nvSpPr>
          <p:spPr>
            <a:xfrm>
              <a:off x="2653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29" name="Line 22"/>
            <p:cNvSpPr/>
            <p:nvPr/>
          </p:nvSpPr>
          <p:spPr>
            <a:xfrm>
              <a:off x="2653" y="127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0" name="Line 23"/>
            <p:cNvSpPr/>
            <p:nvPr/>
          </p:nvSpPr>
          <p:spPr>
            <a:xfrm flipV="1">
              <a:off x="2797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1" name="Line 24"/>
            <p:cNvSpPr/>
            <p:nvPr/>
          </p:nvSpPr>
          <p:spPr>
            <a:xfrm>
              <a:off x="2797" y="986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2" name="Line 25"/>
            <p:cNvSpPr/>
            <p:nvPr/>
          </p:nvSpPr>
          <p:spPr>
            <a:xfrm>
              <a:off x="3469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3" name="Line 26"/>
            <p:cNvSpPr/>
            <p:nvPr/>
          </p:nvSpPr>
          <p:spPr>
            <a:xfrm>
              <a:off x="3469" y="127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4" name="Line 27"/>
            <p:cNvSpPr/>
            <p:nvPr/>
          </p:nvSpPr>
          <p:spPr>
            <a:xfrm flipV="1">
              <a:off x="3949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5" name="Line 28"/>
            <p:cNvSpPr/>
            <p:nvPr/>
          </p:nvSpPr>
          <p:spPr>
            <a:xfrm>
              <a:off x="3949" y="986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6" name="Line 29"/>
            <p:cNvSpPr/>
            <p:nvPr/>
          </p:nvSpPr>
          <p:spPr>
            <a:xfrm>
              <a:off x="4381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7" name="Line 30"/>
            <p:cNvSpPr/>
            <p:nvPr/>
          </p:nvSpPr>
          <p:spPr>
            <a:xfrm>
              <a:off x="4381" y="127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8" name="Line 31"/>
            <p:cNvSpPr/>
            <p:nvPr/>
          </p:nvSpPr>
          <p:spPr>
            <a:xfrm flipV="1">
              <a:off x="4765" y="98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39" name="Line 32"/>
            <p:cNvSpPr/>
            <p:nvPr/>
          </p:nvSpPr>
          <p:spPr>
            <a:xfrm>
              <a:off x="4765" y="98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0" name="Line 33"/>
            <p:cNvSpPr/>
            <p:nvPr/>
          </p:nvSpPr>
          <p:spPr>
            <a:xfrm>
              <a:off x="1405" y="1514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1" name="Line 34"/>
            <p:cNvSpPr/>
            <p:nvPr/>
          </p:nvSpPr>
          <p:spPr>
            <a:xfrm>
              <a:off x="2077" y="180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2" name="Line 35"/>
            <p:cNvSpPr/>
            <p:nvPr/>
          </p:nvSpPr>
          <p:spPr>
            <a:xfrm>
              <a:off x="2269" y="1514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3" name="Line 36"/>
            <p:cNvSpPr/>
            <p:nvPr/>
          </p:nvSpPr>
          <p:spPr>
            <a:xfrm>
              <a:off x="3469" y="15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4" name="Line 37"/>
            <p:cNvSpPr/>
            <p:nvPr/>
          </p:nvSpPr>
          <p:spPr>
            <a:xfrm>
              <a:off x="3469" y="180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5" name="Line 38"/>
            <p:cNvSpPr/>
            <p:nvPr/>
          </p:nvSpPr>
          <p:spPr>
            <a:xfrm flipV="1">
              <a:off x="3613" y="15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6" name="Line 39"/>
            <p:cNvSpPr/>
            <p:nvPr/>
          </p:nvSpPr>
          <p:spPr>
            <a:xfrm>
              <a:off x="2797" y="1514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7" name="Line 40"/>
            <p:cNvSpPr/>
            <p:nvPr/>
          </p:nvSpPr>
          <p:spPr>
            <a:xfrm>
              <a:off x="3613" y="151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8" name="Line 41"/>
            <p:cNvSpPr/>
            <p:nvPr/>
          </p:nvSpPr>
          <p:spPr>
            <a:xfrm>
              <a:off x="3949" y="151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49" name="Line 42"/>
            <p:cNvSpPr/>
            <p:nvPr/>
          </p:nvSpPr>
          <p:spPr>
            <a:xfrm>
              <a:off x="4381" y="15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0" name="Line 43"/>
            <p:cNvSpPr/>
            <p:nvPr/>
          </p:nvSpPr>
          <p:spPr>
            <a:xfrm>
              <a:off x="4381" y="180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1" name="Line 44"/>
            <p:cNvSpPr/>
            <p:nvPr/>
          </p:nvSpPr>
          <p:spPr>
            <a:xfrm flipV="1">
              <a:off x="4765" y="15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2" name="Line 45"/>
            <p:cNvSpPr/>
            <p:nvPr/>
          </p:nvSpPr>
          <p:spPr>
            <a:xfrm>
              <a:off x="4765" y="151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3" name="Line 46"/>
            <p:cNvSpPr/>
            <p:nvPr/>
          </p:nvSpPr>
          <p:spPr>
            <a:xfrm>
              <a:off x="3469" y="1370"/>
              <a:ext cx="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6719" name="Rectangle 47"/>
            <p:cNvSpPr>
              <a:spLocks noChangeArrowheads="1"/>
            </p:cNvSpPr>
            <p:nvPr/>
          </p:nvSpPr>
          <p:spPr bwMode="auto">
            <a:xfrm>
              <a:off x="925" y="78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6720" name="Rectangle 48"/>
            <p:cNvSpPr>
              <a:spLocks noChangeArrowheads="1"/>
            </p:cNvSpPr>
            <p:nvPr/>
          </p:nvSpPr>
          <p:spPr bwMode="auto">
            <a:xfrm>
              <a:off x="925" y="131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456" name="Line 49"/>
            <p:cNvSpPr/>
            <p:nvPr/>
          </p:nvSpPr>
          <p:spPr>
            <a:xfrm>
              <a:off x="973" y="84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7" name="Line 50"/>
            <p:cNvSpPr/>
            <p:nvPr/>
          </p:nvSpPr>
          <p:spPr>
            <a:xfrm>
              <a:off x="973" y="137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8" name="Line 51"/>
            <p:cNvSpPr/>
            <p:nvPr/>
          </p:nvSpPr>
          <p:spPr>
            <a:xfrm>
              <a:off x="2077" y="15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59" name="Line 52"/>
            <p:cNvSpPr/>
            <p:nvPr/>
          </p:nvSpPr>
          <p:spPr>
            <a:xfrm flipV="1">
              <a:off x="2269" y="15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6725" name="Rectangle 53"/>
          <p:cNvSpPr>
            <a:spLocks noChangeArrowheads="1"/>
          </p:cNvSpPr>
          <p:nvPr/>
        </p:nvSpPr>
        <p:spPr bwMode="auto">
          <a:xfrm>
            <a:off x="173038" y="193675"/>
            <a:ext cx="2020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、时序图</a:t>
            </a:r>
          </a:p>
        </p:txBody>
      </p:sp>
      <p:grpSp>
        <p:nvGrpSpPr>
          <p:cNvPr id="156726" name="Group 54"/>
          <p:cNvGrpSpPr/>
          <p:nvPr/>
        </p:nvGrpSpPr>
        <p:grpSpPr>
          <a:xfrm>
            <a:off x="5507038" y="3394075"/>
            <a:ext cx="228600" cy="1295400"/>
            <a:chOff x="3469" y="2138"/>
            <a:chExt cx="144" cy="816"/>
          </a:xfrm>
        </p:grpSpPr>
        <p:sp>
          <p:nvSpPr>
            <p:cNvPr id="15419" name="Line 55"/>
            <p:cNvSpPr/>
            <p:nvPr/>
          </p:nvSpPr>
          <p:spPr>
            <a:xfrm flipV="1">
              <a:off x="3469" y="266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5420" name="Group 56"/>
            <p:cNvGrpSpPr/>
            <p:nvPr/>
          </p:nvGrpSpPr>
          <p:grpSpPr>
            <a:xfrm>
              <a:off x="3469" y="2138"/>
              <a:ext cx="144" cy="528"/>
              <a:chOff x="3469" y="2138"/>
              <a:chExt cx="144" cy="528"/>
            </a:xfrm>
          </p:grpSpPr>
          <p:sp>
            <p:nvSpPr>
              <p:cNvPr id="15421" name="Line 57"/>
              <p:cNvSpPr/>
              <p:nvPr/>
            </p:nvSpPr>
            <p:spPr>
              <a:xfrm>
                <a:off x="3469" y="266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22" name="Line 58"/>
              <p:cNvSpPr/>
              <p:nvPr/>
            </p:nvSpPr>
            <p:spPr>
              <a:xfrm>
                <a:off x="3469" y="213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6731" name="Group 59"/>
          <p:cNvGrpSpPr/>
          <p:nvPr/>
        </p:nvGrpSpPr>
        <p:grpSpPr>
          <a:xfrm>
            <a:off x="7564438" y="3394075"/>
            <a:ext cx="1066800" cy="1295400"/>
            <a:chOff x="4765" y="2138"/>
            <a:chExt cx="672" cy="816"/>
          </a:xfrm>
        </p:grpSpPr>
        <p:sp>
          <p:nvSpPr>
            <p:cNvPr id="15401" name="Line 60"/>
            <p:cNvSpPr/>
            <p:nvPr/>
          </p:nvSpPr>
          <p:spPr>
            <a:xfrm>
              <a:off x="4765" y="213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2" name="Line 61"/>
            <p:cNvSpPr/>
            <p:nvPr/>
          </p:nvSpPr>
          <p:spPr>
            <a:xfrm>
              <a:off x="4765" y="242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3" name="Line 62"/>
            <p:cNvSpPr/>
            <p:nvPr/>
          </p:nvSpPr>
          <p:spPr>
            <a:xfrm>
              <a:off x="4957" y="242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4" name="Line 63"/>
            <p:cNvSpPr/>
            <p:nvPr/>
          </p:nvSpPr>
          <p:spPr>
            <a:xfrm>
              <a:off x="5197" y="242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5" name="Line 64"/>
            <p:cNvSpPr/>
            <p:nvPr/>
          </p:nvSpPr>
          <p:spPr>
            <a:xfrm>
              <a:off x="5341" y="242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6" name="Line 65"/>
            <p:cNvSpPr/>
            <p:nvPr/>
          </p:nvSpPr>
          <p:spPr>
            <a:xfrm>
              <a:off x="4813" y="213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7" name="Line 66"/>
            <p:cNvSpPr/>
            <p:nvPr/>
          </p:nvSpPr>
          <p:spPr>
            <a:xfrm>
              <a:off x="5005" y="213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8" name="Line 67"/>
            <p:cNvSpPr/>
            <p:nvPr/>
          </p:nvSpPr>
          <p:spPr>
            <a:xfrm>
              <a:off x="5197" y="21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9" name="Line 68"/>
            <p:cNvSpPr/>
            <p:nvPr/>
          </p:nvSpPr>
          <p:spPr>
            <a:xfrm>
              <a:off x="4765" y="2282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0" name="Line 69"/>
            <p:cNvSpPr/>
            <p:nvPr/>
          </p:nvSpPr>
          <p:spPr>
            <a:xfrm>
              <a:off x="4765" y="2666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1" name="Line 70"/>
            <p:cNvSpPr/>
            <p:nvPr/>
          </p:nvSpPr>
          <p:spPr>
            <a:xfrm>
              <a:off x="4765" y="295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2" name="Line 71"/>
            <p:cNvSpPr/>
            <p:nvPr/>
          </p:nvSpPr>
          <p:spPr>
            <a:xfrm>
              <a:off x="4957" y="295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3" name="Line 72"/>
            <p:cNvSpPr/>
            <p:nvPr/>
          </p:nvSpPr>
          <p:spPr>
            <a:xfrm>
              <a:off x="5197" y="295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4" name="Line 73"/>
            <p:cNvSpPr/>
            <p:nvPr/>
          </p:nvSpPr>
          <p:spPr>
            <a:xfrm>
              <a:off x="5341" y="295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5" name="Line 74"/>
            <p:cNvSpPr/>
            <p:nvPr/>
          </p:nvSpPr>
          <p:spPr>
            <a:xfrm>
              <a:off x="4813" y="266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6" name="Line 75"/>
            <p:cNvSpPr/>
            <p:nvPr/>
          </p:nvSpPr>
          <p:spPr>
            <a:xfrm>
              <a:off x="5005" y="266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7" name="Line 76"/>
            <p:cNvSpPr/>
            <p:nvPr/>
          </p:nvSpPr>
          <p:spPr>
            <a:xfrm>
              <a:off x="5197" y="266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18" name="Line 77"/>
            <p:cNvSpPr/>
            <p:nvPr/>
          </p:nvSpPr>
          <p:spPr>
            <a:xfrm>
              <a:off x="4765" y="2810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50" name="Group 78"/>
          <p:cNvGrpSpPr/>
          <p:nvPr/>
        </p:nvGrpSpPr>
        <p:grpSpPr>
          <a:xfrm>
            <a:off x="6954838" y="3394075"/>
            <a:ext cx="609600" cy="1295400"/>
            <a:chOff x="4381" y="2138"/>
            <a:chExt cx="384" cy="816"/>
          </a:xfrm>
        </p:grpSpPr>
        <p:sp>
          <p:nvSpPr>
            <p:cNvPr id="15398" name="Line 79"/>
            <p:cNvSpPr/>
            <p:nvPr/>
          </p:nvSpPr>
          <p:spPr>
            <a:xfrm>
              <a:off x="4381" y="266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9" name="Line 80"/>
            <p:cNvSpPr/>
            <p:nvPr/>
          </p:nvSpPr>
          <p:spPr>
            <a:xfrm flipH="1">
              <a:off x="4381" y="266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0" name="Line 81"/>
            <p:cNvSpPr/>
            <p:nvPr/>
          </p:nvSpPr>
          <p:spPr>
            <a:xfrm>
              <a:off x="4381" y="213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54" name="Group 82"/>
          <p:cNvGrpSpPr/>
          <p:nvPr/>
        </p:nvGrpSpPr>
        <p:grpSpPr>
          <a:xfrm>
            <a:off x="3635375" y="3860800"/>
            <a:ext cx="576263" cy="360363"/>
            <a:chOff x="2290" y="2432"/>
            <a:chExt cx="363" cy="227"/>
          </a:xfrm>
        </p:grpSpPr>
        <p:sp>
          <p:nvSpPr>
            <p:cNvPr id="15396" name="Line 83"/>
            <p:cNvSpPr/>
            <p:nvPr/>
          </p:nvSpPr>
          <p:spPr>
            <a:xfrm>
              <a:off x="2290" y="2432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7" name="Line 84"/>
            <p:cNvSpPr/>
            <p:nvPr/>
          </p:nvSpPr>
          <p:spPr>
            <a:xfrm>
              <a:off x="2290" y="2659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57" name="Group 85"/>
          <p:cNvGrpSpPr/>
          <p:nvPr/>
        </p:nvGrpSpPr>
        <p:grpSpPr>
          <a:xfrm>
            <a:off x="2840038" y="3394075"/>
            <a:ext cx="295275" cy="1296988"/>
            <a:chOff x="1789" y="2138"/>
            <a:chExt cx="186" cy="817"/>
          </a:xfrm>
        </p:grpSpPr>
        <p:sp>
          <p:nvSpPr>
            <p:cNvPr id="15391" name="Line 86"/>
            <p:cNvSpPr/>
            <p:nvPr/>
          </p:nvSpPr>
          <p:spPr>
            <a:xfrm flipV="1">
              <a:off x="1789" y="2138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2" name="Line 87"/>
            <p:cNvSpPr/>
            <p:nvPr/>
          </p:nvSpPr>
          <p:spPr>
            <a:xfrm flipV="1">
              <a:off x="1789" y="266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5393" name="Group 88"/>
            <p:cNvGrpSpPr/>
            <p:nvPr/>
          </p:nvGrpSpPr>
          <p:grpSpPr>
            <a:xfrm>
              <a:off x="1789" y="2141"/>
              <a:ext cx="186" cy="814"/>
              <a:chOff x="1789" y="2141"/>
              <a:chExt cx="186" cy="814"/>
            </a:xfrm>
          </p:grpSpPr>
          <p:sp>
            <p:nvSpPr>
              <p:cNvPr id="15394" name="Line 89"/>
              <p:cNvSpPr/>
              <p:nvPr/>
            </p:nvSpPr>
            <p:spPr>
              <a:xfrm>
                <a:off x="1789" y="2955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5" name="Line 90"/>
              <p:cNvSpPr/>
              <p:nvPr/>
            </p:nvSpPr>
            <p:spPr>
              <a:xfrm>
                <a:off x="1791" y="2141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6763" name="Group 91"/>
          <p:cNvGrpSpPr/>
          <p:nvPr/>
        </p:nvGrpSpPr>
        <p:grpSpPr>
          <a:xfrm>
            <a:off x="3111500" y="3395663"/>
            <a:ext cx="185738" cy="1295400"/>
            <a:chOff x="1960" y="2139"/>
            <a:chExt cx="117" cy="816"/>
          </a:xfrm>
        </p:grpSpPr>
        <p:sp>
          <p:nvSpPr>
            <p:cNvPr id="15389" name="Line 92"/>
            <p:cNvSpPr/>
            <p:nvPr/>
          </p:nvSpPr>
          <p:spPr>
            <a:xfrm flipV="1">
              <a:off x="1973" y="2139"/>
              <a:ext cx="1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90" name="Line 93"/>
            <p:cNvSpPr/>
            <p:nvPr/>
          </p:nvSpPr>
          <p:spPr>
            <a:xfrm flipV="1">
              <a:off x="1960" y="2955"/>
              <a:ext cx="1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66" name="Group 94"/>
          <p:cNvGrpSpPr/>
          <p:nvPr/>
        </p:nvGrpSpPr>
        <p:grpSpPr>
          <a:xfrm>
            <a:off x="4500563" y="3390900"/>
            <a:ext cx="1020762" cy="1308100"/>
            <a:chOff x="2835" y="2136"/>
            <a:chExt cx="643" cy="824"/>
          </a:xfrm>
        </p:grpSpPr>
        <p:sp>
          <p:nvSpPr>
            <p:cNvPr id="15387" name="Line 95"/>
            <p:cNvSpPr/>
            <p:nvPr/>
          </p:nvSpPr>
          <p:spPr>
            <a:xfrm>
              <a:off x="2843" y="2136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8" name="Line 96"/>
            <p:cNvSpPr/>
            <p:nvPr/>
          </p:nvSpPr>
          <p:spPr>
            <a:xfrm>
              <a:off x="2835" y="2960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69" name="Group 97"/>
          <p:cNvGrpSpPr/>
          <p:nvPr/>
        </p:nvGrpSpPr>
        <p:grpSpPr>
          <a:xfrm>
            <a:off x="4198938" y="3394075"/>
            <a:ext cx="301625" cy="1296988"/>
            <a:chOff x="2645" y="2138"/>
            <a:chExt cx="190" cy="817"/>
          </a:xfrm>
        </p:grpSpPr>
        <p:sp>
          <p:nvSpPr>
            <p:cNvPr id="15383" name="Line 98"/>
            <p:cNvSpPr/>
            <p:nvPr/>
          </p:nvSpPr>
          <p:spPr>
            <a:xfrm>
              <a:off x="2653" y="2138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4" name="Line 99"/>
            <p:cNvSpPr/>
            <p:nvPr/>
          </p:nvSpPr>
          <p:spPr>
            <a:xfrm>
              <a:off x="2653" y="266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5" name="Line 100"/>
            <p:cNvSpPr/>
            <p:nvPr/>
          </p:nvSpPr>
          <p:spPr>
            <a:xfrm flipV="1">
              <a:off x="2653" y="2139"/>
              <a:ext cx="1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6" name="Line 101"/>
            <p:cNvSpPr/>
            <p:nvPr/>
          </p:nvSpPr>
          <p:spPr>
            <a:xfrm flipV="1">
              <a:off x="2645" y="2955"/>
              <a:ext cx="1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74" name="Group 102"/>
          <p:cNvGrpSpPr/>
          <p:nvPr/>
        </p:nvGrpSpPr>
        <p:grpSpPr>
          <a:xfrm>
            <a:off x="5724525" y="3386138"/>
            <a:ext cx="590550" cy="1323975"/>
            <a:chOff x="3606" y="2133"/>
            <a:chExt cx="372" cy="834"/>
          </a:xfrm>
        </p:grpSpPr>
        <p:sp>
          <p:nvSpPr>
            <p:cNvPr id="15380" name="Line 103"/>
            <p:cNvSpPr/>
            <p:nvPr/>
          </p:nvSpPr>
          <p:spPr>
            <a:xfrm flipV="1">
              <a:off x="3613" y="266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1" name="Line 104"/>
            <p:cNvSpPr/>
            <p:nvPr/>
          </p:nvSpPr>
          <p:spPr>
            <a:xfrm>
              <a:off x="3606" y="2133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2" name="Line 105"/>
            <p:cNvSpPr/>
            <p:nvPr/>
          </p:nvSpPr>
          <p:spPr>
            <a:xfrm>
              <a:off x="3615" y="2967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6778" name="Group 106"/>
          <p:cNvGrpSpPr/>
          <p:nvPr/>
        </p:nvGrpSpPr>
        <p:grpSpPr>
          <a:xfrm>
            <a:off x="6300788" y="3386138"/>
            <a:ext cx="647700" cy="1323975"/>
            <a:chOff x="3969" y="2133"/>
            <a:chExt cx="408" cy="834"/>
          </a:xfrm>
        </p:grpSpPr>
        <p:sp>
          <p:nvSpPr>
            <p:cNvPr id="15378" name="Line 107"/>
            <p:cNvSpPr/>
            <p:nvPr/>
          </p:nvSpPr>
          <p:spPr>
            <a:xfrm>
              <a:off x="3969" y="2133"/>
              <a:ext cx="4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9" name="Line 108"/>
            <p:cNvSpPr/>
            <p:nvPr/>
          </p:nvSpPr>
          <p:spPr>
            <a:xfrm>
              <a:off x="3969" y="2967"/>
              <a:ext cx="4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6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8</a:t>
            </a:fld>
            <a:endParaRPr lang="en-US" altLang="zh-CN" sz="1400" dirty="0"/>
          </a:p>
        </p:txBody>
      </p:sp>
      <p:sp>
        <p:nvSpPr>
          <p:cNvPr id="168962" name="Rectangle 2"/>
          <p:cNvSpPr/>
          <p:nvPr/>
        </p:nvSpPr>
        <p:spPr>
          <a:xfrm>
            <a:off x="2438400" y="152400"/>
            <a:ext cx="4267200" cy="7620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钟控触发器</a:t>
            </a: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171450" y="19050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、电路结构</a:t>
            </a:r>
          </a:p>
        </p:txBody>
      </p:sp>
      <p:grpSp>
        <p:nvGrpSpPr>
          <p:cNvPr id="168964" name="Group 4"/>
          <p:cNvGrpSpPr/>
          <p:nvPr/>
        </p:nvGrpSpPr>
        <p:grpSpPr>
          <a:xfrm>
            <a:off x="1214438" y="2590800"/>
            <a:ext cx="3052762" cy="3751263"/>
            <a:chOff x="288" y="1776"/>
            <a:chExt cx="1923" cy="2363"/>
          </a:xfrm>
        </p:grpSpPr>
        <p:sp>
          <p:nvSpPr>
            <p:cNvPr id="27672" name="Rectangle 5"/>
            <p:cNvSpPr/>
            <p:nvPr/>
          </p:nvSpPr>
          <p:spPr>
            <a:xfrm>
              <a:off x="1486" y="2238"/>
              <a:ext cx="574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73" name="Oval 6"/>
            <p:cNvSpPr/>
            <p:nvPr/>
          </p:nvSpPr>
          <p:spPr>
            <a:xfrm>
              <a:off x="1725" y="2142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74" name="Line 7"/>
            <p:cNvSpPr/>
            <p:nvPr/>
          </p:nvSpPr>
          <p:spPr>
            <a:xfrm>
              <a:off x="1581" y="252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8"/>
            <p:cNvSpPr/>
            <p:nvPr/>
          </p:nvSpPr>
          <p:spPr>
            <a:xfrm>
              <a:off x="1917" y="252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9"/>
            <p:cNvSpPr/>
            <p:nvPr/>
          </p:nvSpPr>
          <p:spPr>
            <a:xfrm flipV="1">
              <a:off x="1773" y="1806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7" name="Rectangle 10"/>
            <p:cNvSpPr/>
            <p:nvPr/>
          </p:nvSpPr>
          <p:spPr>
            <a:xfrm>
              <a:off x="528" y="2238"/>
              <a:ext cx="574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78" name="Oval 11"/>
            <p:cNvSpPr/>
            <p:nvPr/>
          </p:nvSpPr>
          <p:spPr>
            <a:xfrm>
              <a:off x="767" y="2142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79" name="Line 12"/>
            <p:cNvSpPr/>
            <p:nvPr/>
          </p:nvSpPr>
          <p:spPr>
            <a:xfrm>
              <a:off x="959" y="252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Line 13"/>
            <p:cNvSpPr/>
            <p:nvPr/>
          </p:nvSpPr>
          <p:spPr>
            <a:xfrm flipV="1">
              <a:off x="815" y="1806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Rectangle 14"/>
            <p:cNvSpPr/>
            <p:nvPr/>
          </p:nvSpPr>
          <p:spPr>
            <a:xfrm>
              <a:off x="336" y="3054"/>
              <a:ext cx="575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82" name="Oval 15"/>
            <p:cNvSpPr/>
            <p:nvPr/>
          </p:nvSpPr>
          <p:spPr>
            <a:xfrm>
              <a:off x="575" y="2958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83" name="Line 16"/>
            <p:cNvSpPr/>
            <p:nvPr/>
          </p:nvSpPr>
          <p:spPr>
            <a:xfrm>
              <a:off x="432" y="334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Line 17"/>
            <p:cNvSpPr/>
            <p:nvPr/>
          </p:nvSpPr>
          <p:spPr>
            <a:xfrm>
              <a:off x="767" y="334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5" name="Line 18"/>
            <p:cNvSpPr/>
            <p:nvPr/>
          </p:nvSpPr>
          <p:spPr>
            <a:xfrm flipV="1">
              <a:off x="623" y="2496"/>
              <a:ext cx="0" cy="46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6" name="Rectangle 19"/>
            <p:cNvSpPr/>
            <p:nvPr/>
          </p:nvSpPr>
          <p:spPr>
            <a:xfrm>
              <a:off x="1629" y="3054"/>
              <a:ext cx="575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87" name="Oval 20"/>
            <p:cNvSpPr/>
            <p:nvPr/>
          </p:nvSpPr>
          <p:spPr>
            <a:xfrm>
              <a:off x="1869" y="2958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88" name="Line 21"/>
            <p:cNvSpPr/>
            <p:nvPr/>
          </p:nvSpPr>
          <p:spPr>
            <a:xfrm>
              <a:off x="1725" y="334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Line 22"/>
            <p:cNvSpPr/>
            <p:nvPr/>
          </p:nvSpPr>
          <p:spPr>
            <a:xfrm>
              <a:off x="2060" y="334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0" name="Line 23"/>
            <p:cNvSpPr/>
            <p:nvPr/>
          </p:nvSpPr>
          <p:spPr>
            <a:xfrm flipV="1">
              <a:off x="1917" y="262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1" name="Line 24"/>
            <p:cNvSpPr/>
            <p:nvPr/>
          </p:nvSpPr>
          <p:spPr>
            <a:xfrm>
              <a:off x="815" y="2046"/>
              <a:ext cx="3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2" name="Line 25"/>
            <p:cNvSpPr/>
            <p:nvPr/>
          </p:nvSpPr>
          <p:spPr>
            <a:xfrm flipH="1">
              <a:off x="1390" y="2046"/>
              <a:ext cx="38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26"/>
            <p:cNvSpPr/>
            <p:nvPr/>
          </p:nvSpPr>
          <p:spPr>
            <a:xfrm>
              <a:off x="1150" y="2046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27"/>
            <p:cNvSpPr/>
            <p:nvPr/>
          </p:nvSpPr>
          <p:spPr>
            <a:xfrm flipH="1">
              <a:off x="1054" y="2046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Line 28"/>
            <p:cNvSpPr/>
            <p:nvPr/>
          </p:nvSpPr>
          <p:spPr>
            <a:xfrm>
              <a:off x="959" y="2670"/>
              <a:ext cx="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Line 29"/>
            <p:cNvSpPr/>
            <p:nvPr/>
          </p:nvSpPr>
          <p:spPr>
            <a:xfrm>
              <a:off x="1486" y="2670"/>
              <a:ext cx="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7" name="Line 30"/>
            <p:cNvSpPr/>
            <p:nvPr/>
          </p:nvSpPr>
          <p:spPr>
            <a:xfrm flipH="1">
              <a:off x="1486" y="2670"/>
              <a:ext cx="9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8" name="Line 31"/>
            <p:cNvSpPr/>
            <p:nvPr/>
          </p:nvSpPr>
          <p:spPr>
            <a:xfrm>
              <a:off x="767" y="3486"/>
              <a:ext cx="95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Line 32"/>
            <p:cNvSpPr/>
            <p:nvPr/>
          </p:nvSpPr>
          <p:spPr>
            <a:xfrm>
              <a:off x="1246" y="3486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0" name="Line 33"/>
            <p:cNvSpPr/>
            <p:nvPr/>
          </p:nvSpPr>
          <p:spPr>
            <a:xfrm>
              <a:off x="432" y="3438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34"/>
            <p:cNvSpPr/>
            <p:nvPr/>
          </p:nvSpPr>
          <p:spPr>
            <a:xfrm>
              <a:off x="2060" y="3438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8995" name="Rectangle 35"/>
            <p:cNvSpPr>
              <a:spLocks noChangeArrowheads="1"/>
            </p:cNvSpPr>
            <p:nvPr/>
          </p:nvSpPr>
          <p:spPr bwMode="auto">
            <a:xfrm>
              <a:off x="1821" y="180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168996" name="Rectangle 36"/>
            <p:cNvSpPr>
              <a:spLocks noChangeArrowheads="1"/>
            </p:cNvSpPr>
            <p:nvPr/>
          </p:nvSpPr>
          <p:spPr bwMode="auto">
            <a:xfrm>
              <a:off x="480" y="1776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168997" name="Rectangle 37"/>
            <p:cNvSpPr>
              <a:spLocks noChangeArrowheads="1"/>
            </p:cNvSpPr>
            <p:nvPr/>
          </p:nvSpPr>
          <p:spPr bwMode="auto">
            <a:xfrm>
              <a:off x="288" y="3672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</a:p>
          </p:txBody>
        </p:sp>
        <p:sp>
          <p:nvSpPr>
            <p:cNvPr id="168998" name="Rectangle 38"/>
            <p:cNvSpPr>
              <a:spLocks noChangeArrowheads="1"/>
            </p:cNvSpPr>
            <p:nvPr/>
          </p:nvSpPr>
          <p:spPr bwMode="auto">
            <a:xfrm>
              <a:off x="1917" y="372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</a:p>
          </p:txBody>
        </p:sp>
        <p:sp>
          <p:nvSpPr>
            <p:cNvPr id="168999" name="Rectangle 39"/>
            <p:cNvSpPr>
              <a:spLocks noChangeArrowheads="1"/>
            </p:cNvSpPr>
            <p:nvPr/>
          </p:nvSpPr>
          <p:spPr bwMode="auto">
            <a:xfrm>
              <a:off x="1054" y="3774"/>
              <a:ext cx="5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169000" name="Rectangle 40"/>
            <p:cNvSpPr>
              <a:spLocks noChangeArrowheads="1"/>
            </p:cNvSpPr>
            <p:nvPr/>
          </p:nvSpPr>
          <p:spPr bwMode="auto">
            <a:xfrm>
              <a:off x="671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69001" name="Rectangle 41"/>
            <p:cNvSpPr>
              <a:spLocks noChangeArrowheads="1"/>
            </p:cNvSpPr>
            <p:nvPr/>
          </p:nvSpPr>
          <p:spPr bwMode="auto">
            <a:xfrm>
              <a:off x="1629" y="21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69002" name="Rectangle 42"/>
            <p:cNvSpPr>
              <a:spLocks noChangeArrowheads="1"/>
            </p:cNvSpPr>
            <p:nvPr/>
          </p:nvSpPr>
          <p:spPr bwMode="auto">
            <a:xfrm>
              <a:off x="480" y="300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69003" name="Rectangle 43"/>
            <p:cNvSpPr>
              <a:spLocks noChangeArrowheads="1"/>
            </p:cNvSpPr>
            <p:nvPr/>
          </p:nvSpPr>
          <p:spPr bwMode="auto">
            <a:xfrm>
              <a:off x="1773" y="300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69004" name="Rectangle 44"/>
            <p:cNvSpPr>
              <a:spLocks noChangeArrowheads="1"/>
            </p:cNvSpPr>
            <p:nvPr/>
          </p:nvSpPr>
          <p:spPr bwMode="auto">
            <a:xfrm>
              <a:off x="336" y="2544"/>
              <a:ext cx="62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</a:p>
          </p:txBody>
        </p:sp>
        <p:sp>
          <p:nvSpPr>
            <p:cNvPr id="169005" name="Rectangle 45"/>
            <p:cNvSpPr>
              <a:spLocks noChangeArrowheads="1"/>
            </p:cNvSpPr>
            <p:nvPr/>
          </p:nvSpPr>
          <p:spPr bwMode="auto">
            <a:xfrm>
              <a:off x="1968" y="2544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713" name="Line 46"/>
            <p:cNvSpPr/>
            <p:nvPr/>
          </p:nvSpPr>
          <p:spPr>
            <a:xfrm>
              <a:off x="2012" y="257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47"/>
            <p:cNvSpPr/>
            <p:nvPr/>
          </p:nvSpPr>
          <p:spPr>
            <a:xfrm>
              <a:off x="1869" y="1872"/>
              <a:ext cx="1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Oval 48"/>
            <p:cNvSpPr/>
            <p:nvPr/>
          </p:nvSpPr>
          <p:spPr>
            <a:xfrm>
              <a:off x="1725" y="1968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716" name="Oval 49"/>
            <p:cNvSpPr/>
            <p:nvPr/>
          </p:nvSpPr>
          <p:spPr>
            <a:xfrm>
              <a:off x="767" y="2016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717" name="Line 50"/>
            <p:cNvSpPr/>
            <p:nvPr/>
          </p:nvSpPr>
          <p:spPr>
            <a:xfrm>
              <a:off x="384" y="259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9011" name="Rectangle 51"/>
          <p:cNvSpPr/>
          <p:nvPr/>
        </p:nvSpPr>
        <p:spPr>
          <a:xfrm>
            <a:off x="149225" y="1066800"/>
            <a:ext cx="4776788" cy="7016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5.3.1 </a:t>
            </a:r>
            <a:r>
              <a:rPr lang="zh-CN" altLang="en-US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钟控</a:t>
            </a:r>
            <a:r>
              <a:rPr lang="en-US" altLang="zh-CN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grpSp>
        <p:nvGrpSpPr>
          <p:cNvPr id="169012" name="Group 52"/>
          <p:cNvGrpSpPr/>
          <p:nvPr/>
        </p:nvGrpSpPr>
        <p:grpSpPr>
          <a:xfrm>
            <a:off x="5181600" y="2590800"/>
            <a:ext cx="2819400" cy="3132138"/>
            <a:chOff x="3264" y="1632"/>
            <a:chExt cx="1776" cy="1973"/>
          </a:xfrm>
        </p:grpSpPr>
        <p:grpSp>
          <p:nvGrpSpPr>
            <p:cNvPr id="27656" name="Group 53"/>
            <p:cNvGrpSpPr/>
            <p:nvPr/>
          </p:nvGrpSpPr>
          <p:grpSpPr>
            <a:xfrm>
              <a:off x="3264" y="1632"/>
              <a:ext cx="1776" cy="1973"/>
              <a:chOff x="3024" y="1632"/>
              <a:chExt cx="1776" cy="1973"/>
            </a:xfrm>
          </p:grpSpPr>
          <p:sp>
            <p:nvSpPr>
              <p:cNvPr id="27659" name="Rectangle 54"/>
              <p:cNvSpPr/>
              <p:nvPr/>
            </p:nvSpPr>
            <p:spPr>
              <a:xfrm>
                <a:off x="3024" y="2299"/>
                <a:ext cx="1776" cy="744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27660" name="Oval 55"/>
              <p:cNvSpPr/>
              <p:nvPr/>
            </p:nvSpPr>
            <p:spPr>
              <a:xfrm>
                <a:off x="4293" y="2152"/>
                <a:ext cx="144" cy="139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169016" name="Rectangle 56"/>
              <p:cNvSpPr>
                <a:spLocks noChangeArrowheads="1"/>
              </p:cNvSpPr>
              <p:nvPr/>
            </p:nvSpPr>
            <p:spPr bwMode="auto">
              <a:xfrm>
                <a:off x="3268" y="324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S</a:t>
                </a:r>
              </a:p>
            </p:txBody>
          </p:sp>
          <p:sp>
            <p:nvSpPr>
              <p:cNvPr id="169017" name="Rectangle 57"/>
              <p:cNvSpPr>
                <a:spLocks noChangeArrowheads="1"/>
              </p:cNvSpPr>
              <p:nvPr/>
            </p:nvSpPr>
            <p:spPr bwMode="auto">
              <a:xfrm>
                <a:off x="3756" y="3217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CP</a:t>
                </a:r>
              </a:p>
            </p:txBody>
          </p:sp>
          <p:sp>
            <p:nvSpPr>
              <p:cNvPr id="169018" name="Rectangle 58"/>
              <p:cNvSpPr>
                <a:spLocks noChangeArrowheads="1"/>
              </p:cNvSpPr>
              <p:nvPr/>
            </p:nvSpPr>
            <p:spPr bwMode="auto">
              <a:xfrm>
                <a:off x="4293" y="324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R</a:t>
                </a:r>
              </a:p>
            </p:txBody>
          </p:sp>
          <p:sp>
            <p:nvSpPr>
              <p:cNvPr id="169019" name="Rectangle 59"/>
              <p:cNvSpPr>
                <a:spLocks noChangeArrowheads="1"/>
              </p:cNvSpPr>
              <p:nvPr/>
            </p:nvSpPr>
            <p:spPr bwMode="auto">
              <a:xfrm>
                <a:off x="3366" y="1632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Q</a:t>
                </a:r>
              </a:p>
            </p:txBody>
          </p:sp>
          <p:sp>
            <p:nvSpPr>
              <p:cNvPr id="169020" name="Rectangle 60"/>
              <p:cNvSpPr>
                <a:spLocks noChangeArrowheads="1"/>
              </p:cNvSpPr>
              <p:nvPr/>
            </p:nvSpPr>
            <p:spPr bwMode="auto">
              <a:xfrm>
                <a:off x="4244" y="1632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Q</a:t>
                </a:r>
              </a:p>
            </p:txBody>
          </p:sp>
          <p:sp>
            <p:nvSpPr>
              <p:cNvPr id="27666" name="Line 61"/>
              <p:cNvSpPr/>
              <p:nvPr/>
            </p:nvSpPr>
            <p:spPr>
              <a:xfrm>
                <a:off x="3951" y="3051"/>
                <a:ext cx="1" cy="22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7" name="Line 62"/>
              <p:cNvSpPr/>
              <p:nvPr/>
            </p:nvSpPr>
            <p:spPr>
              <a:xfrm flipV="1">
                <a:off x="3512" y="2010"/>
                <a:ext cx="0" cy="2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8" name="Line 63"/>
              <p:cNvSpPr/>
              <p:nvPr/>
            </p:nvSpPr>
            <p:spPr>
              <a:xfrm flipV="1">
                <a:off x="4390" y="1963"/>
                <a:ext cx="0" cy="18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9" name="Line 64"/>
              <p:cNvSpPr/>
              <p:nvPr/>
            </p:nvSpPr>
            <p:spPr>
              <a:xfrm>
                <a:off x="3414" y="3051"/>
                <a:ext cx="0" cy="23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0" name="Line 65"/>
              <p:cNvSpPr/>
              <p:nvPr/>
            </p:nvSpPr>
            <p:spPr>
              <a:xfrm>
                <a:off x="4390" y="3051"/>
                <a:ext cx="0" cy="23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1" name="Line 66"/>
              <p:cNvSpPr/>
              <p:nvPr/>
            </p:nvSpPr>
            <p:spPr>
              <a:xfrm>
                <a:off x="4272" y="168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657" name="Line 67"/>
            <p:cNvSpPr/>
            <p:nvPr/>
          </p:nvSpPr>
          <p:spPr>
            <a:xfrm flipV="1">
              <a:off x="3992" y="2840"/>
              <a:ext cx="192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8" name="Line 68"/>
            <p:cNvSpPr/>
            <p:nvPr/>
          </p:nvSpPr>
          <p:spPr>
            <a:xfrm>
              <a:off x="4184" y="2840"/>
              <a:ext cx="192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2" grpId="0" animBg="1"/>
      <p:bldP spid="168963" grpId="0" animBg="1"/>
      <p:bldP spid="1690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9</a:t>
            </a:fld>
            <a:endParaRPr lang="en-US" altLang="zh-CN" sz="1400" dirty="0"/>
          </a:p>
        </p:txBody>
      </p:sp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171450" y="1630363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</a:p>
        </p:txBody>
      </p:sp>
      <p:grpSp>
        <p:nvGrpSpPr>
          <p:cNvPr id="171011" name="Group 3"/>
          <p:cNvGrpSpPr/>
          <p:nvPr/>
        </p:nvGrpSpPr>
        <p:grpSpPr>
          <a:xfrm>
            <a:off x="2533650" y="5045075"/>
            <a:ext cx="4038600" cy="1209675"/>
            <a:chOff x="1488" y="3030"/>
            <a:chExt cx="2544" cy="762"/>
          </a:xfrm>
        </p:grpSpPr>
        <p:sp>
          <p:nvSpPr>
            <p:cNvPr id="29727" name="Oval 4"/>
            <p:cNvSpPr/>
            <p:nvPr/>
          </p:nvSpPr>
          <p:spPr>
            <a:xfrm>
              <a:off x="3264" y="3030"/>
              <a:ext cx="768" cy="72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9728" name="Oval 5"/>
            <p:cNvSpPr/>
            <p:nvPr/>
          </p:nvSpPr>
          <p:spPr>
            <a:xfrm>
              <a:off x="1488" y="3072"/>
              <a:ext cx="768" cy="72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71014" name="Rectangle 6"/>
            <p:cNvSpPr>
              <a:spLocks noChangeArrowheads="1"/>
            </p:cNvSpPr>
            <p:nvPr/>
          </p:nvSpPr>
          <p:spPr bwMode="auto">
            <a:xfrm>
              <a:off x="1728" y="321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71015" name="Rectangle 7"/>
            <p:cNvSpPr>
              <a:spLocks noChangeArrowheads="1"/>
            </p:cNvSpPr>
            <p:nvPr/>
          </p:nvSpPr>
          <p:spPr bwMode="auto">
            <a:xfrm>
              <a:off x="3504" y="31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171016" name="Group 8"/>
          <p:cNvGrpSpPr/>
          <p:nvPr/>
        </p:nvGrpSpPr>
        <p:grpSpPr>
          <a:xfrm>
            <a:off x="2127250" y="2320925"/>
            <a:ext cx="4806950" cy="1184275"/>
            <a:chOff x="1104" y="646"/>
            <a:chExt cx="3028" cy="746"/>
          </a:xfrm>
        </p:grpSpPr>
        <p:sp>
          <p:nvSpPr>
            <p:cNvPr id="29722" name="AutoShape 9"/>
            <p:cNvSpPr/>
            <p:nvPr/>
          </p:nvSpPr>
          <p:spPr>
            <a:xfrm>
              <a:off x="1104" y="790"/>
              <a:ext cx="96" cy="458"/>
            </a:xfrm>
            <a:prstGeom prst="leftBrace">
              <a:avLst>
                <a:gd name="adj1" fmla="val 39756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71018" name="Rectangle 10"/>
            <p:cNvSpPr>
              <a:spLocks noChangeArrowheads="1"/>
            </p:cNvSpPr>
            <p:nvPr/>
          </p:nvSpPr>
          <p:spPr bwMode="auto">
            <a:xfrm>
              <a:off x="2844" y="646"/>
              <a:ext cx="115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 CP=1 )</a:t>
              </a:r>
            </a:p>
          </p:txBody>
        </p:sp>
        <p:sp>
          <p:nvSpPr>
            <p:cNvPr id="171019" name="Rectangle 11"/>
            <p:cNvSpPr>
              <a:spLocks noChangeArrowheads="1"/>
            </p:cNvSpPr>
            <p:nvPr/>
          </p:nvSpPr>
          <p:spPr bwMode="auto">
            <a:xfrm>
              <a:off x="2736" y="1027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约束条件</a:t>
              </a:r>
              <a:r>
                <a:rPr kumimoji="1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graphicFrame>
          <p:nvGraphicFramePr>
            <p:cNvPr id="29725" name="Object 12"/>
            <p:cNvGraphicFramePr>
              <a:graphicFrameLocks noChangeAspect="1"/>
            </p:cNvGraphicFramePr>
            <p:nvPr/>
          </p:nvGraphicFramePr>
          <p:xfrm>
            <a:off x="1260" y="646"/>
            <a:ext cx="153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23900" imgH="146050" progId="Equation.3">
                    <p:embed/>
                  </p:oleObj>
                </mc:Choice>
                <mc:Fallback>
                  <p:oleObj r:id="rId3" imgW="723900" imgH="14605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60" y="646"/>
                          <a:ext cx="1536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6" name="Object 13"/>
            <p:cNvGraphicFramePr>
              <a:graphicFrameLocks noChangeAspect="1"/>
            </p:cNvGraphicFramePr>
            <p:nvPr/>
          </p:nvGraphicFramePr>
          <p:xfrm>
            <a:off x="1260" y="1075"/>
            <a:ext cx="89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94970" imgH="102235" progId="Equation.3">
                    <p:embed/>
                  </p:oleObj>
                </mc:Choice>
                <mc:Fallback>
                  <p:oleObj r:id="rId5" imgW="394970" imgH="102235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60" y="1075"/>
                          <a:ext cx="899" cy="2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171450" y="3611563"/>
            <a:ext cx="2020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、状态图</a:t>
            </a:r>
          </a:p>
        </p:txBody>
      </p:sp>
      <p:grpSp>
        <p:nvGrpSpPr>
          <p:cNvPr id="171023" name="Group 15"/>
          <p:cNvGrpSpPr/>
          <p:nvPr/>
        </p:nvGrpSpPr>
        <p:grpSpPr>
          <a:xfrm>
            <a:off x="3448050" y="4121150"/>
            <a:ext cx="2065338" cy="1374775"/>
            <a:chOff x="2172" y="2160"/>
            <a:chExt cx="1301" cy="866"/>
          </a:xfrm>
        </p:grpSpPr>
        <p:sp>
          <p:nvSpPr>
            <p:cNvPr id="29720" name="Arc 16"/>
            <p:cNvSpPr/>
            <p:nvPr/>
          </p:nvSpPr>
          <p:spPr>
            <a:xfrm>
              <a:off x="2172" y="2550"/>
              <a:ext cx="1301" cy="4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070" h="21600" fill="none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25" name="Rectangle 17"/>
            <p:cNvSpPr>
              <a:spLocks noChangeArrowheads="1"/>
            </p:cNvSpPr>
            <p:nvPr/>
          </p:nvSpPr>
          <p:spPr bwMode="auto">
            <a:xfrm>
              <a:off x="2652" y="216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01</a:t>
              </a:r>
            </a:p>
          </p:txBody>
        </p:sp>
      </p:grpSp>
      <p:grpSp>
        <p:nvGrpSpPr>
          <p:cNvPr id="171026" name="Group 18"/>
          <p:cNvGrpSpPr/>
          <p:nvPr/>
        </p:nvGrpSpPr>
        <p:grpSpPr>
          <a:xfrm>
            <a:off x="6240463" y="4589463"/>
            <a:ext cx="1760537" cy="1330325"/>
            <a:chOff x="3931" y="2455"/>
            <a:chExt cx="1109" cy="838"/>
          </a:xfrm>
        </p:grpSpPr>
        <p:sp>
          <p:nvSpPr>
            <p:cNvPr id="29717" name="Arc 19"/>
            <p:cNvSpPr/>
            <p:nvPr/>
          </p:nvSpPr>
          <p:spPr>
            <a:xfrm>
              <a:off x="3931" y="2455"/>
              <a:ext cx="737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2712" h="43200" fill="none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</a:path>
                <a:path w="42712" h="43200" stroke="0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  <a:lnTo>
                    <a:pt x="21112" y="21600"/>
                  </a:lnTo>
                  <a:lnTo>
                    <a:pt x="0" y="17033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28" name="Rectangle 20"/>
            <p:cNvSpPr>
              <a:spLocks noChangeArrowheads="1"/>
            </p:cNvSpPr>
            <p:nvPr/>
          </p:nvSpPr>
          <p:spPr bwMode="auto">
            <a:xfrm>
              <a:off x="4668" y="264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00</a:t>
              </a:r>
            </a:p>
          </p:txBody>
        </p:sp>
        <p:sp>
          <p:nvSpPr>
            <p:cNvPr id="171029" name="Rectangle 21"/>
            <p:cNvSpPr>
              <a:spLocks noChangeArrowheads="1"/>
            </p:cNvSpPr>
            <p:nvPr/>
          </p:nvSpPr>
          <p:spPr bwMode="auto">
            <a:xfrm>
              <a:off x="4681" y="2928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171030" name="Group 22"/>
          <p:cNvGrpSpPr/>
          <p:nvPr/>
        </p:nvGrpSpPr>
        <p:grpSpPr>
          <a:xfrm>
            <a:off x="3600450" y="5797550"/>
            <a:ext cx="2065338" cy="755650"/>
            <a:chOff x="2268" y="3216"/>
            <a:chExt cx="1301" cy="476"/>
          </a:xfrm>
        </p:grpSpPr>
        <p:sp>
          <p:nvSpPr>
            <p:cNvPr id="29715" name="Arc 23"/>
            <p:cNvSpPr/>
            <p:nvPr/>
          </p:nvSpPr>
          <p:spPr>
            <a:xfrm flipV="1">
              <a:off x="2268" y="3216"/>
              <a:ext cx="1301" cy="4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070" h="21600" fill="none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2" name="Rectangle 24"/>
            <p:cNvSpPr>
              <a:spLocks noChangeArrowheads="1"/>
            </p:cNvSpPr>
            <p:nvPr/>
          </p:nvSpPr>
          <p:spPr bwMode="auto">
            <a:xfrm>
              <a:off x="2700" y="331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10</a:t>
              </a:r>
            </a:p>
          </p:txBody>
        </p:sp>
      </p:grpSp>
      <p:grpSp>
        <p:nvGrpSpPr>
          <p:cNvPr id="171033" name="Group 25"/>
          <p:cNvGrpSpPr/>
          <p:nvPr/>
        </p:nvGrpSpPr>
        <p:grpSpPr>
          <a:xfrm>
            <a:off x="857250" y="4283075"/>
            <a:ext cx="2190750" cy="1836738"/>
            <a:chOff x="540" y="2262"/>
            <a:chExt cx="1380" cy="1157"/>
          </a:xfrm>
        </p:grpSpPr>
        <p:sp>
          <p:nvSpPr>
            <p:cNvPr id="171034" name="Rectangle 26"/>
            <p:cNvSpPr>
              <a:spLocks noChangeArrowheads="1"/>
            </p:cNvSpPr>
            <p:nvPr/>
          </p:nvSpPr>
          <p:spPr bwMode="auto">
            <a:xfrm>
              <a:off x="1164" y="2262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RS</a:t>
              </a:r>
            </a:p>
          </p:txBody>
        </p:sp>
        <p:sp>
          <p:nvSpPr>
            <p:cNvPr id="171035" name="Rectangle 27"/>
            <p:cNvSpPr>
              <a:spLocks noChangeArrowheads="1"/>
            </p:cNvSpPr>
            <p:nvPr/>
          </p:nvSpPr>
          <p:spPr bwMode="auto">
            <a:xfrm>
              <a:off x="540" y="3054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9713" name="Arc 28"/>
            <p:cNvSpPr/>
            <p:nvPr/>
          </p:nvSpPr>
          <p:spPr>
            <a:xfrm>
              <a:off x="972" y="2736"/>
              <a:ext cx="768" cy="6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8370" h="43200" fill="none">
                  <a:moveTo>
                    <a:pt x="32000" y="40531"/>
                  </a:moveTo>
                  <a:cubicBezTo>
                    <a:pt x="28813" y="42282"/>
                    <a:pt x="2523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</a:path>
                <a:path w="38370" h="43200" stroke="0">
                  <a:moveTo>
                    <a:pt x="32000" y="40531"/>
                  </a:moveTo>
                  <a:cubicBezTo>
                    <a:pt x="28813" y="42282"/>
                    <a:pt x="2523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  <a:lnTo>
                    <a:pt x="21600" y="21600"/>
                  </a:lnTo>
                  <a:lnTo>
                    <a:pt x="32000" y="40531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7" name="Rectangle 29"/>
            <p:cNvSpPr>
              <a:spLocks noChangeArrowheads="1"/>
            </p:cNvSpPr>
            <p:nvPr/>
          </p:nvSpPr>
          <p:spPr bwMode="auto">
            <a:xfrm>
              <a:off x="540" y="278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00</a:t>
              </a:r>
            </a:p>
          </p:txBody>
        </p:sp>
      </p:grpSp>
      <p:sp>
        <p:nvSpPr>
          <p:cNvPr id="171038" name="Rectangle 30"/>
          <p:cNvSpPr>
            <a:spLocks noChangeArrowheads="1"/>
          </p:cNvSpPr>
          <p:nvPr/>
        </p:nvSpPr>
        <p:spPr bwMode="auto">
          <a:xfrm>
            <a:off x="173038" y="1524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、工作状态</a:t>
            </a:r>
          </a:p>
        </p:txBody>
      </p:sp>
      <p:sp>
        <p:nvSpPr>
          <p:cNvPr id="171039" name="Rectangle 31"/>
          <p:cNvSpPr>
            <a:spLocks noChangeArrowheads="1"/>
          </p:cNvSpPr>
          <p:nvPr/>
        </p:nvSpPr>
        <p:spPr bwMode="auto">
          <a:xfrm>
            <a:off x="171450" y="868363"/>
            <a:ext cx="92249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时，保持状态不变；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时，接收输入信号。</a:t>
            </a:r>
          </a:p>
        </p:txBody>
      </p:sp>
      <p:sp>
        <p:nvSpPr>
          <p:cNvPr id="171040" name="Rectangle 32"/>
          <p:cNvSpPr>
            <a:spLocks noChangeArrowheads="1"/>
          </p:cNvSpPr>
          <p:nvPr/>
        </p:nvSpPr>
        <p:spPr bwMode="auto">
          <a:xfrm>
            <a:off x="860425" y="546417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</a:p>
        </p:txBody>
      </p:sp>
      <p:sp>
        <p:nvSpPr>
          <p:cNvPr id="171041" name="Rectangle 33"/>
          <p:cNvSpPr>
            <a:spLocks noChangeArrowheads="1"/>
          </p:cNvSpPr>
          <p:nvPr/>
        </p:nvSpPr>
        <p:spPr bwMode="auto">
          <a:xfrm>
            <a:off x="7426325" y="522922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7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 animBg="1"/>
      <p:bldP spid="171022" grpId="0" animBg="1"/>
      <p:bldP spid="171038" grpId="0" animBg="1"/>
      <p:bldP spid="171039" grpId="0"/>
      <p:bldP spid="171040" grpId="0"/>
      <p:bldP spid="1710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10</a:t>
            </a:fld>
            <a:endParaRPr lang="en-US" altLang="zh-CN" sz="1400" dirty="0"/>
          </a:p>
        </p:txBody>
      </p:sp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212725" y="3048000"/>
            <a:ext cx="8763000" cy="1066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期间，只要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稍有变化，那么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端也随之变化，存在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空翻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问题。</a:t>
            </a:r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196850" y="152400"/>
            <a:ext cx="16129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、优点</a:t>
            </a:r>
          </a:p>
        </p:txBody>
      </p:sp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212725" y="2362200"/>
            <a:ext cx="4503738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仍然存在约束条件。</a:t>
            </a:r>
          </a:p>
        </p:txBody>
      </p:sp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212725" y="4267200"/>
            <a:ext cx="876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在一个时钟周期内触发器状态多次翻转的现象被称为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空翻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196850" y="54864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空翻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会造成节拍混乱，使系统工作不可靠，因此在实际的数字电路中是不允许出现的。</a:t>
            </a: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228600" y="1630363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、存在的问题</a:t>
            </a:r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222250" y="868363"/>
            <a:ext cx="74993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加入了时钟信号，使同步工作成为可能。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 animBg="1"/>
      <p:bldP spid="173059" grpId="0" animBg="1"/>
      <p:bldP spid="173060" grpId="0" animBg="1"/>
      <p:bldP spid="173061" grpId="0" animBg="1"/>
      <p:bldP spid="173062" grpId="0"/>
      <p:bldP spid="173063" grpId="0" animBg="1"/>
      <p:bldP spid="17306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11</a:t>
            </a:fld>
            <a:endParaRPr lang="en-US" altLang="zh-CN" sz="1400" dirty="0"/>
          </a:p>
        </p:txBody>
      </p:sp>
      <p:grpSp>
        <p:nvGrpSpPr>
          <p:cNvPr id="175106" name="Group 2"/>
          <p:cNvGrpSpPr/>
          <p:nvPr/>
        </p:nvGrpSpPr>
        <p:grpSpPr>
          <a:xfrm>
            <a:off x="2362200" y="3865563"/>
            <a:ext cx="1346200" cy="1223962"/>
            <a:chOff x="1488" y="3203"/>
            <a:chExt cx="848" cy="771"/>
          </a:xfrm>
        </p:grpSpPr>
        <p:sp>
          <p:nvSpPr>
            <p:cNvPr id="33841" name="Line 3"/>
            <p:cNvSpPr/>
            <p:nvPr/>
          </p:nvSpPr>
          <p:spPr>
            <a:xfrm>
              <a:off x="1488" y="3552"/>
              <a:ext cx="8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2" name="Line 4"/>
            <p:cNvSpPr/>
            <p:nvPr/>
          </p:nvSpPr>
          <p:spPr>
            <a:xfrm flipV="1">
              <a:off x="2336" y="3203"/>
              <a:ext cx="0" cy="33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3" name="Line 5"/>
            <p:cNvSpPr/>
            <p:nvPr/>
          </p:nvSpPr>
          <p:spPr>
            <a:xfrm>
              <a:off x="1488" y="3696"/>
              <a:ext cx="8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44" name="Line 6"/>
            <p:cNvSpPr/>
            <p:nvPr/>
          </p:nvSpPr>
          <p:spPr>
            <a:xfrm>
              <a:off x="2336" y="3702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11" name="Group 7"/>
          <p:cNvGrpSpPr/>
          <p:nvPr/>
        </p:nvGrpSpPr>
        <p:grpSpPr>
          <a:xfrm>
            <a:off x="1676400" y="1676400"/>
            <a:ext cx="5562600" cy="2246313"/>
            <a:chOff x="1056" y="1824"/>
            <a:chExt cx="3504" cy="1415"/>
          </a:xfrm>
        </p:grpSpPr>
        <p:sp>
          <p:nvSpPr>
            <p:cNvPr id="33823" name="Line 8"/>
            <p:cNvSpPr/>
            <p:nvPr/>
          </p:nvSpPr>
          <p:spPr>
            <a:xfrm>
              <a:off x="1440" y="220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4" name="Line 9"/>
            <p:cNvSpPr/>
            <p:nvPr/>
          </p:nvSpPr>
          <p:spPr>
            <a:xfrm flipV="1">
              <a:off x="2304" y="1824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5" name="Line 10"/>
            <p:cNvSpPr/>
            <p:nvPr/>
          </p:nvSpPr>
          <p:spPr>
            <a:xfrm>
              <a:off x="2304" y="1824"/>
              <a:ext cx="15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6" name="Line 11"/>
            <p:cNvSpPr/>
            <p:nvPr/>
          </p:nvSpPr>
          <p:spPr>
            <a:xfrm>
              <a:off x="3840" y="1824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7" name="Line 12"/>
            <p:cNvSpPr/>
            <p:nvPr/>
          </p:nvSpPr>
          <p:spPr>
            <a:xfrm>
              <a:off x="3840" y="2208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8" name="Line 13"/>
            <p:cNvSpPr/>
            <p:nvPr/>
          </p:nvSpPr>
          <p:spPr>
            <a:xfrm>
              <a:off x="1565" y="2296"/>
              <a:ext cx="167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9" name="Line 14"/>
            <p:cNvSpPr/>
            <p:nvPr/>
          </p:nvSpPr>
          <p:spPr>
            <a:xfrm flipV="1">
              <a:off x="3243" y="2296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0" name="Line 15"/>
            <p:cNvSpPr/>
            <p:nvPr/>
          </p:nvSpPr>
          <p:spPr>
            <a:xfrm>
              <a:off x="3243" y="2568"/>
              <a:ext cx="1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1" name="Line 16"/>
            <p:cNvSpPr/>
            <p:nvPr/>
          </p:nvSpPr>
          <p:spPr>
            <a:xfrm>
              <a:off x="3424" y="2296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2" name="Line 17"/>
            <p:cNvSpPr/>
            <p:nvPr/>
          </p:nvSpPr>
          <p:spPr>
            <a:xfrm>
              <a:off x="3424" y="2296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3" name="Line 18"/>
            <p:cNvSpPr/>
            <p:nvPr/>
          </p:nvSpPr>
          <p:spPr>
            <a:xfrm>
              <a:off x="1429" y="3022"/>
              <a:ext cx="19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4" name="Line 19"/>
            <p:cNvSpPr/>
            <p:nvPr/>
          </p:nvSpPr>
          <p:spPr>
            <a:xfrm>
              <a:off x="3560" y="3022"/>
              <a:ext cx="9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5" name="Line 20"/>
            <p:cNvSpPr/>
            <p:nvPr/>
          </p:nvSpPr>
          <p:spPr>
            <a:xfrm>
              <a:off x="3334" y="2750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6" name="Line 21"/>
            <p:cNvSpPr/>
            <p:nvPr/>
          </p:nvSpPr>
          <p:spPr>
            <a:xfrm flipV="1">
              <a:off x="3560" y="2750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37" name="Line 22"/>
            <p:cNvSpPr/>
            <p:nvPr/>
          </p:nvSpPr>
          <p:spPr>
            <a:xfrm>
              <a:off x="3334" y="2750"/>
              <a:ext cx="22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5127" name="Rectangle 23"/>
            <p:cNvSpPr>
              <a:spLocks noChangeArrowheads="1"/>
            </p:cNvSpPr>
            <p:nvPr/>
          </p:nvSpPr>
          <p:spPr bwMode="auto">
            <a:xfrm>
              <a:off x="1056" y="196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175128" name="Rectangle 24"/>
            <p:cNvSpPr>
              <a:spLocks noChangeArrowheads="1"/>
            </p:cNvSpPr>
            <p:nvPr/>
          </p:nvSpPr>
          <p:spPr bwMode="auto">
            <a:xfrm>
              <a:off x="1056" y="239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</a:p>
          </p:txBody>
        </p:sp>
        <p:sp>
          <p:nvSpPr>
            <p:cNvPr id="175129" name="Rectangle 25"/>
            <p:cNvSpPr>
              <a:spLocks noChangeArrowheads="1"/>
            </p:cNvSpPr>
            <p:nvPr/>
          </p:nvSpPr>
          <p:spPr bwMode="auto">
            <a:xfrm>
              <a:off x="1056" y="28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</a:p>
          </p:txBody>
        </p:sp>
      </p:grpSp>
      <p:grpSp>
        <p:nvGrpSpPr>
          <p:cNvPr id="175130" name="Group 26"/>
          <p:cNvGrpSpPr/>
          <p:nvPr/>
        </p:nvGrpSpPr>
        <p:grpSpPr>
          <a:xfrm>
            <a:off x="1676400" y="3962400"/>
            <a:ext cx="685800" cy="1103313"/>
            <a:chOff x="1056" y="3264"/>
            <a:chExt cx="432" cy="695"/>
          </a:xfrm>
        </p:grpSpPr>
        <p:sp>
          <p:nvSpPr>
            <p:cNvPr id="175131" name="Rectangle 27"/>
            <p:cNvSpPr>
              <a:spLocks noChangeArrowheads="1"/>
            </p:cNvSpPr>
            <p:nvPr/>
          </p:nvSpPr>
          <p:spPr bwMode="auto">
            <a:xfrm>
              <a:off x="1056" y="3264"/>
              <a:ext cx="4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5132" name="Rectangle 28"/>
            <p:cNvSpPr>
              <a:spLocks noChangeArrowheads="1"/>
            </p:cNvSpPr>
            <p:nvPr/>
          </p:nvSpPr>
          <p:spPr bwMode="auto">
            <a:xfrm>
              <a:off x="1056" y="359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</a:p>
          </p:txBody>
        </p:sp>
        <p:sp>
          <p:nvSpPr>
            <p:cNvPr id="33822" name="Line 29"/>
            <p:cNvSpPr/>
            <p:nvPr/>
          </p:nvSpPr>
          <p:spPr>
            <a:xfrm>
              <a:off x="1104" y="364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34" name="Group 30"/>
          <p:cNvGrpSpPr/>
          <p:nvPr/>
        </p:nvGrpSpPr>
        <p:grpSpPr>
          <a:xfrm>
            <a:off x="3708400" y="3860800"/>
            <a:ext cx="1368425" cy="1223963"/>
            <a:chOff x="2336" y="2432"/>
            <a:chExt cx="862" cy="771"/>
          </a:xfrm>
        </p:grpSpPr>
        <p:sp>
          <p:nvSpPr>
            <p:cNvPr id="33818" name="Line 31"/>
            <p:cNvSpPr/>
            <p:nvPr/>
          </p:nvSpPr>
          <p:spPr>
            <a:xfrm>
              <a:off x="2336" y="2432"/>
              <a:ext cx="8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9" name="Line 32"/>
            <p:cNvSpPr/>
            <p:nvPr/>
          </p:nvSpPr>
          <p:spPr>
            <a:xfrm>
              <a:off x="2336" y="3203"/>
              <a:ext cx="8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37" name="Group 33"/>
          <p:cNvGrpSpPr/>
          <p:nvPr/>
        </p:nvGrpSpPr>
        <p:grpSpPr>
          <a:xfrm>
            <a:off x="5062538" y="3860800"/>
            <a:ext cx="230187" cy="1223963"/>
            <a:chOff x="3189" y="2432"/>
            <a:chExt cx="145" cy="771"/>
          </a:xfrm>
        </p:grpSpPr>
        <p:sp>
          <p:nvSpPr>
            <p:cNvPr id="33816" name="Line 34"/>
            <p:cNvSpPr/>
            <p:nvPr/>
          </p:nvSpPr>
          <p:spPr>
            <a:xfrm>
              <a:off x="3198" y="2432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7" name="Line 35"/>
            <p:cNvSpPr/>
            <p:nvPr/>
          </p:nvSpPr>
          <p:spPr>
            <a:xfrm>
              <a:off x="3189" y="3203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40" name="Group 36"/>
          <p:cNvGrpSpPr/>
          <p:nvPr/>
        </p:nvGrpSpPr>
        <p:grpSpPr>
          <a:xfrm>
            <a:off x="5292725" y="3865563"/>
            <a:ext cx="215900" cy="1223962"/>
            <a:chOff x="3334" y="2435"/>
            <a:chExt cx="136" cy="771"/>
          </a:xfrm>
        </p:grpSpPr>
        <p:sp>
          <p:nvSpPr>
            <p:cNvPr id="33812" name="Line 37"/>
            <p:cNvSpPr/>
            <p:nvPr/>
          </p:nvSpPr>
          <p:spPr>
            <a:xfrm>
              <a:off x="3334" y="2934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3" name="Line 38"/>
            <p:cNvSpPr/>
            <p:nvPr/>
          </p:nvSpPr>
          <p:spPr>
            <a:xfrm>
              <a:off x="3334" y="2435"/>
              <a:ext cx="0" cy="31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4" name="Line 39"/>
            <p:cNvSpPr/>
            <p:nvPr/>
          </p:nvSpPr>
          <p:spPr>
            <a:xfrm>
              <a:off x="3334" y="2753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5" name="Line 40"/>
            <p:cNvSpPr/>
            <p:nvPr/>
          </p:nvSpPr>
          <p:spPr>
            <a:xfrm>
              <a:off x="3334" y="2931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45" name="Group 41"/>
          <p:cNvGrpSpPr/>
          <p:nvPr/>
        </p:nvGrpSpPr>
        <p:grpSpPr>
          <a:xfrm>
            <a:off x="5508625" y="3860800"/>
            <a:ext cx="142875" cy="792163"/>
            <a:chOff x="3470" y="2432"/>
            <a:chExt cx="90" cy="499"/>
          </a:xfrm>
        </p:grpSpPr>
        <p:sp>
          <p:nvSpPr>
            <p:cNvPr id="33809" name="Line 42"/>
            <p:cNvSpPr/>
            <p:nvPr/>
          </p:nvSpPr>
          <p:spPr>
            <a:xfrm>
              <a:off x="3470" y="2435"/>
              <a:ext cx="0" cy="31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0" name="Line 43"/>
            <p:cNvSpPr/>
            <p:nvPr/>
          </p:nvSpPr>
          <p:spPr>
            <a:xfrm>
              <a:off x="3470" y="2931"/>
              <a:ext cx="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1" name="Line 44"/>
            <p:cNvSpPr/>
            <p:nvPr/>
          </p:nvSpPr>
          <p:spPr>
            <a:xfrm>
              <a:off x="3470" y="2432"/>
              <a:ext cx="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49" name="Group 45"/>
          <p:cNvGrpSpPr/>
          <p:nvPr/>
        </p:nvGrpSpPr>
        <p:grpSpPr>
          <a:xfrm>
            <a:off x="5651500" y="3860800"/>
            <a:ext cx="433388" cy="1228725"/>
            <a:chOff x="3560" y="2432"/>
            <a:chExt cx="273" cy="774"/>
          </a:xfrm>
        </p:grpSpPr>
        <p:sp>
          <p:nvSpPr>
            <p:cNvPr id="33806" name="Line 46"/>
            <p:cNvSpPr/>
            <p:nvPr/>
          </p:nvSpPr>
          <p:spPr>
            <a:xfrm flipV="1">
              <a:off x="3560" y="2934"/>
              <a:ext cx="0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7" name="Line 47"/>
            <p:cNvSpPr/>
            <p:nvPr/>
          </p:nvSpPr>
          <p:spPr>
            <a:xfrm>
              <a:off x="3560" y="2432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8" name="Line 48"/>
            <p:cNvSpPr/>
            <p:nvPr/>
          </p:nvSpPr>
          <p:spPr>
            <a:xfrm>
              <a:off x="3560" y="3203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5153" name="Group 49"/>
          <p:cNvGrpSpPr/>
          <p:nvPr/>
        </p:nvGrpSpPr>
        <p:grpSpPr>
          <a:xfrm>
            <a:off x="6070600" y="3860800"/>
            <a:ext cx="1165225" cy="1223963"/>
            <a:chOff x="3824" y="2432"/>
            <a:chExt cx="734" cy="771"/>
          </a:xfrm>
        </p:grpSpPr>
        <p:sp>
          <p:nvSpPr>
            <p:cNvPr id="33804" name="Line 50"/>
            <p:cNvSpPr/>
            <p:nvPr/>
          </p:nvSpPr>
          <p:spPr>
            <a:xfrm>
              <a:off x="3824" y="2432"/>
              <a:ext cx="72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5" name="Line 51"/>
            <p:cNvSpPr/>
            <p:nvPr/>
          </p:nvSpPr>
          <p:spPr>
            <a:xfrm>
              <a:off x="3833" y="3203"/>
              <a:ext cx="72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12</a:t>
            </a:fld>
            <a:endParaRPr lang="en-US" altLang="zh-CN" sz="1400" dirty="0"/>
          </a:p>
        </p:txBody>
      </p:sp>
      <p:sp>
        <p:nvSpPr>
          <p:cNvPr id="23554" name="Rectangle 2"/>
          <p:cNvSpPr/>
          <p:nvPr/>
        </p:nvSpPr>
        <p:spPr>
          <a:xfrm>
            <a:off x="171450" y="171450"/>
            <a:ext cx="4019550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5.3.3 D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23600" name="Rectangle 48"/>
          <p:cNvSpPr>
            <a:spLocks noChangeArrowheads="1"/>
          </p:cNvSpPr>
          <p:nvPr/>
        </p:nvSpPr>
        <p:spPr bwMode="auto">
          <a:xfrm>
            <a:off x="190500" y="1077913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、电路结构</a:t>
            </a:r>
          </a:p>
        </p:txBody>
      </p:sp>
      <p:sp>
        <p:nvSpPr>
          <p:cNvPr id="23601" name="Rectangle 49"/>
          <p:cNvSpPr>
            <a:spLocks noChangeArrowheads="1"/>
          </p:cNvSpPr>
          <p:nvPr/>
        </p:nvSpPr>
        <p:spPr bwMode="auto">
          <a:xfrm>
            <a:off x="228600" y="1782763"/>
            <a:ext cx="180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</a:p>
        </p:txBody>
      </p:sp>
      <p:sp>
        <p:nvSpPr>
          <p:cNvPr id="23602" name="Rectangle 50"/>
          <p:cNvSpPr>
            <a:spLocks noChangeArrowheads="1"/>
          </p:cNvSpPr>
          <p:nvPr/>
        </p:nvSpPr>
        <p:spPr bwMode="auto">
          <a:xfrm>
            <a:off x="1771650" y="1763713"/>
            <a:ext cx="2279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则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</a:p>
        </p:txBody>
      </p:sp>
      <p:sp>
        <p:nvSpPr>
          <p:cNvPr id="23603" name="Rectangle 51"/>
          <p:cNvSpPr>
            <a:spLocks noChangeArrowheads="1"/>
          </p:cNvSpPr>
          <p:nvPr/>
        </p:nvSpPr>
        <p:spPr bwMode="auto">
          <a:xfrm>
            <a:off x="228600" y="2438400"/>
            <a:ext cx="254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于是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23604" name="Rectangle 52"/>
          <p:cNvSpPr>
            <a:spLocks noChangeArrowheads="1"/>
          </p:cNvSpPr>
          <p:nvPr/>
        </p:nvSpPr>
        <p:spPr bwMode="auto">
          <a:xfrm>
            <a:off x="190500" y="3143250"/>
            <a:ext cx="180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</a:p>
        </p:txBody>
      </p:sp>
      <p:sp>
        <p:nvSpPr>
          <p:cNvPr id="23605" name="Rectangle 53"/>
          <p:cNvSpPr>
            <a:spLocks noChangeArrowheads="1"/>
          </p:cNvSpPr>
          <p:nvPr/>
        </p:nvSpPr>
        <p:spPr bwMode="auto">
          <a:xfrm>
            <a:off x="4591050" y="3771900"/>
            <a:ext cx="241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于是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</a:t>
            </a:r>
          </a:p>
        </p:txBody>
      </p:sp>
      <p:sp>
        <p:nvSpPr>
          <p:cNvPr id="23611" name="Rectangle 59"/>
          <p:cNvSpPr>
            <a:spLocks noChangeArrowheads="1"/>
          </p:cNvSpPr>
          <p:nvPr/>
        </p:nvSpPr>
        <p:spPr bwMode="auto">
          <a:xfrm>
            <a:off x="209550" y="3771900"/>
            <a:ext cx="241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那么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</a:t>
            </a:r>
          </a:p>
        </p:txBody>
      </p:sp>
      <p:sp>
        <p:nvSpPr>
          <p:cNvPr id="23612" name="Rectangle 60"/>
          <p:cNvSpPr>
            <a:spLocks noChangeArrowheads="1"/>
          </p:cNvSpPr>
          <p:nvPr/>
        </p:nvSpPr>
        <p:spPr bwMode="auto">
          <a:xfrm>
            <a:off x="2362200" y="3771900"/>
            <a:ext cx="2482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</a:p>
        </p:txBody>
      </p:sp>
      <p:sp>
        <p:nvSpPr>
          <p:cNvPr id="23613" name="Rectangle 61"/>
          <p:cNvSpPr>
            <a:spLocks noChangeArrowheads="1"/>
          </p:cNvSpPr>
          <p:nvPr/>
        </p:nvSpPr>
        <p:spPr bwMode="auto">
          <a:xfrm>
            <a:off x="1020763" y="4362450"/>
            <a:ext cx="160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时，</a:t>
            </a:r>
          </a:p>
        </p:txBody>
      </p:sp>
      <p:sp>
        <p:nvSpPr>
          <p:cNvPr id="23614" name="Rectangle 62"/>
          <p:cNvSpPr>
            <a:spLocks noChangeArrowheads="1"/>
          </p:cNvSpPr>
          <p:nvPr/>
        </p:nvSpPr>
        <p:spPr bwMode="auto">
          <a:xfrm>
            <a:off x="4591050" y="4362450"/>
            <a:ext cx="241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于是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23615" name="Rectangle 63"/>
          <p:cNvSpPr>
            <a:spLocks noChangeArrowheads="1"/>
          </p:cNvSpPr>
          <p:nvPr/>
        </p:nvSpPr>
        <p:spPr bwMode="auto">
          <a:xfrm>
            <a:off x="2362200" y="4362450"/>
            <a:ext cx="2482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</a:p>
        </p:txBody>
      </p:sp>
      <p:grpSp>
        <p:nvGrpSpPr>
          <p:cNvPr id="23620" name="Group 68"/>
          <p:cNvGrpSpPr/>
          <p:nvPr/>
        </p:nvGrpSpPr>
        <p:grpSpPr>
          <a:xfrm>
            <a:off x="4876800" y="152400"/>
            <a:ext cx="4194175" cy="4246563"/>
            <a:chOff x="3072" y="96"/>
            <a:chExt cx="2642" cy="2675"/>
          </a:xfrm>
        </p:grpSpPr>
        <p:sp>
          <p:nvSpPr>
            <p:cNvPr id="46101" name="Rectangle 69"/>
            <p:cNvSpPr/>
            <p:nvPr/>
          </p:nvSpPr>
          <p:spPr>
            <a:xfrm>
              <a:off x="4596" y="534"/>
              <a:ext cx="572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02" name="Oval 70"/>
            <p:cNvSpPr/>
            <p:nvPr/>
          </p:nvSpPr>
          <p:spPr>
            <a:xfrm>
              <a:off x="4835" y="438"/>
              <a:ext cx="95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03" name="Line 71"/>
            <p:cNvSpPr/>
            <p:nvPr/>
          </p:nvSpPr>
          <p:spPr>
            <a:xfrm>
              <a:off x="4692" y="82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4" name="Line 72"/>
            <p:cNvSpPr/>
            <p:nvPr/>
          </p:nvSpPr>
          <p:spPr>
            <a:xfrm>
              <a:off x="5025" y="82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5" name="Line 73"/>
            <p:cNvSpPr/>
            <p:nvPr/>
          </p:nvSpPr>
          <p:spPr>
            <a:xfrm flipV="1">
              <a:off x="4882" y="10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6" name="Rectangle 74"/>
            <p:cNvSpPr/>
            <p:nvPr/>
          </p:nvSpPr>
          <p:spPr>
            <a:xfrm>
              <a:off x="3644" y="534"/>
              <a:ext cx="571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07" name="Oval 75"/>
            <p:cNvSpPr/>
            <p:nvPr/>
          </p:nvSpPr>
          <p:spPr>
            <a:xfrm>
              <a:off x="3882" y="438"/>
              <a:ext cx="95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08" name="Line 76"/>
            <p:cNvSpPr/>
            <p:nvPr/>
          </p:nvSpPr>
          <p:spPr>
            <a:xfrm>
              <a:off x="3739" y="82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9" name="Line 77"/>
            <p:cNvSpPr/>
            <p:nvPr/>
          </p:nvSpPr>
          <p:spPr>
            <a:xfrm>
              <a:off x="4072" y="822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0" name="Line 78"/>
            <p:cNvSpPr/>
            <p:nvPr/>
          </p:nvSpPr>
          <p:spPr>
            <a:xfrm flipV="1">
              <a:off x="3930" y="10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1" name="Rectangle 79"/>
            <p:cNvSpPr/>
            <p:nvPr/>
          </p:nvSpPr>
          <p:spPr>
            <a:xfrm>
              <a:off x="3453" y="1350"/>
              <a:ext cx="572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12" name="Oval 80"/>
            <p:cNvSpPr/>
            <p:nvPr/>
          </p:nvSpPr>
          <p:spPr>
            <a:xfrm>
              <a:off x="3691" y="1254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13" name="Line 81"/>
            <p:cNvSpPr/>
            <p:nvPr/>
          </p:nvSpPr>
          <p:spPr>
            <a:xfrm flipV="1">
              <a:off x="3739" y="918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4" name="Rectangle 82"/>
            <p:cNvSpPr/>
            <p:nvPr/>
          </p:nvSpPr>
          <p:spPr>
            <a:xfrm>
              <a:off x="4739" y="1350"/>
              <a:ext cx="572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15" name="Oval 83"/>
            <p:cNvSpPr/>
            <p:nvPr/>
          </p:nvSpPr>
          <p:spPr>
            <a:xfrm>
              <a:off x="4978" y="1254"/>
              <a:ext cx="95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16" name="Line 84"/>
            <p:cNvSpPr/>
            <p:nvPr/>
          </p:nvSpPr>
          <p:spPr>
            <a:xfrm flipV="1">
              <a:off x="5025" y="918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7" name="Line 85"/>
            <p:cNvSpPr/>
            <p:nvPr/>
          </p:nvSpPr>
          <p:spPr>
            <a:xfrm>
              <a:off x="3930" y="342"/>
              <a:ext cx="33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8" name="Line 86"/>
            <p:cNvSpPr/>
            <p:nvPr/>
          </p:nvSpPr>
          <p:spPr>
            <a:xfrm flipH="1">
              <a:off x="4501" y="342"/>
              <a:ext cx="3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9" name="Line 87"/>
            <p:cNvSpPr/>
            <p:nvPr/>
          </p:nvSpPr>
          <p:spPr>
            <a:xfrm>
              <a:off x="4263" y="342"/>
              <a:ext cx="333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0" name="Line 88"/>
            <p:cNvSpPr/>
            <p:nvPr/>
          </p:nvSpPr>
          <p:spPr>
            <a:xfrm flipH="1">
              <a:off x="4168" y="342"/>
              <a:ext cx="333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1" name="Line 89"/>
            <p:cNvSpPr/>
            <p:nvPr/>
          </p:nvSpPr>
          <p:spPr>
            <a:xfrm>
              <a:off x="4072" y="96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2" name="Line 90"/>
            <p:cNvSpPr/>
            <p:nvPr/>
          </p:nvSpPr>
          <p:spPr>
            <a:xfrm>
              <a:off x="4596" y="96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3" name="Line 91"/>
            <p:cNvSpPr/>
            <p:nvPr/>
          </p:nvSpPr>
          <p:spPr>
            <a:xfrm flipH="1">
              <a:off x="4596" y="96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4" name="Line 92"/>
            <p:cNvSpPr/>
            <p:nvPr/>
          </p:nvSpPr>
          <p:spPr>
            <a:xfrm>
              <a:off x="3930" y="2022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5" name="Line 93"/>
            <p:cNvSpPr/>
            <p:nvPr/>
          </p:nvSpPr>
          <p:spPr>
            <a:xfrm>
              <a:off x="4692" y="202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6" name="Line 94"/>
            <p:cNvSpPr/>
            <p:nvPr/>
          </p:nvSpPr>
          <p:spPr>
            <a:xfrm>
              <a:off x="3930" y="1638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47" name="Rectangle 95"/>
            <p:cNvSpPr>
              <a:spLocks noChangeArrowheads="1"/>
            </p:cNvSpPr>
            <p:nvPr/>
          </p:nvSpPr>
          <p:spPr bwMode="auto">
            <a:xfrm>
              <a:off x="4930" y="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3648" name="Rectangle 96"/>
            <p:cNvSpPr>
              <a:spLocks noChangeArrowheads="1"/>
            </p:cNvSpPr>
            <p:nvPr/>
          </p:nvSpPr>
          <p:spPr bwMode="auto">
            <a:xfrm>
              <a:off x="3501" y="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3649" name="Rectangle 97"/>
            <p:cNvSpPr>
              <a:spLocks noChangeArrowheads="1"/>
            </p:cNvSpPr>
            <p:nvPr/>
          </p:nvSpPr>
          <p:spPr bwMode="auto">
            <a:xfrm>
              <a:off x="3453" y="19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23650" name="Rectangle 98"/>
            <p:cNvSpPr>
              <a:spLocks noChangeArrowheads="1"/>
            </p:cNvSpPr>
            <p:nvPr/>
          </p:nvSpPr>
          <p:spPr bwMode="auto">
            <a:xfrm>
              <a:off x="4501" y="2406"/>
              <a:ext cx="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23651" name="Rectangle 99"/>
            <p:cNvSpPr>
              <a:spLocks noChangeArrowheads="1"/>
            </p:cNvSpPr>
            <p:nvPr/>
          </p:nvSpPr>
          <p:spPr bwMode="auto">
            <a:xfrm>
              <a:off x="3787" y="4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3652" name="Rectangle 100"/>
            <p:cNvSpPr>
              <a:spLocks noChangeArrowheads="1"/>
            </p:cNvSpPr>
            <p:nvPr/>
          </p:nvSpPr>
          <p:spPr bwMode="auto">
            <a:xfrm>
              <a:off x="4739" y="480"/>
              <a:ext cx="2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3653" name="Rectangle 101"/>
            <p:cNvSpPr>
              <a:spLocks noChangeArrowheads="1"/>
            </p:cNvSpPr>
            <p:nvPr/>
          </p:nvSpPr>
          <p:spPr bwMode="auto">
            <a:xfrm>
              <a:off x="3596" y="12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3654" name="Rectangle 102"/>
            <p:cNvSpPr>
              <a:spLocks noChangeArrowheads="1"/>
            </p:cNvSpPr>
            <p:nvPr/>
          </p:nvSpPr>
          <p:spPr bwMode="auto">
            <a:xfrm>
              <a:off x="4882" y="12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46135" name="Line 103"/>
            <p:cNvSpPr/>
            <p:nvPr/>
          </p:nvSpPr>
          <p:spPr>
            <a:xfrm>
              <a:off x="4978" y="150"/>
              <a:ext cx="15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6" name="Line 104"/>
            <p:cNvSpPr/>
            <p:nvPr/>
          </p:nvSpPr>
          <p:spPr>
            <a:xfrm flipV="1">
              <a:off x="3596" y="1638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7" name="Line 105"/>
            <p:cNvSpPr/>
            <p:nvPr/>
          </p:nvSpPr>
          <p:spPr>
            <a:xfrm flipV="1">
              <a:off x="5168" y="1638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58" name="Rectangle 106"/>
            <p:cNvSpPr>
              <a:spLocks noChangeArrowheads="1"/>
            </p:cNvSpPr>
            <p:nvPr/>
          </p:nvSpPr>
          <p:spPr bwMode="auto">
            <a:xfrm>
              <a:off x="3263" y="48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3659" name="Rectangle 107"/>
            <p:cNvSpPr>
              <a:spLocks noChangeArrowheads="1"/>
            </p:cNvSpPr>
            <p:nvPr/>
          </p:nvSpPr>
          <p:spPr bwMode="auto">
            <a:xfrm>
              <a:off x="5196" y="480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23660" name="Rectangle 108"/>
            <p:cNvSpPr>
              <a:spLocks noChangeArrowheads="1"/>
            </p:cNvSpPr>
            <p:nvPr/>
          </p:nvSpPr>
          <p:spPr bwMode="auto">
            <a:xfrm>
              <a:off x="3072" y="129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23661" name="Rectangle 109"/>
            <p:cNvSpPr>
              <a:spLocks noChangeArrowheads="1"/>
            </p:cNvSpPr>
            <p:nvPr/>
          </p:nvSpPr>
          <p:spPr bwMode="auto">
            <a:xfrm>
              <a:off x="5386" y="129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46142" name="Oval 110"/>
            <p:cNvSpPr/>
            <p:nvPr/>
          </p:nvSpPr>
          <p:spPr>
            <a:xfrm>
              <a:off x="3888" y="29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43" name="Oval 111"/>
            <p:cNvSpPr/>
            <p:nvPr/>
          </p:nvSpPr>
          <p:spPr>
            <a:xfrm>
              <a:off x="4848" y="29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44" name="Oval 112"/>
            <p:cNvSpPr/>
            <p:nvPr/>
          </p:nvSpPr>
          <p:spPr>
            <a:xfrm>
              <a:off x="4656" y="197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6145" name="Line 113"/>
            <p:cNvSpPr/>
            <p:nvPr/>
          </p:nvSpPr>
          <p:spPr>
            <a:xfrm>
              <a:off x="4882" y="163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666" name="Group 114"/>
          <p:cNvGrpSpPr/>
          <p:nvPr/>
        </p:nvGrpSpPr>
        <p:grpSpPr>
          <a:xfrm>
            <a:off x="5867400" y="1762125"/>
            <a:ext cx="1882775" cy="1066800"/>
            <a:chOff x="3696" y="1110"/>
            <a:chExt cx="1186" cy="672"/>
          </a:xfrm>
        </p:grpSpPr>
        <p:sp>
          <p:nvSpPr>
            <p:cNvPr id="46097" name="Line 115"/>
            <p:cNvSpPr/>
            <p:nvPr/>
          </p:nvSpPr>
          <p:spPr>
            <a:xfrm>
              <a:off x="4596" y="1782"/>
              <a:ext cx="28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8" name="Line 116"/>
            <p:cNvSpPr/>
            <p:nvPr/>
          </p:nvSpPr>
          <p:spPr>
            <a:xfrm flipH="1">
              <a:off x="3739" y="1158"/>
              <a:ext cx="52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9" name="Line 117"/>
            <p:cNvSpPr/>
            <p:nvPr/>
          </p:nvSpPr>
          <p:spPr>
            <a:xfrm>
              <a:off x="4263" y="1158"/>
              <a:ext cx="333" cy="624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0" name="Oval 118"/>
            <p:cNvSpPr/>
            <p:nvPr/>
          </p:nvSpPr>
          <p:spPr>
            <a:xfrm>
              <a:off x="3696" y="1110"/>
              <a:ext cx="96" cy="96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/>
      <p:bldP spid="23600" grpId="0" animBg="1"/>
      <p:bldP spid="23601" grpId="0"/>
      <p:bldP spid="23602" grpId="0"/>
      <p:bldP spid="23603" grpId="0"/>
      <p:bldP spid="23604" grpId="0"/>
      <p:bldP spid="23605" grpId="0"/>
      <p:bldP spid="23611" grpId="0"/>
      <p:bldP spid="23612" grpId="0"/>
      <p:bldP spid="23613" grpId="0"/>
      <p:bldP spid="23614" grpId="0"/>
      <p:bldP spid="236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13</a:t>
            </a:fld>
            <a:endParaRPr lang="en-US" altLang="zh-CN" sz="1400" dirty="0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505200" y="944563"/>
            <a:ext cx="139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D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190500" y="2286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73038" y="1782763"/>
            <a:ext cx="16129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、优点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152400" y="2527300"/>
            <a:ext cx="6076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有时钟信号，可以同步工作；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158750" y="3259138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没有约束条件。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152400" y="4010025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、存在的问题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31763" y="4781550"/>
            <a:ext cx="40005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存在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空翻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问题；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131763" y="5489575"/>
            <a:ext cx="6889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只有一个输入端，逻辑功能简单。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580" grpId="0" animBg="1"/>
      <p:bldP spid="24581" grpId="0" animBg="1"/>
      <p:bldP spid="24582" grpId="0" animBg="1"/>
      <p:bldP spid="24583" grpId="0" animBg="1"/>
      <p:bldP spid="24584" grpId="0" animBg="1"/>
      <p:bldP spid="24585" grpId="0" animBg="1"/>
      <p:bldP spid="2458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14</a:t>
            </a:fld>
            <a:endParaRPr lang="en-US" altLang="zh-CN" sz="1400" dirty="0"/>
          </a:p>
        </p:txBody>
      </p:sp>
      <p:sp>
        <p:nvSpPr>
          <p:cNvPr id="25602" name="Text Box 2"/>
          <p:cNvSpPr txBox="1"/>
          <p:nvPr/>
        </p:nvSpPr>
        <p:spPr>
          <a:xfrm>
            <a:off x="173038" y="193675"/>
            <a:ext cx="6073775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5.3.4 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维持阻塞</a:t>
            </a:r>
            <a:r>
              <a:rPr lang="en-US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96850" y="11430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、电路结构</a:t>
            </a:r>
          </a:p>
        </p:txBody>
      </p:sp>
      <p:grpSp>
        <p:nvGrpSpPr>
          <p:cNvPr id="25697" name="Group 97"/>
          <p:cNvGrpSpPr/>
          <p:nvPr/>
        </p:nvGrpSpPr>
        <p:grpSpPr>
          <a:xfrm>
            <a:off x="1035050" y="1935163"/>
            <a:ext cx="7226300" cy="4084637"/>
            <a:chOff x="652" y="1219"/>
            <a:chExt cx="4552" cy="2573"/>
          </a:xfrm>
        </p:grpSpPr>
        <p:sp>
          <p:nvSpPr>
            <p:cNvPr id="50182" name="Rectangle 5"/>
            <p:cNvSpPr/>
            <p:nvPr/>
          </p:nvSpPr>
          <p:spPr>
            <a:xfrm>
              <a:off x="3196" y="1657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183" name="Oval 6"/>
            <p:cNvSpPr/>
            <p:nvPr/>
          </p:nvSpPr>
          <p:spPr>
            <a:xfrm>
              <a:off x="3436" y="1561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184" name="Line 7"/>
            <p:cNvSpPr/>
            <p:nvPr/>
          </p:nvSpPr>
          <p:spPr>
            <a:xfrm>
              <a:off x="3292" y="1945"/>
              <a:ext cx="1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5" name="Line 8"/>
            <p:cNvSpPr/>
            <p:nvPr/>
          </p:nvSpPr>
          <p:spPr>
            <a:xfrm flipV="1">
              <a:off x="3484" y="1225"/>
              <a:ext cx="1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6" name="Rectangle 9"/>
            <p:cNvSpPr/>
            <p:nvPr/>
          </p:nvSpPr>
          <p:spPr>
            <a:xfrm>
              <a:off x="2236" y="1657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187" name="Oval 10"/>
            <p:cNvSpPr/>
            <p:nvPr/>
          </p:nvSpPr>
          <p:spPr>
            <a:xfrm>
              <a:off x="2476" y="1561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188" name="Line 11"/>
            <p:cNvSpPr/>
            <p:nvPr/>
          </p:nvSpPr>
          <p:spPr>
            <a:xfrm>
              <a:off x="2332" y="1945"/>
              <a:ext cx="1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9" name="Line 12"/>
            <p:cNvSpPr/>
            <p:nvPr/>
          </p:nvSpPr>
          <p:spPr>
            <a:xfrm flipV="1">
              <a:off x="2524" y="1225"/>
              <a:ext cx="1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0" name="Line 13"/>
            <p:cNvSpPr/>
            <p:nvPr/>
          </p:nvSpPr>
          <p:spPr>
            <a:xfrm>
              <a:off x="2524" y="1465"/>
              <a:ext cx="38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1" name="Line 14"/>
            <p:cNvSpPr/>
            <p:nvPr/>
          </p:nvSpPr>
          <p:spPr>
            <a:xfrm flipH="1">
              <a:off x="3100" y="1465"/>
              <a:ext cx="38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2" name="Line 15"/>
            <p:cNvSpPr/>
            <p:nvPr/>
          </p:nvSpPr>
          <p:spPr>
            <a:xfrm>
              <a:off x="2908" y="1465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3" name="Line 16"/>
            <p:cNvSpPr/>
            <p:nvPr/>
          </p:nvSpPr>
          <p:spPr>
            <a:xfrm flipH="1">
              <a:off x="2764" y="1465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4" name="Line 17"/>
            <p:cNvSpPr/>
            <p:nvPr/>
          </p:nvSpPr>
          <p:spPr>
            <a:xfrm>
              <a:off x="2668" y="2089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5" name="Line 18"/>
            <p:cNvSpPr/>
            <p:nvPr/>
          </p:nvSpPr>
          <p:spPr>
            <a:xfrm>
              <a:off x="3244" y="2089"/>
              <a:ext cx="4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9" name="Rectangle 19"/>
            <p:cNvSpPr>
              <a:spLocks noChangeArrowheads="1"/>
            </p:cNvSpPr>
            <p:nvPr/>
          </p:nvSpPr>
          <p:spPr bwMode="auto">
            <a:xfrm>
              <a:off x="3532" y="121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5620" name="Rectangle 20"/>
            <p:cNvSpPr>
              <a:spLocks noChangeArrowheads="1"/>
            </p:cNvSpPr>
            <p:nvPr/>
          </p:nvSpPr>
          <p:spPr bwMode="auto">
            <a:xfrm>
              <a:off x="2188" y="122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5621" name="Rectangle 21"/>
            <p:cNvSpPr>
              <a:spLocks noChangeArrowheads="1"/>
            </p:cNvSpPr>
            <p:nvPr/>
          </p:nvSpPr>
          <p:spPr bwMode="auto">
            <a:xfrm>
              <a:off x="2380" y="160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5622" name="Rectangle 22"/>
            <p:cNvSpPr>
              <a:spLocks noChangeArrowheads="1"/>
            </p:cNvSpPr>
            <p:nvPr/>
          </p:nvSpPr>
          <p:spPr bwMode="auto">
            <a:xfrm>
              <a:off x="3340" y="160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0200" name="Line 23"/>
            <p:cNvSpPr/>
            <p:nvPr/>
          </p:nvSpPr>
          <p:spPr>
            <a:xfrm>
              <a:off x="3580" y="1273"/>
              <a:ext cx="14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4" name="Rectangle 24"/>
            <p:cNvSpPr>
              <a:spLocks noChangeArrowheads="1"/>
            </p:cNvSpPr>
            <p:nvPr/>
          </p:nvSpPr>
          <p:spPr bwMode="auto">
            <a:xfrm>
              <a:off x="1852" y="1609"/>
              <a:ext cx="6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625" name="Rectangle 25"/>
            <p:cNvSpPr>
              <a:spLocks noChangeArrowheads="1"/>
            </p:cNvSpPr>
            <p:nvPr/>
          </p:nvSpPr>
          <p:spPr bwMode="auto">
            <a:xfrm>
              <a:off x="3772" y="1603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50203" name="Rectangle 26"/>
            <p:cNvSpPr/>
            <p:nvPr/>
          </p:nvSpPr>
          <p:spPr>
            <a:xfrm>
              <a:off x="2044" y="2473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04" name="Oval 27"/>
            <p:cNvSpPr/>
            <p:nvPr/>
          </p:nvSpPr>
          <p:spPr>
            <a:xfrm>
              <a:off x="2284" y="2377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05" name="Line 28"/>
            <p:cNvSpPr/>
            <p:nvPr/>
          </p:nvSpPr>
          <p:spPr>
            <a:xfrm>
              <a:off x="2140" y="2761"/>
              <a:ext cx="1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6" name="Line 29"/>
            <p:cNvSpPr/>
            <p:nvPr/>
          </p:nvSpPr>
          <p:spPr>
            <a:xfrm flipV="1">
              <a:off x="2332" y="2041"/>
              <a:ext cx="1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7" name="Rectangle 30"/>
            <p:cNvSpPr/>
            <p:nvPr/>
          </p:nvSpPr>
          <p:spPr>
            <a:xfrm>
              <a:off x="1084" y="2473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08" name="Oval 31"/>
            <p:cNvSpPr/>
            <p:nvPr/>
          </p:nvSpPr>
          <p:spPr>
            <a:xfrm>
              <a:off x="1324" y="2377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09" name="Line 32"/>
            <p:cNvSpPr/>
            <p:nvPr/>
          </p:nvSpPr>
          <p:spPr>
            <a:xfrm>
              <a:off x="1180" y="2761"/>
              <a:ext cx="1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0" name="Line 33"/>
            <p:cNvSpPr/>
            <p:nvPr/>
          </p:nvSpPr>
          <p:spPr>
            <a:xfrm flipV="1">
              <a:off x="1372" y="2281"/>
              <a:ext cx="1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1" name="Line 34"/>
            <p:cNvSpPr/>
            <p:nvPr/>
          </p:nvSpPr>
          <p:spPr>
            <a:xfrm>
              <a:off x="1372" y="2281"/>
              <a:ext cx="38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2" name="Line 35"/>
            <p:cNvSpPr/>
            <p:nvPr/>
          </p:nvSpPr>
          <p:spPr>
            <a:xfrm flipH="1">
              <a:off x="1948" y="2281"/>
              <a:ext cx="38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3" name="Line 36"/>
            <p:cNvSpPr/>
            <p:nvPr/>
          </p:nvSpPr>
          <p:spPr>
            <a:xfrm>
              <a:off x="1756" y="2281"/>
              <a:ext cx="288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4" name="Line 37"/>
            <p:cNvSpPr/>
            <p:nvPr/>
          </p:nvSpPr>
          <p:spPr>
            <a:xfrm flipH="1">
              <a:off x="1612" y="2281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5" name="Line 38"/>
            <p:cNvSpPr/>
            <p:nvPr/>
          </p:nvSpPr>
          <p:spPr>
            <a:xfrm>
              <a:off x="1516" y="2905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6" name="Line 39"/>
            <p:cNvSpPr/>
            <p:nvPr/>
          </p:nvSpPr>
          <p:spPr>
            <a:xfrm>
              <a:off x="2044" y="2905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17" name="Line 40"/>
            <p:cNvSpPr/>
            <p:nvPr/>
          </p:nvSpPr>
          <p:spPr>
            <a:xfrm flipH="1">
              <a:off x="2044" y="2905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1" name="Rectangle 41"/>
            <p:cNvSpPr>
              <a:spLocks noChangeArrowheads="1"/>
            </p:cNvSpPr>
            <p:nvPr/>
          </p:nvSpPr>
          <p:spPr bwMode="auto">
            <a:xfrm>
              <a:off x="1228" y="241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5642" name="Rectangle 42"/>
            <p:cNvSpPr>
              <a:spLocks noChangeArrowheads="1"/>
            </p:cNvSpPr>
            <p:nvPr/>
          </p:nvSpPr>
          <p:spPr bwMode="auto">
            <a:xfrm>
              <a:off x="2188" y="241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0220" name="Rectangle 43"/>
            <p:cNvSpPr/>
            <p:nvPr/>
          </p:nvSpPr>
          <p:spPr>
            <a:xfrm>
              <a:off x="4300" y="2473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21" name="Oval 44"/>
            <p:cNvSpPr/>
            <p:nvPr/>
          </p:nvSpPr>
          <p:spPr>
            <a:xfrm>
              <a:off x="4540" y="2377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22" name="Rectangle 45"/>
            <p:cNvSpPr/>
            <p:nvPr/>
          </p:nvSpPr>
          <p:spPr>
            <a:xfrm>
              <a:off x="3340" y="2473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23" name="Oval 46"/>
            <p:cNvSpPr/>
            <p:nvPr/>
          </p:nvSpPr>
          <p:spPr>
            <a:xfrm>
              <a:off x="3580" y="2377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24" name="Line 47"/>
            <p:cNvSpPr/>
            <p:nvPr/>
          </p:nvSpPr>
          <p:spPr>
            <a:xfrm>
              <a:off x="3772" y="2761"/>
              <a:ext cx="1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5" name="Line 48"/>
            <p:cNvSpPr/>
            <p:nvPr/>
          </p:nvSpPr>
          <p:spPr>
            <a:xfrm>
              <a:off x="3628" y="2281"/>
              <a:ext cx="38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6" name="Line 49"/>
            <p:cNvSpPr/>
            <p:nvPr/>
          </p:nvSpPr>
          <p:spPr>
            <a:xfrm flipH="1">
              <a:off x="4204" y="2281"/>
              <a:ext cx="38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7" name="Line 50"/>
            <p:cNvSpPr/>
            <p:nvPr/>
          </p:nvSpPr>
          <p:spPr>
            <a:xfrm>
              <a:off x="4012" y="2281"/>
              <a:ext cx="288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8" name="Line 51"/>
            <p:cNvSpPr/>
            <p:nvPr/>
          </p:nvSpPr>
          <p:spPr>
            <a:xfrm flipH="1">
              <a:off x="3868" y="2281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29" name="Line 52"/>
            <p:cNvSpPr/>
            <p:nvPr/>
          </p:nvSpPr>
          <p:spPr>
            <a:xfrm>
              <a:off x="3772" y="2905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0" name="Line 53"/>
            <p:cNvSpPr/>
            <p:nvPr/>
          </p:nvSpPr>
          <p:spPr>
            <a:xfrm>
              <a:off x="4300" y="2905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1" name="Line 54"/>
            <p:cNvSpPr/>
            <p:nvPr/>
          </p:nvSpPr>
          <p:spPr>
            <a:xfrm flipH="1">
              <a:off x="4300" y="2905"/>
              <a:ext cx="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5" name="Rectangle 55"/>
            <p:cNvSpPr>
              <a:spLocks noChangeArrowheads="1"/>
            </p:cNvSpPr>
            <p:nvPr/>
          </p:nvSpPr>
          <p:spPr bwMode="auto">
            <a:xfrm>
              <a:off x="3484" y="241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5656" name="Rectangle 56"/>
            <p:cNvSpPr>
              <a:spLocks noChangeArrowheads="1"/>
            </p:cNvSpPr>
            <p:nvPr/>
          </p:nvSpPr>
          <p:spPr bwMode="auto">
            <a:xfrm>
              <a:off x="4444" y="241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5657" name="Rectangle 57"/>
            <p:cNvSpPr>
              <a:spLocks noChangeArrowheads="1"/>
            </p:cNvSpPr>
            <p:nvPr/>
          </p:nvSpPr>
          <p:spPr bwMode="auto">
            <a:xfrm>
              <a:off x="4876" y="241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</a:p>
          </p:txBody>
        </p:sp>
        <p:sp>
          <p:nvSpPr>
            <p:cNvPr id="50235" name="Line 58"/>
            <p:cNvSpPr/>
            <p:nvPr/>
          </p:nvSpPr>
          <p:spPr>
            <a:xfrm>
              <a:off x="2332" y="2281"/>
              <a:ext cx="48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6" name="Line 59"/>
            <p:cNvSpPr/>
            <p:nvPr/>
          </p:nvSpPr>
          <p:spPr>
            <a:xfrm>
              <a:off x="2812" y="2281"/>
              <a:ext cx="288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7" name="Line 60"/>
            <p:cNvSpPr/>
            <p:nvPr/>
          </p:nvSpPr>
          <p:spPr>
            <a:xfrm>
              <a:off x="3100" y="2905"/>
              <a:ext cx="33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8" name="Line 61"/>
            <p:cNvSpPr/>
            <p:nvPr/>
          </p:nvSpPr>
          <p:spPr>
            <a:xfrm>
              <a:off x="2476" y="2755"/>
              <a:ext cx="1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39" name="Line 62"/>
            <p:cNvSpPr/>
            <p:nvPr/>
          </p:nvSpPr>
          <p:spPr>
            <a:xfrm flipH="1">
              <a:off x="2476" y="3097"/>
              <a:ext cx="110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0" name="Line 63"/>
            <p:cNvSpPr/>
            <p:nvPr/>
          </p:nvSpPr>
          <p:spPr>
            <a:xfrm>
              <a:off x="3772" y="2857"/>
              <a:ext cx="1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1" name="Line 64"/>
            <p:cNvSpPr/>
            <p:nvPr/>
          </p:nvSpPr>
          <p:spPr>
            <a:xfrm flipH="1">
              <a:off x="1180" y="3193"/>
              <a:ext cx="259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2" name="Line 65"/>
            <p:cNvSpPr/>
            <p:nvPr/>
          </p:nvSpPr>
          <p:spPr>
            <a:xfrm>
              <a:off x="1180" y="2809"/>
              <a:ext cx="1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3" name="Line 66"/>
            <p:cNvSpPr/>
            <p:nvPr/>
          </p:nvSpPr>
          <p:spPr>
            <a:xfrm>
              <a:off x="4732" y="2761"/>
              <a:ext cx="1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44" name="Oval 67"/>
            <p:cNvSpPr/>
            <p:nvPr/>
          </p:nvSpPr>
          <p:spPr>
            <a:xfrm>
              <a:off x="2284" y="2233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45" name="Oval 68"/>
            <p:cNvSpPr/>
            <p:nvPr/>
          </p:nvSpPr>
          <p:spPr>
            <a:xfrm>
              <a:off x="3580" y="2233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46" name="Oval 69"/>
            <p:cNvSpPr/>
            <p:nvPr/>
          </p:nvSpPr>
          <p:spPr>
            <a:xfrm>
              <a:off x="2428" y="3049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47" name="Oval 70"/>
            <p:cNvSpPr/>
            <p:nvPr/>
          </p:nvSpPr>
          <p:spPr>
            <a:xfrm>
              <a:off x="3724" y="2857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48" name="Oval 71"/>
            <p:cNvSpPr/>
            <p:nvPr/>
          </p:nvSpPr>
          <p:spPr>
            <a:xfrm>
              <a:off x="2476" y="1417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0249" name="Oval 72"/>
            <p:cNvSpPr/>
            <p:nvPr/>
          </p:nvSpPr>
          <p:spPr>
            <a:xfrm>
              <a:off x="3436" y="1417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5681" name="Rectangle 81"/>
            <p:cNvSpPr>
              <a:spLocks noChangeArrowheads="1"/>
            </p:cNvSpPr>
            <p:nvPr/>
          </p:nvSpPr>
          <p:spPr bwMode="auto">
            <a:xfrm>
              <a:off x="2620" y="241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25682" name="Rectangle 82"/>
            <p:cNvSpPr>
              <a:spLocks noChangeArrowheads="1"/>
            </p:cNvSpPr>
            <p:nvPr/>
          </p:nvSpPr>
          <p:spPr bwMode="auto">
            <a:xfrm>
              <a:off x="2956" y="2371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25683" name="Rectangle 83"/>
            <p:cNvSpPr>
              <a:spLocks noChangeArrowheads="1"/>
            </p:cNvSpPr>
            <p:nvPr/>
          </p:nvSpPr>
          <p:spPr bwMode="auto">
            <a:xfrm>
              <a:off x="652" y="241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25684" name="Rectangle 84"/>
            <p:cNvSpPr>
              <a:spLocks noChangeArrowheads="1"/>
            </p:cNvSpPr>
            <p:nvPr/>
          </p:nvSpPr>
          <p:spPr bwMode="auto">
            <a:xfrm>
              <a:off x="4588" y="328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5685" name="Rectangle 85"/>
            <p:cNvSpPr>
              <a:spLocks noChangeArrowheads="1"/>
            </p:cNvSpPr>
            <p:nvPr/>
          </p:nvSpPr>
          <p:spPr bwMode="auto">
            <a:xfrm>
              <a:off x="2236" y="3427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0255" name="Line 86"/>
            <p:cNvSpPr/>
            <p:nvPr/>
          </p:nvSpPr>
          <p:spPr>
            <a:xfrm flipV="1">
              <a:off x="3436" y="2755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6" name="Line 87"/>
            <p:cNvSpPr/>
            <p:nvPr/>
          </p:nvSpPr>
          <p:spPr>
            <a:xfrm flipV="1">
              <a:off x="3580" y="2755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7" name="Line 88"/>
            <p:cNvSpPr/>
            <p:nvPr/>
          </p:nvSpPr>
          <p:spPr>
            <a:xfrm flipV="1">
              <a:off x="1516" y="2755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8" name="Line 89"/>
            <p:cNvSpPr/>
            <p:nvPr/>
          </p:nvSpPr>
          <p:spPr>
            <a:xfrm flipV="1">
              <a:off x="2668" y="1939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59" name="Line 90"/>
            <p:cNvSpPr/>
            <p:nvPr/>
          </p:nvSpPr>
          <p:spPr>
            <a:xfrm>
              <a:off x="4588" y="2275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60" name="Line 91"/>
            <p:cNvSpPr/>
            <p:nvPr/>
          </p:nvSpPr>
          <p:spPr>
            <a:xfrm flipV="1">
              <a:off x="3628" y="1939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61" name="Line 92"/>
            <p:cNvSpPr/>
            <p:nvPr/>
          </p:nvSpPr>
          <p:spPr>
            <a:xfrm flipV="1">
              <a:off x="4396" y="2755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15</a:t>
            </a:fld>
            <a:endParaRPr lang="en-US" altLang="zh-CN" sz="1400" dirty="0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304800" y="334963"/>
            <a:ext cx="201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D=0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514600" y="334963"/>
            <a:ext cx="1873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 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04800" y="1770063"/>
            <a:ext cx="201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CP=0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D=1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2514600" y="1770063"/>
            <a:ext cx="1873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 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  <a:endParaRPr kumimoji="1" lang="en-US" altLang="zh-CN" sz="3200" b="0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2231" name="Group 126"/>
          <p:cNvGrpSpPr/>
          <p:nvPr/>
        </p:nvGrpSpPr>
        <p:grpSpPr>
          <a:xfrm>
            <a:off x="2178050" y="3200400"/>
            <a:ext cx="4933950" cy="3352800"/>
            <a:chOff x="1372" y="2016"/>
            <a:chExt cx="3108" cy="2112"/>
          </a:xfrm>
        </p:grpSpPr>
        <p:sp>
          <p:nvSpPr>
            <p:cNvPr id="52263" name="Rectangle 7"/>
            <p:cNvSpPr/>
            <p:nvPr/>
          </p:nvSpPr>
          <p:spPr>
            <a:xfrm>
              <a:off x="2380" y="2400"/>
              <a:ext cx="384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264" name="Oval 8"/>
            <p:cNvSpPr/>
            <p:nvPr/>
          </p:nvSpPr>
          <p:spPr>
            <a:xfrm>
              <a:off x="2524" y="230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33" name="Rectangle 9"/>
            <p:cNvSpPr>
              <a:spLocks noChangeArrowheads="1"/>
            </p:cNvSpPr>
            <p:nvPr/>
          </p:nvSpPr>
          <p:spPr bwMode="auto">
            <a:xfrm>
              <a:off x="2476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2266" name="Line 10"/>
            <p:cNvSpPr/>
            <p:nvPr/>
          </p:nvSpPr>
          <p:spPr>
            <a:xfrm flipV="1">
              <a:off x="2572" y="21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7" name="Line 11"/>
            <p:cNvSpPr/>
            <p:nvPr/>
          </p:nvSpPr>
          <p:spPr>
            <a:xfrm>
              <a:off x="2476" y="259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8" name="Line 12"/>
            <p:cNvSpPr/>
            <p:nvPr/>
          </p:nvSpPr>
          <p:spPr>
            <a:xfrm>
              <a:off x="2668" y="259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9" name="Rectangle 13"/>
            <p:cNvSpPr/>
            <p:nvPr/>
          </p:nvSpPr>
          <p:spPr>
            <a:xfrm>
              <a:off x="3052" y="2400"/>
              <a:ext cx="384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270" name="Oval 14"/>
            <p:cNvSpPr/>
            <p:nvPr/>
          </p:nvSpPr>
          <p:spPr>
            <a:xfrm>
              <a:off x="3196" y="230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3148" y="23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2272" name="Line 16"/>
            <p:cNvSpPr/>
            <p:nvPr/>
          </p:nvSpPr>
          <p:spPr>
            <a:xfrm flipV="1">
              <a:off x="3244" y="21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3" name="Line 17"/>
            <p:cNvSpPr/>
            <p:nvPr/>
          </p:nvSpPr>
          <p:spPr>
            <a:xfrm>
              <a:off x="3148" y="259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4" name="Line 18"/>
            <p:cNvSpPr/>
            <p:nvPr/>
          </p:nvSpPr>
          <p:spPr>
            <a:xfrm>
              <a:off x="3340" y="259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5" name="Line 19"/>
            <p:cNvSpPr/>
            <p:nvPr/>
          </p:nvSpPr>
          <p:spPr>
            <a:xfrm>
              <a:off x="2572" y="220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6" name="Line 20"/>
            <p:cNvSpPr/>
            <p:nvPr/>
          </p:nvSpPr>
          <p:spPr>
            <a:xfrm flipH="1">
              <a:off x="3004" y="220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7" name="Line 21"/>
            <p:cNvSpPr/>
            <p:nvPr/>
          </p:nvSpPr>
          <p:spPr>
            <a:xfrm flipH="1">
              <a:off x="2764" y="2208"/>
              <a:ext cx="24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8" name="Line 22"/>
            <p:cNvSpPr/>
            <p:nvPr/>
          </p:nvSpPr>
          <p:spPr>
            <a:xfrm>
              <a:off x="2812" y="2208"/>
              <a:ext cx="19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9" name="Line 23"/>
            <p:cNvSpPr/>
            <p:nvPr/>
          </p:nvSpPr>
          <p:spPr>
            <a:xfrm>
              <a:off x="3004" y="273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0" name="Line 24"/>
            <p:cNvSpPr/>
            <p:nvPr/>
          </p:nvSpPr>
          <p:spPr>
            <a:xfrm flipH="1">
              <a:off x="2668" y="273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1" name="Oval 25"/>
            <p:cNvSpPr/>
            <p:nvPr/>
          </p:nvSpPr>
          <p:spPr>
            <a:xfrm>
              <a:off x="252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282" name="Oval 26"/>
            <p:cNvSpPr/>
            <p:nvPr/>
          </p:nvSpPr>
          <p:spPr>
            <a:xfrm>
              <a:off x="3196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283" name="Rectangle 27"/>
            <p:cNvSpPr/>
            <p:nvPr/>
          </p:nvSpPr>
          <p:spPr>
            <a:xfrm>
              <a:off x="3148" y="3120"/>
              <a:ext cx="384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284" name="Oval 28"/>
            <p:cNvSpPr/>
            <p:nvPr/>
          </p:nvSpPr>
          <p:spPr>
            <a:xfrm>
              <a:off x="3292" y="302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53" name="Rectangle 29"/>
            <p:cNvSpPr>
              <a:spLocks noChangeArrowheads="1"/>
            </p:cNvSpPr>
            <p:nvPr/>
          </p:nvSpPr>
          <p:spPr bwMode="auto">
            <a:xfrm>
              <a:off x="3244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2286" name="Line 30"/>
            <p:cNvSpPr/>
            <p:nvPr/>
          </p:nvSpPr>
          <p:spPr>
            <a:xfrm flipV="1">
              <a:off x="3340" y="28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7" name="Line 31"/>
            <p:cNvSpPr/>
            <p:nvPr/>
          </p:nvSpPr>
          <p:spPr>
            <a:xfrm>
              <a:off x="3340" y="331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8" name="Line 32"/>
            <p:cNvSpPr/>
            <p:nvPr/>
          </p:nvSpPr>
          <p:spPr>
            <a:xfrm>
              <a:off x="3436" y="331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9" name="Rectangle 33"/>
            <p:cNvSpPr/>
            <p:nvPr/>
          </p:nvSpPr>
          <p:spPr>
            <a:xfrm>
              <a:off x="3820" y="3120"/>
              <a:ext cx="384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290" name="Oval 34"/>
            <p:cNvSpPr/>
            <p:nvPr/>
          </p:nvSpPr>
          <p:spPr>
            <a:xfrm>
              <a:off x="3964" y="302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59" name="Rectangle 35"/>
            <p:cNvSpPr>
              <a:spLocks noChangeArrowheads="1"/>
            </p:cNvSpPr>
            <p:nvPr/>
          </p:nvSpPr>
          <p:spPr bwMode="auto">
            <a:xfrm>
              <a:off x="391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2292" name="Line 36"/>
            <p:cNvSpPr/>
            <p:nvPr/>
          </p:nvSpPr>
          <p:spPr>
            <a:xfrm flipV="1">
              <a:off x="4012" y="292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3" name="Line 37"/>
            <p:cNvSpPr/>
            <p:nvPr/>
          </p:nvSpPr>
          <p:spPr>
            <a:xfrm>
              <a:off x="3916" y="331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4" name="Line 38"/>
            <p:cNvSpPr/>
            <p:nvPr/>
          </p:nvSpPr>
          <p:spPr>
            <a:xfrm>
              <a:off x="4108" y="331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5" name="Line 39"/>
            <p:cNvSpPr/>
            <p:nvPr/>
          </p:nvSpPr>
          <p:spPr>
            <a:xfrm>
              <a:off x="3340" y="292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6" name="Line 40"/>
            <p:cNvSpPr/>
            <p:nvPr/>
          </p:nvSpPr>
          <p:spPr>
            <a:xfrm flipH="1">
              <a:off x="3772" y="292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7" name="Line 41"/>
            <p:cNvSpPr/>
            <p:nvPr/>
          </p:nvSpPr>
          <p:spPr>
            <a:xfrm flipH="1">
              <a:off x="3532" y="2928"/>
              <a:ext cx="24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8" name="Line 42"/>
            <p:cNvSpPr/>
            <p:nvPr/>
          </p:nvSpPr>
          <p:spPr>
            <a:xfrm>
              <a:off x="3580" y="2928"/>
              <a:ext cx="19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9" name="Line 43"/>
            <p:cNvSpPr/>
            <p:nvPr/>
          </p:nvSpPr>
          <p:spPr>
            <a:xfrm>
              <a:off x="3772" y="345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0" name="Line 44"/>
            <p:cNvSpPr/>
            <p:nvPr/>
          </p:nvSpPr>
          <p:spPr>
            <a:xfrm flipH="1">
              <a:off x="3436" y="345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1" name="Oval 45"/>
            <p:cNvSpPr/>
            <p:nvPr/>
          </p:nvSpPr>
          <p:spPr>
            <a:xfrm>
              <a:off x="32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302" name="Rectangle 46"/>
            <p:cNvSpPr/>
            <p:nvPr/>
          </p:nvSpPr>
          <p:spPr>
            <a:xfrm>
              <a:off x="1612" y="3120"/>
              <a:ext cx="384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303" name="Oval 47"/>
            <p:cNvSpPr/>
            <p:nvPr/>
          </p:nvSpPr>
          <p:spPr>
            <a:xfrm>
              <a:off x="1756" y="302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72" name="Rectangle 48"/>
            <p:cNvSpPr>
              <a:spLocks noChangeArrowheads="1"/>
            </p:cNvSpPr>
            <p:nvPr/>
          </p:nvSpPr>
          <p:spPr bwMode="auto">
            <a:xfrm>
              <a:off x="1708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2305" name="Line 49"/>
            <p:cNvSpPr/>
            <p:nvPr/>
          </p:nvSpPr>
          <p:spPr>
            <a:xfrm flipV="1">
              <a:off x="1804" y="292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6" name="Line 50"/>
            <p:cNvSpPr/>
            <p:nvPr/>
          </p:nvSpPr>
          <p:spPr>
            <a:xfrm>
              <a:off x="1708" y="331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7" name="Line 51"/>
            <p:cNvSpPr/>
            <p:nvPr/>
          </p:nvSpPr>
          <p:spPr>
            <a:xfrm>
              <a:off x="1900" y="331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8" name="Rectangle 52"/>
            <p:cNvSpPr/>
            <p:nvPr/>
          </p:nvSpPr>
          <p:spPr>
            <a:xfrm>
              <a:off x="2284" y="3120"/>
              <a:ext cx="384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309" name="Oval 53"/>
            <p:cNvSpPr/>
            <p:nvPr/>
          </p:nvSpPr>
          <p:spPr>
            <a:xfrm>
              <a:off x="2428" y="302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78" name="Rectangle 54"/>
            <p:cNvSpPr>
              <a:spLocks noChangeArrowheads="1"/>
            </p:cNvSpPr>
            <p:nvPr/>
          </p:nvSpPr>
          <p:spPr bwMode="auto">
            <a:xfrm>
              <a:off x="238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52311" name="Line 55"/>
            <p:cNvSpPr/>
            <p:nvPr/>
          </p:nvSpPr>
          <p:spPr>
            <a:xfrm flipV="1">
              <a:off x="2476" y="28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2" name="Line 56"/>
            <p:cNvSpPr/>
            <p:nvPr/>
          </p:nvSpPr>
          <p:spPr>
            <a:xfrm>
              <a:off x="2380" y="331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3" name="Line 57"/>
            <p:cNvSpPr/>
            <p:nvPr/>
          </p:nvSpPr>
          <p:spPr>
            <a:xfrm>
              <a:off x="2572" y="3312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4" name="Line 58"/>
            <p:cNvSpPr/>
            <p:nvPr/>
          </p:nvSpPr>
          <p:spPr>
            <a:xfrm>
              <a:off x="1804" y="292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5" name="Line 59"/>
            <p:cNvSpPr/>
            <p:nvPr/>
          </p:nvSpPr>
          <p:spPr>
            <a:xfrm flipH="1">
              <a:off x="2236" y="292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6" name="Line 60"/>
            <p:cNvSpPr/>
            <p:nvPr/>
          </p:nvSpPr>
          <p:spPr>
            <a:xfrm flipH="1">
              <a:off x="1996" y="2928"/>
              <a:ext cx="24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7" name="Line 61"/>
            <p:cNvSpPr/>
            <p:nvPr/>
          </p:nvSpPr>
          <p:spPr>
            <a:xfrm>
              <a:off x="2044" y="2928"/>
              <a:ext cx="19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8" name="Line 62"/>
            <p:cNvSpPr/>
            <p:nvPr/>
          </p:nvSpPr>
          <p:spPr>
            <a:xfrm>
              <a:off x="2236" y="345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19" name="Line 63"/>
            <p:cNvSpPr/>
            <p:nvPr/>
          </p:nvSpPr>
          <p:spPr>
            <a:xfrm flipH="1">
              <a:off x="1900" y="345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0" name="Oval 64"/>
            <p:cNvSpPr/>
            <p:nvPr/>
          </p:nvSpPr>
          <p:spPr>
            <a:xfrm>
              <a:off x="242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321" name="Line 65"/>
            <p:cNvSpPr/>
            <p:nvPr/>
          </p:nvSpPr>
          <p:spPr>
            <a:xfrm>
              <a:off x="2764" y="2928"/>
              <a:ext cx="19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2" name="Line 66"/>
            <p:cNvSpPr/>
            <p:nvPr/>
          </p:nvSpPr>
          <p:spPr>
            <a:xfrm>
              <a:off x="2956" y="345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3" name="Line 67"/>
            <p:cNvSpPr/>
            <p:nvPr/>
          </p:nvSpPr>
          <p:spPr>
            <a:xfrm flipV="1">
              <a:off x="3196" y="331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4" name="Line 68"/>
            <p:cNvSpPr/>
            <p:nvPr/>
          </p:nvSpPr>
          <p:spPr>
            <a:xfrm flipH="1">
              <a:off x="1708" y="3600"/>
              <a:ext cx="17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5" name="Line 69"/>
            <p:cNvSpPr/>
            <p:nvPr/>
          </p:nvSpPr>
          <p:spPr>
            <a:xfrm flipH="1">
              <a:off x="2572" y="3696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26" name="Oval 70"/>
            <p:cNvSpPr/>
            <p:nvPr/>
          </p:nvSpPr>
          <p:spPr>
            <a:xfrm>
              <a:off x="2524" y="364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2327" name="Oval 71"/>
            <p:cNvSpPr/>
            <p:nvPr/>
          </p:nvSpPr>
          <p:spPr>
            <a:xfrm>
              <a:off x="3388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96" name="Rectangle 72"/>
            <p:cNvSpPr>
              <a:spLocks noChangeArrowheads="1"/>
            </p:cNvSpPr>
            <p:nvPr/>
          </p:nvSpPr>
          <p:spPr bwMode="auto">
            <a:xfrm>
              <a:off x="242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26697" name="Rectangle 73"/>
            <p:cNvSpPr>
              <a:spLocks noChangeArrowheads="1"/>
            </p:cNvSpPr>
            <p:nvPr/>
          </p:nvSpPr>
          <p:spPr bwMode="auto">
            <a:xfrm>
              <a:off x="4012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26698" name="Rectangle 74"/>
            <p:cNvSpPr>
              <a:spLocks noChangeArrowheads="1"/>
            </p:cNvSpPr>
            <p:nvPr/>
          </p:nvSpPr>
          <p:spPr bwMode="auto">
            <a:xfrm>
              <a:off x="2284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6699" name="Rectangle 75"/>
            <p:cNvSpPr>
              <a:spLocks noChangeArrowheads="1"/>
            </p:cNvSpPr>
            <p:nvPr/>
          </p:nvSpPr>
          <p:spPr bwMode="auto">
            <a:xfrm>
              <a:off x="3292" y="20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52332" name="Line 76"/>
            <p:cNvSpPr/>
            <p:nvPr/>
          </p:nvSpPr>
          <p:spPr>
            <a:xfrm>
              <a:off x="3340" y="211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701" name="Rectangle 77"/>
            <p:cNvSpPr>
              <a:spLocks noChangeArrowheads="1"/>
            </p:cNvSpPr>
            <p:nvPr/>
          </p:nvSpPr>
          <p:spPr bwMode="auto">
            <a:xfrm>
              <a:off x="2140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26702" name="Rectangle 78"/>
            <p:cNvSpPr>
              <a:spLocks noChangeArrowheads="1"/>
            </p:cNvSpPr>
            <p:nvPr/>
          </p:nvSpPr>
          <p:spPr bwMode="auto">
            <a:xfrm>
              <a:off x="3436" y="235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26703" name="Rectangle 79"/>
            <p:cNvSpPr>
              <a:spLocks noChangeArrowheads="1"/>
            </p:cNvSpPr>
            <p:nvPr/>
          </p:nvSpPr>
          <p:spPr bwMode="auto">
            <a:xfrm>
              <a:off x="2620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26704" name="Rectangle 80"/>
            <p:cNvSpPr>
              <a:spLocks noChangeArrowheads="1"/>
            </p:cNvSpPr>
            <p:nvPr/>
          </p:nvSpPr>
          <p:spPr bwMode="auto">
            <a:xfrm>
              <a:off x="2908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26705" name="Rectangle 81"/>
            <p:cNvSpPr>
              <a:spLocks noChangeArrowheads="1"/>
            </p:cNvSpPr>
            <p:nvPr/>
          </p:nvSpPr>
          <p:spPr bwMode="auto">
            <a:xfrm>
              <a:off x="1372" y="3072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26706" name="Rectangle 82"/>
            <p:cNvSpPr>
              <a:spLocks noChangeArrowheads="1"/>
            </p:cNvSpPr>
            <p:nvPr/>
          </p:nvSpPr>
          <p:spPr bwMode="auto">
            <a:xfrm>
              <a:off x="4204" y="312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</a:p>
          </p:txBody>
        </p:sp>
      </p:grpSp>
      <p:sp>
        <p:nvSpPr>
          <p:cNvPr id="52232" name="Rectangle 91"/>
          <p:cNvSpPr/>
          <p:nvPr/>
        </p:nvSpPr>
        <p:spPr>
          <a:xfrm>
            <a:off x="228600" y="228600"/>
            <a:ext cx="8763000" cy="2895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52233" name="Line 92"/>
          <p:cNvSpPr/>
          <p:nvPr/>
        </p:nvSpPr>
        <p:spPr>
          <a:xfrm>
            <a:off x="228600" y="1676400"/>
            <a:ext cx="876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4" name="Line 93"/>
          <p:cNvSpPr/>
          <p:nvPr/>
        </p:nvSpPr>
        <p:spPr>
          <a:xfrm>
            <a:off x="228600" y="990600"/>
            <a:ext cx="777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5" name="Line 94"/>
          <p:cNvSpPr/>
          <p:nvPr/>
        </p:nvSpPr>
        <p:spPr>
          <a:xfrm>
            <a:off x="228600" y="2438400"/>
            <a:ext cx="777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6" name="Line 95"/>
          <p:cNvSpPr/>
          <p:nvPr/>
        </p:nvSpPr>
        <p:spPr>
          <a:xfrm>
            <a:off x="8001000" y="228600"/>
            <a:ext cx="0" cy="2895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721" name="Rectangle 97"/>
          <p:cNvSpPr>
            <a:spLocks noChangeArrowheads="1"/>
          </p:cNvSpPr>
          <p:nvPr/>
        </p:nvSpPr>
        <p:spPr bwMode="auto">
          <a:xfrm>
            <a:off x="304800" y="1054100"/>
            <a:ext cx="201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D=0</a:t>
            </a:r>
          </a:p>
        </p:txBody>
      </p:sp>
      <p:sp>
        <p:nvSpPr>
          <p:cNvPr id="26722" name="Rectangle 98"/>
          <p:cNvSpPr>
            <a:spLocks noChangeArrowheads="1"/>
          </p:cNvSpPr>
          <p:nvPr/>
        </p:nvSpPr>
        <p:spPr bwMode="auto">
          <a:xfrm>
            <a:off x="6489700" y="1041400"/>
            <a:ext cx="139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0</a:t>
            </a:r>
          </a:p>
        </p:txBody>
      </p:sp>
      <p:grpSp>
        <p:nvGrpSpPr>
          <p:cNvPr id="26742" name="Group 118"/>
          <p:cNvGrpSpPr/>
          <p:nvPr/>
        </p:nvGrpSpPr>
        <p:grpSpPr>
          <a:xfrm>
            <a:off x="8077200" y="304800"/>
            <a:ext cx="742950" cy="1066800"/>
            <a:chOff x="5088" y="192"/>
            <a:chExt cx="468" cy="672"/>
          </a:xfrm>
        </p:grpSpPr>
        <p:sp>
          <p:nvSpPr>
            <p:cNvPr id="52259" name="Line 99"/>
            <p:cNvSpPr/>
            <p:nvPr/>
          </p:nvSpPr>
          <p:spPr>
            <a:xfrm>
              <a:off x="5088" y="86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0" name="Line 100"/>
            <p:cNvSpPr/>
            <p:nvPr/>
          </p:nvSpPr>
          <p:spPr>
            <a:xfrm flipV="1">
              <a:off x="5280" y="6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1" name="Line 101"/>
            <p:cNvSpPr/>
            <p:nvPr/>
          </p:nvSpPr>
          <p:spPr>
            <a:xfrm>
              <a:off x="5280" y="62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726" name="Rectangle 102"/>
            <p:cNvSpPr>
              <a:spLocks noChangeArrowheads="1"/>
            </p:cNvSpPr>
            <p:nvPr/>
          </p:nvSpPr>
          <p:spPr bwMode="auto">
            <a:xfrm>
              <a:off x="5184" y="19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</p:grpSp>
      <p:sp>
        <p:nvSpPr>
          <p:cNvPr id="26728" name="Rectangle 104"/>
          <p:cNvSpPr>
            <a:spLocks noChangeArrowheads="1"/>
          </p:cNvSpPr>
          <p:nvPr/>
        </p:nvSpPr>
        <p:spPr bwMode="auto">
          <a:xfrm>
            <a:off x="304800" y="2489200"/>
            <a:ext cx="2012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CP=1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D=1</a:t>
            </a:r>
          </a:p>
        </p:txBody>
      </p:sp>
      <p:sp>
        <p:nvSpPr>
          <p:cNvPr id="26729" name="Rectangle 105"/>
          <p:cNvSpPr>
            <a:spLocks noChangeArrowheads="1"/>
          </p:cNvSpPr>
          <p:nvPr/>
        </p:nvSpPr>
        <p:spPr bwMode="auto">
          <a:xfrm>
            <a:off x="5397500" y="2481263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</a:p>
        </p:txBody>
      </p:sp>
      <p:grpSp>
        <p:nvGrpSpPr>
          <p:cNvPr id="26749" name="Group 125"/>
          <p:cNvGrpSpPr/>
          <p:nvPr/>
        </p:nvGrpSpPr>
        <p:grpSpPr>
          <a:xfrm>
            <a:off x="8153400" y="1752600"/>
            <a:ext cx="685800" cy="1066800"/>
            <a:chOff x="5136" y="1104"/>
            <a:chExt cx="432" cy="672"/>
          </a:xfrm>
        </p:grpSpPr>
        <p:sp>
          <p:nvSpPr>
            <p:cNvPr id="52255" name="Line 106"/>
            <p:cNvSpPr/>
            <p:nvPr/>
          </p:nvSpPr>
          <p:spPr>
            <a:xfrm>
              <a:off x="5136" y="177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6" name="Line 107"/>
            <p:cNvSpPr/>
            <p:nvPr/>
          </p:nvSpPr>
          <p:spPr>
            <a:xfrm flipV="1">
              <a:off x="5328" y="153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7" name="Line 108"/>
            <p:cNvSpPr/>
            <p:nvPr/>
          </p:nvSpPr>
          <p:spPr>
            <a:xfrm>
              <a:off x="5328" y="153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733" name="Rectangle 109"/>
            <p:cNvSpPr>
              <a:spLocks noChangeArrowheads="1"/>
            </p:cNvSpPr>
            <p:nvPr/>
          </p:nvSpPr>
          <p:spPr bwMode="auto">
            <a:xfrm>
              <a:off x="5184" y="110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</p:grpSp>
      <p:sp>
        <p:nvSpPr>
          <p:cNvPr id="26736" name="Rectangle 112"/>
          <p:cNvSpPr>
            <a:spLocks noChangeArrowheads="1"/>
          </p:cNvSpPr>
          <p:nvPr/>
        </p:nvSpPr>
        <p:spPr bwMode="auto">
          <a:xfrm>
            <a:off x="6470650" y="334963"/>
            <a:ext cx="1530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  <a:endParaRPr kumimoji="1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738" name="Rectangle 114"/>
          <p:cNvSpPr>
            <a:spLocks noChangeArrowheads="1"/>
          </p:cNvSpPr>
          <p:nvPr/>
        </p:nvSpPr>
        <p:spPr bwMode="auto">
          <a:xfrm>
            <a:off x="5346700" y="334963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</a:p>
        </p:txBody>
      </p:sp>
      <p:sp>
        <p:nvSpPr>
          <p:cNvPr id="26739" name="Rectangle 115"/>
          <p:cNvSpPr>
            <a:spLocks noChangeArrowheads="1"/>
          </p:cNvSpPr>
          <p:nvPr/>
        </p:nvSpPr>
        <p:spPr bwMode="auto">
          <a:xfrm>
            <a:off x="2501900" y="10541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</a:p>
        </p:txBody>
      </p:sp>
      <p:sp>
        <p:nvSpPr>
          <p:cNvPr id="26740" name="Rectangle 116"/>
          <p:cNvSpPr>
            <a:spLocks noChangeArrowheads="1"/>
          </p:cNvSpPr>
          <p:nvPr/>
        </p:nvSpPr>
        <p:spPr bwMode="auto">
          <a:xfrm>
            <a:off x="3479800" y="1054100"/>
            <a:ext cx="1873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 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</a:p>
        </p:txBody>
      </p:sp>
      <p:sp>
        <p:nvSpPr>
          <p:cNvPr id="26741" name="Rectangle 117"/>
          <p:cNvSpPr>
            <a:spLocks noChangeArrowheads="1"/>
          </p:cNvSpPr>
          <p:nvPr/>
        </p:nvSpPr>
        <p:spPr bwMode="auto">
          <a:xfrm>
            <a:off x="5372100" y="10541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</a:p>
        </p:txBody>
      </p:sp>
      <p:sp>
        <p:nvSpPr>
          <p:cNvPr id="26743" name="Rectangle 119"/>
          <p:cNvSpPr>
            <a:spLocks noChangeArrowheads="1"/>
          </p:cNvSpPr>
          <p:nvPr/>
        </p:nvSpPr>
        <p:spPr bwMode="auto">
          <a:xfrm>
            <a:off x="5397500" y="17653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  <a:endParaRPr kumimoji="1" lang="en-US" altLang="zh-CN" sz="3200" b="0" i="0" u="none" strike="noStrike" kern="1200" cap="none" spc="0" normalizeH="0" baseline="3000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744" name="Rectangle 120"/>
          <p:cNvSpPr>
            <a:spLocks noChangeArrowheads="1"/>
          </p:cNvSpPr>
          <p:nvPr/>
        </p:nvSpPr>
        <p:spPr bwMode="auto">
          <a:xfrm>
            <a:off x="4432300" y="1770063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</a:p>
        </p:txBody>
      </p:sp>
      <p:sp>
        <p:nvSpPr>
          <p:cNvPr id="26745" name="Rectangle 121"/>
          <p:cNvSpPr>
            <a:spLocks noChangeArrowheads="1"/>
          </p:cNvSpPr>
          <p:nvPr/>
        </p:nvSpPr>
        <p:spPr bwMode="auto">
          <a:xfrm>
            <a:off x="6464300" y="1778000"/>
            <a:ext cx="1530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</a:t>
            </a:r>
          </a:p>
        </p:txBody>
      </p:sp>
      <p:sp>
        <p:nvSpPr>
          <p:cNvPr id="26746" name="Rectangle 122"/>
          <p:cNvSpPr>
            <a:spLocks noChangeArrowheads="1"/>
          </p:cNvSpPr>
          <p:nvPr/>
        </p:nvSpPr>
        <p:spPr bwMode="auto">
          <a:xfrm>
            <a:off x="2501900" y="2489200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</a:t>
            </a:r>
          </a:p>
        </p:txBody>
      </p:sp>
      <p:sp>
        <p:nvSpPr>
          <p:cNvPr id="26747" name="Rectangle 123"/>
          <p:cNvSpPr>
            <a:spLocks noChangeArrowheads="1"/>
          </p:cNvSpPr>
          <p:nvPr/>
        </p:nvSpPr>
        <p:spPr bwMode="auto">
          <a:xfrm>
            <a:off x="3492500" y="2489200"/>
            <a:ext cx="2076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 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 </a:t>
            </a:r>
          </a:p>
        </p:txBody>
      </p:sp>
      <p:sp>
        <p:nvSpPr>
          <p:cNvPr id="26748" name="Rectangle 124"/>
          <p:cNvSpPr>
            <a:spLocks noChangeArrowheads="1"/>
          </p:cNvSpPr>
          <p:nvPr/>
        </p:nvSpPr>
        <p:spPr bwMode="auto">
          <a:xfrm>
            <a:off x="6515100" y="2493963"/>
            <a:ext cx="139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1</a:t>
            </a:r>
          </a:p>
        </p:txBody>
      </p:sp>
      <p:sp>
        <p:nvSpPr>
          <p:cNvPr id="26752" name="Rectangle 128"/>
          <p:cNvSpPr>
            <a:spLocks noChangeArrowheads="1"/>
          </p:cNvSpPr>
          <p:nvPr/>
        </p:nvSpPr>
        <p:spPr bwMode="auto">
          <a:xfrm>
            <a:off x="4437063" y="333375"/>
            <a:ext cx="92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29" grpId="0"/>
      <p:bldP spid="26630" grpId="0"/>
      <p:bldP spid="26721" grpId="0"/>
      <p:bldP spid="26722" grpId="0"/>
      <p:bldP spid="26728" grpId="0"/>
      <p:bldP spid="26729" grpId="0"/>
      <p:bldP spid="26736" grpId="0"/>
      <p:bldP spid="26738" grpId="0"/>
      <p:bldP spid="26739" grpId="0"/>
      <p:bldP spid="26740" grpId="0"/>
      <p:bldP spid="26741" grpId="0"/>
      <p:bldP spid="26743" grpId="0"/>
      <p:bldP spid="26744" grpId="0"/>
      <p:bldP spid="26745" grpId="0"/>
      <p:bldP spid="26746" grpId="0"/>
      <p:bldP spid="26747" grpId="0"/>
      <p:bldP spid="26748" grpId="0"/>
      <p:bldP spid="267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16</a:t>
            </a:fld>
            <a:endParaRPr lang="en-US" altLang="zh-CN" sz="1400" dirty="0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173038" y="228600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、状态转换表</a:t>
            </a:r>
          </a:p>
        </p:txBody>
      </p:sp>
      <p:grpSp>
        <p:nvGrpSpPr>
          <p:cNvPr id="27652" name="Group 4"/>
          <p:cNvGrpSpPr/>
          <p:nvPr/>
        </p:nvGrpSpPr>
        <p:grpSpPr>
          <a:xfrm>
            <a:off x="2438400" y="838200"/>
            <a:ext cx="4343400" cy="2781300"/>
            <a:chOff x="384" y="936"/>
            <a:chExt cx="2736" cy="1752"/>
          </a:xfrm>
        </p:grpSpPr>
        <p:sp>
          <p:nvSpPr>
            <p:cNvPr id="54320" name="Line 5"/>
            <p:cNvSpPr/>
            <p:nvPr/>
          </p:nvSpPr>
          <p:spPr>
            <a:xfrm>
              <a:off x="384" y="1344"/>
              <a:ext cx="27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1" name="Line 6"/>
            <p:cNvSpPr/>
            <p:nvPr/>
          </p:nvSpPr>
          <p:spPr>
            <a:xfrm>
              <a:off x="1728" y="1104"/>
              <a:ext cx="0" cy="15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2" name="Line 7"/>
            <p:cNvSpPr/>
            <p:nvPr/>
          </p:nvSpPr>
          <p:spPr>
            <a:xfrm>
              <a:off x="2352" y="1056"/>
              <a:ext cx="0" cy="16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6" name="Rectangle 8"/>
            <p:cNvSpPr>
              <a:spLocks noChangeArrowheads="1"/>
            </p:cNvSpPr>
            <p:nvPr/>
          </p:nvSpPr>
          <p:spPr bwMode="auto">
            <a:xfrm>
              <a:off x="384" y="936"/>
              <a:ext cx="270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    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  D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  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n+1</a:t>
              </a:r>
            </a:p>
          </p:txBody>
        </p:sp>
      </p:grpSp>
      <p:grpSp>
        <p:nvGrpSpPr>
          <p:cNvPr id="27685" name="Group 37"/>
          <p:cNvGrpSpPr/>
          <p:nvPr/>
        </p:nvGrpSpPr>
        <p:grpSpPr>
          <a:xfrm>
            <a:off x="3048000" y="4957763"/>
            <a:ext cx="4038600" cy="1219200"/>
            <a:chOff x="1920" y="1200"/>
            <a:chExt cx="2544" cy="768"/>
          </a:xfrm>
        </p:grpSpPr>
        <p:sp>
          <p:nvSpPr>
            <p:cNvPr id="54316" name="Oval 38"/>
            <p:cNvSpPr/>
            <p:nvPr/>
          </p:nvSpPr>
          <p:spPr>
            <a:xfrm>
              <a:off x="3696" y="1200"/>
              <a:ext cx="768" cy="72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4317" name="Oval 39"/>
            <p:cNvSpPr/>
            <p:nvPr/>
          </p:nvSpPr>
          <p:spPr>
            <a:xfrm>
              <a:off x="1920" y="1248"/>
              <a:ext cx="768" cy="72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88" name="Rectangle 40"/>
            <p:cNvSpPr>
              <a:spLocks noChangeArrowheads="1"/>
            </p:cNvSpPr>
            <p:nvPr/>
          </p:nvSpPr>
          <p:spPr bwMode="auto">
            <a:xfrm>
              <a:off x="2160" y="138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27689" name="Rectangle 41"/>
            <p:cNvSpPr>
              <a:spLocks noChangeArrowheads="1"/>
            </p:cNvSpPr>
            <p:nvPr/>
          </p:nvSpPr>
          <p:spPr bwMode="auto">
            <a:xfrm>
              <a:off x="3936" y="133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27704" name="Group 56"/>
          <p:cNvGrpSpPr/>
          <p:nvPr/>
        </p:nvGrpSpPr>
        <p:grpSpPr>
          <a:xfrm>
            <a:off x="1600200" y="4195763"/>
            <a:ext cx="1677988" cy="1830387"/>
            <a:chOff x="1008" y="2643"/>
            <a:chExt cx="1057" cy="1153"/>
          </a:xfrm>
        </p:grpSpPr>
        <p:sp>
          <p:nvSpPr>
            <p:cNvPr id="54313" name="Arc 43"/>
            <p:cNvSpPr/>
            <p:nvPr/>
          </p:nvSpPr>
          <p:spPr>
            <a:xfrm>
              <a:off x="1298" y="3125"/>
              <a:ext cx="767" cy="6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8370" h="43200" fill="none">
                  <a:moveTo>
                    <a:pt x="32040" y="40508"/>
                  </a:moveTo>
                  <a:cubicBezTo>
                    <a:pt x="28844" y="42274"/>
                    <a:pt x="2525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</a:path>
                <a:path w="38370" h="43200" stroke="0">
                  <a:moveTo>
                    <a:pt x="32040" y="40508"/>
                  </a:moveTo>
                  <a:cubicBezTo>
                    <a:pt x="28844" y="42274"/>
                    <a:pt x="2525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107" y="-1"/>
                    <a:pt x="34268" y="2933"/>
                    <a:pt x="38369" y="7986"/>
                  </a:cubicBezTo>
                  <a:lnTo>
                    <a:pt x="21600" y="21600"/>
                  </a:lnTo>
                  <a:lnTo>
                    <a:pt x="32040" y="40508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2" name="Rectangle 44"/>
            <p:cNvSpPr>
              <a:spLocks noChangeArrowheads="1"/>
            </p:cNvSpPr>
            <p:nvPr/>
          </p:nvSpPr>
          <p:spPr bwMode="auto">
            <a:xfrm>
              <a:off x="1248" y="2643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27693" name="Rectangle 45"/>
            <p:cNvSpPr>
              <a:spLocks noChangeArrowheads="1"/>
            </p:cNvSpPr>
            <p:nvPr/>
          </p:nvSpPr>
          <p:spPr bwMode="auto">
            <a:xfrm>
              <a:off x="1008" y="3171"/>
              <a:ext cx="6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</p:grpSp>
      <p:grpSp>
        <p:nvGrpSpPr>
          <p:cNvPr id="27705" name="Group 57"/>
          <p:cNvGrpSpPr/>
          <p:nvPr/>
        </p:nvGrpSpPr>
        <p:grpSpPr>
          <a:xfrm>
            <a:off x="4038600" y="4005263"/>
            <a:ext cx="2073275" cy="1439862"/>
            <a:chOff x="2544" y="2523"/>
            <a:chExt cx="1306" cy="907"/>
          </a:xfrm>
        </p:grpSpPr>
        <p:sp>
          <p:nvSpPr>
            <p:cNvPr id="54311" name="Arc 47"/>
            <p:cNvSpPr/>
            <p:nvPr/>
          </p:nvSpPr>
          <p:spPr>
            <a:xfrm>
              <a:off x="2544" y="2931"/>
              <a:ext cx="1306" cy="4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070" h="21600" fill="none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6" name="Rectangle 48"/>
            <p:cNvSpPr>
              <a:spLocks noChangeArrowheads="1"/>
            </p:cNvSpPr>
            <p:nvPr/>
          </p:nvSpPr>
          <p:spPr bwMode="auto">
            <a:xfrm>
              <a:off x="2976" y="252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27706" name="Group 58"/>
          <p:cNvGrpSpPr/>
          <p:nvPr/>
        </p:nvGrpSpPr>
        <p:grpSpPr>
          <a:xfrm>
            <a:off x="6781800" y="4500563"/>
            <a:ext cx="1539875" cy="1295400"/>
            <a:chOff x="4272" y="2835"/>
            <a:chExt cx="970" cy="816"/>
          </a:xfrm>
        </p:grpSpPr>
        <p:sp>
          <p:nvSpPr>
            <p:cNvPr id="54309" name="Arc 50"/>
            <p:cNvSpPr/>
            <p:nvPr/>
          </p:nvSpPr>
          <p:spPr>
            <a:xfrm>
              <a:off x="4272" y="2835"/>
              <a:ext cx="720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2712" h="43200" fill="none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</a:path>
                <a:path w="42712" h="43200" stroke="0">
                  <a:moveTo>
                    <a:pt x="0" y="17033"/>
                  </a:moveTo>
                  <a:cubicBezTo>
                    <a:pt x="2150" y="7093"/>
                    <a:pt x="10942" y="-1"/>
                    <a:pt x="21112" y="0"/>
                  </a:cubicBezTo>
                  <a:cubicBezTo>
                    <a:pt x="33041" y="0"/>
                    <a:pt x="42712" y="9670"/>
                    <a:pt x="42712" y="21600"/>
                  </a:cubicBezTo>
                  <a:cubicBezTo>
                    <a:pt x="42712" y="33529"/>
                    <a:pt x="33041" y="43200"/>
                    <a:pt x="21112" y="43200"/>
                  </a:cubicBezTo>
                  <a:cubicBezTo>
                    <a:pt x="17953" y="43200"/>
                    <a:pt x="14833" y="42507"/>
                    <a:pt x="11972" y="41170"/>
                  </a:cubicBezTo>
                  <a:lnTo>
                    <a:pt x="21112" y="21600"/>
                  </a:lnTo>
                  <a:lnTo>
                    <a:pt x="0" y="17033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9" name="Rectangle 51"/>
            <p:cNvSpPr>
              <a:spLocks noChangeArrowheads="1"/>
            </p:cNvSpPr>
            <p:nvPr/>
          </p:nvSpPr>
          <p:spPr bwMode="auto">
            <a:xfrm>
              <a:off x="4998" y="30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pSp>
        <p:nvGrpSpPr>
          <p:cNvPr id="27707" name="Group 59"/>
          <p:cNvGrpSpPr/>
          <p:nvPr/>
        </p:nvGrpSpPr>
        <p:grpSpPr>
          <a:xfrm>
            <a:off x="4114800" y="5719763"/>
            <a:ext cx="2065338" cy="757237"/>
            <a:chOff x="2592" y="3603"/>
            <a:chExt cx="1301" cy="477"/>
          </a:xfrm>
        </p:grpSpPr>
        <p:sp>
          <p:nvSpPr>
            <p:cNvPr id="54307" name="Arc 53"/>
            <p:cNvSpPr/>
            <p:nvPr/>
          </p:nvSpPr>
          <p:spPr>
            <a:xfrm flipV="1">
              <a:off x="2592" y="3603"/>
              <a:ext cx="1301" cy="4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070" h="21600" fill="none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</a:path>
                <a:path w="40070" h="21600" stroke="0">
                  <a:moveTo>
                    <a:pt x="-1" y="13456"/>
                  </a:moveTo>
                  <a:cubicBezTo>
                    <a:pt x="3311" y="5320"/>
                    <a:pt x="11221" y="-1"/>
                    <a:pt x="20006" y="0"/>
                  </a:cubicBezTo>
                  <a:cubicBezTo>
                    <a:pt x="28847" y="0"/>
                    <a:pt x="36796" y="5388"/>
                    <a:pt x="40070" y="13600"/>
                  </a:cubicBezTo>
                  <a:lnTo>
                    <a:pt x="20006" y="21600"/>
                  </a:lnTo>
                  <a:lnTo>
                    <a:pt x="-1" y="13456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2" name="Rectangle 54"/>
            <p:cNvSpPr>
              <a:spLocks noChangeArrowheads="1"/>
            </p:cNvSpPr>
            <p:nvPr/>
          </p:nvSpPr>
          <p:spPr bwMode="auto">
            <a:xfrm>
              <a:off x="3024" y="362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</p:grpSp>
      <p:sp>
        <p:nvSpPr>
          <p:cNvPr id="27703" name="Rectangle 55"/>
          <p:cNvSpPr>
            <a:spLocks noChangeArrowheads="1"/>
          </p:cNvSpPr>
          <p:nvPr/>
        </p:nvSpPr>
        <p:spPr bwMode="auto">
          <a:xfrm>
            <a:off x="152400" y="3657600"/>
            <a:ext cx="2020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、状态图</a:t>
            </a:r>
          </a:p>
        </p:txBody>
      </p:sp>
      <p:grpSp>
        <p:nvGrpSpPr>
          <p:cNvPr id="27728" name="Group 80"/>
          <p:cNvGrpSpPr/>
          <p:nvPr/>
        </p:nvGrpSpPr>
        <p:grpSpPr>
          <a:xfrm>
            <a:off x="2466975" y="1447800"/>
            <a:ext cx="3889375" cy="579438"/>
            <a:chOff x="1554" y="912"/>
            <a:chExt cx="2450" cy="365"/>
          </a:xfrm>
        </p:grpSpPr>
        <p:sp>
          <p:nvSpPr>
            <p:cNvPr id="27663" name="Rectangle 15"/>
            <p:cNvSpPr>
              <a:spLocks noChangeArrowheads="1"/>
            </p:cNvSpPr>
            <p:nvPr/>
          </p:nvSpPr>
          <p:spPr bwMode="auto">
            <a:xfrm>
              <a:off x="2352" y="912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0     0    0</a:t>
              </a:r>
            </a:p>
          </p:txBody>
        </p:sp>
        <p:sp>
          <p:nvSpPr>
            <p:cNvPr id="54303" name="Line 62"/>
            <p:cNvSpPr/>
            <p:nvPr/>
          </p:nvSpPr>
          <p:spPr>
            <a:xfrm flipV="1">
              <a:off x="1746" y="999"/>
              <a:ext cx="1" cy="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4304" name="Group 67"/>
            <p:cNvGrpSpPr/>
            <p:nvPr/>
          </p:nvGrpSpPr>
          <p:grpSpPr>
            <a:xfrm>
              <a:off x="1554" y="999"/>
              <a:ext cx="432" cy="175"/>
              <a:chOff x="5088" y="624"/>
              <a:chExt cx="432" cy="240"/>
            </a:xfrm>
          </p:grpSpPr>
          <p:sp>
            <p:nvSpPr>
              <p:cNvPr id="54305" name="Line 61"/>
              <p:cNvSpPr/>
              <p:nvPr/>
            </p:nvSpPr>
            <p:spPr>
              <a:xfrm>
                <a:off x="508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06" name="Line 63"/>
              <p:cNvSpPr/>
              <p:nvPr/>
            </p:nvSpPr>
            <p:spPr>
              <a:xfrm>
                <a:off x="5280" y="62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729" name="Group 81"/>
          <p:cNvGrpSpPr/>
          <p:nvPr/>
        </p:nvGrpSpPr>
        <p:grpSpPr>
          <a:xfrm>
            <a:off x="2474913" y="1905000"/>
            <a:ext cx="3881437" cy="579438"/>
            <a:chOff x="1559" y="1200"/>
            <a:chExt cx="2445" cy="365"/>
          </a:xfrm>
        </p:grpSpPr>
        <p:sp>
          <p:nvSpPr>
            <p:cNvPr id="27670" name="Rectangle 22"/>
            <p:cNvSpPr>
              <a:spLocks noChangeArrowheads="1"/>
            </p:cNvSpPr>
            <p:nvPr/>
          </p:nvSpPr>
          <p:spPr bwMode="auto">
            <a:xfrm>
              <a:off x="2352" y="1200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0     1    1</a:t>
              </a:r>
            </a:p>
          </p:txBody>
        </p:sp>
        <p:sp>
          <p:nvSpPr>
            <p:cNvPr id="54298" name="Line 68"/>
            <p:cNvSpPr/>
            <p:nvPr/>
          </p:nvSpPr>
          <p:spPr>
            <a:xfrm flipV="1">
              <a:off x="1751" y="1314"/>
              <a:ext cx="1" cy="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4299" name="Group 69"/>
            <p:cNvGrpSpPr/>
            <p:nvPr/>
          </p:nvGrpSpPr>
          <p:grpSpPr>
            <a:xfrm>
              <a:off x="1559" y="1314"/>
              <a:ext cx="432" cy="175"/>
              <a:chOff x="5088" y="624"/>
              <a:chExt cx="432" cy="240"/>
            </a:xfrm>
          </p:grpSpPr>
          <p:sp>
            <p:nvSpPr>
              <p:cNvPr id="54300" name="Line 70"/>
              <p:cNvSpPr/>
              <p:nvPr/>
            </p:nvSpPr>
            <p:spPr>
              <a:xfrm>
                <a:off x="508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01" name="Line 71"/>
              <p:cNvSpPr/>
              <p:nvPr/>
            </p:nvSpPr>
            <p:spPr>
              <a:xfrm>
                <a:off x="5280" y="62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730" name="Group 82"/>
          <p:cNvGrpSpPr/>
          <p:nvPr/>
        </p:nvGrpSpPr>
        <p:grpSpPr>
          <a:xfrm>
            <a:off x="2470150" y="2438400"/>
            <a:ext cx="3886200" cy="579438"/>
            <a:chOff x="1556" y="1536"/>
            <a:chExt cx="2448" cy="365"/>
          </a:xfrm>
        </p:grpSpPr>
        <p:sp>
          <p:nvSpPr>
            <p:cNvPr id="27677" name="Rectangle 29"/>
            <p:cNvSpPr>
              <a:spLocks noChangeArrowheads="1"/>
            </p:cNvSpPr>
            <p:nvPr/>
          </p:nvSpPr>
          <p:spPr bwMode="auto">
            <a:xfrm>
              <a:off x="2352" y="1536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1     0    0</a:t>
              </a:r>
            </a:p>
          </p:txBody>
        </p:sp>
        <p:sp>
          <p:nvSpPr>
            <p:cNvPr id="54293" name="Line 72"/>
            <p:cNvSpPr/>
            <p:nvPr/>
          </p:nvSpPr>
          <p:spPr>
            <a:xfrm flipV="1">
              <a:off x="1748" y="1661"/>
              <a:ext cx="1" cy="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4294" name="Group 73"/>
            <p:cNvGrpSpPr/>
            <p:nvPr/>
          </p:nvGrpSpPr>
          <p:grpSpPr>
            <a:xfrm>
              <a:off x="1556" y="1661"/>
              <a:ext cx="432" cy="175"/>
              <a:chOff x="5088" y="624"/>
              <a:chExt cx="432" cy="240"/>
            </a:xfrm>
          </p:grpSpPr>
          <p:sp>
            <p:nvSpPr>
              <p:cNvPr id="54295" name="Line 74"/>
              <p:cNvSpPr/>
              <p:nvPr/>
            </p:nvSpPr>
            <p:spPr>
              <a:xfrm>
                <a:off x="508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6" name="Line 75"/>
              <p:cNvSpPr/>
              <p:nvPr/>
            </p:nvSpPr>
            <p:spPr>
              <a:xfrm>
                <a:off x="5280" y="62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731" name="Group 83"/>
          <p:cNvGrpSpPr/>
          <p:nvPr/>
        </p:nvGrpSpPr>
        <p:grpSpPr>
          <a:xfrm>
            <a:off x="2484438" y="2994025"/>
            <a:ext cx="3871912" cy="579438"/>
            <a:chOff x="1565" y="1886"/>
            <a:chExt cx="2439" cy="365"/>
          </a:xfrm>
        </p:grpSpPr>
        <p:sp>
          <p:nvSpPr>
            <p:cNvPr id="27684" name="Rectangle 36"/>
            <p:cNvSpPr>
              <a:spLocks noChangeArrowheads="1"/>
            </p:cNvSpPr>
            <p:nvPr/>
          </p:nvSpPr>
          <p:spPr bwMode="auto">
            <a:xfrm>
              <a:off x="2352" y="1886"/>
              <a:ext cx="16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1     1    1</a:t>
              </a:r>
            </a:p>
          </p:txBody>
        </p:sp>
        <p:sp>
          <p:nvSpPr>
            <p:cNvPr id="54288" name="Line 76"/>
            <p:cNvSpPr/>
            <p:nvPr/>
          </p:nvSpPr>
          <p:spPr>
            <a:xfrm flipV="1">
              <a:off x="1757" y="1958"/>
              <a:ext cx="1" cy="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4289" name="Group 77"/>
            <p:cNvGrpSpPr/>
            <p:nvPr/>
          </p:nvGrpSpPr>
          <p:grpSpPr>
            <a:xfrm>
              <a:off x="1565" y="1958"/>
              <a:ext cx="432" cy="175"/>
              <a:chOff x="5088" y="624"/>
              <a:chExt cx="432" cy="240"/>
            </a:xfrm>
          </p:grpSpPr>
          <p:sp>
            <p:nvSpPr>
              <p:cNvPr id="54290" name="Line 78"/>
              <p:cNvSpPr/>
              <p:nvPr/>
            </p:nvSpPr>
            <p:spPr>
              <a:xfrm>
                <a:off x="508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1" name="Line 79"/>
              <p:cNvSpPr/>
              <p:nvPr/>
            </p:nvSpPr>
            <p:spPr>
              <a:xfrm>
                <a:off x="5280" y="62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17</a:t>
            </a:fld>
            <a:endParaRPr lang="en-US" altLang="zh-CN" sz="1400" dirty="0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01613" y="2286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987800" y="1066800"/>
            <a:ext cx="1193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Q</a:t>
            </a:r>
            <a:r>
              <a:rPr kumimoji="1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n+1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=D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01613" y="2057400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、逻辑符号</a:t>
            </a:r>
          </a:p>
        </p:txBody>
      </p:sp>
      <p:grpSp>
        <p:nvGrpSpPr>
          <p:cNvPr id="28712" name="Group 40"/>
          <p:cNvGrpSpPr/>
          <p:nvPr/>
        </p:nvGrpSpPr>
        <p:grpSpPr>
          <a:xfrm>
            <a:off x="3041650" y="3124200"/>
            <a:ext cx="3186113" cy="2209800"/>
            <a:chOff x="1916" y="1968"/>
            <a:chExt cx="2007" cy="1392"/>
          </a:xfrm>
        </p:grpSpPr>
        <p:sp>
          <p:nvSpPr>
            <p:cNvPr id="56327" name="Rectangle 27"/>
            <p:cNvSpPr/>
            <p:nvPr/>
          </p:nvSpPr>
          <p:spPr>
            <a:xfrm>
              <a:off x="2684" y="2016"/>
              <a:ext cx="980" cy="134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6328" name="Line 28"/>
            <p:cNvSpPr/>
            <p:nvPr/>
          </p:nvSpPr>
          <p:spPr>
            <a:xfrm>
              <a:off x="2684" y="2460"/>
              <a:ext cx="196" cy="1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9" name="Line 29"/>
            <p:cNvSpPr/>
            <p:nvPr/>
          </p:nvSpPr>
          <p:spPr>
            <a:xfrm flipV="1">
              <a:off x="2684" y="2604"/>
              <a:ext cx="196" cy="1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0" name="Line 30"/>
            <p:cNvSpPr/>
            <p:nvPr/>
          </p:nvSpPr>
          <p:spPr>
            <a:xfrm>
              <a:off x="3727" y="3072"/>
              <a:ext cx="1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1" name="Line 31"/>
            <p:cNvSpPr/>
            <p:nvPr/>
          </p:nvSpPr>
          <p:spPr>
            <a:xfrm flipH="1">
              <a:off x="2300" y="2592"/>
              <a:ext cx="39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>
              <a:off x="2684" y="199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>
              <a:off x="3404" y="19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>
              <a:off x="3404" y="28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>
              <a:off x="1916" y="2478"/>
              <a:ext cx="5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56336" name="Line 36"/>
            <p:cNvSpPr/>
            <p:nvPr/>
          </p:nvSpPr>
          <p:spPr>
            <a:xfrm>
              <a:off x="3662" y="21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7" name="Line 37"/>
            <p:cNvSpPr/>
            <p:nvPr/>
          </p:nvSpPr>
          <p:spPr>
            <a:xfrm>
              <a:off x="3452" y="295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8" name="Line 38"/>
            <p:cNvSpPr/>
            <p:nvPr/>
          </p:nvSpPr>
          <p:spPr>
            <a:xfrm flipH="1">
              <a:off x="2492" y="220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9" name="Oval 39"/>
            <p:cNvSpPr/>
            <p:nvPr/>
          </p:nvSpPr>
          <p:spPr>
            <a:xfrm>
              <a:off x="3651" y="3031"/>
              <a:ext cx="91" cy="91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675" grpId="0"/>
      <p:bldP spid="2867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18</a:t>
            </a:fld>
            <a:endParaRPr lang="en-US" altLang="zh-CN" sz="1400" dirty="0"/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173038" y="152400"/>
            <a:ext cx="16129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、优点</a:t>
            </a:r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152400" y="896938"/>
            <a:ext cx="6076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有时钟信号，可以同步工作；</a:t>
            </a:r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158750" y="1628775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没有约束条件；</a:t>
            </a: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152400" y="3135313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、存在的问题</a:t>
            </a: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131763" y="3916363"/>
            <a:ext cx="62801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只有一个输入端，逻辑功能简单。</a:t>
            </a:r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152400" y="2389188"/>
            <a:ext cx="485140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(3)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解决了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空翻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问题。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0" grpId="0" animBg="1"/>
      <p:bldP spid="29721" grpId="0" animBg="1"/>
      <p:bldP spid="29722" grpId="0" animBg="1"/>
      <p:bldP spid="29723" grpId="0" animBg="1"/>
      <p:bldP spid="29724" grpId="0" animBg="1"/>
      <p:bldP spid="297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19</a:t>
            </a:fld>
            <a:endParaRPr lang="en-US" altLang="zh-CN" sz="1400" dirty="0"/>
          </a:p>
        </p:txBody>
      </p:sp>
      <p:sp>
        <p:nvSpPr>
          <p:cNvPr id="30722" name="Rectangle 2"/>
          <p:cNvSpPr/>
          <p:nvPr/>
        </p:nvSpPr>
        <p:spPr>
          <a:xfrm>
            <a:off x="187325" y="187325"/>
            <a:ext cx="4384675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5.3.4 JK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30778" name="Rectangle 58"/>
          <p:cNvSpPr>
            <a:spLocks noChangeArrowheads="1"/>
          </p:cNvSpPr>
          <p:nvPr/>
        </p:nvSpPr>
        <p:spPr bwMode="auto">
          <a:xfrm>
            <a:off x="187325" y="1173163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、电路结构</a:t>
            </a:r>
          </a:p>
        </p:txBody>
      </p:sp>
      <p:grpSp>
        <p:nvGrpSpPr>
          <p:cNvPr id="30784" name="Group 64"/>
          <p:cNvGrpSpPr/>
          <p:nvPr/>
        </p:nvGrpSpPr>
        <p:grpSpPr>
          <a:xfrm>
            <a:off x="2549525" y="1863725"/>
            <a:ext cx="4102100" cy="4313238"/>
            <a:chOff x="1606" y="1174"/>
            <a:chExt cx="2584" cy="2717"/>
          </a:xfrm>
        </p:grpSpPr>
        <p:sp>
          <p:nvSpPr>
            <p:cNvPr id="60437" name="Rectangle 65"/>
            <p:cNvSpPr/>
            <p:nvPr/>
          </p:nvSpPr>
          <p:spPr>
            <a:xfrm>
              <a:off x="3190" y="1990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38" name="Oval 66"/>
            <p:cNvSpPr/>
            <p:nvPr/>
          </p:nvSpPr>
          <p:spPr>
            <a:xfrm>
              <a:off x="3430" y="1894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39" name="Line 67"/>
            <p:cNvSpPr/>
            <p:nvPr/>
          </p:nvSpPr>
          <p:spPr>
            <a:xfrm>
              <a:off x="3286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0" name="Line 68"/>
            <p:cNvSpPr/>
            <p:nvPr/>
          </p:nvSpPr>
          <p:spPr>
            <a:xfrm>
              <a:off x="3622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1" name="Line 69"/>
            <p:cNvSpPr/>
            <p:nvPr/>
          </p:nvSpPr>
          <p:spPr>
            <a:xfrm flipV="1">
              <a:off x="3478" y="1366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2" name="Rectangle 70"/>
            <p:cNvSpPr/>
            <p:nvPr/>
          </p:nvSpPr>
          <p:spPr>
            <a:xfrm>
              <a:off x="2230" y="1990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43" name="Oval 71"/>
            <p:cNvSpPr/>
            <p:nvPr/>
          </p:nvSpPr>
          <p:spPr>
            <a:xfrm>
              <a:off x="2470" y="1894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44" name="Line 72"/>
            <p:cNvSpPr/>
            <p:nvPr/>
          </p:nvSpPr>
          <p:spPr>
            <a:xfrm>
              <a:off x="2326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5" name="Line 73"/>
            <p:cNvSpPr/>
            <p:nvPr/>
          </p:nvSpPr>
          <p:spPr>
            <a:xfrm>
              <a:off x="2662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6" name="Line 74"/>
            <p:cNvSpPr/>
            <p:nvPr/>
          </p:nvSpPr>
          <p:spPr>
            <a:xfrm flipV="1">
              <a:off x="2518" y="1366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7" name="Rectangle 75"/>
            <p:cNvSpPr/>
            <p:nvPr/>
          </p:nvSpPr>
          <p:spPr>
            <a:xfrm>
              <a:off x="2038" y="2806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48" name="Oval 76"/>
            <p:cNvSpPr/>
            <p:nvPr/>
          </p:nvSpPr>
          <p:spPr>
            <a:xfrm>
              <a:off x="2278" y="2710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49" name="Line 77"/>
            <p:cNvSpPr/>
            <p:nvPr/>
          </p:nvSpPr>
          <p:spPr>
            <a:xfrm>
              <a:off x="2470" y="309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0" name="Line 78"/>
            <p:cNvSpPr/>
            <p:nvPr/>
          </p:nvSpPr>
          <p:spPr>
            <a:xfrm flipV="1">
              <a:off x="2326" y="2374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1" name="Rectangle 79"/>
            <p:cNvSpPr/>
            <p:nvPr/>
          </p:nvSpPr>
          <p:spPr>
            <a:xfrm>
              <a:off x="3334" y="2806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52" name="Oval 80"/>
            <p:cNvSpPr/>
            <p:nvPr/>
          </p:nvSpPr>
          <p:spPr>
            <a:xfrm>
              <a:off x="3574" y="2710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53" name="Line 81"/>
            <p:cNvSpPr/>
            <p:nvPr/>
          </p:nvSpPr>
          <p:spPr>
            <a:xfrm>
              <a:off x="3430" y="309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4" name="Line 82"/>
            <p:cNvSpPr/>
            <p:nvPr/>
          </p:nvSpPr>
          <p:spPr>
            <a:xfrm flipV="1">
              <a:off x="3622" y="2374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5" name="Line 83"/>
            <p:cNvSpPr/>
            <p:nvPr/>
          </p:nvSpPr>
          <p:spPr>
            <a:xfrm>
              <a:off x="2518" y="179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6" name="Line 84"/>
            <p:cNvSpPr/>
            <p:nvPr/>
          </p:nvSpPr>
          <p:spPr>
            <a:xfrm flipH="1">
              <a:off x="3094" y="179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7" name="Line 85"/>
            <p:cNvSpPr/>
            <p:nvPr/>
          </p:nvSpPr>
          <p:spPr>
            <a:xfrm>
              <a:off x="2854" y="1798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8" name="Line 86"/>
            <p:cNvSpPr/>
            <p:nvPr/>
          </p:nvSpPr>
          <p:spPr>
            <a:xfrm flipH="1">
              <a:off x="2758" y="1798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9" name="Line 87"/>
            <p:cNvSpPr/>
            <p:nvPr/>
          </p:nvSpPr>
          <p:spPr>
            <a:xfrm>
              <a:off x="2662" y="242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0" name="Line 88"/>
            <p:cNvSpPr/>
            <p:nvPr/>
          </p:nvSpPr>
          <p:spPr>
            <a:xfrm>
              <a:off x="3190" y="242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1" name="Line 89"/>
            <p:cNvSpPr/>
            <p:nvPr/>
          </p:nvSpPr>
          <p:spPr>
            <a:xfrm flipH="1">
              <a:off x="3190" y="242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2" name="Line 90"/>
            <p:cNvSpPr/>
            <p:nvPr/>
          </p:nvSpPr>
          <p:spPr>
            <a:xfrm>
              <a:off x="2470" y="3238"/>
              <a:ext cx="9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3" name="Line 91"/>
            <p:cNvSpPr/>
            <p:nvPr/>
          </p:nvSpPr>
          <p:spPr>
            <a:xfrm>
              <a:off x="2950" y="3238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12" name="Rectangle 92"/>
            <p:cNvSpPr>
              <a:spLocks noChangeArrowheads="1"/>
            </p:cNvSpPr>
            <p:nvPr/>
          </p:nvSpPr>
          <p:spPr bwMode="auto">
            <a:xfrm>
              <a:off x="3526" y="11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30813" name="Rectangle 93"/>
            <p:cNvSpPr>
              <a:spLocks noChangeArrowheads="1"/>
            </p:cNvSpPr>
            <p:nvPr/>
          </p:nvSpPr>
          <p:spPr bwMode="auto">
            <a:xfrm>
              <a:off x="2182" y="11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30814" name="Rectangle 94"/>
            <p:cNvSpPr>
              <a:spLocks noChangeArrowheads="1"/>
            </p:cNvSpPr>
            <p:nvPr/>
          </p:nvSpPr>
          <p:spPr bwMode="auto">
            <a:xfrm>
              <a:off x="2758" y="3526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30815" name="Rectangle 95"/>
            <p:cNvSpPr>
              <a:spLocks noChangeArrowheads="1"/>
            </p:cNvSpPr>
            <p:nvPr/>
          </p:nvSpPr>
          <p:spPr bwMode="auto">
            <a:xfrm>
              <a:off x="2374" y="193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816" name="Rectangle 96"/>
            <p:cNvSpPr>
              <a:spLocks noChangeArrowheads="1"/>
            </p:cNvSpPr>
            <p:nvPr/>
          </p:nvSpPr>
          <p:spPr bwMode="auto">
            <a:xfrm>
              <a:off x="3334" y="193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817" name="Rectangle 97"/>
            <p:cNvSpPr>
              <a:spLocks noChangeArrowheads="1"/>
            </p:cNvSpPr>
            <p:nvPr/>
          </p:nvSpPr>
          <p:spPr bwMode="auto">
            <a:xfrm>
              <a:off x="2182" y="27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0818" name="Rectangle 98"/>
            <p:cNvSpPr>
              <a:spLocks noChangeArrowheads="1"/>
            </p:cNvSpPr>
            <p:nvPr/>
          </p:nvSpPr>
          <p:spPr bwMode="auto">
            <a:xfrm>
              <a:off x="3478" y="27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60471" name="Line 99"/>
            <p:cNvSpPr/>
            <p:nvPr/>
          </p:nvSpPr>
          <p:spPr>
            <a:xfrm>
              <a:off x="3574" y="122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72" name="Line 100"/>
            <p:cNvSpPr/>
            <p:nvPr/>
          </p:nvSpPr>
          <p:spPr>
            <a:xfrm>
              <a:off x="2278" y="3094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73" name="Line 101"/>
            <p:cNvSpPr/>
            <p:nvPr/>
          </p:nvSpPr>
          <p:spPr>
            <a:xfrm>
              <a:off x="3622" y="3094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22" name="Rectangle 102"/>
            <p:cNvSpPr>
              <a:spLocks noChangeArrowheads="1"/>
            </p:cNvSpPr>
            <p:nvPr/>
          </p:nvSpPr>
          <p:spPr bwMode="auto">
            <a:xfrm>
              <a:off x="2134" y="35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J</a:t>
              </a:r>
            </a:p>
          </p:txBody>
        </p:sp>
        <p:sp>
          <p:nvSpPr>
            <p:cNvPr id="30823" name="Rectangle 103"/>
            <p:cNvSpPr>
              <a:spLocks noChangeArrowheads="1"/>
            </p:cNvSpPr>
            <p:nvPr/>
          </p:nvSpPr>
          <p:spPr bwMode="auto">
            <a:xfrm>
              <a:off x="3478" y="34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K</a:t>
              </a:r>
            </a:p>
          </p:txBody>
        </p:sp>
        <p:sp>
          <p:nvSpPr>
            <p:cNvPr id="30824" name="Rectangle 104"/>
            <p:cNvSpPr>
              <a:spLocks noChangeArrowheads="1"/>
            </p:cNvSpPr>
            <p:nvPr/>
          </p:nvSpPr>
          <p:spPr bwMode="auto">
            <a:xfrm>
              <a:off x="1846" y="188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825" name="Rectangle 105"/>
            <p:cNvSpPr>
              <a:spLocks noChangeArrowheads="1"/>
            </p:cNvSpPr>
            <p:nvPr/>
          </p:nvSpPr>
          <p:spPr bwMode="auto">
            <a:xfrm>
              <a:off x="3766" y="1936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30826" name="Rectangle 106"/>
            <p:cNvSpPr>
              <a:spLocks noChangeArrowheads="1"/>
            </p:cNvSpPr>
            <p:nvPr/>
          </p:nvSpPr>
          <p:spPr bwMode="auto">
            <a:xfrm>
              <a:off x="1606" y="273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30827" name="Rectangle 107"/>
            <p:cNvSpPr>
              <a:spLocks noChangeArrowheads="1"/>
            </p:cNvSpPr>
            <p:nvPr/>
          </p:nvSpPr>
          <p:spPr bwMode="auto">
            <a:xfrm>
              <a:off x="3862" y="275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60480" name="Oval 108"/>
            <p:cNvSpPr/>
            <p:nvPr/>
          </p:nvSpPr>
          <p:spPr>
            <a:xfrm>
              <a:off x="2902" y="319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81" name="Oval 109"/>
            <p:cNvSpPr/>
            <p:nvPr/>
          </p:nvSpPr>
          <p:spPr>
            <a:xfrm>
              <a:off x="3430" y="175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82" name="Oval 110"/>
            <p:cNvSpPr/>
            <p:nvPr/>
          </p:nvSpPr>
          <p:spPr>
            <a:xfrm>
              <a:off x="2470" y="175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30831" name="Group 111"/>
          <p:cNvGrpSpPr/>
          <p:nvPr/>
        </p:nvGrpSpPr>
        <p:grpSpPr>
          <a:xfrm>
            <a:off x="3921125" y="2625725"/>
            <a:ext cx="2971800" cy="2590800"/>
            <a:chOff x="2470" y="1654"/>
            <a:chExt cx="1872" cy="1632"/>
          </a:xfrm>
        </p:grpSpPr>
        <p:sp>
          <p:nvSpPr>
            <p:cNvPr id="60431" name="Line 112"/>
            <p:cNvSpPr/>
            <p:nvPr/>
          </p:nvSpPr>
          <p:spPr>
            <a:xfrm>
              <a:off x="3766" y="3094"/>
              <a:ext cx="0" cy="144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2" name="Line 113"/>
            <p:cNvSpPr/>
            <p:nvPr/>
          </p:nvSpPr>
          <p:spPr>
            <a:xfrm>
              <a:off x="3766" y="3190"/>
              <a:ext cx="0" cy="9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3" name="Line 114"/>
            <p:cNvSpPr/>
            <p:nvPr/>
          </p:nvSpPr>
          <p:spPr>
            <a:xfrm>
              <a:off x="2518" y="1702"/>
              <a:ext cx="182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4" name="Line 115"/>
            <p:cNvSpPr/>
            <p:nvPr/>
          </p:nvSpPr>
          <p:spPr>
            <a:xfrm>
              <a:off x="3766" y="3286"/>
              <a:ext cx="57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5" name="Line 116"/>
            <p:cNvSpPr/>
            <p:nvPr/>
          </p:nvSpPr>
          <p:spPr>
            <a:xfrm>
              <a:off x="4342" y="1702"/>
              <a:ext cx="0" cy="1584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6" name="Oval 117"/>
            <p:cNvSpPr/>
            <p:nvPr/>
          </p:nvSpPr>
          <p:spPr>
            <a:xfrm>
              <a:off x="2470" y="1654"/>
              <a:ext cx="96" cy="96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30838" name="Group 118"/>
          <p:cNvGrpSpPr/>
          <p:nvPr/>
        </p:nvGrpSpPr>
        <p:grpSpPr>
          <a:xfrm>
            <a:off x="2549525" y="2397125"/>
            <a:ext cx="3048000" cy="2819400"/>
            <a:chOff x="1606" y="1510"/>
            <a:chExt cx="1920" cy="1776"/>
          </a:xfrm>
        </p:grpSpPr>
        <p:sp>
          <p:nvSpPr>
            <p:cNvPr id="60424" name="Line 119"/>
            <p:cNvSpPr/>
            <p:nvPr/>
          </p:nvSpPr>
          <p:spPr>
            <a:xfrm>
              <a:off x="2134" y="3190"/>
              <a:ext cx="0" cy="9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0425" name="Group 120"/>
            <p:cNvGrpSpPr/>
            <p:nvPr/>
          </p:nvGrpSpPr>
          <p:grpSpPr>
            <a:xfrm>
              <a:off x="1606" y="1510"/>
              <a:ext cx="1920" cy="1776"/>
              <a:chOff x="1606" y="1510"/>
              <a:chExt cx="1920" cy="1776"/>
            </a:xfrm>
          </p:grpSpPr>
          <p:sp>
            <p:nvSpPr>
              <p:cNvPr id="60426" name="Line 121"/>
              <p:cNvSpPr/>
              <p:nvPr/>
            </p:nvSpPr>
            <p:spPr>
              <a:xfrm>
                <a:off x="2134" y="3094"/>
                <a:ext cx="0" cy="144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27" name="Line 122"/>
              <p:cNvSpPr/>
              <p:nvPr/>
            </p:nvSpPr>
            <p:spPr>
              <a:xfrm flipH="1">
                <a:off x="1606" y="1558"/>
                <a:ext cx="187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28" name="Line 123"/>
              <p:cNvSpPr/>
              <p:nvPr/>
            </p:nvSpPr>
            <p:spPr>
              <a:xfrm>
                <a:off x="1606" y="1558"/>
                <a:ext cx="0" cy="172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29" name="Line 124"/>
              <p:cNvSpPr/>
              <p:nvPr/>
            </p:nvSpPr>
            <p:spPr>
              <a:xfrm flipH="1">
                <a:off x="1606" y="3286"/>
                <a:ext cx="52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30" name="Oval 125"/>
              <p:cNvSpPr/>
              <p:nvPr/>
            </p:nvSpPr>
            <p:spPr>
              <a:xfrm>
                <a:off x="3430" y="1510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07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20</a:t>
            </a:fld>
            <a:endParaRPr lang="en-US" altLang="zh-CN" sz="1400" dirty="0"/>
          </a:p>
        </p:txBody>
      </p:sp>
      <p:grpSp>
        <p:nvGrpSpPr>
          <p:cNvPr id="31828" name="Group 84"/>
          <p:cNvGrpSpPr/>
          <p:nvPr/>
        </p:nvGrpSpPr>
        <p:grpSpPr>
          <a:xfrm>
            <a:off x="368300" y="1057275"/>
            <a:ext cx="4419600" cy="4505325"/>
            <a:chOff x="68" y="666"/>
            <a:chExt cx="2784" cy="2838"/>
          </a:xfrm>
        </p:grpSpPr>
        <p:sp>
          <p:nvSpPr>
            <p:cNvPr id="62552" name="Line 3"/>
            <p:cNvSpPr/>
            <p:nvPr/>
          </p:nvSpPr>
          <p:spPr>
            <a:xfrm>
              <a:off x="116" y="1056"/>
              <a:ext cx="27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53" name="Line 4"/>
            <p:cNvSpPr/>
            <p:nvPr/>
          </p:nvSpPr>
          <p:spPr>
            <a:xfrm>
              <a:off x="1383" y="816"/>
              <a:ext cx="0" cy="26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54" name="Line 5"/>
            <p:cNvSpPr/>
            <p:nvPr/>
          </p:nvSpPr>
          <p:spPr>
            <a:xfrm>
              <a:off x="2109" y="816"/>
              <a:ext cx="0" cy="26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0" name="Rectangle 6"/>
            <p:cNvSpPr>
              <a:spLocks noChangeArrowheads="1"/>
            </p:cNvSpPr>
            <p:nvPr/>
          </p:nvSpPr>
          <p:spPr bwMode="auto">
            <a:xfrm>
              <a:off x="68" y="666"/>
              <a:ext cx="27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J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K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   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n+1  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注释</a:t>
              </a:r>
            </a:p>
          </p:txBody>
        </p:sp>
      </p:grp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193675" y="228600"/>
            <a:ext cx="2836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、状态转换表</a:t>
            </a:r>
          </a:p>
        </p:txBody>
      </p:sp>
      <p:grpSp>
        <p:nvGrpSpPr>
          <p:cNvPr id="31761" name="Group 17"/>
          <p:cNvGrpSpPr/>
          <p:nvPr/>
        </p:nvGrpSpPr>
        <p:grpSpPr>
          <a:xfrm>
            <a:off x="5003800" y="1268413"/>
            <a:ext cx="3983038" cy="4313237"/>
            <a:chOff x="1606" y="1174"/>
            <a:chExt cx="2736" cy="2717"/>
          </a:xfrm>
        </p:grpSpPr>
        <p:sp>
          <p:nvSpPr>
            <p:cNvPr id="62494" name="Rectangle 18"/>
            <p:cNvSpPr/>
            <p:nvPr/>
          </p:nvSpPr>
          <p:spPr>
            <a:xfrm>
              <a:off x="3190" y="1990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495" name="Oval 19"/>
            <p:cNvSpPr/>
            <p:nvPr/>
          </p:nvSpPr>
          <p:spPr>
            <a:xfrm>
              <a:off x="3430" y="1894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496" name="Line 20"/>
            <p:cNvSpPr/>
            <p:nvPr/>
          </p:nvSpPr>
          <p:spPr>
            <a:xfrm>
              <a:off x="3286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7" name="Line 21"/>
            <p:cNvSpPr/>
            <p:nvPr/>
          </p:nvSpPr>
          <p:spPr>
            <a:xfrm>
              <a:off x="3622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8" name="Line 22"/>
            <p:cNvSpPr/>
            <p:nvPr/>
          </p:nvSpPr>
          <p:spPr>
            <a:xfrm flipV="1">
              <a:off x="3478" y="1366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9" name="Rectangle 23"/>
            <p:cNvSpPr/>
            <p:nvPr/>
          </p:nvSpPr>
          <p:spPr>
            <a:xfrm>
              <a:off x="2230" y="1990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00" name="Oval 24"/>
            <p:cNvSpPr/>
            <p:nvPr/>
          </p:nvSpPr>
          <p:spPr>
            <a:xfrm>
              <a:off x="2470" y="1894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01" name="Line 25"/>
            <p:cNvSpPr/>
            <p:nvPr/>
          </p:nvSpPr>
          <p:spPr>
            <a:xfrm>
              <a:off x="2326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2" name="Line 26"/>
            <p:cNvSpPr/>
            <p:nvPr/>
          </p:nvSpPr>
          <p:spPr>
            <a:xfrm>
              <a:off x="2662" y="22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3" name="Line 27"/>
            <p:cNvSpPr/>
            <p:nvPr/>
          </p:nvSpPr>
          <p:spPr>
            <a:xfrm flipV="1">
              <a:off x="2518" y="1366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4" name="Rectangle 28"/>
            <p:cNvSpPr/>
            <p:nvPr/>
          </p:nvSpPr>
          <p:spPr>
            <a:xfrm>
              <a:off x="2038" y="2806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05" name="Oval 29"/>
            <p:cNvSpPr/>
            <p:nvPr/>
          </p:nvSpPr>
          <p:spPr>
            <a:xfrm>
              <a:off x="2278" y="2710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06" name="Line 30"/>
            <p:cNvSpPr/>
            <p:nvPr/>
          </p:nvSpPr>
          <p:spPr>
            <a:xfrm>
              <a:off x="2134" y="309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7" name="Line 31"/>
            <p:cNvSpPr/>
            <p:nvPr/>
          </p:nvSpPr>
          <p:spPr>
            <a:xfrm>
              <a:off x="2470" y="309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8" name="Line 32"/>
            <p:cNvSpPr/>
            <p:nvPr/>
          </p:nvSpPr>
          <p:spPr>
            <a:xfrm flipV="1">
              <a:off x="2326" y="2374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9" name="Rectangle 33"/>
            <p:cNvSpPr/>
            <p:nvPr/>
          </p:nvSpPr>
          <p:spPr>
            <a:xfrm>
              <a:off x="3334" y="2806"/>
              <a:ext cx="576" cy="28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10" name="Oval 34"/>
            <p:cNvSpPr/>
            <p:nvPr/>
          </p:nvSpPr>
          <p:spPr>
            <a:xfrm>
              <a:off x="3574" y="2710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11" name="Line 35"/>
            <p:cNvSpPr/>
            <p:nvPr/>
          </p:nvSpPr>
          <p:spPr>
            <a:xfrm>
              <a:off x="3430" y="309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2" name="Line 36"/>
            <p:cNvSpPr/>
            <p:nvPr/>
          </p:nvSpPr>
          <p:spPr>
            <a:xfrm>
              <a:off x="3766" y="309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3" name="Line 37"/>
            <p:cNvSpPr/>
            <p:nvPr/>
          </p:nvSpPr>
          <p:spPr>
            <a:xfrm flipV="1">
              <a:off x="3622" y="2374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4" name="Line 38"/>
            <p:cNvSpPr/>
            <p:nvPr/>
          </p:nvSpPr>
          <p:spPr>
            <a:xfrm>
              <a:off x="2518" y="179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5" name="Line 39"/>
            <p:cNvSpPr/>
            <p:nvPr/>
          </p:nvSpPr>
          <p:spPr>
            <a:xfrm flipH="1">
              <a:off x="3094" y="179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6" name="Line 40"/>
            <p:cNvSpPr/>
            <p:nvPr/>
          </p:nvSpPr>
          <p:spPr>
            <a:xfrm>
              <a:off x="2854" y="1798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7" name="Line 41"/>
            <p:cNvSpPr/>
            <p:nvPr/>
          </p:nvSpPr>
          <p:spPr>
            <a:xfrm flipH="1">
              <a:off x="2758" y="1798"/>
              <a:ext cx="336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8" name="Line 42"/>
            <p:cNvSpPr/>
            <p:nvPr/>
          </p:nvSpPr>
          <p:spPr>
            <a:xfrm>
              <a:off x="2662" y="242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9" name="Line 43"/>
            <p:cNvSpPr/>
            <p:nvPr/>
          </p:nvSpPr>
          <p:spPr>
            <a:xfrm>
              <a:off x="3190" y="242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0" name="Line 44"/>
            <p:cNvSpPr/>
            <p:nvPr/>
          </p:nvSpPr>
          <p:spPr>
            <a:xfrm flipH="1">
              <a:off x="3190" y="242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1" name="Line 45"/>
            <p:cNvSpPr/>
            <p:nvPr/>
          </p:nvSpPr>
          <p:spPr>
            <a:xfrm>
              <a:off x="2470" y="3238"/>
              <a:ext cx="9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2" name="Line 46"/>
            <p:cNvSpPr/>
            <p:nvPr/>
          </p:nvSpPr>
          <p:spPr>
            <a:xfrm>
              <a:off x="2950" y="3238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3" name="Line 47"/>
            <p:cNvSpPr/>
            <p:nvPr/>
          </p:nvSpPr>
          <p:spPr>
            <a:xfrm>
              <a:off x="2134" y="3190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24" name="Line 48"/>
            <p:cNvSpPr/>
            <p:nvPr/>
          </p:nvSpPr>
          <p:spPr>
            <a:xfrm>
              <a:off x="3766" y="3190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3" name="Rectangle 49"/>
            <p:cNvSpPr>
              <a:spLocks noChangeArrowheads="1"/>
            </p:cNvSpPr>
            <p:nvPr/>
          </p:nvSpPr>
          <p:spPr bwMode="auto">
            <a:xfrm>
              <a:off x="3526" y="1174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31794" name="Rectangle 50"/>
            <p:cNvSpPr>
              <a:spLocks noChangeArrowheads="1"/>
            </p:cNvSpPr>
            <p:nvPr/>
          </p:nvSpPr>
          <p:spPr bwMode="auto">
            <a:xfrm>
              <a:off x="2182" y="1174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31795" name="Rectangle 51"/>
            <p:cNvSpPr>
              <a:spLocks noChangeArrowheads="1"/>
            </p:cNvSpPr>
            <p:nvPr/>
          </p:nvSpPr>
          <p:spPr bwMode="auto">
            <a:xfrm>
              <a:off x="2758" y="3526"/>
              <a:ext cx="5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31796" name="Rectangle 52"/>
            <p:cNvSpPr>
              <a:spLocks noChangeArrowheads="1"/>
            </p:cNvSpPr>
            <p:nvPr/>
          </p:nvSpPr>
          <p:spPr bwMode="auto">
            <a:xfrm>
              <a:off x="2374" y="1936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1797" name="Rectangle 53"/>
            <p:cNvSpPr>
              <a:spLocks noChangeArrowheads="1"/>
            </p:cNvSpPr>
            <p:nvPr/>
          </p:nvSpPr>
          <p:spPr bwMode="auto">
            <a:xfrm>
              <a:off x="3334" y="1936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1798" name="Rectangle 54"/>
            <p:cNvSpPr>
              <a:spLocks noChangeArrowheads="1"/>
            </p:cNvSpPr>
            <p:nvPr/>
          </p:nvSpPr>
          <p:spPr bwMode="auto">
            <a:xfrm>
              <a:off x="2182" y="2752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31799" name="Rectangle 55"/>
            <p:cNvSpPr>
              <a:spLocks noChangeArrowheads="1"/>
            </p:cNvSpPr>
            <p:nvPr/>
          </p:nvSpPr>
          <p:spPr bwMode="auto">
            <a:xfrm>
              <a:off x="3478" y="2752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62532" name="Line 56"/>
            <p:cNvSpPr/>
            <p:nvPr/>
          </p:nvSpPr>
          <p:spPr>
            <a:xfrm>
              <a:off x="3574" y="122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3" name="Line 57"/>
            <p:cNvSpPr/>
            <p:nvPr/>
          </p:nvSpPr>
          <p:spPr>
            <a:xfrm>
              <a:off x="2518" y="1702"/>
              <a:ext cx="18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4" name="Line 58"/>
            <p:cNvSpPr/>
            <p:nvPr/>
          </p:nvSpPr>
          <p:spPr>
            <a:xfrm>
              <a:off x="3766" y="3286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5" name="Line 59"/>
            <p:cNvSpPr/>
            <p:nvPr/>
          </p:nvSpPr>
          <p:spPr>
            <a:xfrm>
              <a:off x="4342" y="1702"/>
              <a:ext cx="0" cy="15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6" name="Line 60"/>
            <p:cNvSpPr/>
            <p:nvPr/>
          </p:nvSpPr>
          <p:spPr>
            <a:xfrm flipH="1">
              <a:off x="1606" y="1558"/>
              <a:ext cx="18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7" name="Line 61"/>
            <p:cNvSpPr/>
            <p:nvPr/>
          </p:nvSpPr>
          <p:spPr>
            <a:xfrm>
              <a:off x="1606" y="1558"/>
              <a:ext cx="0" cy="17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8" name="Line 62"/>
            <p:cNvSpPr/>
            <p:nvPr/>
          </p:nvSpPr>
          <p:spPr>
            <a:xfrm flipH="1">
              <a:off x="1606" y="3286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39" name="Line 63"/>
            <p:cNvSpPr/>
            <p:nvPr/>
          </p:nvSpPr>
          <p:spPr>
            <a:xfrm>
              <a:off x="2278" y="3094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40" name="Line 64"/>
            <p:cNvSpPr/>
            <p:nvPr/>
          </p:nvSpPr>
          <p:spPr>
            <a:xfrm>
              <a:off x="3622" y="3094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9" name="Rectangle 65"/>
            <p:cNvSpPr>
              <a:spLocks noChangeArrowheads="1"/>
            </p:cNvSpPr>
            <p:nvPr/>
          </p:nvSpPr>
          <p:spPr bwMode="auto">
            <a:xfrm>
              <a:off x="2134" y="3520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J</a:t>
              </a:r>
            </a:p>
          </p:txBody>
        </p:sp>
        <p:sp>
          <p:nvSpPr>
            <p:cNvPr id="31810" name="Rectangle 66"/>
            <p:cNvSpPr>
              <a:spLocks noChangeArrowheads="1"/>
            </p:cNvSpPr>
            <p:nvPr/>
          </p:nvSpPr>
          <p:spPr bwMode="auto">
            <a:xfrm>
              <a:off x="3478" y="3472"/>
              <a:ext cx="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K</a:t>
              </a:r>
            </a:p>
          </p:txBody>
        </p:sp>
        <p:sp>
          <p:nvSpPr>
            <p:cNvPr id="62543" name="Oval 67"/>
            <p:cNvSpPr/>
            <p:nvPr/>
          </p:nvSpPr>
          <p:spPr>
            <a:xfrm>
              <a:off x="2470" y="1654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44" name="Oval 68"/>
            <p:cNvSpPr/>
            <p:nvPr/>
          </p:nvSpPr>
          <p:spPr>
            <a:xfrm>
              <a:off x="3430" y="151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1813" name="Rectangle 69"/>
            <p:cNvSpPr>
              <a:spLocks noChangeArrowheads="1"/>
            </p:cNvSpPr>
            <p:nvPr/>
          </p:nvSpPr>
          <p:spPr bwMode="auto">
            <a:xfrm>
              <a:off x="1846" y="1888"/>
              <a:ext cx="3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814" name="Rectangle 70"/>
            <p:cNvSpPr>
              <a:spLocks noChangeArrowheads="1"/>
            </p:cNvSpPr>
            <p:nvPr/>
          </p:nvSpPr>
          <p:spPr bwMode="auto">
            <a:xfrm>
              <a:off x="3766" y="1936"/>
              <a:ext cx="3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31815" name="Rectangle 71"/>
            <p:cNvSpPr>
              <a:spLocks noChangeArrowheads="1"/>
            </p:cNvSpPr>
            <p:nvPr/>
          </p:nvSpPr>
          <p:spPr bwMode="auto">
            <a:xfrm>
              <a:off x="1606" y="2734"/>
              <a:ext cx="3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31816" name="Rectangle 72"/>
            <p:cNvSpPr>
              <a:spLocks noChangeArrowheads="1"/>
            </p:cNvSpPr>
            <p:nvPr/>
          </p:nvSpPr>
          <p:spPr bwMode="auto">
            <a:xfrm>
              <a:off x="3862" y="2752"/>
              <a:ext cx="3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62549" name="Oval 73"/>
            <p:cNvSpPr/>
            <p:nvPr/>
          </p:nvSpPr>
          <p:spPr>
            <a:xfrm>
              <a:off x="2902" y="319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50" name="Oval 74"/>
            <p:cNvSpPr/>
            <p:nvPr/>
          </p:nvSpPr>
          <p:spPr>
            <a:xfrm>
              <a:off x="3430" y="175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2551" name="Oval 75"/>
            <p:cNvSpPr/>
            <p:nvPr/>
          </p:nvSpPr>
          <p:spPr>
            <a:xfrm>
              <a:off x="2470" y="1750"/>
              <a:ext cx="96" cy="96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31829" name="Rectangle 85"/>
          <p:cNvSpPr>
            <a:spLocks noChangeArrowheads="1"/>
          </p:cNvSpPr>
          <p:nvPr/>
        </p:nvSpPr>
        <p:spPr bwMode="auto">
          <a:xfrm>
            <a:off x="368300" y="16764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0   0   0   </a:t>
            </a:r>
          </a:p>
        </p:txBody>
      </p:sp>
      <p:sp>
        <p:nvSpPr>
          <p:cNvPr id="31830" name="Rectangle 86"/>
          <p:cNvSpPr>
            <a:spLocks noChangeArrowheads="1"/>
          </p:cNvSpPr>
          <p:nvPr/>
        </p:nvSpPr>
        <p:spPr bwMode="auto">
          <a:xfrm>
            <a:off x="368300" y="2162175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0   0   1   </a:t>
            </a:r>
          </a:p>
        </p:txBody>
      </p:sp>
      <p:sp>
        <p:nvSpPr>
          <p:cNvPr id="31831" name="Rectangle 87"/>
          <p:cNvSpPr>
            <a:spLocks noChangeArrowheads="1"/>
          </p:cNvSpPr>
          <p:nvPr/>
        </p:nvSpPr>
        <p:spPr bwMode="auto">
          <a:xfrm>
            <a:off x="368300" y="26670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0   1   0   </a:t>
            </a:r>
          </a:p>
        </p:txBody>
      </p:sp>
      <p:sp>
        <p:nvSpPr>
          <p:cNvPr id="31832" name="Rectangle 88"/>
          <p:cNvSpPr>
            <a:spLocks noChangeArrowheads="1"/>
          </p:cNvSpPr>
          <p:nvPr/>
        </p:nvSpPr>
        <p:spPr bwMode="auto">
          <a:xfrm>
            <a:off x="368300" y="31242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0   1   1   </a:t>
            </a:r>
          </a:p>
        </p:txBody>
      </p:sp>
      <p:sp>
        <p:nvSpPr>
          <p:cNvPr id="31833" name="Rectangle 89"/>
          <p:cNvSpPr>
            <a:spLocks noChangeArrowheads="1"/>
          </p:cNvSpPr>
          <p:nvPr/>
        </p:nvSpPr>
        <p:spPr bwMode="auto">
          <a:xfrm>
            <a:off x="368300" y="35814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1   0   0   </a:t>
            </a:r>
          </a:p>
        </p:txBody>
      </p:sp>
      <p:sp>
        <p:nvSpPr>
          <p:cNvPr id="31834" name="Rectangle 90"/>
          <p:cNvSpPr>
            <a:spLocks noChangeArrowheads="1"/>
          </p:cNvSpPr>
          <p:nvPr/>
        </p:nvSpPr>
        <p:spPr bwMode="auto">
          <a:xfrm>
            <a:off x="368300" y="40386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1   0   1   </a:t>
            </a:r>
          </a:p>
        </p:txBody>
      </p:sp>
      <p:sp>
        <p:nvSpPr>
          <p:cNvPr id="31835" name="Rectangle 91"/>
          <p:cNvSpPr>
            <a:spLocks noChangeArrowheads="1"/>
          </p:cNvSpPr>
          <p:nvPr/>
        </p:nvSpPr>
        <p:spPr bwMode="auto">
          <a:xfrm>
            <a:off x="368300" y="44958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1   1   0   </a:t>
            </a:r>
          </a:p>
        </p:txBody>
      </p:sp>
      <p:sp>
        <p:nvSpPr>
          <p:cNvPr id="31836" name="Rectangle 92"/>
          <p:cNvSpPr>
            <a:spLocks noChangeArrowheads="1"/>
          </p:cNvSpPr>
          <p:nvPr/>
        </p:nvSpPr>
        <p:spPr bwMode="auto">
          <a:xfrm>
            <a:off x="368300" y="49530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1   1   1   </a:t>
            </a:r>
          </a:p>
        </p:txBody>
      </p:sp>
      <p:sp>
        <p:nvSpPr>
          <p:cNvPr id="31837" name="Rectangle 93"/>
          <p:cNvSpPr>
            <a:spLocks noChangeArrowheads="1"/>
          </p:cNvSpPr>
          <p:nvPr/>
        </p:nvSpPr>
        <p:spPr bwMode="auto">
          <a:xfrm>
            <a:off x="3736975" y="1697038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保持</a:t>
            </a:r>
          </a:p>
        </p:txBody>
      </p:sp>
      <p:sp>
        <p:nvSpPr>
          <p:cNvPr id="31838" name="Rectangle 94"/>
          <p:cNvSpPr>
            <a:spLocks noChangeArrowheads="1"/>
          </p:cNvSpPr>
          <p:nvPr/>
        </p:nvSpPr>
        <p:spPr bwMode="auto">
          <a:xfrm>
            <a:off x="3736975" y="2205038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置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31839" name="Rectangle 95"/>
          <p:cNvSpPr>
            <a:spLocks noChangeArrowheads="1"/>
          </p:cNvSpPr>
          <p:nvPr/>
        </p:nvSpPr>
        <p:spPr bwMode="auto">
          <a:xfrm>
            <a:off x="3736975" y="2703513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置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3736975" y="315595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翻转</a:t>
            </a:r>
          </a:p>
        </p:txBody>
      </p:sp>
      <p:sp>
        <p:nvSpPr>
          <p:cNvPr id="31841" name="Rectangle 97"/>
          <p:cNvSpPr>
            <a:spLocks noChangeArrowheads="1"/>
          </p:cNvSpPr>
          <p:nvPr/>
        </p:nvSpPr>
        <p:spPr bwMode="auto">
          <a:xfrm>
            <a:off x="3736975" y="362585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保持</a:t>
            </a:r>
          </a:p>
        </p:txBody>
      </p:sp>
      <p:sp>
        <p:nvSpPr>
          <p:cNvPr id="31842" name="Rectangle 98"/>
          <p:cNvSpPr>
            <a:spLocks noChangeArrowheads="1"/>
          </p:cNvSpPr>
          <p:nvPr/>
        </p:nvSpPr>
        <p:spPr bwMode="auto">
          <a:xfrm>
            <a:off x="3736975" y="40767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置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31843" name="Rectangle 99"/>
          <p:cNvSpPr>
            <a:spLocks noChangeArrowheads="1"/>
          </p:cNvSpPr>
          <p:nvPr/>
        </p:nvSpPr>
        <p:spPr bwMode="auto">
          <a:xfrm>
            <a:off x="3736975" y="452755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置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31844" name="Rectangle 100"/>
          <p:cNvSpPr>
            <a:spLocks noChangeArrowheads="1"/>
          </p:cNvSpPr>
          <p:nvPr/>
        </p:nvSpPr>
        <p:spPr bwMode="auto">
          <a:xfrm>
            <a:off x="3736975" y="501015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翻转</a:t>
            </a:r>
          </a:p>
        </p:txBody>
      </p:sp>
      <p:sp>
        <p:nvSpPr>
          <p:cNvPr id="31853" name="Rectangle 109"/>
          <p:cNvSpPr>
            <a:spLocks noChangeArrowheads="1"/>
          </p:cNvSpPr>
          <p:nvPr/>
        </p:nvSpPr>
        <p:spPr bwMode="auto">
          <a:xfrm>
            <a:off x="2843213" y="16589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31854" name="Rectangle 110"/>
          <p:cNvSpPr>
            <a:spLocks noChangeArrowheads="1"/>
          </p:cNvSpPr>
          <p:nvPr/>
        </p:nvSpPr>
        <p:spPr bwMode="auto">
          <a:xfrm>
            <a:off x="2843213" y="2166938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31855" name="Rectangle 111"/>
          <p:cNvSpPr>
            <a:spLocks noChangeArrowheads="1"/>
          </p:cNvSpPr>
          <p:nvPr/>
        </p:nvSpPr>
        <p:spPr bwMode="auto">
          <a:xfrm>
            <a:off x="2843213" y="2665413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31856" name="Rectangle 112"/>
          <p:cNvSpPr>
            <a:spLocks noChangeArrowheads="1"/>
          </p:cNvSpPr>
          <p:nvPr/>
        </p:nvSpPr>
        <p:spPr bwMode="auto">
          <a:xfrm>
            <a:off x="2843213" y="31178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31857" name="Rectangle 113"/>
          <p:cNvSpPr>
            <a:spLocks noChangeArrowheads="1"/>
          </p:cNvSpPr>
          <p:nvPr/>
        </p:nvSpPr>
        <p:spPr bwMode="auto">
          <a:xfrm>
            <a:off x="2843213" y="35877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31858" name="Rectangle 114"/>
          <p:cNvSpPr>
            <a:spLocks noChangeArrowheads="1"/>
          </p:cNvSpPr>
          <p:nvPr/>
        </p:nvSpPr>
        <p:spPr bwMode="auto">
          <a:xfrm>
            <a:off x="2843213" y="40386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31859" name="Rectangle 115"/>
          <p:cNvSpPr>
            <a:spLocks noChangeArrowheads="1"/>
          </p:cNvSpPr>
          <p:nvPr/>
        </p:nvSpPr>
        <p:spPr bwMode="auto">
          <a:xfrm>
            <a:off x="2843213" y="44894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31860" name="Rectangle 116"/>
          <p:cNvSpPr>
            <a:spLocks noChangeArrowheads="1"/>
          </p:cNvSpPr>
          <p:nvPr/>
        </p:nvSpPr>
        <p:spPr bwMode="auto">
          <a:xfrm>
            <a:off x="2843213" y="49720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8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3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3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3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3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3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3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500"/>
                                        <p:tgtEl>
                                          <p:spTgt spid="3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3" dur="500"/>
                                        <p:tgtEl>
                                          <p:spTgt spid="3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3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3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3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3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 animBg="1"/>
      <p:bldP spid="31829" grpId="0" build="p"/>
      <p:bldP spid="31830" grpId="0" build="p"/>
      <p:bldP spid="31831" grpId="0" build="p"/>
      <p:bldP spid="31832" grpId="0" build="p"/>
      <p:bldP spid="31833" grpId="0" build="p"/>
      <p:bldP spid="31834" grpId="0" build="p"/>
      <p:bldP spid="31835" grpId="0" build="p"/>
      <p:bldP spid="31836" grpId="0" build="p"/>
      <p:bldP spid="31837" grpId="0"/>
      <p:bldP spid="31838" grpId="0"/>
      <p:bldP spid="31839" grpId="0"/>
      <p:bldP spid="31840" grpId="0"/>
      <p:bldP spid="31841" grpId="0"/>
      <p:bldP spid="31842" grpId="0"/>
      <p:bldP spid="31843" grpId="0"/>
      <p:bldP spid="31844" grpId="0"/>
      <p:bldP spid="31853" grpId="0"/>
      <p:bldP spid="31854" grpId="0"/>
      <p:bldP spid="31855" grpId="0"/>
      <p:bldP spid="31856" grpId="0"/>
      <p:bldP spid="31857" grpId="0"/>
      <p:bldP spid="31858" grpId="0"/>
      <p:bldP spid="31859" grpId="0"/>
      <p:bldP spid="318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21</a:t>
            </a:fld>
            <a:endParaRPr lang="en-US" altLang="zh-CN" sz="1400" dirty="0"/>
          </a:p>
        </p:txBody>
      </p:sp>
      <p:grpSp>
        <p:nvGrpSpPr>
          <p:cNvPr id="32801" name="Group 33"/>
          <p:cNvGrpSpPr/>
          <p:nvPr/>
        </p:nvGrpSpPr>
        <p:grpSpPr>
          <a:xfrm>
            <a:off x="2209800" y="1320800"/>
            <a:ext cx="3733800" cy="2409825"/>
            <a:chOff x="914" y="787"/>
            <a:chExt cx="2352" cy="1518"/>
          </a:xfrm>
        </p:grpSpPr>
        <p:sp>
          <p:nvSpPr>
            <p:cNvPr id="64522" name="Rectangle 2"/>
            <p:cNvSpPr/>
            <p:nvPr/>
          </p:nvSpPr>
          <p:spPr>
            <a:xfrm>
              <a:off x="1586" y="1441"/>
              <a:ext cx="1680" cy="86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4523" name="Line 3"/>
            <p:cNvSpPr/>
            <p:nvPr/>
          </p:nvSpPr>
          <p:spPr>
            <a:xfrm>
              <a:off x="1586" y="1873"/>
              <a:ext cx="16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24" name="Line 4"/>
            <p:cNvSpPr/>
            <p:nvPr/>
          </p:nvSpPr>
          <p:spPr>
            <a:xfrm>
              <a:off x="1970" y="1441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25" name="Line 5"/>
            <p:cNvSpPr/>
            <p:nvPr/>
          </p:nvSpPr>
          <p:spPr>
            <a:xfrm>
              <a:off x="2834" y="1441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26" name="Line 6"/>
            <p:cNvSpPr/>
            <p:nvPr/>
          </p:nvSpPr>
          <p:spPr>
            <a:xfrm>
              <a:off x="2402" y="1441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27" name="Line 7"/>
            <p:cNvSpPr/>
            <p:nvPr/>
          </p:nvSpPr>
          <p:spPr>
            <a:xfrm flipH="1" flipV="1">
              <a:off x="1202" y="1057"/>
              <a:ext cx="384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76" name="Rectangle 8"/>
            <p:cNvSpPr>
              <a:spLocks noChangeArrowheads="1"/>
            </p:cNvSpPr>
            <p:nvPr/>
          </p:nvSpPr>
          <p:spPr bwMode="auto">
            <a:xfrm>
              <a:off x="1346" y="817"/>
              <a:ext cx="10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JK</a:t>
              </a:r>
            </a:p>
          </p:txBody>
        </p:sp>
        <p:sp>
          <p:nvSpPr>
            <p:cNvPr id="32777" name="Rectangle 9"/>
            <p:cNvSpPr>
              <a:spLocks noChangeArrowheads="1"/>
            </p:cNvSpPr>
            <p:nvPr/>
          </p:nvSpPr>
          <p:spPr bwMode="auto">
            <a:xfrm>
              <a:off x="1586" y="1099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00</a:t>
              </a:r>
            </a:p>
          </p:txBody>
        </p:sp>
        <p:sp>
          <p:nvSpPr>
            <p:cNvPr id="32778" name="Rectangle 10"/>
            <p:cNvSpPr>
              <a:spLocks noChangeArrowheads="1"/>
            </p:cNvSpPr>
            <p:nvPr/>
          </p:nvSpPr>
          <p:spPr bwMode="auto">
            <a:xfrm>
              <a:off x="1922" y="1099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 01</a:t>
              </a:r>
            </a:p>
          </p:txBody>
        </p:sp>
        <p:sp>
          <p:nvSpPr>
            <p:cNvPr id="32779" name="Rectangle 11"/>
            <p:cNvSpPr>
              <a:spLocks noChangeArrowheads="1"/>
            </p:cNvSpPr>
            <p:nvPr/>
          </p:nvSpPr>
          <p:spPr bwMode="auto">
            <a:xfrm>
              <a:off x="2402" y="1099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11</a:t>
              </a:r>
            </a:p>
          </p:txBody>
        </p:sp>
        <p:sp>
          <p:nvSpPr>
            <p:cNvPr id="32780" name="Rectangle 12"/>
            <p:cNvSpPr>
              <a:spLocks noChangeArrowheads="1"/>
            </p:cNvSpPr>
            <p:nvPr/>
          </p:nvSpPr>
          <p:spPr bwMode="auto">
            <a:xfrm>
              <a:off x="2834" y="1099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10</a:t>
              </a:r>
            </a:p>
          </p:txBody>
        </p:sp>
        <p:sp>
          <p:nvSpPr>
            <p:cNvPr id="32781" name="Rectangle 13"/>
            <p:cNvSpPr>
              <a:spLocks noChangeArrowheads="1"/>
            </p:cNvSpPr>
            <p:nvPr/>
          </p:nvSpPr>
          <p:spPr bwMode="auto">
            <a:xfrm>
              <a:off x="1346" y="143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32782" name="Rectangle 14"/>
            <p:cNvSpPr>
              <a:spLocks noChangeArrowheads="1"/>
            </p:cNvSpPr>
            <p:nvPr/>
          </p:nvSpPr>
          <p:spPr bwMode="auto">
            <a:xfrm>
              <a:off x="1346" y="186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2783" name="Rectangle 15"/>
            <p:cNvSpPr>
              <a:spLocks noChangeArrowheads="1"/>
            </p:cNvSpPr>
            <p:nvPr/>
          </p:nvSpPr>
          <p:spPr bwMode="auto">
            <a:xfrm>
              <a:off x="1634" y="143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32784" name="Rectangle 16"/>
            <p:cNvSpPr>
              <a:spLocks noChangeArrowheads="1"/>
            </p:cNvSpPr>
            <p:nvPr/>
          </p:nvSpPr>
          <p:spPr bwMode="auto">
            <a:xfrm>
              <a:off x="2498" y="1489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2785" name="Rectangle 17"/>
            <p:cNvSpPr>
              <a:spLocks noChangeArrowheads="1"/>
            </p:cNvSpPr>
            <p:nvPr/>
          </p:nvSpPr>
          <p:spPr bwMode="auto">
            <a:xfrm>
              <a:off x="2066" y="186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32786" name="Rectangle 18"/>
            <p:cNvSpPr>
              <a:spLocks noChangeArrowheads="1"/>
            </p:cNvSpPr>
            <p:nvPr/>
          </p:nvSpPr>
          <p:spPr bwMode="auto">
            <a:xfrm>
              <a:off x="2930" y="186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2787" name="Rectangle 19"/>
            <p:cNvSpPr>
              <a:spLocks noChangeArrowheads="1"/>
            </p:cNvSpPr>
            <p:nvPr/>
          </p:nvSpPr>
          <p:spPr bwMode="auto">
            <a:xfrm>
              <a:off x="2066" y="143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32788" name="Rectangle 20"/>
            <p:cNvSpPr>
              <a:spLocks noChangeArrowheads="1"/>
            </p:cNvSpPr>
            <p:nvPr/>
          </p:nvSpPr>
          <p:spPr bwMode="auto">
            <a:xfrm>
              <a:off x="2930" y="143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>
              <a:off x="1634" y="186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>
              <a:off x="2498" y="186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32791" name="Rectangle 23"/>
            <p:cNvSpPr>
              <a:spLocks noChangeArrowheads="1"/>
            </p:cNvSpPr>
            <p:nvPr/>
          </p:nvSpPr>
          <p:spPr bwMode="auto">
            <a:xfrm>
              <a:off x="1010" y="1099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792" name="Rectangle 24"/>
            <p:cNvSpPr>
              <a:spLocks noChangeArrowheads="1"/>
            </p:cNvSpPr>
            <p:nvPr/>
          </p:nvSpPr>
          <p:spPr bwMode="auto">
            <a:xfrm>
              <a:off x="914" y="787"/>
              <a:ext cx="8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  <a:r>
                <a:rPr kumimoji="1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n+1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2797" name="Rectangle 29"/>
          <p:cNvSpPr>
            <a:spLocks noChangeArrowheads="1"/>
          </p:cNvSpPr>
          <p:nvPr/>
        </p:nvSpPr>
        <p:spPr bwMode="auto">
          <a:xfrm>
            <a:off x="155575" y="182563"/>
            <a:ext cx="25447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</a:p>
        </p:txBody>
      </p:sp>
      <p:graphicFrame>
        <p:nvGraphicFramePr>
          <p:cNvPr id="32800" name="Object 32"/>
          <p:cNvGraphicFramePr>
            <a:graphicFrameLocks noChangeAspect="1"/>
          </p:cNvGraphicFramePr>
          <p:nvPr/>
        </p:nvGraphicFramePr>
        <p:xfrm>
          <a:off x="3081338" y="4419600"/>
          <a:ext cx="29384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77570" imgH="160655" progId="Equation.3">
                  <p:embed/>
                </p:oleObj>
              </mc:Choice>
              <mc:Fallback>
                <p:oleObj r:id="rId3" imgW="877570" imgH="16065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81338" y="4419600"/>
                        <a:ext cx="2938462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802" name="Group 34"/>
          <p:cNvGrpSpPr/>
          <p:nvPr/>
        </p:nvGrpSpPr>
        <p:grpSpPr>
          <a:xfrm>
            <a:off x="3124200" y="2968625"/>
            <a:ext cx="3022600" cy="908050"/>
            <a:chOff x="1392" y="1902"/>
            <a:chExt cx="1904" cy="572"/>
          </a:xfrm>
        </p:grpSpPr>
        <p:sp>
          <p:nvSpPr>
            <p:cNvPr id="64520" name="Arc 35"/>
            <p:cNvSpPr/>
            <p:nvPr/>
          </p:nvSpPr>
          <p:spPr>
            <a:xfrm>
              <a:off x="1392" y="1950"/>
              <a:ext cx="464" cy="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2846" h="43200" fill="none">
                  <a:moveTo>
                    <a:pt x="1246" y="0"/>
                  </a:moveTo>
                  <a:cubicBezTo>
                    <a:pt x="13175" y="0"/>
                    <a:pt x="22846" y="9670"/>
                    <a:pt x="22846" y="21600"/>
                  </a:cubicBezTo>
                  <a:cubicBezTo>
                    <a:pt x="22846" y="33529"/>
                    <a:pt x="13175" y="43200"/>
                    <a:pt x="1246" y="43200"/>
                  </a:cubicBezTo>
                  <a:cubicBezTo>
                    <a:pt x="830" y="43200"/>
                    <a:pt x="414" y="43188"/>
                    <a:pt x="-1" y="43164"/>
                  </a:cubicBezTo>
                </a:path>
                <a:path w="22846" h="43200" stroke="0">
                  <a:moveTo>
                    <a:pt x="1246" y="0"/>
                  </a:moveTo>
                  <a:cubicBezTo>
                    <a:pt x="13175" y="0"/>
                    <a:pt x="22846" y="9670"/>
                    <a:pt x="22846" y="21600"/>
                  </a:cubicBezTo>
                  <a:cubicBezTo>
                    <a:pt x="22846" y="33529"/>
                    <a:pt x="13175" y="43200"/>
                    <a:pt x="1246" y="43200"/>
                  </a:cubicBezTo>
                  <a:cubicBezTo>
                    <a:pt x="830" y="43200"/>
                    <a:pt x="414" y="43188"/>
                    <a:pt x="-1" y="43164"/>
                  </a:cubicBezTo>
                  <a:lnTo>
                    <a:pt x="1246" y="21600"/>
                  </a:lnTo>
                  <a:lnTo>
                    <a:pt x="1246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1" name="Arc 36"/>
            <p:cNvSpPr/>
            <p:nvPr/>
          </p:nvSpPr>
          <p:spPr>
            <a:xfrm flipH="1">
              <a:off x="2832" y="1902"/>
              <a:ext cx="464" cy="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2846" h="43200" fill="none">
                  <a:moveTo>
                    <a:pt x="1246" y="0"/>
                  </a:moveTo>
                  <a:cubicBezTo>
                    <a:pt x="13175" y="0"/>
                    <a:pt x="22846" y="9670"/>
                    <a:pt x="22846" y="21600"/>
                  </a:cubicBezTo>
                  <a:cubicBezTo>
                    <a:pt x="22846" y="33529"/>
                    <a:pt x="13175" y="43200"/>
                    <a:pt x="1246" y="43200"/>
                  </a:cubicBezTo>
                  <a:cubicBezTo>
                    <a:pt x="830" y="43200"/>
                    <a:pt x="414" y="43188"/>
                    <a:pt x="-1" y="43164"/>
                  </a:cubicBezTo>
                </a:path>
                <a:path w="22846" h="43200" stroke="0">
                  <a:moveTo>
                    <a:pt x="1246" y="0"/>
                  </a:moveTo>
                  <a:cubicBezTo>
                    <a:pt x="13175" y="0"/>
                    <a:pt x="22846" y="9670"/>
                    <a:pt x="22846" y="21600"/>
                  </a:cubicBezTo>
                  <a:cubicBezTo>
                    <a:pt x="22846" y="33529"/>
                    <a:pt x="13175" y="43200"/>
                    <a:pt x="1246" y="43200"/>
                  </a:cubicBezTo>
                  <a:cubicBezTo>
                    <a:pt x="830" y="43200"/>
                    <a:pt x="414" y="43188"/>
                    <a:pt x="-1" y="43164"/>
                  </a:cubicBezTo>
                  <a:lnTo>
                    <a:pt x="1246" y="21600"/>
                  </a:lnTo>
                  <a:lnTo>
                    <a:pt x="1246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805" name="Oval 37"/>
          <p:cNvSpPr/>
          <p:nvPr/>
        </p:nvSpPr>
        <p:spPr>
          <a:xfrm>
            <a:off x="4572000" y="2359025"/>
            <a:ext cx="13716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7" grpId="0" animBg="1"/>
      <p:bldP spid="3280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22</a:t>
            </a:fld>
            <a:endParaRPr lang="en-US" altLang="zh-CN" sz="1400" dirty="0"/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173038" y="173038"/>
            <a:ext cx="17351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、优点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52400" y="917575"/>
            <a:ext cx="6076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有时钟信号，可以同步工作；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58750" y="1655763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没有约束条件；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152400" y="3200400"/>
            <a:ext cx="290671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、存在的问题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31763" y="3962400"/>
            <a:ext cx="3665538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存在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空翻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charset="0"/>
                <a:ea typeface="黑体" panose="02010609060101010101" pitchFamily="49" charset="-122"/>
                <a:cs typeface="+mn-cs"/>
              </a:rPr>
              <a:t>”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问题。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152400" y="2413000"/>
            <a:ext cx="36385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(3)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有两个输入端。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/>
      <p:bldP spid="33795" grpId="0" animBg="1"/>
      <p:bldP spid="33796" grpId="0" animBg="1"/>
      <p:bldP spid="33797" grpId="0" animBg="1"/>
      <p:bldP spid="33798" grpId="0" animBg="1"/>
      <p:bldP spid="337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23</a:t>
            </a:fld>
            <a:endParaRPr lang="en-US" altLang="zh-CN" sz="1400" dirty="0"/>
          </a:p>
        </p:txBody>
      </p:sp>
      <p:sp>
        <p:nvSpPr>
          <p:cNvPr id="207874" name="Rectangle 2"/>
          <p:cNvSpPr>
            <a:spLocks noChangeArrowheads="1"/>
          </p:cNvSpPr>
          <p:nvPr/>
        </p:nvSpPr>
        <p:spPr bwMode="auto">
          <a:xfrm>
            <a:off x="228600" y="1143000"/>
            <a:ext cx="231775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RS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75" name="Rectangle 3"/>
          <p:cNvSpPr>
            <a:spLocks noChangeArrowheads="1"/>
          </p:cNvSpPr>
          <p:nvPr/>
        </p:nvSpPr>
        <p:spPr bwMode="auto">
          <a:xfrm>
            <a:off x="228600" y="2452688"/>
            <a:ext cx="231775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钟控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RS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76" name="Rectangle 4"/>
          <p:cNvSpPr>
            <a:spLocks noChangeArrowheads="1"/>
          </p:cNvSpPr>
          <p:nvPr/>
        </p:nvSpPr>
        <p:spPr bwMode="auto">
          <a:xfrm>
            <a:off x="3810000" y="2452688"/>
            <a:ext cx="231775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主从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RS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3352800" y="3657600"/>
            <a:ext cx="152400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5867400" y="3671888"/>
            <a:ext cx="289560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维持阻塞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533400" y="4876800"/>
            <a:ext cx="167640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3124200" y="4876800"/>
            <a:ext cx="231775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主从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81" name="Rectangle 9"/>
          <p:cNvSpPr>
            <a:spLocks noChangeArrowheads="1"/>
          </p:cNvSpPr>
          <p:nvPr/>
        </p:nvSpPr>
        <p:spPr bwMode="auto">
          <a:xfrm>
            <a:off x="6673850" y="4876800"/>
            <a:ext cx="231775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边沿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JK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触发器</a:t>
            </a:r>
          </a:p>
        </p:txBody>
      </p:sp>
      <p:sp>
        <p:nvSpPr>
          <p:cNvPr id="207882" name="Rectangle 10"/>
          <p:cNvSpPr>
            <a:spLocks noChangeArrowheads="1"/>
          </p:cNvSpPr>
          <p:nvPr/>
        </p:nvSpPr>
        <p:spPr bwMode="auto">
          <a:xfrm>
            <a:off x="228600" y="228600"/>
            <a:ext cx="3551238" cy="5191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各触发器之间的关系</a:t>
            </a:r>
          </a:p>
        </p:txBody>
      </p:sp>
      <p:grpSp>
        <p:nvGrpSpPr>
          <p:cNvPr id="207883" name="Group 11"/>
          <p:cNvGrpSpPr/>
          <p:nvPr/>
        </p:nvGrpSpPr>
        <p:grpSpPr>
          <a:xfrm>
            <a:off x="700088" y="1662113"/>
            <a:ext cx="692150" cy="762000"/>
            <a:chOff x="441" y="1440"/>
            <a:chExt cx="436" cy="480"/>
          </a:xfrm>
        </p:grpSpPr>
        <p:sp>
          <p:nvSpPr>
            <p:cNvPr id="103455" name="Line 12"/>
            <p:cNvSpPr/>
            <p:nvPr/>
          </p:nvSpPr>
          <p:spPr>
            <a:xfrm>
              <a:off x="864" y="1440"/>
              <a:ext cx="0" cy="480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885" name="Rectangle 13"/>
            <p:cNvSpPr>
              <a:spLocks noChangeArrowheads="1"/>
            </p:cNvSpPr>
            <p:nvPr/>
          </p:nvSpPr>
          <p:spPr bwMode="auto">
            <a:xfrm>
              <a:off x="441" y="1536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同步</a:t>
              </a:r>
            </a:p>
          </p:txBody>
        </p:sp>
      </p:grpSp>
      <p:grpSp>
        <p:nvGrpSpPr>
          <p:cNvPr id="207886" name="Group 14"/>
          <p:cNvGrpSpPr/>
          <p:nvPr/>
        </p:nvGrpSpPr>
        <p:grpSpPr>
          <a:xfrm>
            <a:off x="425450" y="2957513"/>
            <a:ext cx="946150" cy="1905000"/>
            <a:chOff x="268" y="2256"/>
            <a:chExt cx="596" cy="1200"/>
          </a:xfrm>
        </p:grpSpPr>
        <p:sp>
          <p:nvSpPr>
            <p:cNvPr id="103453" name="Line 15"/>
            <p:cNvSpPr/>
            <p:nvPr/>
          </p:nvSpPr>
          <p:spPr>
            <a:xfrm>
              <a:off x="864" y="2256"/>
              <a:ext cx="0" cy="1200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888" name="Rectangle 16"/>
            <p:cNvSpPr>
              <a:spLocks noChangeArrowheads="1"/>
            </p:cNvSpPr>
            <p:nvPr/>
          </p:nvSpPr>
          <p:spPr bwMode="auto">
            <a:xfrm>
              <a:off x="268" y="2544"/>
              <a:ext cx="5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去除约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束条件</a:t>
              </a:r>
            </a:p>
          </p:txBody>
        </p:sp>
      </p:grpSp>
      <p:grpSp>
        <p:nvGrpSpPr>
          <p:cNvPr id="207889" name="Group 17"/>
          <p:cNvGrpSpPr/>
          <p:nvPr/>
        </p:nvGrpSpPr>
        <p:grpSpPr>
          <a:xfrm>
            <a:off x="1371600" y="2957513"/>
            <a:ext cx="1981200" cy="990600"/>
            <a:chOff x="864" y="2256"/>
            <a:chExt cx="1248" cy="624"/>
          </a:xfrm>
        </p:grpSpPr>
        <p:sp>
          <p:nvSpPr>
            <p:cNvPr id="103451" name="Line 18"/>
            <p:cNvSpPr/>
            <p:nvPr/>
          </p:nvSpPr>
          <p:spPr>
            <a:xfrm>
              <a:off x="864" y="2256"/>
              <a:ext cx="1248" cy="624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891" name="Rectangle 19"/>
            <p:cNvSpPr>
              <a:spLocks noChangeArrowheads="1"/>
            </p:cNvSpPr>
            <p:nvPr/>
          </p:nvSpPr>
          <p:spPr bwMode="auto">
            <a:xfrm>
              <a:off x="1132" y="2352"/>
              <a:ext cx="5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去除约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束条件</a:t>
              </a:r>
            </a:p>
          </p:txBody>
        </p:sp>
      </p:grpSp>
      <p:grpSp>
        <p:nvGrpSpPr>
          <p:cNvPr id="207892" name="Group 20"/>
          <p:cNvGrpSpPr/>
          <p:nvPr/>
        </p:nvGrpSpPr>
        <p:grpSpPr>
          <a:xfrm>
            <a:off x="2528888" y="2271713"/>
            <a:ext cx="1295400" cy="457200"/>
            <a:chOff x="1593" y="1824"/>
            <a:chExt cx="816" cy="288"/>
          </a:xfrm>
        </p:grpSpPr>
        <p:sp>
          <p:nvSpPr>
            <p:cNvPr id="103449" name="Line 21"/>
            <p:cNvSpPr/>
            <p:nvPr/>
          </p:nvSpPr>
          <p:spPr>
            <a:xfrm>
              <a:off x="1593" y="2112"/>
              <a:ext cx="816" cy="0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894" name="Rectangle 22"/>
            <p:cNvSpPr>
              <a:spLocks noChangeArrowheads="1"/>
            </p:cNvSpPr>
            <p:nvPr/>
          </p:nvSpPr>
          <p:spPr bwMode="auto">
            <a:xfrm>
              <a:off x="1724" y="182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空翻</a:t>
              </a:r>
            </a:p>
          </p:txBody>
        </p:sp>
      </p:grpSp>
      <p:grpSp>
        <p:nvGrpSpPr>
          <p:cNvPr id="207895" name="Group 23"/>
          <p:cNvGrpSpPr/>
          <p:nvPr/>
        </p:nvGrpSpPr>
        <p:grpSpPr>
          <a:xfrm>
            <a:off x="2209800" y="4710113"/>
            <a:ext cx="914400" cy="457200"/>
            <a:chOff x="1392" y="3360"/>
            <a:chExt cx="576" cy="288"/>
          </a:xfrm>
        </p:grpSpPr>
        <p:sp>
          <p:nvSpPr>
            <p:cNvPr id="103447" name="Line 24"/>
            <p:cNvSpPr/>
            <p:nvPr/>
          </p:nvSpPr>
          <p:spPr>
            <a:xfrm>
              <a:off x="1392" y="3648"/>
              <a:ext cx="576" cy="0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897" name="Rectangle 25"/>
            <p:cNvSpPr>
              <a:spLocks noChangeArrowheads="1"/>
            </p:cNvSpPr>
            <p:nvPr/>
          </p:nvSpPr>
          <p:spPr bwMode="auto">
            <a:xfrm>
              <a:off x="1418" y="336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空翻</a:t>
              </a:r>
            </a:p>
          </p:txBody>
        </p:sp>
      </p:grpSp>
      <p:grpSp>
        <p:nvGrpSpPr>
          <p:cNvPr id="207898" name="Group 26"/>
          <p:cNvGrpSpPr/>
          <p:nvPr/>
        </p:nvGrpSpPr>
        <p:grpSpPr>
          <a:xfrm>
            <a:off x="4876800" y="3490913"/>
            <a:ext cx="990600" cy="457200"/>
            <a:chOff x="3072" y="2592"/>
            <a:chExt cx="624" cy="288"/>
          </a:xfrm>
        </p:grpSpPr>
        <p:sp>
          <p:nvSpPr>
            <p:cNvPr id="103445" name="Line 27"/>
            <p:cNvSpPr/>
            <p:nvPr/>
          </p:nvSpPr>
          <p:spPr>
            <a:xfrm>
              <a:off x="3072" y="2880"/>
              <a:ext cx="624" cy="0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900" name="Rectangle 28"/>
            <p:cNvSpPr>
              <a:spLocks noChangeArrowheads="1"/>
            </p:cNvSpPr>
            <p:nvPr/>
          </p:nvSpPr>
          <p:spPr bwMode="auto">
            <a:xfrm>
              <a:off x="3146" y="259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空翻</a:t>
              </a:r>
            </a:p>
          </p:txBody>
        </p:sp>
      </p:grpSp>
      <p:grpSp>
        <p:nvGrpSpPr>
          <p:cNvPr id="207901" name="Group 29"/>
          <p:cNvGrpSpPr/>
          <p:nvPr/>
        </p:nvGrpSpPr>
        <p:grpSpPr>
          <a:xfrm>
            <a:off x="5438775" y="4724400"/>
            <a:ext cx="1219200" cy="823913"/>
            <a:chOff x="3426" y="3369"/>
            <a:chExt cx="768" cy="519"/>
          </a:xfrm>
        </p:grpSpPr>
        <p:sp>
          <p:nvSpPr>
            <p:cNvPr id="103443" name="Line 30"/>
            <p:cNvSpPr/>
            <p:nvPr/>
          </p:nvSpPr>
          <p:spPr>
            <a:xfrm>
              <a:off x="3426" y="3648"/>
              <a:ext cx="768" cy="0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903" name="Rectangle 31"/>
            <p:cNvSpPr>
              <a:spLocks noChangeArrowheads="1"/>
            </p:cNvSpPr>
            <p:nvPr/>
          </p:nvSpPr>
          <p:spPr bwMode="auto">
            <a:xfrm>
              <a:off x="3456" y="3369"/>
              <a:ext cx="596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一次变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化问题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nimBg="1"/>
      <p:bldP spid="207875" grpId="0" animBg="1"/>
      <p:bldP spid="207876" grpId="0" animBg="1"/>
      <p:bldP spid="207877" grpId="0" animBg="1"/>
      <p:bldP spid="207878" grpId="0" animBg="1"/>
      <p:bldP spid="207879" grpId="0" animBg="1"/>
      <p:bldP spid="207880" grpId="0" animBg="1"/>
      <p:bldP spid="207881" grpId="0" animBg="1"/>
      <p:bldP spid="20788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24</a:t>
            </a:fld>
            <a:endParaRPr lang="en-US" altLang="zh-CN" sz="1400" dirty="0"/>
          </a:p>
        </p:txBody>
      </p:sp>
      <p:sp>
        <p:nvSpPr>
          <p:cNvPr id="209922" name="Rectangle 2"/>
          <p:cNvSpPr/>
          <p:nvPr/>
        </p:nvSpPr>
        <p:spPr>
          <a:xfrm>
            <a:off x="2286000" y="193675"/>
            <a:ext cx="4495800" cy="762000"/>
          </a:xfrm>
          <a:prstGeom prst="rect">
            <a:avLst/>
          </a:prstGeom>
          <a:solidFill>
            <a:srgbClr val="FF99FF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集成触发器</a:t>
            </a: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171450" y="1993900"/>
            <a:ext cx="25288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、逻辑符号</a:t>
            </a:r>
          </a:p>
        </p:txBody>
      </p:sp>
      <p:sp>
        <p:nvSpPr>
          <p:cNvPr id="209924" name="Rectangle 4"/>
          <p:cNvSpPr/>
          <p:nvPr/>
        </p:nvSpPr>
        <p:spPr>
          <a:xfrm>
            <a:off x="152400" y="1108075"/>
            <a:ext cx="4635500" cy="7016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5.4.1 </a:t>
            </a:r>
            <a:r>
              <a:rPr lang="zh-CN" altLang="en-US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</a:t>
            </a:r>
            <a:r>
              <a:rPr lang="en-US" altLang="zh-CN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4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grpSp>
        <p:nvGrpSpPr>
          <p:cNvPr id="209925" name="Group 5"/>
          <p:cNvGrpSpPr/>
          <p:nvPr/>
        </p:nvGrpSpPr>
        <p:grpSpPr>
          <a:xfrm>
            <a:off x="4953000" y="1571625"/>
            <a:ext cx="3200400" cy="3076575"/>
            <a:chOff x="3120" y="990"/>
            <a:chExt cx="2016" cy="1938"/>
          </a:xfrm>
        </p:grpSpPr>
        <p:sp>
          <p:nvSpPr>
            <p:cNvPr id="105499" name="Rectangle 6"/>
            <p:cNvSpPr/>
            <p:nvPr/>
          </p:nvSpPr>
          <p:spPr>
            <a:xfrm>
              <a:off x="3888" y="1232"/>
              <a:ext cx="960" cy="145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05500" name="Line 7"/>
            <p:cNvSpPr/>
            <p:nvPr/>
          </p:nvSpPr>
          <p:spPr>
            <a:xfrm>
              <a:off x="3888" y="1765"/>
              <a:ext cx="192" cy="14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1" name="Line 8"/>
            <p:cNvSpPr/>
            <p:nvPr/>
          </p:nvSpPr>
          <p:spPr>
            <a:xfrm flipV="1">
              <a:off x="3888" y="1911"/>
              <a:ext cx="192" cy="14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2" name="Oval 9"/>
            <p:cNvSpPr/>
            <p:nvPr/>
          </p:nvSpPr>
          <p:spPr>
            <a:xfrm>
              <a:off x="4320" y="2686"/>
              <a:ext cx="96" cy="9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05503" name="Oval 10"/>
            <p:cNvSpPr/>
            <p:nvPr/>
          </p:nvSpPr>
          <p:spPr>
            <a:xfrm>
              <a:off x="4320" y="1135"/>
              <a:ext cx="96" cy="9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05504" name="Line 11"/>
            <p:cNvSpPr/>
            <p:nvPr/>
          </p:nvSpPr>
          <p:spPr>
            <a:xfrm flipV="1">
              <a:off x="4368" y="990"/>
              <a:ext cx="0" cy="14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5" name="Line 12"/>
            <p:cNvSpPr/>
            <p:nvPr/>
          </p:nvSpPr>
          <p:spPr>
            <a:xfrm>
              <a:off x="4368" y="2783"/>
              <a:ext cx="0" cy="14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6" name="Line 13"/>
            <p:cNvSpPr/>
            <p:nvPr/>
          </p:nvSpPr>
          <p:spPr>
            <a:xfrm>
              <a:off x="4848" y="1475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7" name="Line 14"/>
            <p:cNvSpPr/>
            <p:nvPr/>
          </p:nvSpPr>
          <p:spPr>
            <a:xfrm>
              <a:off x="4944" y="2365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8" name="Line 15"/>
            <p:cNvSpPr/>
            <p:nvPr/>
          </p:nvSpPr>
          <p:spPr>
            <a:xfrm flipH="1">
              <a:off x="3504" y="191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09" name="Line 16"/>
            <p:cNvSpPr/>
            <p:nvPr/>
          </p:nvSpPr>
          <p:spPr>
            <a:xfrm flipH="1">
              <a:off x="3648" y="1475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9937" name="Rectangle 17"/>
            <p:cNvSpPr>
              <a:spLocks noChangeArrowheads="1"/>
            </p:cNvSpPr>
            <p:nvPr/>
          </p:nvSpPr>
          <p:spPr bwMode="auto">
            <a:xfrm>
              <a:off x="3888" y="127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209938" name="Rectangle 18"/>
            <p:cNvSpPr>
              <a:spLocks noChangeArrowheads="1"/>
            </p:cNvSpPr>
            <p:nvPr/>
          </p:nvSpPr>
          <p:spPr bwMode="auto">
            <a:xfrm>
              <a:off x="4512" y="127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09939" name="Rectangle 19"/>
            <p:cNvSpPr>
              <a:spLocks noChangeArrowheads="1"/>
            </p:cNvSpPr>
            <p:nvPr/>
          </p:nvSpPr>
          <p:spPr bwMode="auto">
            <a:xfrm>
              <a:off x="4512" y="219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09940" name="Rectangle 20"/>
            <p:cNvSpPr>
              <a:spLocks noChangeArrowheads="1"/>
            </p:cNvSpPr>
            <p:nvPr/>
          </p:nvSpPr>
          <p:spPr bwMode="auto">
            <a:xfrm>
              <a:off x="3120" y="1765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209941" name="Rectangle 21"/>
            <p:cNvSpPr>
              <a:spLocks noChangeArrowheads="1"/>
            </p:cNvSpPr>
            <p:nvPr/>
          </p:nvSpPr>
          <p:spPr bwMode="auto">
            <a:xfrm>
              <a:off x="4224" y="1248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515" name="Line 22"/>
            <p:cNvSpPr/>
            <p:nvPr/>
          </p:nvSpPr>
          <p:spPr>
            <a:xfrm>
              <a:off x="4272" y="129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9943" name="Rectangle 23"/>
            <p:cNvSpPr>
              <a:spLocks noChangeArrowheads="1"/>
            </p:cNvSpPr>
            <p:nvPr/>
          </p:nvSpPr>
          <p:spPr bwMode="auto">
            <a:xfrm>
              <a:off x="4176" y="2292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105517" name="Line 24"/>
            <p:cNvSpPr/>
            <p:nvPr/>
          </p:nvSpPr>
          <p:spPr>
            <a:xfrm>
              <a:off x="4224" y="234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18" name="Line 25"/>
            <p:cNvSpPr/>
            <p:nvPr/>
          </p:nvSpPr>
          <p:spPr>
            <a:xfrm>
              <a:off x="4560" y="225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19" name="Oval 26"/>
            <p:cNvSpPr/>
            <p:nvPr/>
          </p:nvSpPr>
          <p:spPr>
            <a:xfrm>
              <a:off x="4848" y="2316"/>
              <a:ext cx="96" cy="9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209947" name="Rectangle 27"/>
          <p:cNvSpPr>
            <a:spLocks noChangeArrowheads="1"/>
          </p:cNvSpPr>
          <p:nvPr/>
        </p:nvSpPr>
        <p:spPr bwMode="auto">
          <a:xfrm>
            <a:off x="169863" y="2773363"/>
            <a:ext cx="25304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</a:p>
        </p:txBody>
      </p:sp>
      <p:sp>
        <p:nvSpPr>
          <p:cNvPr id="209948" name="Rectangle 28"/>
          <p:cNvSpPr>
            <a:spLocks noChangeArrowheads="1"/>
          </p:cNvSpPr>
          <p:nvPr/>
        </p:nvSpPr>
        <p:spPr bwMode="auto">
          <a:xfrm>
            <a:off x="171450" y="3459163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同步工作时</a:t>
            </a:r>
          </a:p>
        </p:txBody>
      </p:sp>
      <p:grpSp>
        <p:nvGrpSpPr>
          <p:cNvPr id="209949" name="Group 29"/>
          <p:cNvGrpSpPr/>
          <p:nvPr/>
        </p:nvGrpSpPr>
        <p:grpSpPr>
          <a:xfrm>
            <a:off x="1143000" y="4038600"/>
            <a:ext cx="4267200" cy="1165225"/>
            <a:chOff x="720" y="2544"/>
            <a:chExt cx="2688" cy="734"/>
          </a:xfrm>
        </p:grpSpPr>
        <p:sp>
          <p:nvSpPr>
            <p:cNvPr id="105488" name="Line 30"/>
            <p:cNvSpPr/>
            <p:nvPr/>
          </p:nvSpPr>
          <p:spPr>
            <a:xfrm>
              <a:off x="2503" y="2832"/>
              <a:ext cx="2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89" name="Line 31"/>
            <p:cNvSpPr/>
            <p:nvPr/>
          </p:nvSpPr>
          <p:spPr>
            <a:xfrm>
              <a:off x="2794" y="2832"/>
              <a:ext cx="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0" name="Line 32"/>
            <p:cNvSpPr/>
            <p:nvPr/>
          </p:nvSpPr>
          <p:spPr>
            <a:xfrm flipV="1">
              <a:off x="2794" y="2638"/>
              <a:ext cx="0" cy="1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491" name="Line 33"/>
            <p:cNvSpPr/>
            <p:nvPr/>
          </p:nvSpPr>
          <p:spPr>
            <a:xfrm>
              <a:off x="2794" y="2638"/>
              <a:ext cx="24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2" name="Line 34"/>
            <p:cNvSpPr/>
            <p:nvPr/>
          </p:nvSpPr>
          <p:spPr>
            <a:xfrm>
              <a:off x="3036" y="2638"/>
              <a:ext cx="0" cy="1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3" name="Line 35"/>
            <p:cNvSpPr/>
            <p:nvPr/>
          </p:nvSpPr>
          <p:spPr>
            <a:xfrm>
              <a:off x="3036" y="2832"/>
              <a:ext cx="1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9956" name="Rectangle 36"/>
            <p:cNvSpPr>
              <a:spLocks noChangeArrowheads="1"/>
            </p:cNvSpPr>
            <p:nvPr/>
          </p:nvSpPr>
          <p:spPr bwMode="auto">
            <a:xfrm>
              <a:off x="1960" y="2913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约束条件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graphicFrame>
          <p:nvGraphicFramePr>
            <p:cNvPr id="105495" name="Object 37"/>
            <p:cNvGraphicFramePr>
              <a:graphicFrameLocks noChangeAspect="1"/>
            </p:cNvGraphicFramePr>
            <p:nvPr/>
          </p:nvGraphicFramePr>
          <p:xfrm>
            <a:off x="828" y="2592"/>
            <a:ext cx="94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31800" imgH="139065" progId="Equation.3">
                    <p:embed/>
                  </p:oleObj>
                </mc:Choice>
                <mc:Fallback>
                  <p:oleObj r:id="rId3" imgW="431800" imgH="13906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28" y="2592"/>
                          <a:ext cx="945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96" name="Object 38"/>
            <p:cNvGraphicFramePr>
              <a:graphicFrameLocks noChangeAspect="1"/>
            </p:cNvGraphicFramePr>
            <p:nvPr/>
          </p:nvGraphicFramePr>
          <p:xfrm>
            <a:off x="834" y="2928"/>
            <a:ext cx="1142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26415" imgH="131445" progId="Equation.3">
                    <p:embed/>
                  </p:oleObj>
                </mc:Choice>
                <mc:Fallback>
                  <p:oleObj r:id="rId5" imgW="526415" imgH="131445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4" y="2928"/>
                          <a:ext cx="1142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59" name="Rectangle 39"/>
            <p:cNvSpPr>
              <a:spLocks noChangeArrowheads="1"/>
            </p:cNvSpPr>
            <p:nvPr/>
          </p:nvSpPr>
          <p:spPr bwMode="auto">
            <a:xfrm>
              <a:off x="1884" y="2544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(CP       )</a:t>
              </a:r>
            </a:p>
          </p:txBody>
        </p:sp>
        <p:sp>
          <p:nvSpPr>
            <p:cNvPr id="105498" name="AutoShape 40"/>
            <p:cNvSpPr/>
            <p:nvPr/>
          </p:nvSpPr>
          <p:spPr>
            <a:xfrm>
              <a:off x="720" y="2699"/>
              <a:ext cx="48" cy="48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209961" name="Rectangle 41"/>
          <p:cNvSpPr>
            <a:spLocks noChangeArrowheads="1"/>
          </p:cNvSpPr>
          <p:nvPr/>
        </p:nvSpPr>
        <p:spPr bwMode="auto">
          <a:xfrm>
            <a:off x="169863" y="51816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异步工作时</a:t>
            </a:r>
          </a:p>
        </p:txBody>
      </p:sp>
      <p:grpSp>
        <p:nvGrpSpPr>
          <p:cNvPr id="209962" name="Group 42"/>
          <p:cNvGrpSpPr/>
          <p:nvPr/>
        </p:nvGrpSpPr>
        <p:grpSpPr>
          <a:xfrm>
            <a:off x="3276600" y="5300663"/>
            <a:ext cx="4478338" cy="1100137"/>
            <a:chOff x="2208" y="3235"/>
            <a:chExt cx="2821" cy="693"/>
          </a:xfrm>
        </p:grpSpPr>
        <p:sp>
          <p:nvSpPr>
            <p:cNvPr id="105484" name="AutoShape 43"/>
            <p:cNvSpPr/>
            <p:nvPr/>
          </p:nvSpPr>
          <p:spPr>
            <a:xfrm>
              <a:off x="2208" y="3408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09964" name="Rectangle 44"/>
            <p:cNvSpPr>
              <a:spLocks noChangeArrowheads="1"/>
            </p:cNvSpPr>
            <p:nvPr/>
          </p:nvSpPr>
          <p:spPr bwMode="auto">
            <a:xfrm>
              <a:off x="3633" y="3563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约束条件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graphicFrame>
          <p:nvGraphicFramePr>
            <p:cNvPr id="105486" name="Object 45"/>
            <p:cNvGraphicFramePr>
              <a:graphicFrameLocks noChangeAspect="1"/>
            </p:cNvGraphicFramePr>
            <p:nvPr/>
          </p:nvGraphicFramePr>
          <p:xfrm>
            <a:off x="2337" y="3235"/>
            <a:ext cx="1831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70585" imgH="146050" progId="Equation.3">
                    <p:embed/>
                  </p:oleObj>
                </mc:Choice>
                <mc:Fallback>
                  <p:oleObj r:id="rId7" imgW="870585" imgH="14605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37" y="3235"/>
                          <a:ext cx="1831" cy="3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87" name="Object 46"/>
            <p:cNvGraphicFramePr>
              <a:graphicFrameLocks noChangeAspect="1"/>
            </p:cNvGraphicFramePr>
            <p:nvPr/>
          </p:nvGraphicFramePr>
          <p:xfrm>
            <a:off x="2337" y="3600"/>
            <a:ext cx="1241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77850" imgH="131445" progId="Equation.3">
                    <p:embed/>
                  </p:oleObj>
                </mc:Choice>
                <mc:Fallback>
                  <p:oleObj r:id="rId9" imgW="577850" imgH="13144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37" y="3600"/>
                          <a:ext cx="1241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animBg="1"/>
      <p:bldP spid="209923" grpId="0" animBg="1"/>
      <p:bldP spid="209924" grpId="0" animBg="1"/>
      <p:bldP spid="209947" grpId="0" animBg="1"/>
      <p:bldP spid="209948" grpId="0"/>
      <p:bldP spid="20996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  <a:t>25</a:t>
            </a:fld>
            <a:endParaRPr lang="en-US" altLang="zh-CN" sz="1400" dirty="0"/>
          </a:p>
        </p:txBody>
      </p:sp>
      <p:sp>
        <p:nvSpPr>
          <p:cNvPr id="214018" name="Rectangle 2"/>
          <p:cNvSpPr/>
          <p:nvPr/>
        </p:nvSpPr>
        <p:spPr>
          <a:xfrm>
            <a:off x="152400" y="152400"/>
            <a:ext cx="5486400" cy="7620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b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5.4.2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集成</a:t>
            </a: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JK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</a:p>
        </p:txBody>
      </p:sp>
      <p:sp>
        <p:nvSpPr>
          <p:cNvPr id="214019" name="Rectangle 3"/>
          <p:cNvSpPr>
            <a:spLocks noChangeArrowheads="1"/>
          </p:cNvSpPr>
          <p:nvPr/>
        </p:nvSpPr>
        <p:spPr bwMode="auto">
          <a:xfrm>
            <a:off x="179388" y="1120775"/>
            <a:ext cx="2428875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、逻辑符号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171450" y="1858963"/>
            <a:ext cx="24558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、特征方程</a:t>
            </a:r>
          </a:p>
        </p:txBody>
      </p:sp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152400" y="2590800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同步工作时</a:t>
            </a:r>
          </a:p>
        </p:txBody>
      </p:sp>
      <p:grpSp>
        <p:nvGrpSpPr>
          <p:cNvPr id="214022" name="Group 6"/>
          <p:cNvGrpSpPr/>
          <p:nvPr/>
        </p:nvGrpSpPr>
        <p:grpSpPr>
          <a:xfrm>
            <a:off x="5181600" y="609600"/>
            <a:ext cx="3429000" cy="3048000"/>
            <a:chOff x="3168" y="678"/>
            <a:chExt cx="2160" cy="1920"/>
          </a:xfrm>
        </p:grpSpPr>
        <p:sp>
          <p:nvSpPr>
            <p:cNvPr id="109594" name="Rectangle 7"/>
            <p:cNvSpPr/>
            <p:nvPr/>
          </p:nvSpPr>
          <p:spPr>
            <a:xfrm>
              <a:off x="4080" y="918"/>
              <a:ext cx="960" cy="144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09595" name="Line 8"/>
            <p:cNvSpPr/>
            <p:nvPr/>
          </p:nvSpPr>
          <p:spPr>
            <a:xfrm>
              <a:off x="4080" y="1446"/>
              <a:ext cx="192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96" name="Line 9"/>
            <p:cNvSpPr/>
            <p:nvPr/>
          </p:nvSpPr>
          <p:spPr>
            <a:xfrm flipV="1">
              <a:off x="4080" y="1590"/>
              <a:ext cx="192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97" name="Oval 10"/>
            <p:cNvSpPr/>
            <p:nvPr/>
          </p:nvSpPr>
          <p:spPr>
            <a:xfrm>
              <a:off x="4512" y="2358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09598" name="Oval 11"/>
            <p:cNvSpPr/>
            <p:nvPr/>
          </p:nvSpPr>
          <p:spPr>
            <a:xfrm>
              <a:off x="4512" y="822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09599" name="Line 12"/>
            <p:cNvSpPr/>
            <p:nvPr/>
          </p:nvSpPr>
          <p:spPr>
            <a:xfrm flipV="1">
              <a:off x="4560" y="67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00" name="Line 13"/>
            <p:cNvSpPr/>
            <p:nvPr/>
          </p:nvSpPr>
          <p:spPr>
            <a:xfrm>
              <a:off x="4560" y="245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01" name="Line 14"/>
            <p:cNvSpPr/>
            <p:nvPr/>
          </p:nvSpPr>
          <p:spPr>
            <a:xfrm>
              <a:off x="5040" y="115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02" name="Line 15"/>
            <p:cNvSpPr/>
            <p:nvPr/>
          </p:nvSpPr>
          <p:spPr>
            <a:xfrm>
              <a:off x="5136" y="207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03" name="Line 16"/>
            <p:cNvSpPr/>
            <p:nvPr/>
          </p:nvSpPr>
          <p:spPr>
            <a:xfrm flipH="1">
              <a:off x="3600" y="1590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04" name="Line 17"/>
            <p:cNvSpPr/>
            <p:nvPr/>
          </p:nvSpPr>
          <p:spPr>
            <a:xfrm flipH="1">
              <a:off x="3840" y="115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4034" name="Rectangle 18"/>
            <p:cNvSpPr>
              <a:spLocks noChangeArrowheads="1"/>
            </p:cNvSpPr>
            <p:nvPr/>
          </p:nvSpPr>
          <p:spPr bwMode="auto">
            <a:xfrm>
              <a:off x="4080" y="9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J</a:t>
              </a:r>
            </a:p>
          </p:txBody>
        </p:sp>
        <p:sp>
          <p:nvSpPr>
            <p:cNvPr id="214035" name="Rectangle 19"/>
            <p:cNvSpPr>
              <a:spLocks noChangeArrowheads="1"/>
            </p:cNvSpPr>
            <p:nvPr/>
          </p:nvSpPr>
          <p:spPr bwMode="auto">
            <a:xfrm>
              <a:off x="4752" y="96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14036" name="Rectangle 20"/>
            <p:cNvSpPr>
              <a:spLocks noChangeArrowheads="1"/>
            </p:cNvSpPr>
            <p:nvPr/>
          </p:nvSpPr>
          <p:spPr bwMode="auto">
            <a:xfrm>
              <a:off x="4752" y="187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Q</a:t>
              </a:r>
            </a:p>
          </p:txBody>
        </p:sp>
        <p:sp>
          <p:nvSpPr>
            <p:cNvPr id="214037" name="Rectangle 21"/>
            <p:cNvSpPr>
              <a:spLocks noChangeArrowheads="1"/>
            </p:cNvSpPr>
            <p:nvPr/>
          </p:nvSpPr>
          <p:spPr bwMode="auto">
            <a:xfrm>
              <a:off x="3168" y="1446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</a:t>
              </a:r>
            </a:p>
          </p:txBody>
        </p:sp>
        <p:sp>
          <p:nvSpPr>
            <p:cNvPr id="214038" name="Rectangle 22"/>
            <p:cNvSpPr>
              <a:spLocks noChangeArrowheads="1"/>
            </p:cNvSpPr>
            <p:nvPr/>
          </p:nvSpPr>
          <p:spPr bwMode="auto">
            <a:xfrm>
              <a:off x="4368" y="966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  <a:endPara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9610" name="Line 23"/>
            <p:cNvSpPr/>
            <p:nvPr/>
          </p:nvSpPr>
          <p:spPr>
            <a:xfrm>
              <a:off x="4416" y="101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4040" name="Rectangle 24"/>
            <p:cNvSpPr>
              <a:spLocks noChangeArrowheads="1"/>
            </p:cNvSpPr>
            <p:nvPr/>
          </p:nvSpPr>
          <p:spPr bwMode="auto">
            <a:xfrm>
              <a:off x="4368" y="196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D</a:t>
              </a:r>
            </a:p>
          </p:txBody>
        </p:sp>
        <p:sp>
          <p:nvSpPr>
            <p:cNvPr id="109612" name="Line 25"/>
            <p:cNvSpPr/>
            <p:nvPr/>
          </p:nvSpPr>
          <p:spPr>
            <a:xfrm>
              <a:off x="4416" y="202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13" name="Oval 26"/>
            <p:cNvSpPr/>
            <p:nvPr/>
          </p:nvSpPr>
          <p:spPr>
            <a:xfrm>
              <a:off x="3984" y="1542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14043" name="Rectangle 27"/>
            <p:cNvSpPr>
              <a:spLocks noChangeArrowheads="1"/>
            </p:cNvSpPr>
            <p:nvPr/>
          </p:nvSpPr>
          <p:spPr bwMode="auto">
            <a:xfrm>
              <a:off x="4080" y="19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K</a:t>
              </a:r>
            </a:p>
          </p:txBody>
        </p:sp>
        <p:sp>
          <p:nvSpPr>
            <p:cNvPr id="109615" name="Line 28"/>
            <p:cNvSpPr/>
            <p:nvPr/>
          </p:nvSpPr>
          <p:spPr>
            <a:xfrm flipH="1">
              <a:off x="3840" y="211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16" name="Line 29"/>
            <p:cNvSpPr/>
            <p:nvPr/>
          </p:nvSpPr>
          <p:spPr>
            <a:xfrm>
              <a:off x="4800" y="193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617" name="Oval 30"/>
            <p:cNvSpPr/>
            <p:nvPr/>
          </p:nvSpPr>
          <p:spPr>
            <a:xfrm>
              <a:off x="5040" y="2022"/>
              <a:ext cx="96" cy="9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214047" name="Group 31"/>
          <p:cNvGrpSpPr/>
          <p:nvPr/>
        </p:nvGrpSpPr>
        <p:grpSpPr>
          <a:xfrm>
            <a:off x="831850" y="3200400"/>
            <a:ext cx="6483350" cy="1219200"/>
            <a:chOff x="432" y="2832"/>
            <a:chExt cx="4084" cy="768"/>
          </a:xfrm>
        </p:grpSpPr>
        <p:sp>
          <p:nvSpPr>
            <p:cNvPr id="109583" name="Line 32"/>
            <p:cNvSpPr/>
            <p:nvPr/>
          </p:nvSpPr>
          <p:spPr>
            <a:xfrm>
              <a:off x="3264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9584" name="Line 33"/>
            <p:cNvSpPr/>
            <p:nvPr/>
          </p:nvSpPr>
          <p:spPr>
            <a:xfrm>
              <a:off x="3264" y="3120"/>
              <a:ext cx="1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85" name="Line 34"/>
            <p:cNvSpPr/>
            <p:nvPr/>
          </p:nvSpPr>
          <p:spPr>
            <a:xfrm flipV="1">
              <a:off x="3458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86" name="Line 35"/>
            <p:cNvSpPr/>
            <p:nvPr/>
          </p:nvSpPr>
          <p:spPr>
            <a:xfrm>
              <a:off x="3070" y="2928"/>
              <a:ext cx="1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87" name="Line 36"/>
            <p:cNvSpPr/>
            <p:nvPr/>
          </p:nvSpPr>
          <p:spPr>
            <a:xfrm>
              <a:off x="3264" y="2928"/>
              <a:ext cx="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9588" name="Line 37"/>
            <p:cNvSpPr/>
            <p:nvPr/>
          </p:nvSpPr>
          <p:spPr>
            <a:xfrm>
              <a:off x="3458" y="2928"/>
              <a:ext cx="1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4054" name="Rectangle 38"/>
            <p:cNvSpPr>
              <a:spLocks noChangeArrowheads="1"/>
            </p:cNvSpPr>
            <p:nvPr/>
          </p:nvSpPr>
          <p:spPr bwMode="auto">
            <a:xfrm>
              <a:off x="2352" y="2832"/>
              <a:ext cx="21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（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CP     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）    </a:t>
              </a:r>
            </a:p>
          </p:txBody>
        </p:sp>
        <p:sp>
          <p:nvSpPr>
            <p:cNvPr id="214055" name="Rectangle 39"/>
            <p:cNvSpPr>
              <a:spLocks noChangeArrowheads="1"/>
            </p:cNvSpPr>
            <p:nvPr/>
          </p:nvSpPr>
          <p:spPr bwMode="auto">
            <a:xfrm>
              <a:off x="1776" y="3235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约束条件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graphicFrame>
          <p:nvGraphicFramePr>
            <p:cNvPr id="109591" name="Object 40"/>
            <p:cNvGraphicFramePr>
              <a:graphicFrameLocks noChangeAspect="1"/>
            </p:cNvGraphicFramePr>
            <p:nvPr/>
          </p:nvGraphicFramePr>
          <p:xfrm>
            <a:off x="528" y="3235"/>
            <a:ext cx="1142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526415" imgH="131445" progId="Equation.3">
                    <p:embed/>
                  </p:oleObj>
                </mc:Choice>
                <mc:Fallback>
                  <p:oleObj r:id="rId3" imgW="526415" imgH="13144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8" y="3235"/>
                          <a:ext cx="1142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2" name="Object 41"/>
            <p:cNvGraphicFramePr>
              <a:graphicFrameLocks noChangeAspect="1"/>
            </p:cNvGraphicFramePr>
            <p:nvPr/>
          </p:nvGraphicFramePr>
          <p:xfrm>
            <a:off x="528" y="2832"/>
            <a:ext cx="185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77570" imgH="160655" progId="Equation.3">
                    <p:embed/>
                  </p:oleObj>
                </mc:Choice>
                <mc:Fallback>
                  <p:oleObj r:id="rId5" imgW="877570" imgH="16065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8" y="2832"/>
                          <a:ext cx="1851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93" name="AutoShape 42"/>
            <p:cNvSpPr/>
            <p:nvPr/>
          </p:nvSpPr>
          <p:spPr>
            <a:xfrm>
              <a:off x="432" y="3013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214059" name="Rectangle 43"/>
          <p:cNvSpPr>
            <a:spLocks noChangeArrowheads="1"/>
          </p:cNvSpPr>
          <p:nvPr/>
        </p:nvSpPr>
        <p:spPr bwMode="auto">
          <a:xfrm>
            <a:off x="152400" y="4419600"/>
            <a:ext cx="2825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(2)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异步工作时</a:t>
            </a:r>
          </a:p>
        </p:txBody>
      </p:sp>
      <p:grpSp>
        <p:nvGrpSpPr>
          <p:cNvPr id="214060" name="Group 44"/>
          <p:cNvGrpSpPr/>
          <p:nvPr/>
        </p:nvGrpSpPr>
        <p:grpSpPr>
          <a:xfrm>
            <a:off x="838200" y="5072063"/>
            <a:ext cx="4437063" cy="1100137"/>
            <a:chOff x="528" y="3168"/>
            <a:chExt cx="2795" cy="693"/>
          </a:xfrm>
        </p:grpSpPr>
        <p:sp>
          <p:nvSpPr>
            <p:cNvPr id="109579" name="AutoShape 45"/>
            <p:cNvSpPr/>
            <p:nvPr/>
          </p:nvSpPr>
          <p:spPr>
            <a:xfrm>
              <a:off x="528" y="3341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14062" name="Rectangle 46"/>
            <p:cNvSpPr>
              <a:spLocks noChangeArrowheads="1"/>
            </p:cNvSpPr>
            <p:nvPr/>
          </p:nvSpPr>
          <p:spPr bwMode="auto">
            <a:xfrm>
              <a:off x="1927" y="349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约束条件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)</a:t>
              </a:r>
            </a:p>
          </p:txBody>
        </p:sp>
        <p:graphicFrame>
          <p:nvGraphicFramePr>
            <p:cNvPr id="109581" name="Object 47"/>
            <p:cNvGraphicFramePr>
              <a:graphicFrameLocks noChangeAspect="1"/>
            </p:cNvGraphicFramePr>
            <p:nvPr/>
          </p:nvGraphicFramePr>
          <p:xfrm>
            <a:off x="631" y="3168"/>
            <a:ext cx="1831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70585" imgH="146050" progId="Equation.3">
                    <p:embed/>
                  </p:oleObj>
                </mc:Choice>
                <mc:Fallback>
                  <p:oleObj r:id="rId7" imgW="870585" imgH="14605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1" y="3168"/>
                          <a:ext cx="1831" cy="3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2" name="Object 48"/>
            <p:cNvGraphicFramePr>
              <a:graphicFrameLocks noChangeAspect="1"/>
            </p:cNvGraphicFramePr>
            <p:nvPr/>
          </p:nvGraphicFramePr>
          <p:xfrm>
            <a:off x="631" y="3533"/>
            <a:ext cx="1241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77850" imgH="131445" progId="Equation.3">
                    <p:embed/>
                  </p:oleObj>
                </mc:Choice>
                <mc:Fallback>
                  <p:oleObj r:id="rId9" imgW="577850" imgH="13144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1" y="3533"/>
                          <a:ext cx="1241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nimBg="1"/>
      <p:bldP spid="214019" grpId="0" animBg="1"/>
      <p:bldP spid="214020" grpId="0" animBg="1"/>
      <p:bldP spid="214021" grpId="0"/>
      <p:bldP spid="214059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Microsoft Office PowerPoint</Application>
  <PresentationFormat>全屏显示(4:3)</PresentationFormat>
  <Paragraphs>415</Paragraphs>
  <Slides>25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黑体</vt:lpstr>
      <vt:lpstr>Arial</vt:lpstr>
      <vt:lpstr>Arial Black</vt:lpstr>
      <vt:lpstr>Times New Roman</vt:lpstr>
      <vt:lpstr>默认设计模板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zhanjy</dc:creator>
  <cp:lastModifiedBy>正华 吴</cp:lastModifiedBy>
  <cp:revision>204</cp:revision>
  <dcterms:created xsi:type="dcterms:W3CDTF">2008-09-03T07:31:29Z</dcterms:created>
  <dcterms:modified xsi:type="dcterms:W3CDTF">2024-09-01T00:35:58Z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