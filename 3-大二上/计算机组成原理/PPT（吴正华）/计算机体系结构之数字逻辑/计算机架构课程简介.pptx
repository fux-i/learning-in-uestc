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13"/>
  </p:notesMasterIdLst>
  <p:handoutMasterIdLst>
    <p:handoutMasterId r:id="rId14"/>
  </p:handoutMasterIdLst>
  <p:sldIdLst>
    <p:sldId id="257" r:id="rId3"/>
    <p:sldId id="258" r:id="rId4"/>
    <p:sldId id="735" r:id="rId5"/>
    <p:sldId id="732" r:id="rId6"/>
    <p:sldId id="733" r:id="rId7"/>
    <p:sldId id="720" r:id="rId8"/>
    <p:sldId id="724" r:id="rId9"/>
    <p:sldId id="725" r:id="rId10"/>
    <p:sldId id="727" r:id="rId11"/>
    <p:sldId id="736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00"/>
    <a:srgbClr val="ED7D31"/>
    <a:srgbClr val="4472C4"/>
    <a:srgbClr val="0563C1"/>
    <a:srgbClr val="2F5597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6046" autoAdjust="0"/>
  </p:normalViewPr>
  <p:slideViewPr>
    <p:cSldViewPr snapToGrid="0" showGuides="1">
      <p:cViewPr varScale="1">
        <p:scale>
          <a:sx n="82" d="100"/>
          <a:sy n="82" d="100"/>
        </p:scale>
        <p:origin x="1243" y="62"/>
      </p:cViewPr>
      <p:guideLst>
        <p:guide orient="horz" pos="2122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计算机系统结构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6.xml"/><Relationship Id="rId7" Type="http://schemas.openxmlformats.org/officeDocument/2006/relationships/image" Target="../media/image9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0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.jpeg"/><Relationship Id="rId5" Type="http://schemas.openxmlformats.org/officeDocument/2006/relationships/tags" Target="../tags/tag13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9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5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490616" y="313632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计算机系统结构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课程介绍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  <a:t>2024/9/1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28950" y="4838700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uFillTx/>
              </a:rPr>
              <a:t>授课教师：吴正华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96895" y="5444490"/>
            <a:ext cx="36188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uFillTx/>
              </a:rPr>
              <a:t>联系电话：</a:t>
            </a:r>
            <a:r>
              <a:rPr lang="en-US" altLang="zh-CN" sz="2400" b="1">
                <a:solidFill>
                  <a:schemeClr val="tx1"/>
                </a:solidFill>
                <a:uFillTx/>
              </a:rPr>
              <a:t>13908173345</a:t>
            </a:r>
          </a:p>
          <a:p>
            <a:r>
              <a:rPr lang="zh-CN" altLang="en-US" sz="2400" b="1">
                <a:solidFill>
                  <a:schemeClr val="tx1"/>
                </a:solidFill>
                <a:uFillTx/>
              </a:rPr>
              <a:t>邮箱：</a:t>
            </a:r>
            <a:r>
              <a:rPr lang="en-US" altLang="zh-CN" sz="2400" b="1">
                <a:solidFill>
                  <a:schemeClr val="tx1"/>
                </a:solidFill>
                <a:uFillTx/>
              </a:rPr>
              <a:t>wzhzxwz@sina.com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176" y="2350019"/>
            <a:ext cx="19792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椭圆 12"/>
          <p:cNvSpPr/>
          <p:nvPr/>
        </p:nvSpPr>
        <p:spPr>
          <a:xfrm>
            <a:off x="414238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42382" y="271858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42382" y="366772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31055" y="3537582"/>
            <a:ext cx="2423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教学特点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608195" y="1649092"/>
            <a:ext cx="2545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课程内容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08229" y="2596200"/>
            <a:ext cx="339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学习目的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4136032" y="460371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24705" y="4473572"/>
            <a:ext cx="209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教学安排</a:t>
            </a:r>
          </a:p>
        </p:txBody>
      </p:sp>
      <p:sp>
        <p:nvSpPr>
          <p:cNvPr id="9" name="椭圆 8"/>
          <p:cNvSpPr/>
          <p:nvPr/>
        </p:nvSpPr>
        <p:spPr>
          <a:xfrm>
            <a:off x="4144922" y="549271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33595" y="5362572"/>
            <a:ext cx="2421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成绩分布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10" name="iSľídé"/>
          <p:cNvSpPr/>
          <p:nvPr/>
        </p:nvSpPr>
        <p:spPr>
          <a:xfrm>
            <a:off x="49054" y="98942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49054" y="463152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  <a:sym typeface="+mn-ea"/>
                </a:rPr>
                <a:t>一、课程主要内容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302440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/>
          <p:cNvSpPr/>
          <p:nvPr/>
        </p:nvSpPr>
        <p:spPr>
          <a:xfrm>
            <a:off x="2526228" y="303594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sz="28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计算机基础知识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70954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72108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sz="28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计算机组成原理</a:t>
            </a:r>
            <a:endParaRPr kumimoji="0" lang="en-US" sz="2800" b="1" i="0" u="none" strike="noStrike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305296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73810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53060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B0D6-B0A1-4138-8E1F-A4205018CABA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9" name="ïṩľîdé"/>
          <p:cNvSpPr txBox="1"/>
          <p:nvPr/>
        </p:nvSpPr>
        <p:spPr>
          <a:xfrm>
            <a:off x="1872697" y="4459216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959428" y="4280275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71475" y="1269365"/>
            <a:ext cx="8735695" cy="1413310"/>
            <a:chOff x="371475" y="1269461"/>
            <a:chExt cx="8735948" cy="4125410"/>
          </a:xfrm>
        </p:grpSpPr>
        <p:sp>
          <p:nvSpPr>
            <p:cNvPr id="27" name="MH_Other_3"/>
            <p:cNvSpPr/>
            <p:nvPr>
              <p:custDataLst>
                <p:tags r:id="rId1"/>
              </p:custDataLst>
            </p:nvPr>
          </p:nvSpPr>
          <p:spPr>
            <a:xfrm>
              <a:off x="2838450" y="1484469"/>
              <a:ext cx="6268973" cy="2686435"/>
            </a:xfrm>
            <a:prstGeom prst="rect">
              <a:avLst/>
            </a:prstGeom>
            <a:gradFill>
              <a:gsLst>
                <a:gs pos="70000">
                  <a:srgbClr val="454545"/>
                </a:gs>
                <a:gs pos="32000">
                  <a:srgbClr val="2D2D2D">
                    <a:lumMod val="100000"/>
                  </a:srgbClr>
                </a:gs>
                <a:gs pos="0">
                  <a:srgbClr val="000000">
                    <a:lumMod val="80000"/>
                    <a:lumOff val="20000"/>
                  </a:srgbClr>
                </a:gs>
                <a:gs pos="100000">
                  <a:srgbClr val="000000">
                    <a:lumMod val="80000"/>
                    <a:lumOff val="20000"/>
                  </a:srgbClr>
                </a:gs>
              </a:gsLst>
              <a:lin ang="5400000" scaled="1"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5" name="MH_Other_2"/>
            <p:cNvSpPr/>
            <p:nvPr>
              <p:custDataLst>
                <p:tags r:id="rId2"/>
              </p:custDataLst>
            </p:nvPr>
          </p:nvSpPr>
          <p:spPr>
            <a:xfrm>
              <a:off x="371475" y="1269461"/>
              <a:ext cx="8319248" cy="2473863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Text Box 4"/>
            <p:cNvSpPr txBox="1"/>
            <p:nvPr/>
          </p:nvSpPr>
          <p:spPr>
            <a:xfrm>
              <a:off x="372110" y="1339311"/>
              <a:ext cx="8549640" cy="40555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3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计算机基础知识部分</a:t>
              </a:r>
            </a:p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</a:t>
              </a: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54A4-78D0-4FA9-85E5-E1F1969F970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39310" y="2183765"/>
            <a:ext cx="40392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主要是简介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信息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在计算机中的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表示方法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逻辑代数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基础、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组合逻辑电路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的基本构成、各类触发器的电路结构及特性。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" y="2484120"/>
            <a:ext cx="4382135" cy="3871595"/>
          </a:xfrm>
          <a:prstGeom prst="rect">
            <a:avLst/>
          </a:prstGeom>
        </p:spPr>
      </p:pic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2858770"/>
            <a:ext cx="4609465" cy="3756660"/>
          </a:xfrm>
          <a:prstGeom prst="rect">
            <a:avLst/>
          </a:prstGeom>
        </p:spPr>
      </p:pic>
      <p:sp>
        <p:nvSpPr>
          <p:cNvPr id="40" name="Text Box 5"/>
          <p:cNvSpPr txBox="1"/>
          <p:nvPr/>
        </p:nvSpPr>
        <p:spPr>
          <a:xfrm>
            <a:off x="4246245" y="3149600"/>
            <a:ext cx="450151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即五大功能部件的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工作原理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逻辑实现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及相互连接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构成整机的方法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54A4-78D0-4FA9-85E5-E1F1969F970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38350" y="852805"/>
            <a:ext cx="6314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计算机组成原理部分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00" y="1669415"/>
            <a:ext cx="6303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讨论计算机单机系统的硬件组成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</a:p>
        </p:txBody>
      </p:sp>
      <p:pic>
        <p:nvPicPr>
          <p:cNvPr id="1026" name="Picture 2" descr="https://timgsa.baidu.com/timg?image&amp;quality=80&amp;size=b9999_10000&amp;sec=1590132651270&amp;di=cb5ba8f933017dfd28597220d269fbb1&amp;imgtype=0&amp;src=http%3A%2F%2Fbenyouhuifile.it168.com%2Fforum%2F201210%2F05%2F081416s8dgs8zgb85ylraz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2340987"/>
            <a:ext cx="3480086" cy="283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27" name="MH_Other_3"/>
          <p:cNvSpPr/>
          <p:nvPr>
            <p:custDataLst>
              <p:tags r:id="rId1"/>
            </p:custDataLst>
          </p:nvPr>
        </p:nvSpPr>
        <p:spPr>
          <a:xfrm>
            <a:off x="4475118" y="3455751"/>
            <a:ext cx="4618192" cy="3015327"/>
          </a:xfrm>
          <a:prstGeom prst="rect">
            <a:avLst/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/>
          <p:cNvSpPr/>
          <p:nvPr>
            <p:custDataLst>
              <p:tags r:id="rId2"/>
            </p:custDataLst>
          </p:nvPr>
        </p:nvSpPr>
        <p:spPr>
          <a:xfrm>
            <a:off x="3887473" y="1345661"/>
            <a:ext cx="4837428" cy="467196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MH_Other_5"/>
          <p:cNvCxnSpPr/>
          <p:nvPr>
            <p:custDataLst>
              <p:tags r:id="rId3"/>
            </p:custDataLst>
          </p:nvPr>
        </p:nvCxnSpPr>
        <p:spPr>
          <a:xfrm flipV="1">
            <a:off x="4138618" y="2340987"/>
            <a:ext cx="4100607" cy="2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4"/>
          <p:cNvSpPr txBox="1"/>
          <p:nvPr/>
        </p:nvSpPr>
        <p:spPr>
          <a:xfrm>
            <a:off x="4057650" y="1687669"/>
            <a:ext cx="4171950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强调两个层次的整机概念</a:t>
            </a:r>
          </a:p>
        </p:txBody>
      </p:sp>
      <p:sp>
        <p:nvSpPr>
          <p:cNvPr id="40" name="Text Box 5"/>
          <p:cNvSpPr txBox="1"/>
          <p:nvPr/>
        </p:nvSpPr>
        <p:spPr>
          <a:xfrm>
            <a:off x="4057650" y="2457358"/>
            <a:ext cx="4457700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硬件系统整机概念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紧紧抓住各部件之间的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信息传送方式和传送途径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日期占位符 4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0C74-890D-47CE-A6B9-8A98C210A80C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2" name="页脚占位符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01445" y="971550"/>
            <a:ext cx="6314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计算机组成原理部分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二、学习目的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2050" name="Picture 2" descr="https://ss1.bdstatic.com/70cFuXSh_Q1YnxGkpoWK1HF6hhy/it/u=2768806252,7973689&amp;fm=26&amp;gp=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866" y="2306368"/>
            <a:ext cx="4001036" cy="25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MH_Other_3"/>
          <p:cNvSpPr/>
          <p:nvPr>
            <p:custDataLst>
              <p:tags r:id="rId1"/>
            </p:custDataLst>
          </p:nvPr>
        </p:nvSpPr>
        <p:spPr>
          <a:xfrm>
            <a:off x="952500" y="1894881"/>
            <a:ext cx="4762500" cy="3424351"/>
          </a:xfrm>
          <a:prstGeom prst="parallelogram">
            <a:avLst>
              <a:gd name="adj" fmla="val 19946"/>
            </a:avLst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/>
          <p:cNvSpPr/>
          <p:nvPr>
            <p:custDataLst>
              <p:tags r:id="rId2"/>
            </p:custDataLst>
          </p:nvPr>
        </p:nvSpPr>
        <p:spPr>
          <a:xfrm>
            <a:off x="106856" y="1904406"/>
            <a:ext cx="5290644" cy="3424351"/>
          </a:xfrm>
          <a:prstGeom prst="parallelogram">
            <a:avLst>
              <a:gd name="adj" fmla="val 2277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Box 5"/>
          <p:cNvSpPr txBox="1"/>
          <p:nvPr/>
        </p:nvSpPr>
        <p:spPr>
          <a:xfrm>
            <a:off x="737640" y="2480993"/>
            <a:ext cx="4177260" cy="1930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为培养同学们在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计算机系统方面的能力打下坚实的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205C5-1967-468A-AC8D-06638A4E083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三、教学特点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95400" y="2049780"/>
            <a:ext cx="7023735" cy="1066800"/>
            <a:chOff x="1295400" y="2290762"/>
            <a:chExt cx="6267450" cy="1009651"/>
          </a:xfrm>
        </p:grpSpPr>
        <p:sp>
          <p:nvSpPr>
            <p:cNvPr id="12" name="MH_Other_1"/>
            <p:cNvSpPr/>
            <p:nvPr>
              <p:custDataLst>
                <p:tags r:id="rId5"/>
              </p:custDataLst>
            </p:nvPr>
          </p:nvSpPr>
          <p:spPr>
            <a:xfrm>
              <a:off x="1430338" y="2430463"/>
              <a:ext cx="704850" cy="73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MH_Other_2"/>
            <p:cNvSpPr/>
            <p:nvPr>
              <p:custDataLst>
                <p:tags r:id="rId6"/>
              </p:custDataLst>
            </p:nvPr>
          </p:nvSpPr>
          <p:spPr>
            <a:xfrm>
              <a:off x="1295400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MH_SubTitle_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454275" y="2290762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以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模型机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为背景讨论基本原理，然后结合</a:t>
              </a:r>
              <a:r>
                <a:rPr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+mn-ea"/>
                </a:rPr>
                <a:t>Intel80x86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机型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为例进行讲述。</a:t>
              </a:r>
            </a:p>
          </p:txBody>
        </p:sp>
        <p:sp>
          <p:nvSpPr>
            <p:cNvPr id="20" name="MH_Other_5"/>
            <p:cNvSpPr/>
            <p:nvPr>
              <p:custDataLst>
                <p:tags r:id="rId8"/>
              </p:custDataLst>
            </p:nvPr>
          </p:nvSpPr>
          <p:spPr bwMode="auto">
            <a:xfrm>
              <a:off x="1577975" y="2600325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95400" y="4072255"/>
            <a:ext cx="7023735" cy="1009650"/>
            <a:chOff x="1295400" y="4071938"/>
            <a:chExt cx="6267450" cy="1009650"/>
          </a:xfrm>
        </p:grpSpPr>
        <p:sp>
          <p:nvSpPr>
            <p:cNvPr id="16" name="MH_Other_3"/>
            <p:cNvSpPr/>
            <p:nvPr>
              <p:custDataLst>
                <p:tags r:id="rId1"/>
              </p:custDataLst>
            </p:nvPr>
          </p:nvSpPr>
          <p:spPr>
            <a:xfrm>
              <a:off x="1430338" y="4211638"/>
              <a:ext cx="704850" cy="730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MH_Other_4"/>
            <p:cNvSpPr/>
            <p:nvPr>
              <p:custDataLst>
                <p:tags r:id="rId2"/>
              </p:custDataLst>
            </p:nvPr>
          </p:nvSpPr>
          <p:spPr>
            <a:xfrm>
              <a:off x="1295400" y="4071938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MH_SubTitle_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54275" y="4071938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讨论硬件组成时，在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寄存器级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进行分析。</a:t>
              </a:r>
            </a:p>
          </p:txBody>
        </p:sp>
        <p:sp>
          <p:nvSpPr>
            <p:cNvPr id="23" name="MH_Other_6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595438" y="4379913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B36-A958-4B32-824F-342B4084B708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四、教学安排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cxnSp>
        <p:nvCxnSpPr>
          <p:cNvPr id="82" name="MH_Other_5"/>
          <p:cNvCxnSpPr/>
          <p:nvPr>
            <p:custDataLst>
              <p:tags r:id="rId1"/>
            </p:custDataLst>
          </p:nvPr>
        </p:nvCxnSpPr>
        <p:spPr>
          <a:xfrm>
            <a:off x="670560" y="1824071"/>
            <a:ext cx="7543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5"/>
          <p:cNvSpPr txBox="1"/>
          <p:nvPr/>
        </p:nvSpPr>
        <p:spPr>
          <a:xfrm>
            <a:off x="3277870" y="1835150"/>
            <a:ext cx="4931410" cy="239200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   </a:t>
            </a:r>
            <a:r>
              <a:rPr lang="en-US" sz="24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计算机基础知识（</a:t>
            </a:r>
            <a:r>
              <a:rPr lang="en-US" altLang="zh-CN" sz="2400" b="1" noProof="0" dirty="0">
                <a:solidFill>
                  <a:srgbClr val="4472C4"/>
                </a:solidFill>
                <a:latin typeface="Calibri" panose="020F0502020204030204"/>
                <a:sym typeface="+mn-ea"/>
              </a:rPr>
              <a:t>12</a:t>
            </a:r>
            <a:r>
              <a:rPr lang="en-US" sz="24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学时）</a:t>
            </a:r>
          </a:p>
          <a:p>
            <a:pPr>
              <a:lnSpc>
                <a:spcPct val="150000"/>
              </a:lnSpc>
            </a:pPr>
            <a:endParaRPr lang="en-US" sz="2400" b="1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400" b="1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计算机组成原理</a:t>
            </a:r>
            <a:r>
              <a:rPr lang="en-US" sz="24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（</a:t>
            </a:r>
            <a:r>
              <a:rPr lang="en-US" altLang="zh-CN" sz="2400" b="1" dirty="0">
                <a:solidFill>
                  <a:srgbClr val="4472C4"/>
                </a:solidFill>
                <a:latin typeface="Calibri" panose="020F0502020204030204"/>
                <a:sym typeface="+mn-ea"/>
              </a:rPr>
              <a:t>52</a:t>
            </a:r>
            <a:r>
              <a:rPr lang="en-US" sz="2400" b="1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学时</a:t>
            </a:r>
            <a:r>
              <a:rPr lang="en-US" sz="2400" b="1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）</a:t>
            </a:r>
            <a:endParaRPr kumimoji="0" lang="en-US" sz="2800" b="1" i="0" u="none" strike="noStrike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</a:p>
        </p:txBody>
      </p:sp>
      <p:sp>
        <p:nvSpPr>
          <p:cNvPr id="85" name="MH_SubTitle_1"/>
          <p:cNvSpPr/>
          <p:nvPr>
            <p:custDataLst>
              <p:tags r:id="rId2"/>
            </p:custDataLst>
          </p:nvPr>
        </p:nvSpPr>
        <p:spPr>
          <a:xfrm>
            <a:off x="3326983" y="941576"/>
            <a:ext cx="1927007" cy="655637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教学思路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4C47B-5FDB-4976-B6D8-E90CC07F6DE9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下箭头 2"/>
          <p:cNvSpPr/>
          <p:nvPr/>
        </p:nvSpPr>
        <p:spPr>
          <a:xfrm>
            <a:off x="5592445" y="2470785"/>
            <a:ext cx="75565" cy="65468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云形标注 6"/>
          <p:cNvSpPr/>
          <p:nvPr/>
        </p:nvSpPr>
        <p:spPr>
          <a:xfrm>
            <a:off x="75565" y="2214880"/>
            <a:ext cx="3597275" cy="403923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理论教学：</a:t>
            </a:r>
            <a:r>
              <a:rPr lang="en-US" altLang="zh-CN" sz="2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64</a:t>
            </a:r>
            <a:r>
              <a:rPr lang="zh-CN" altLang="en-US" sz="2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学时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五、成绩分布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E7C1-404E-4292-8B39-5395E9B9A441}" type="datetime1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计算机系统结构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132251"/>
              </p:ext>
            </p:extLst>
          </p:nvPr>
        </p:nvGraphicFramePr>
        <p:xfrm>
          <a:off x="528320" y="1257300"/>
          <a:ext cx="8130540" cy="241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0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077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44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成绩构成</a:t>
                      </a:r>
                      <a:r>
                        <a:rPr lang="en-US" altLang="zh-CN" sz="4400" dirty="0">
                          <a:gradFill>
                            <a:gsLst>
                              <a:gs pos="0">
                                <a:srgbClr val="E30000"/>
                              </a:gs>
                              <a:gs pos="100000">
                                <a:srgbClr val="760303"/>
                              </a:gs>
                            </a:gsLst>
                            <a:lin scaled="0"/>
                          </a:gra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100%</a:t>
                      </a:r>
                      <a:endParaRPr lang="zh-CN" altLang="en-US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平时成绩构成</a:t>
                      </a:r>
                      <a:r>
                        <a:rPr lang="en-US" altLang="zh-CN" sz="3600">
                          <a:gradFill>
                            <a:gsLst>
                              <a:gs pos="0">
                                <a:srgbClr val="E30000"/>
                              </a:gs>
                              <a:gs pos="100000">
                                <a:srgbClr val="760303"/>
                              </a:gs>
                            </a:gsLst>
                            <a:lin scaled="0"/>
                          </a:gra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40%</a:t>
                      </a:r>
                      <a:endParaRPr lang="zh-CN" alt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期末成绩构成</a:t>
                      </a:r>
                      <a:r>
                        <a:rPr lang="en-US" altLang="zh-CN" sz="3600" dirty="0">
                          <a:gradFill>
                            <a:gsLst>
                              <a:gs pos="0">
                                <a:srgbClr val="E30000"/>
                              </a:gs>
                              <a:gs pos="100000">
                                <a:srgbClr val="760303"/>
                              </a:gs>
                            </a:gsLst>
                            <a:lin scaled="0"/>
                          </a:gra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6</a:t>
                      </a:r>
                      <a:r>
                        <a:rPr lang="zh-CN" altLang="en-US" sz="3600" dirty="0">
                          <a:gradFill>
                            <a:gsLst>
                              <a:gs pos="0">
                                <a:srgbClr val="E30000"/>
                              </a:gs>
                              <a:gs pos="100000">
                                <a:srgbClr val="760303"/>
                              </a:gs>
                            </a:gsLst>
                            <a:lin scaled="0"/>
                          </a:gra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0%</a:t>
                      </a:r>
                      <a:endParaRPr lang="zh-CN" altLang="en-US" sz="3600" dirty="0">
                        <a:gradFill>
                          <a:gsLst>
                            <a:gs pos="0">
                              <a:srgbClr val="E30000"/>
                            </a:gs>
                            <a:gs pos="100000">
                              <a:srgbClr val="760303"/>
                            </a:gs>
                          </a:gsLst>
                          <a:lin scaled="0"/>
                        </a:gra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SubTitle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Other"/>
  <p:tag name="MH_ORDER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11164549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c4ede7d-7e2c-4b58-a16a-b2790e173126}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320</Words>
  <Application>Microsoft Office PowerPoint</Application>
  <PresentationFormat>全屏显示(4:3)</PresentationFormat>
  <Paragraphs>93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等线</vt:lpstr>
      <vt:lpstr>黑体</vt:lpstr>
      <vt:lpstr>华文隶书</vt:lpstr>
      <vt:lpstr>华文行楷</vt:lpstr>
      <vt:lpstr>楷体</vt:lpstr>
      <vt:lpstr>隶书</vt:lpstr>
      <vt:lpstr>微软雅黑</vt:lpstr>
      <vt:lpstr>Arial</vt:lpstr>
      <vt:lpstr>Calibri</vt:lpstr>
      <vt:lpstr>Calibri Light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220</cp:revision>
  <dcterms:created xsi:type="dcterms:W3CDTF">2018-07-22T02:36:00Z</dcterms:created>
  <dcterms:modified xsi:type="dcterms:W3CDTF">2024-09-01T00:35:03Z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