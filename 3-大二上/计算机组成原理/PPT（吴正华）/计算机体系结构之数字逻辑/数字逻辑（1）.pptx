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2.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Lst>
  <p:notesMasterIdLst>
    <p:notesMasterId r:id="rId80"/>
  </p:notesMasterIdLst>
  <p:handoutMasterIdLst>
    <p:handoutMasterId r:id="rId81"/>
  </p:handoutMasterIdLst>
  <p:sldIdLst>
    <p:sldId id="257" r:id="rId3"/>
    <p:sldId id="1014" r:id="rId4"/>
    <p:sldId id="827" r:id="rId5"/>
    <p:sldId id="782" r:id="rId6"/>
    <p:sldId id="826" r:id="rId7"/>
    <p:sldId id="979" r:id="rId8"/>
    <p:sldId id="1069" r:id="rId9"/>
    <p:sldId id="1070" r:id="rId10"/>
    <p:sldId id="1015" r:id="rId11"/>
    <p:sldId id="1016" r:id="rId12"/>
    <p:sldId id="1017" r:id="rId13"/>
    <p:sldId id="1018" r:id="rId14"/>
    <p:sldId id="1019" r:id="rId15"/>
    <p:sldId id="1020" r:id="rId16"/>
    <p:sldId id="1021" r:id="rId17"/>
    <p:sldId id="1022" r:id="rId18"/>
    <p:sldId id="1023" r:id="rId19"/>
    <p:sldId id="1024" r:id="rId20"/>
    <p:sldId id="1025" r:id="rId21"/>
    <p:sldId id="1026" r:id="rId22"/>
    <p:sldId id="1027" r:id="rId23"/>
    <p:sldId id="1028" r:id="rId24"/>
    <p:sldId id="1029" r:id="rId25"/>
    <p:sldId id="1030" r:id="rId26"/>
    <p:sldId id="1031" r:id="rId27"/>
    <p:sldId id="1032" r:id="rId28"/>
    <p:sldId id="1033" r:id="rId29"/>
    <p:sldId id="1034" r:id="rId30"/>
    <p:sldId id="1035" r:id="rId31"/>
    <p:sldId id="1038" r:id="rId32"/>
    <p:sldId id="1039" r:id="rId33"/>
    <p:sldId id="1040" r:id="rId34"/>
    <p:sldId id="1041" r:id="rId35"/>
    <p:sldId id="1042" r:id="rId36"/>
    <p:sldId id="1043" r:id="rId37"/>
    <p:sldId id="1044" r:id="rId38"/>
    <p:sldId id="1045" r:id="rId39"/>
    <p:sldId id="1046" r:id="rId40"/>
    <p:sldId id="1047" r:id="rId41"/>
    <p:sldId id="1048" r:id="rId42"/>
    <p:sldId id="1049" r:id="rId43"/>
    <p:sldId id="1050" r:id="rId44"/>
    <p:sldId id="1051" r:id="rId45"/>
    <p:sldId id="1071" r:id="rId46"/>
    <p:sldId id="1055" r:id="rId47"/>
    <p:sldId id="1057" r:id="rId48"/>
    <p:sldId id="1061" r:id="rId49"/>
    <p:sldId id="982" r:id="rId50"/>
    <p:sldId id="983" r:id="rId51"/>
    <p:sldId id="984" r:id="rId52"/>
    <p:sldId id="985" r:id="rId53"/>
    <p:sldId id="986" r:id="rId54"/>
    <p:sldId id="987" r:id="rId55"/>
    <p:sldId id="988" r:id="rId56"/>
    <p:sldId id="989" r:id="rId57"/>
    <p:sldId id="991" r:id="rId58"/>
    <p:sldId id="990" r:id="rId59"/>
    <p:sldId id="992" r:id="rId60"/>
    <p:sldId id="993" r:id="rId61"/>
    <p:sldId id="994" r:id="rId62"/>
    <p:sldId id="995" r:id="rId63"/>
    <p:sldId id="996" r:id="rId64"/>
    <p:sldId id="997" r:id="rId65"/>
    <p:sldId id="998" r:id="rId66"/>
    <p:sldId id="999" r:id="rId67"/>
    <p:sldId id="1000" r:id="rId68"/>
    <p:sldId id="1001" r:id="rId69"/>
    <p:sldId id="1002" r:id="rId70"/>
    <p:sldId id="1003" r:id="rId71"/>
    <p:sldId id="1004" r:id="rId72"/>
    <p:sldId id="1005" r:id="rId73"/>
    <p:sldId id="1006" r:id="rId74"/>
    <p:sldId id="1007" r:id="rId75"/>
    <p:sldId id="1008" r:id="rId76"/>
    <p:sldId id="1009" r:id="rId77"/>
    <p:sldId id="1010" r:id="rId78"/>
    <p:sldId id="1011" r:id="rId79"/>
  </p:sldIdLst>
  <p:sldSz cx="9144000" cy="6858000" type="screen4x3"/>
  <p:notesSz cx="6858000" cy="9144000"/>
  <p:custDataLst>
    <p:tags r:id="rId8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p15:clr>
            <a:srgbClr val="A4A3A4"/>
          </p15:clr>
        </p15:guide>
        <p15:guide id="2" pos="408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0563C1"/>
    <a:srgbClr val="2F5597"/>
    <a:srgbClr val="DF3C09"/>
    <a:srgbClr val="FF0E0E"/>
    <a:srgbClr val="FFF9EE"/>
    <a:srgbClr val="FF9900"/>
    <a:srgbClr val="F0DADA"/>
    <a:srgbClr val="FF00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 autoAdjust="0"/>
    <p:restoredTop sz="96046" autoAdjust="0"/>
  </p:normalViewPr>
  <p:slideViewPr>
    <p:cSldViewPr snapToGrid="0" showGuides="1">
      <p:cViewPr varScale="1">
        <p:scale>
          <a:sx n="82" d="100"/>
          <a:sy n="82" d="100"/>
        </p:scale>
        <p:origin x="1805" y="62"/>
      </p:cViewPr>
      <p:guideLst>
        <p:guide orient="horz" pos="2216"/>
        <p:guide pos="408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0" d="100"/>
          <a:sy n="80" d="100"/>
        </p:scale>
        <p:origin x="3552"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5A1862-72E1-426C-855A-D48747319FD8}" type="datetimeFigureOut">
              <a:rPr lang="zh-CN" altLang="en-US" smtClean="0"/>
              <a:t>2026/8/12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B0BC9D-12F8-4D67-BEC5-611AE33D2FA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95E01-A3AA-414B-AC91-6247B051C58A}" type="datetimeFigureOut">
              <a:rPr lang="zh-CN" altLang="en-US" smtClean="0"/>
              <a:t>2026/8/12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026A4-9EE3-4D0D-8D3A-764529D129E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342900" indent="-342900" algn="l" eaLnBrk="1" hangingPunct="1">
              <a:lnSpc>
                <a:spcPct val="115000"/>
              </a:lnSpc>
              <a:spcBef>
                <a:spcPct val="10000"/>
              </a:spcBef>
              <a:buFont typeface="Wingdings" panose="05000000000000000000" pitchFamily="2" charset="2"/>
              <a:buChar char="n"/>
            </a:pPr>
            <a:endParaRPr lang="zh-CN" altLang="en-US" dirty="0"/>
          </a:p>
        </p:txBody>
      </p:sp>
      <p:sp>
        <p:nvSpPr>
          <p:cNvPr id="4" name="灯片编号占位符 3"/>
          <p:cNvSpPr>
            <a:spLocks noGrp="1"/>
          </p:cNvSpPr>
          <p:nvPr>
            <p:ph type="sldNum" sz="quarter" idx="10"/>
          </p:nvPr>
        </p:nvSpPr>
        <p:spPr/>
        <p:txBody>
          <a:bodyPr/>
          <a:lstStyle/>
          <a:p>
            <a:fld id="{FD8026A4-9EE3-4D0D-8D3A-764529D129E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59900CF-6FCF-4086-9501-66574B30CB00}" type="slidenum">
              <a:rPr lang="en-US" altLang="zh-CN" smtClean="0"/>
              <a:t>9</a:t>
            </a:fld>
            <a:endParaRPr lang="en-US" altLang="zh-CN"/>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0E8BD06-4B51-4241-8FBC-F051E1B2DED0}" type="slidenum">
              <a:rPr lang="en-US" altLang="zh-CN" smtClean="0"/>
              <a:t>10</a:t>
            </a:fld>
            <a:endParaRPr lang="en-US" altLang="zh-CN"/>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507A12D-1C25-4C45-957E-F7548BF414ED}" type="slidenum">
              <a:rPr lang="en-US" altLang="zh-CN" smtClean="0"/>
              <a:t>11</a:t>
            </a:fld>
            <a:endParaRPr lang="en-US" altLang="zh-CN"/>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43EBE4C-8A0E-437A-919B-3EC847F49B1E}" type="slidenum">
              <a:rPr lang="en-US" altLang="zh-CN" smtClean="0"/>
              <a:t>12</a:t>
            </a:fld>
            <a:endParaRPr lang="en-US" altLang="zh-CN"/>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2FB818D-CEFA-471F-ABB1-26D0BBE74437}" type="slidenum">
              <a:rPr lang="en-US" altLang="zh-CN" smtClean="0"/>
              <a:t>13</a:t>
            </a:fld>
            <a:endParaRPr lang="en-US" altLang="zh-CN"/>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29FE757-885E-4C71-ADAB-FBB8D630E963}" type="slidenum">
              <a:rPr lang="en-US" altLang="zh-CN" smtClean="0"/>
              <a:t>14</a:t>
            </a:fld>
            <a:endParaRPr lang="en-US" altLang="zh-CN"/>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7D94827-8971-45F7-BE34-CD718C1C9044}" type="slidenum">
              <a:rPr lang="en-US" altLang="zh-CN" smtClean="0"/>
              <a:t>15</a:t>
            </a:fld>
            <a:endParaRPr lang="en-US" altLang="zh-CN"/>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C82C4A4-33D3-450F-A9F3-3C6B224ED521}" type="slidenum">
              <a:rPr lang="en-US" altLang="zh-CN" smtClean="0"/>
              <a:t>16</a:t>
            </a:fld>
            <a:endParaRPr lang="en-US" altLang="zh-CN"/>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345FDE9-E224-44B0-8367-657F11692668}" type="slidenum">
              <a:rPr lang="en-US" altLang="zh-CN" smtClean="0"/>
              <a:t>17</a:t>
            </a:fld>
            <a:endParaRPr lang="en-US" altLang="zh-CN"/>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E4972CF-2145-4AD8-AE98-BDBD2D8BF8B6}" type="slidenum">
              <a:rPr lang="en-US" altLang="zh-CN" smtClean="0"/>
              <a:t>18</a:t>
            </a:fld>
            <a:endParaRPr lang="en-US" altLang="zh-CN"/>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061FA61-741C-4A6C-9763-0A84E8EE0845}" type="slidenum">
              <a:rPr lang="en-US" altLang="zh-CN" smtClean="0"/>
              <a:t>19</a:t>
            </a:fld>
            <a:endParaRPr lang="en-US" altLang="zh-CN"/>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47213F8-1AAF-481C-BDE1-55987FF4E5AD}" type="slidenum">
              <a:rPr lang="en-US" altLang="zh-CN" smtClean="0"/>
              <a:t>20</a:t>
            </a:fld>
            <a:endParaRPr lang="en-US" altLang="zh-CN"/>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49D5913-C5F1-48EA-9952-FB1A4DC0FC0D}" type="slidenum">
              <a:rPr lang="en-US" altLang="zh-CN" smtClean="0"/>
              <a:t>21</a:t>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9015354-6DEE-452C-89AF-1C8198985C8B}" type="slidenum">
              <a:rPr lang="en-US" altLang="zh-CN" smtClean="0"/>
              <a:t>22</a:t>
            </a:fld>
            <a:endParaRPr lang="en-US" altLang="zh-CN"/>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C6E4E63-AED4-4974-879B-BA8A62F8037D}" type="slidenum">
              <a:rPr lang="en-US" altLang="zh-CN" smtClean="0"/>
              <a:t>23</a:t>
            </a:fld>
            <a:endParaRPr lang="en-US" altLang="zh-CN"/>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8CC1DC0-D411-4656-A98D-5F37F7F2ED11}" type="slidenum">
              <a:rPr lang="en-US" altLang="zh-CN" smtClean="0"/>
              <a:t>24</a:t>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9460146-9F28-423D-A1DC-5268F09B64D7}" type="slidenum">
              <a:rPr lang="en-US" altLang="zh-CN" smtClean="0"/>
              <a:t>25</a:t>
            </a:fld>
            <a:endParaRPr lang="en-US" altLang="zh-CN"/>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EA2ED63-CD7B-43A6-88BE-0F722EB09437}" type="slidenum">
              <a:rPr lang="en-US" altLang="zh-CN" smtClean="0"/>
              <a:t>26</a:t>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556C55F-4C90-4447-B2D4-3412B5E9DB31}" type="slidenum">
              <a:rPr lang="en-US" altLang="zh-CN" smtClean="0"/>
              <a:t>27</a:t>
            </a:fld>
            <a:endParaRPr lang="en-US" altLang="zh-CN"/>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202AC0B-CC30-41DC-AD5F-D1ACB1F09538}" type="slidenum">
              <a:rPr lang="en-US" altLang="zh-CN" smtClean="0"/>
              <a:t>28</a:t>
            </a:fld>
            <a:endParaRPr lang="en-US" altLang="zh-CN"/>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40D3FC5-4026-49F0-B2AA-ED58021F194A}" type="slidenum">
              <a:rPr lang="en-US" altLang="zh-CN" smtClean="0"/>
              <a:t>29</a:t>
            </a:fld>
            <a:endParaRPr lang="en-US" altLang="zh-CN"/>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734188B-89A7-4E4E-B1D9-FEF33EA15E64}" type="slidenum">
              <a:rPr lang="en-US" altLang="zh-CN" smtClean="0"/>
              <a:t>30</a:t>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9AFFA5C-71A3-4CC1-95EE-AFD384A22AD8}" type="slidenum">
              <a:rPr lang="en-US" altLang="zh-CN" smtClean="0"/>
              <a:t>31</a:t>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A098C99-0727-420E-9A8B-534948EE53F0}" type="slidenum">
              <a:rPr lang="en-US" altLang="zh-CN" smtClean="0"/>
              <a:t>32</a:t>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032336-3774-4E29-A334-AFCD4BF2FCC6}" type="slidenum">
              <a:rPr lang="en-US" altLang="zh-CN" smtClean="0"/>
              <a:t>33</a:t>
            </a:fld>
            <a:endParaRPr lang="en-US" altLang="zh-CN"/>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36FC767-B5BA-4759-99FD-29D86D34582B}" type="slidenum">
              <a:rPr lang="en-US" altLang="zh-CN" smtClean="0"/>
              <a:t>34</a:t>
            </a:fld>
            <a:endParaRPr lang="en-US" altLang="zh-CN"/>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020C0E-001D-47A7-9553-131A21BEB480}" type="slidenum">
              <a:rPr lang="en-US" altLang="zh-CN" smtClean="0"/>
              <a:t>35</a:t>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AEC1D06-1447-47F0-A2EF-529694D493D9}" type="slidenum">
              <a:rPr lang="en-US" altLang="zh-CN" smtClean="0"/>
              <a:t>36</a:t>
            </a:fld>
            <a:endParaRPr lang="en-US" altLang="zh-CN"/>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4C63F0F-D0FF-4477-A178-226047CC79D2}" type="slidenum">
              <a:rPr lang="en-US" altLang="zh-CN" smtClean="0"/>
              <a:t>37</a:t>
            </a:fld>
            <a:endParaRPr lang="en-US" altLang="zh-CN"/>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3A7735A-A6E2-4281-A1EE-ABE1EB885335}" type="slidenum">
              <a:rPr lang="en-US" altLang="zh-CN" smtClean="0"/>
              <a:t>38</a:t>
            </a:fld>
            <a:endParaRPr lang="en-US" altLang="zh-CN"/>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9E98B53-2A9B-417C-97C9-032004106CAB}" type="slidenum">
              <a:rPr lang="en-US" altLang="zh-CN" smtClean="0"/>
              <a:t>39</a:t>
            </a:fld>
            <a:endParaRPr lang="en-US" altLang="zh-CN"/>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2EF9ED0-6B63-4BA2-AE00-F8C2372FE099}" type="slidenum">
              <a:rPr lang="en-US" altLang="zh-CN" smtClean="0"/>
              <a:t>40</a:t>
            </a:fld>
            <a:endParaRPr lang="en-US" altLang="zh-CN"/>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4740C29-18D9-49F2-9507-4E08E0B24FCF}" type="slidenum">
              <a:rPr lang="en-US" altLang="zh-CN" smtClean="0"/>
              <a:t>41</a:t>
            </a:fld>
            <a:endParaRPr lang="en-US" altLang="zh-CN"/>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9ECFC90-9D0C-4464-9ACC-BA9BDAB238E9}" type="slidenum">
              <a:rPr lang="en-US" altLang="zh-CN" smtClean="0"/>
              <a:t>42</a:t>
            </a:fld>
            <a:endParaRPr lang="en-US" altLang="zh-CN"/>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B6EE6C8-2F1D-4F36-81D0-850E4F9CB716}" type="slidenum">
              <a:rPr lang="en-US" altLang="zh-CN" smtClean="0"/>
              <a:t>43</a:t>
            </a:fld>
            <a:endParaRPr lang="en-US" altLang="zh-CN"/>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870FEA-A71C-4583-85CD-1905368CBF0D}" type="slidenum">
              <a:rPr lang="en-US" altLang="zh-CN" smtClean="0"/>
              <a:t>45</a:t>
            </a:fld>
            <a:endParaRPr lang="en-US" altLang="zh-CN"/>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8C36405-4D05-4D8B-BB39-C37BAEF4E71A}" type="slidenum">
              <a:rPr lang="en-US" altLang="zh-CN" smtClean="0"/>
              <a:t>46</a:t>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D6C87F2-10BA-453E-9886-0867B086EEDB}" type="slidenum">
              <a:rPr lang="en-US" altLang="zh-CN" smtClean="0"/>
              <a:t>47</a:t>
            </a:fld>
            <a:endParaRPr lang="en-US" altLang="zh-CN"/>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49</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50</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51</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52</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53</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56</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57</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58</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59</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60</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61</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62</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63</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64</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65</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66</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67</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69</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70</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71</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72</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73</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74</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75</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76</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489ACA1-179B-481F-9D46-273295E5FB20}"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A9D4422-EEEB-47F6-A8F5-0D42B95B92D6}"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E78E5202-77FE-4996-ADD2-3B5ED26F29B9}"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2AF35C2-699E-49C0-8F33-282BA5DACF82}"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F16DFCB-6359-4F9A-8CFA-74D2334EB1A9}" type="datetime1">
              <a:rPr lang="zh-CN" altLang="en-US" smtClean="0"/>
              <a:t>2026/8/12</a:t>
            </a:fld>
            <a:endParaRPr lang="zh-CN" altLang="en-US"/>
          </a:p>
        </p:txBody>
      </p:sp>
      <p:sp>
        <p:nvSpPr>
          <p:cNvPr id="8" name="Footer Placeholder 7"/>
          <p:cNvSpPr>
            <a:spLocks noGrp="1"/>
          </p:cNvSpPr>
          <p:nvPr>
            <p:ph type="ftr" sz="quarter" idx="11"/>
          </p:nvPr>
        </p:nvSpPr>
        <p:spPr/>
        <p:txBody>
          <a:bodyPr/>
          <a:lstStyle/>
          <a:p>
            <a:r>
              <a:rPr lang="zh-CN" altLang="en-US"/>
              <a:t>计算机组成原理--第二章 计算机中的信息表示</a:t>
            </a:r>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5BD7D56-269D-4745-8ECD-1F896AF47604}" type="datetime1">
              <a:rPr lang="zh-CN" altLang="en-US" smtClean="0"/>
              <a:t>2026/8/12</a:t>
            </a:fld>
            <a:endParaRPr lang="zh-CN" altLang="en-US"/>
          </a:p>
        </p:txBody>
      </p:sp>
      <p:sp>
        <p:nvSpPr>
          <p:cNvPr id="4" name="Footer Placeholder 3"/>
          <p:cNvSpPr>
            <a:spLocks noGrp="1"/>
          </p:cNvSpPr>
          <p:nvPr>
            <p:ph type="ftr" sz="quarter" idx="11"/>
          </p:nvPr>
        </p:nvSpPr>
        <p:spPr/>
        <p:txBody>
          <a:bodyPr/>
          <a:lstStyle/>
          <a:p>
            <a:r>
              <a:rPr lang="zh-CN" altLang="en-US"/>
              <a:t>计算机组成原理--第二章 计算机中的信息表示</a:t>
            </a:r>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C58AA-0FB2-407D-B580-C4B0AFB2044B}" type="datetime1">
              <a:rPr lang="zh-CN" altLang="en-US" smtClean="0"/>
              <a:t>2026/8/12</a:t>
            </a:fld>
            <a:endParaRPr lang="zh-CN" altLang="en-US"/>
          </a:p>
        </p:txBody>
      </p:sp>
      <p:sp>
        <p:nvSpPr>
          <p:cNvPr id="3" name="Footer Placeholder 2"/>
          <p:cNvSpPr>
            <a:spLocks noGrp="1"/>
          </p:cNvSpPr>
          <p:nvPr>
            <p:ph type="ftr" sz="quarter" idx="11"/>
          </p:nvPr>
        </p:nvSpPr>
        <p:spPr/>
        <p:txBody>
          <a:bodyPr/>
          <a:lstStyle/>
          <a:p>
            <a:r>
              <a:rPr lang="zh-CN" altLang="en-US"/>
              <a:t>计算机组成原理--第二章 计算机中的信息表示</a:t>
            </a:r>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3B58237-BA68-47C3-BB51-6F01FCE5D207}"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5DCD610-342E-4938-99D5-621B29F2B7B0}"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758268-2D8A-4C23-B12B-84CA740083CD}"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ECE36AB-E675-4199-81B1-EDE34A9281E2}"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489ACA1-179B-481F-9D46-273295E5FB20}"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A9D4422-EEEB-47F6-A8F5-0D42B95B92D6}"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E78E5202-77FE-4996-ADD2-3B5ED26F29B9}"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2AF35C2-699E-49C0-8F33-282BA5DACF82}"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F16DFCB-6359-4F9A-8CFA-74D2334EB1A9}" type="datetime1">
              <a:rPr lang="zh-CN" altLang="en-US" smtClean="0"/>
              <a:t>2026/8/12</a:t>
            </a:fld>
            <a:endParaRPr lang="zh-CN" altLang="en-US"/>
          </a:p>
        </p:txBody>
      </p:sp>
      <p:sp>
        <p:nvSpPr>
          <p:cNvPr id="8" name="Footer Placeholder 7"/>
          <p:cNvSpPr>
            <a:spLocks noGrp="1"/>
          </p:cNvSpPr>
          <p:nvPr>
            <p:ph type="ftr" sz="quarter" idx="11"/>
          </p:nvPr>
        </p:nvSpPr>
        <p:spPr/>
        <p:txBody>
          <a:bodyPr/>
          <a:lstStyle/>
          <a:p>
            <a:r>
              <a:rPr lang="zh-CN" altLang="en-US"/>
              <a:t>计算机组成原理--第二章 计算机中的信息表示</a:t>
            </a:r>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5BD7D56-269D-4745-8ECD-1F896AF47604}" type="datetime1">
              <a:rPr lang="zh-CN" altLang="en-US" smtClean="0"/>
              <a:t>2026/8/12</a:t>
            </a:fld>
            <a:endParaRPr lang="zh-CN" altLang="en-US"/>
          </a:p>
        </p:txBody>
      </p:sp>
      <p:sp>
        <p:nvSpPr>
          <p:cNvPr id="4" name="Footer Placeholder 3"/>
          <p:cNvSpPr>
            <a:spLocks noGrp="1"/>
          </p:cNvSpPr>
          <p:nvPr>
            <p:ph type="ftr" sz="quarter" idx="11"/>
          </p:nvPr>
        </p:nvSpPr>
        <p:spPr/>
        <p:txBody>
          <a:bodyPr/>
          <a:lstStyle/>
          <a:p>
            <a:r>
              <a:rPr lang="zh-CN" altLang="en-US"/>
              <a:t>计算机组成原理--第二章 计算机中的信息表示</a:t>
            </a:r>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C58AA-0FB2-407D-B580-C4B0AFB2044B}" type="datetime1">
              <a:rPr lang="zh-CN" altLang="en-US" smtClean="0"/>
              <a:t>2026/8/12</a:t>
            </a:fld>
            <a:endParaRPr lang="zh-CN" altLang="en-US"/>
          </a:p>
        </p:txBody>
      </p:sp>
      <p:sp>
        <p:nvSpPr>
          <p:cNvPr id="3" name="Footer Placeholder 2"/>
          <p:cNvSpPr>
            <a:spLocks noGrp="1"/>
          </p:cNvSpPr>
          <p:nvPr>
            <p:ph type="ftr" sz="quarter" idx="11"/>
          </p:nvPr>
        </p:nvSpPr>
        <p:spPr/>
        <p:txBody>
          <a:bodyPr/>
          <a:lstStyle/>
          <a:p>
            <a:r>
              <a:rPr lang="zh-CN" altLang="en-US"/>
              <a:t>计算机组成原理--第二章 计算机中的信息表示</a:t>
            </a:r>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3B58237-BA68-47C3-BB51-6F01FCE5D207}"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5DCD610-342E-4938-99D5-621B29F2B7B0}" type="datetime1">
              <a:rPr lang="zh-CN" altLang="en-US" smtClean="0"/>
              <a:t>2026/8/12</a:t>
            </a:fld>
            <a:endParaRPr lang="zh-CN" altLang="en-US"/>
          </a:p>
        </p:txBody>
      </p:sp>
      <p:sp>
        <p:nvSpPr>
          <p:cNvPr id="6" name="Footer Placeholder 5"/>
          <p:cNvSpPr>
            <a:spLocks noGrp="1"/>
          </p:cNvSpPr>
          <p:nvPr>
            <p:ph type="ftr" sz="quarter" idx="11"/>
          </p:nvPr>
        </p:nvSpPr>
        <p:spPr/>
        <p:txBody>
          <a:bodyPr/>
          <a:lstStyle/>
          <a:p>
            <a:r>
              <a:rPr lang="zh-CN" altLang="en-US"/>
              <a:t>计算机组成原理--第二章 计算机中的信息表示</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758268-2D8A-4C23-B12B-84CA740083CD}"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ECE36AB-E675-4199-81B1-EDE34A9281E2}" type="datetime1">
              <a:rPr lang="zh-CN" altLang="en-US" smtClean="0"/>
              <a:t>2026/8/12</a:t>
            </a:fld>
            <a:endParaRPr lang="zh-CN" altLang="en-US"/>
          </a:p>
        </p:txBody>
      </p:sp>
      <p:sp>
        <p:nvSpPr>
          <p:cNvPr id="5" name="Footer Placeholder 4"/>
          <p:cNvSpPr>
            <a:spLocks noGrp="1"/>
          </p:cNvSpPr>
          <p:nvPr>
            <p:ph type="ftr" sz="quarter" idx="11"/>
          </p:nvPr>
        </p:nvSpPr>
        <p:spPr/>
        <p:txBody>
          <a:bodyPr/>
          <a:lstStyle/>
          <a:p>
            <a:r>
              <a:rPr lang="zh-CN" altLang="en-US"/>
              <a:t>计算机组成原理--第二章 计算机中的信息表示</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632E8-D8AA-45C2-B897-9CF75AE40F82}" type="datetime1">
              <a:rPr lang="zh-CN" altLang="en-US" smtClean="0"/>
              <a:t>2026/8/12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计算机组成原理--第二章 计算机中的信息表示</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632E8-D8AA-45C2-B897-9CF75AE40F82}" type="datetime1">
              <a:rPr lang="zh-CN" altLang="en-US" smtClean="0"/>
              <a:t>2026/8/12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计算机组成原理--第二章 计算机中的信息表示</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8.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1.jpe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8.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1.jpe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4.xml"/><Relationship Id="rId1" Type="http://schemas.openxmlformats.org/officeDocument/2006/relationships/slideLayout" Target="../slideLayouts/slideLayout1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659"/>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计算机体系架构</a:t>
            </a: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875155" y="4164330"/>
            <a:ext cx="6504305" cy="521970"/>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800" b="1" dirty="0">
                <a:solidFill>
                  <a:srgbClr val="004578"/>
                </a:solidFill>
              </a:rPr>
              <a:t>第一部分 相关电路基础和数字理论基础</a:t>
            </a: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3" name="日期占位符 2"/>
          <p:cNvSpPr>
            <a:spLocks noGrp="1"/>
          </p:cNvSpPr>
          <p:nvPr>
            <p:ph type="dt" sz="half" idx="10"/>
          </p:nvPr>
        </p:nvSpPr>
        <p:spPr>
          <a:xfrm>
            <a:off x="235731" y="6474676"/>
            <a:ext cx="2057400" cy="365125"/>
          </a:xfrm>
        </p:spPr>
        <p:txBody>
          <a:bodyPr/>
          <a:lstStyle/>
          <a:p>
            <a:fld id="{180E2A6E-F97F-4B25-9D63-0BCF8854F63E}" type="datetime1">
              <a:rPr lang="zh-CN" altLang="en-US" sz="1400" smtClean="0">
                <a:solidFill>
                  <a:schemeClr val="tx1"/>
                </a:solidFill>
              </a:rPr>
              <a:t>2026/8/12</a:t>
            </a:fld>
            <a:endParaRPr lang="zh-CN" alt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30437" t="623" r="9645" b="-623"/>
          <a:stretch>
            <a:fillRect/>
          </a:stretch>
        </p:blipFill>
        <p:spPr>
          <a:xfrm>
            <a:off x="0" y="0"/>
            <a:ext cx="9160510" cy="6904355"/>
          </a:xfrm>
          <a:prstGeom prst="rect">
            <a:avLst/>
          </a:prstGeom>
          <a:solidFill>
            <a:schemeClr val="bg1">
              <a:alpha val="43000"/>
            </a:schemeClr>
          </a:solidFill>
        </p:spPr>
      </p:pic>
      <p:sp>
        <p:nvSpPr>
          <p:cNvPr id="7" name="矩形 6"/>
          <p:cNvSpPr/>
          <p:nvPr/>
        </p:nvSpPr>
        <p:spPr>
          <a:xfrm>
            <a:off x="885825" y="1089025"/>
            <a:ext cx="7893685" cy="4120515"/>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284372" y="2976311"/>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1</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5" name="椭圆 14"/>
          <p:cNvSpPr/>
          <p:nvPr/>
        </p:nvSpPr>
        <p:spPr>
          <a:xfrm>
            <a:off x="2284372" y="4049478"/>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2</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3063875" y="4049509"/>
            <a:ext cx="3032488" cy="52197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字符的表示方法</a:t>
            </a:r>
          </a:p>
        </p:txBody>
      </p:sp>
      <p:sp>
        <p:nvSpPr>
          <p:cNvPr id="18" name="文本框 17"/>
          <p:cNvSpPr txBox="1"/>
          <p:nvPr/>
        </p:nvSpPr>
        <p:spPr>
          <a:xfrm>
            <a:off x="2966085" y="2889250"/>
            <a:ext cx="4069080" cy="52197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数值型数据的表示方法</a:t>
            </a: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 name="文本框 1"/>
          <p:cNvSpPr txBox="1"/>
          <p:nvPr/>
        </p:nvSpPr>
        <p:spPr>
          <a:xfrm>
            <a:off x="2631440" y="1292225"/>
            <a:ext cx="5032375" cy="768350"/>
          </a:xfrm>
          <a:prstGeom prst="rect">
            <a:avLst/>
          </a:prstGeom>
          <a:noFill/>
        </p:spPr>
        <p:txBody>
          <a:bodyPr wrap="none" rtlCol="0">
            <a:spAutoFit/>
          </a:bodyPr>
          <a:lstStyle/>
          <a:p>
            <a:r>
              <a:rPr lang="zh-CN" altLang="en-US" sz="4400"/>
              <a:t>第一章   信息的表示</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E089936-63FF-4F86-9D1E-BA7B83A246E2}" type="datetime1">
              <a:rPr lang="zh-CN" altLang="en-US" smtClean="0"/>
              <a:t>2026/8/12</a:t>
            </a:fld>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t>3</a:t>
            </a:fld>
            <a:endParaRPr lang="zh-CN" altLang="en-US"/>
          </a:p>
        </p:txBody>
      </p:sp>
      <p:sp>
        <p:nvSpPr>
          <p:cNvPr id="18" name="Text Box 5"/>
          <p:cNvSpPr txBox="1"/>
          <p:nvPr/>
        </p:nvSpPr>
        <p:spPr>
          <a:xfrm>
            <a:off x="589915" y="930275"/>
            <a:ext cx="7968615" cy="3446145"/>
          </a:xfrm>
          <a:prstGeom prst="rect">
            <a:avLst/>
          </a:prstGeom>
          <a:noFill/>
          <a:ln w="9525">
            <a:noFill/>
          </a:ln>
        </p:spPr>
        <p:txBody>
          <a:bodyPr wrap="square" anchor="t">
            <a:spAutoFit/>
          </a:bodyPr>
          <a:lstStyle/>
          <a:p>
            <a:pPr>
              <a:lnSpc>
                <a:spcPct val="10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重点</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、进位计数制及其相互转换</a:t>
            </a:r>
          </a:p>
          <a:p>
            <a:pPr>
              <a:lnSpc>
                <a:spcPct val="100000"/>
              </a:lnSpc>
              <a:spcBef>
                <a:spcPts val="1200"/>
              </a:spcBef>
            </a:pPr>
            <a:r>
              <a:rPr lang="zh-CN" altLang="en-US" sz="2800" b="1" dirty="0">
                <a:latin typeface="楷体" panose="02010609060101010101" pitchFamily="49" charset="-122"/>
                <a:ea typeface="楷体" panose="02010609060101010101" pitchFamily="49" charset="-122"/>
              </a:rPr>
              <a:t>        （二--八--十--十六进制间的转换）</a:t>
            </a:r>
          </a:p>
          <a:p>
            <a:pPr>
              <a:lnSpc>
                <a:spcPct val="100000"/>
              </a:lnSpc>
              <a:spcBef>
                <a:spcPts val="1200"/>
              </a:spcBef>
            </a:pPr>
            <a:r>
              <a:rPr lang="zh-CN" altLang="en-US" sz="2800" b="1" dirty="0">
                <a:latin typeface="楷体" panose="02010609060101010101" pitchFamily="49" charset="-122"/>
                <a:ea typeface="楷体" panose="02010609060101010101" pitchFamily="49" charset="-122"/>
              </a:rPr>
              <a:t>      2、机器数</a:t>
            </a:r>
          </a:p>
          <a:p>
            <a:pPr>
              <a:lnSpc>
                <a:spcPct val="100000"/>
              </a:lnSpc>
              <a:spcBef>
                <a:spcPts val="1200"/>
              </a:spcBef>
            </a:pPr>
            <a:r>
              <a:rPr lang="zh-CN" altLang="en-US" sz="2800" b="1" dirty="0">
                <a:latin typeface="楷体" panose="02010609060101010101" pitchFamily="49" charset="-122"/>
                <a:ea typeface="楷体" panose="02010609060101010101" pitchFamily="49" charset="-122"/>
              </a:rPr>
              <a:t>      3、IEEE754标准浮点表示格式</a:t>
            </a:r>
          </a:p>
          <a:p>
            <a:pPr>
              <a:lnSpc>
                <a:spcPct val="100000"/>
              </a:lnSpc>
              <a:spcBef>
                <a:spcPts val="1200"/>
              </a:spcBef>
            </a:pPr>
            <a:r>
              <a:rPr lang="zh-CN" altLang="en-US" sz="2800" b="1" dirty="0">
                <a:latin typeface="楷体" panose="02010609060101010101" pitchFamily="49" charset="-122"/>
                <a:ea typeface="楷体" panose="02010609060101010101" pitchFamily="49" charset="-122"/>
              </a:rPr>
              <a:t>      4、能直接被CPU访问的操作数存放位置</a:t>
            </a:r>
          </a:p>
          <a:p>
            <a:pPr>
              <a:lnSpc>
                <a:spcPct val="100000"/>
              </a:lnSpc>
              <a:spcBef>
                <a:spcPts val="1200"/>
              </a:spcBef>
            </a:pPr>
            <a:r>
              <a:rPr lang="zh-CN" altLang="en-US" sz="2800" b="1" dirty="0">
                <a:latin typeface="楷体" panose="02010609060101010101" pitchFamily="49" charset="-122"/>
                <a:ea typeface="楷体" panose="02010609060101010101" pitchFamily="49" charset="-122"/>
              </a:rPr>
              <a:t>      5、寻址方式</a:t>
            </a:r>
          </a:p>
        </p:txBody>
      </p:sp>
      <p:sp>
        <p:nvSpPr>
          <p:cNvPr id="15" name="Text Box 5"/>
          <p:cNvSpPr txBox="1"/>
          <p:nvPr/>
        </p:nvSpPr>
        <p:spPr>
          <a:xfrm>
            <a:off x="2259330" y="4869180"/>
            <a:ext cx="950595" cy="73723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ED7D31"/>
                </a:solidFill>
                <a:latin typeface="楷体" panose="02010609060101010101" pitchFamily="49" charset="-122"/>
                <a:ea typeface="楷体" panose="02010609060101010101" pitchFamily="49" charset="-122"/>
              </a:rPr>
              <a:t>信息</a:t>
            </a:r>
          </a:p>
        </p:txBody>
      </p:sp>
      <p:sp>
        <p:nvSpPr>
          <p:cNvPr id="13" name="AutoShape 5"/>
          <p:cNvSpPr/>
          <p:nvPr/>
        </p:nvSpPr>
        <p:spPr bwMode="auto">
          <a:xfrm>
            <a:off x="3243580" y="4710430"/>
            <a:ext cx="196850" cy="123698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4" name="矩形 13"/>
          <p:cNvSpPr/>
          <p:nvPr/>
        </p:nvSpPr>
        <p:spPr>
          <a:xfrm>
            <a:off x="3475990" y="4291330"/>
            <a:ext cx="1390650" cy="737235"/>
          </a:xfrm>
          <a:prstGeom prst="rect">
            <a:avLst/>
          </a:prstGeom>
        </p:spPr>
        <p:txBody>
          <a:bodyPr wrap="square">
            <a:spAutoFit/>
          </a:bodyPr>
          <a:lstStyle/>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数据型</a:t>
            </a:r>
          </a:p>
        </p:txBody>
      </p:sp>
      <p:sp>
        <p:nvSpPr>
          <p:cNvPr id="2" name="矩形 1"/>
          <p:cNvSpPr/>
          <p:nvPr/>
        </p:nvSpPr>
        <p:spPr>
          <a:xfrm>
            <a:off x="3500755" y="5473700"/>
            <a:ext cx="1279525" cy="737235"/>
          </a:xfrm>
          <a:prstGeom prst="rect">
            <a:avLst/>
          </a:prstGeom>
        </p:spPr>
        <p:txBody>
          <a:bodyPr wrap="square">
            <a:spAutoFit/>
          </a:bodyPr>
          <a:lstStyle/>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控制型</a:t>
            </a:r>
          </a:p>
        </p:txBody>
      </p:sp>
      <p:sp>
        <p:nvSpPr>
          <p:cNvPr id="3" name="AutoShape 5"/>
          <p:cNvSpPr/>
          <p:nvPr/>
        </p:nvSpPr>
        <p:spPr bwMode="auto">
          <a:xfrm>
            <a:off x="4791710" y="4332605"/>
            <a:ext cx="161925" cy="737235"/>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7" name="矩形 6"/>
          <p:cNvSpPr/>
          <p:nvPr/>
        </p:nvSpPr>
        <p:spPr>
          <a:xfrm>
            <a:off x="4947920" y="4052570"/>
            <a:ext cx="1735455" cy="1210945"/>
          </a:xfrm>
          <a:prstGeom prst="rect">
            <a:avLst/>
          </a:prstGeom>
        </p:spPr>
        <p:txBody>
          <a:bodyPr wrap="square">
            <a:spAutoFit/>
          </a:bodyPr>
          <a:lstStyle/>
          <a:p>
            <a:pPr fontAlgn="auto">
              <a:lnSpc>
                <a:spcPct val="13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数值型</a:t>
            </a:r>
          </a:p>
          <a:p>
            <a:pPr fontAlgn="auto">
              <a:lnSpc>
                <a:spcPct val="13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非数值型</a:t>
            </a:r>
          </a:p>
        </p:txBody>
      </p:sp>
      <p:sp>
        <p:nvSpPr>
          <p:cNvPr id="9" name="AutoShape 5"/>
          <p:cNvSpPr/>
          <p:nvPr/>
        </p:nvSpPr>
        <p:spPr bwMode="auto">
          <a:xfrm>
            <a:off x="4817110" y="5541645"/>
            <a:ext cx="160655" cy="71882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0" name="矩形 9"/>
          <p:cNvSpPr/>
          <p:nvPr/>
        </p:nvSpPr>
        <p:spPr>
          <a:xfrm>
            <a:off x="5013960" y="5221605"/>
            <a:ext cx="1348740" cy="1210945"/>
          </a:xfrm>
          <a:prstGeom prst="rect">
            <a:avLst/>
          </a:prstGeom>
        </p:spPr>
        <p:txBody>
          <a:bodyPr wrap="square">
            <a:spAutoFit/>
          </a:bodyPr>
          <a:lstStyle/>
          <a:p>
            <a:pPr fontAlgn="auto">
              <a:lnSpc>
                <a:spcPct val="13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指令</a:t>
            </a:r>
          </a:p>
          <a:p>
            <a:pPr fontAlgn="auto">
              <a:lnSpc>
                <a:spcPct val="13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微指令</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wipe(left)">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wipe(left)">
                                      <p:cBhvr>
                                        <p:cTn id="32" dur="500"/>
                                        <p:tgtEl>
                                          <p:spTgt spid="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left)">
                                      <p:cBhvr>
                                        <p:cTn id="37" dur="500"/>
                                        <p:tgtEl>
                                          <p:spTgt spid="15">
                                            <p:txEl>
                                              <p:pRg st="0" end="0"/>
                                            </p:txEl>
                                          </p:spTgt>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
                                            <p:txEl>
                                              <p:pRg st="0" end="0"/>
                                            </p:txEl>
                                          </p:spTgt>
                                        </p:tgtEl>
                                        <p:attrNameLst>
                                          <p:attrName>style.visibility</p:attrName>
                                        </p:attrNameLst>
                                      </p:cBhvr>
                                      <p:to>
                                        <p:strVal val="visible"/>
                                      </p:to>
                                    </p:set>
                                    <p:animEffect transition="in" filter="wipe(left)">
                                      <p:cBhvr>
                                        <p:cTn id="46" dur="500"/>
                                        <p:tgtEl>
                                          <p:spTgt spid="1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
                                            <p:txEl>
                                              <p:pRg st="0" end="0"/>
                                            </p:txEl>
                                          </p:spTgt>
                                        </p:tgtEl>
                                        <p:attrNameLst>
                                          <p:attrName>style.visibility</p:attrName>
                                        </p:attrNameLst>
                                      </p:cBhvr>
                                      <p:to>
                                        <p:strVal val="visible"/>
                                      </p:to>
                                    </p:set>
                                    <p:animEffect transition="in" filter="wipe(left)">
                                      <p:cBhvr>
                                        <p:cTn id="51" dur="500"/>
                                        <p:tgtEl>
                                          <p:spTgt spid="2">
                                            <p:txEl>
                                              <p:pRg st="0" end="0"/>
                                            </p:txEl>
                                          </p:spTgt>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
                                            <p:txEl>
                                              <p:pRg st="0" end="0"/>
                                            </p:txEl>
                                          </p:spTgt>
                                        </p:tgtEl>
                                        <p:attrNameLst>
                                          <p:attrName>style.visibility</p:attrName>
                                        </p:attrNameLst>
                                      </p:cBhvr>
                                      <p:to>
                                        <p:strVal val="visible"/>
                                      </p:to>
                                    </p:set>
                                    <p:animEffect transition="in" filter="wipe(left)">
                                      <p:cBhvr>
                                        <p:cTn id="60" dur="500"/>
                                        <p:tgtEl>
                                          <p:spTgt spid="7">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
                                            <p:txEl>
                                              <p:pRg st="1" end="1"/>
                                            </p:txEl>
                                          </p:spTgt>
                                        </p:tgtEl>
                                        <p:attrNameLst>
                                          <p:attrName>style.visibility</p:attrName>
                                        </p:attrNameLst>
                                      </p:cBhvr>
                                      <p:to>
                                        <p:strVal val="visible"/>
                                      </p:to>
                                    </p:set>
                                    <p:animEffect transition="in" filter="wipe(left)">
                                      <p:cBhvr>
                                        <p:cTn id="65" dur="500"/>
                                        <p:tgtEl>
                                          <p:spTgt spid="7">
                                            <p:txEl>
                                              <p:pRg st="1" end="1"/>
                                            </p:txEl>
                                          </p:spTgt>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0">
                                            <p:txEl>
                                              <p:pRg st="0" end="0"/>
                                            </p:txEl>
                                          </p:spTgt>
                                        </p:tgtEl>
                                        <p:attrNameLst>
                                          <p:attrName>style.visibility</p:attrName>
                                        </p:attrNameLst>
                                      </p:cBhvr>
                                      <p:to>
                                        <p:strVal val="visible"/>
                                      </p:to>
                                    </p:set>
                                    <p:animEffect transition="in" filter="wipe(left)">
                                      <p:cBhvr>
                                        <p:cTn id="74" dur="500"/>
                                        <p:tgtEl>
                                          <p:spTgt spid="10">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
                                            <p:txEl>
                                              <p:pRg st="1" end="1"/>
                                            </p:txEl>
                                          </p:spTgt>
                                        </p:tgtEl>
                                        <p:attrNameLst>
                                          <p:attrName>style.visibility</p:attrName>
                                        </p:attrNameLst>
                                      </p:cBhvr>
                                      <p:to>
                                        <p:strVal val="visible"/>
                                      </p:to>
                                    </p:set>
                                    <p:animEffect transition="in" filter="wipe(left)">
                                      <p:cBhvr>
                                        <p:cTn id="79"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5" grpId="0" build="p"/>
      <p:bldP spid="13" grpId="0" bldLvl="0" animBg="1"/>
      <p:bldP spid="14" grpId="0" build="p"/>
      <p:bldP spid="2" grpId="0" build="p"/>
      <p:bldP spid="3" grpId="0" bldLvl="0" animBg="1"/>
      <p:bldP spid="7" grpId="0" build="p"/>
      <p:bldP spid="9" grpId="0" bldLvl="0" animBg="1"/>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D3A0782-5711-44C8-A5A6-8E0CD5B16373}"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2026/8/12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计算机组成原理--第二章 计算机中的信息表示</a:t>
            </a: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lang="en-US" altLang="zh-CN" sz="2800" b="1" dirty="0">
                  <a:solidFill>
                    <a:prstClr val="white"/>
                  </a:solidFill>
                  <a:latin typeface="隶书" panose="02010509060101010101" pitchFamily="49" charset="-122"/>
                  <a:ea typeface="隶书" panose="02010509060101010101" pitchFamily="49" charset="-122"/>
                </a:rPr>
                <a:t>1</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数值型数据的表示方法</a:t>
              </a: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4685033"/>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02.</a:t>
            </a:r>
          </a:p>
        </p:txBody>
      </p:sp>
      <p:sp>
        <p:nvSpPr>
          <p:cNvPr id="15" name="ísḻiḑe"/>
          <p:cNvSpPr/>
          <p:nvPr/>
        </p:nvSpPr>
        <p:spPr>
          <a:xfrm>
            <a:off x="2526228" y="4696575"/>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带符号数的表示</a:t>
            </a:r>
          </a:p>
        </p:txBody>
      </p:sp>
      <p:sp>
        <p:nvSpPr>
          <p:cNvPr id="16" name="ïṩľîdé"/>
          <p:cNvSpPr txBox="1"/>
          <p:nvPr/>
        </p:nvSpPr>
        <p:spPr>
          <a:xfrm>
            <a:off x="1872697" y="5370176"/>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7" name="îṣ1idè"/>
          <p:cNvSpPr/>
          <p:nvPr/>
        </p:nvSpPr>
        <p:spPr>
          <a:xfrm>
            <a:off x="2526228" y="5381717"/>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en-US" altLang="zh-CN"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数的定点表示和浮点表示</a:t>
            </a:r>
          </a:p>
        </p:txBody>
      </p:sp>
      <p:sp>
        <p:nvSpPr>
          <p:cNvPr id="22" name="îṩļíḑé"/>
          <p:cNvSpPr/>
          <p:nvPr/>
        </p:nvSpPr>
        <p:spPr>
          <a:xfrm>
            <a:off x="1524070" y="471358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3" name="ïśľîḋê"/>
          <p:cNvSpPr/>
          <p:nvPr/>
        </p:nvSpPr>
        <p:spPr>
          <a:xfrm>
            <a:off x="1524070" y="5398730"/>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26" name="直接连接符 25"/>
          <p:cNvCxnSpPr/>
          <p:nvPr/>
        </p:nvCxnSpPr>
        <p:spPr>
          <a:xfrm>
            <a:off x="1959428" y="5191235"/>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5" name="îsḻíḋé"/>
          <p:cNvSpPr txBox="1"/>
          <p:nvPr/>
        </p:nvSpPr>
        <p:spPr>
          <a:xfrm>
            <a:off x="1865444" y="395206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p>
        </p:txBody>
      </p:sp>
      <p:sp>
        <p:nvSpPr>
          <p:cNvPr id="28" name="ísḻiḑe"/>
          <p:cNvSpPr/>
          <p:nvPr/>
        </p:nvSpPr>
        <p:spPr>
          <a:xfrm>
            <a:off x="2518974" y="3963610"/>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进位计数制及其相互转换</a:t>
            </a:r>
          </a:p>
        </p:txBody>
      </p:sp>
      <p:sp>
        <p:nvSpPr>
          <p:cNvPr id="31" name="îṩļíḑé"/>
          <p:cNvSpPr/>
          <p:nvPr/>
        </p:nvSpPr>
        <p:spPr>
          <a:xfrm>
            <a:off x="1516816" y="3980623"/>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32" name="直接连接符 31"/>
          <p:cNvCxnSpPr/>
          <p:nvPr/>
        </p:nvCxnSpPr>
        <p:spPr>
          <a:xfrm>
            <a:off x="1952174" y="445827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5" name="Text Box 5"/>
          <p:cNvSpPr txBox="1"/>
          <p:nvPr/>
        </p:nvSpPr>
        <p:spPr>
          <a:xfrm>
            <a:off x="502285" y="2518410"/>
            <a:ext cx="8289925" cy="1130935"/>
          </a:xfrm>
          <a:prstGeom prst="rect">
            <a:avLst/>
          </a:prstGeom>
          <a:noFill/>
          <a:ln w="9525">
            <a:noFill/>
          </a:ln>
        </p:spPr>
        <p:txBody>
          <a:bodyPr wrap="square" anchor="t">
            <a:spAutoFit/>
          </a:bodyPr>
          <a:lstStyle/>
          <a:p>
            <a:pPr fontAlgn="auto">
              <a:lnSpc>
                <a:spcPct val="130000"/>
              </a:lnSpc>
              <a:spcBef>
                <a:spcPts val="0"/>
              </a:spcBef>
              <a:spcAft>
                <a:spcPts val="0"/>
              </a:spcAft>
            </a:pPr>
            <a:r>
              <a:rPr sz="2600" b="1" dirty="0">
                <a:latin typeface="楷体" panose="02010609060101010101" pitchFamily="49" charset="-122"/>
                <a:ea typeface="楷体" panose="02010609060101010101" pitchFamily="49" charset="-122"/>
              </a:rPr>
              <a:t>一个数值型数据的完整表示需三个方面：</a:t>
            </a:r>
          </a:p>
          <a:p>
            <a:pPr fontAlgn="auto">
              <a:lnSpc>
                <a:spcPct val="130000"/>
              </a:lnSpc>
              <a:spcBef>
                <a:spcPts val="0"/>
              </a:spcBef>
              <a:spcAft>
                <a:spcPts val="0"/>
              </a:spcAft>
            </a:pPr>
            <a:r>
              <a:rPr sz="2600" b="1" dirty="0">
                <a:solidFill>
                  <a:srgbClr val="ED7D31"/>
                </a:solidFill>
                <a:latin typeface="楷体" panose="02010609060101010101" pitchFamily="49" charset="-122"/>
                <a:ea typeface="楷体" panose="02010609060101010101" pitchFamily="49" charset="-122"/>
              </a:rPr>
              <a:t>进位计数制</a:t>
            </a:r>
            <a:r>
              <a:rPr sz="2600" b="1" dirty="0">
                <a:latin typeface="楷体" panose="02010609060101010101" pitchFamily="49" charset="-122"/>
                <a:ea typeface="楷体" panose="02010609060101010101" pitchFamily="49" charset="-122"/>
              </a:rPr>
              <a:t>、</a:t>
            </a:r>
            <a:r>
              <a:rPr sz="2600" b="1" dirty="0">
                <a:solidFill>
                  <a:srgbClr val="ED7D31"/>
                </a:solidFill>
                <a:latin typeface="楷体" panose="02010609060101010101" pitchFamily="49" charset="-122"/>
                <a:ea typeface="楷体" panose="02010609060101010101" pitchFamily="49" charset="-122"/>
              </a:rPr>
              <a:t>符号的数字化（机器数）</a:t>
            </a:r>
            <a:r>
              <a:rPr sz="2600" b="1" dirty="0">
                <a:latin typeface="楷体" panose="02010609060101010101" pitchFamily="49" charset="-122"/>
                <a:ea typeface="楷体" panose="02010609060101010101" pitchFamily="49" charset="-122"/>
              </a:rPr>
              <a:t>、</a:t>
            </a:r>
            <a:r>
              <a:rPr sz="2600" b="1" dirty="0">
                <a:solidFill>
                  <a:srgbClr val="ED7D31"/>
                </a:solidFill>
                <a:latin typeface="楷体" panose="02010609060101010101" pitchFamily="49" charset="-122"/>
                <a:ea typeface="楷体" panose="02010609060101010101" pitchFamily="49" charset="-122"/>
              </a:rPr>
              <a:t>小数点的处理</a:t>
            </a:r>
            <a:endParaRPr lang="zh-CN" altLang="en-US" sz="2600" b="1" dirty="0">
              <a:solidFill>
                <a:schemeClr val="tx1"/>
              </a:solidFill>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一、进位计数制及其相互转换</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a:t>
            </a:fld>
            <a:endParaRPr lang="zh-CN" altLang="en-US"/>
          </a:p>
        </p:txBody>
      </p:sp>
      <p:sp>
        <p:nvSpPr>
          <p:cNvPr id="11" name="Text Box 5"/>
          <p:cNvSpPr txBox="1"/>
          <p:nvPr/>
        </p:nvSpPr>
        <p:spPr>
          <a:xfrm>
            <a:off x="181610" y="761365"/>
            <a:ext cx="8784590" cy="6328464"/>
          </a:xfrm>
          <a:prstGeom prst="rect">
            <a:avLst/>
          </a:prstGeom>
          <a:noFill/>
          <a:ln w="9525">
            <a:noFill/>
          </a:ln>
        </p:spPr>
        <p:txBody>
          <a:bodyPr wrap="square" anchor="t">
            <a:spAutoFit/>
          </a:bodyPr>
          <a:lstStyle/>
          <a:p>
            <a:pPr fontAlgn="auto">
              <a:lnSpc>
                <a:spcPct val="130000"/>
              </a:lnSpc>
              <a:spcBef>
                <a:spcPts val="0"/>
              </a:spcBef>
              <a:spcAft>
                <a:spcPts val="0"/>
              </a:spcAft>
            </a:pPr>
            <a:r>
              <a:rPr sz="2800" b="1" dirty="0">
                <a:latin typeface="楷体" panose="02010609060101010101" pitchFamily="49" charset="-122"/>
                <a:ea typeface="楷体" panose="02010609060101010101" pitchFamily="49" charset="-122"/>
              </a:rPr>
              <a:t>一个数值型数据的完整表示需三个方面：</a:t>
            </a:r>
          </a:p>
          <a:p>
            <a:pPr fontAlgn="auto">
              <a:lnSpc>
                <a:spcPct val="130000"/>
              </a:lnSpc>
              <a:spcBef>
                <a:spcPts val="0"/>
              </a:spcBef>
              <a:spcAft>
                <a:spcPts val="0"/>
              </a:spcAft>
            </a:pPr>
            <a:r>
              <a:rPr sz="2800" b="1" dirty="0">
                <a:solidFill>
                  <a:srgbClr val="ED7D31"/>
                </a:solidFill>
                <a:latin typeface="楷体" panose="02010609060101010101" pitchFamily="49" charset="-122"/>
                <a:ea typeface="楷体" panose="02010609060101010101" pitchFamily="49" charset="-122"/>
              </a:rPr>
              <a:t>进位计数制</a:t>
            </a:r>
            <a:r>
              <a:rPr sz="2800" b="1" dirty="0">
                <a:latin typeface="楷体" panose="02010609060101010101" pitchFamily="49" charset="-122"/>
                <a:ea typeface="楷体" panose="02010609060101010101" pitchFamily="49" charset="-122"/>
              </a:rPr>
              <a:t>、</a:t>
            </a:r>
            <a:r>
              <a:rPr sz="2800" b="1" dirty="0">
                <a:solidFill>
                  <a:srgbClr val="ED7D31"/>
                </a:solidFill>
                <a:latin typeface="楷体" panose="02010609060101010101" pitchFamily="49" charset="-122"/>
                <a:ea typeface="楷体" panose="02010609060101010101" pitchFamily="49" charset="-122"/>
              </a:rPr>
              <a:t>符号的数字化（机器数）</a:t>
            </a:r>
            <a:r>
              <a:rPr sz="2800" b="1" dirty="0">
                <a:latin typeface="楷体" panose="02010609060101010101" pitchFamily="49" charset="-122"/>
                <a:ea typeface="楷体" panose="02010609060101010101" pitchFamily="49" charset="-122"/>
              </a:rPr>
              <a:t>、</a:t>
            </a:r>
            <a:r>
              <a:rPr sz="2800" b="1" dirty="0">
                <a:solidFill>
                  <a:srgbClr val="ED7D31"/>
                </a:solidFill>
                <a:latin typeface="楷体" panose="02010609060101010101" pitchFamily="49" charset="-122"/>
                <a:ea typeface="楷体" panose="02010609060101010101" pitchFamily="49" charset="-122"/>
              </a:rPr>
              <a:t>小数点的处理</a:t>
            </a:r>
          </a:p>
          <a:p>
            <a:pPr fontAlgn="auto">
              <a:lnSpc>
                <a:spcPct val="130000"/>
              </a:lnSpc>
              <a:spcBef>
                <a:spcPts val="600"/>
              </a:spcBef>
              <a:spcAft>
                <a:spcPts val="0"/>
              </a:spcAft>
            </a:pPr>
            <a:r>
              <a:rPr lang="en-US"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sym typeface="+mn-ea"/>
              </a:rPr>
              <a:t>进位计数制及其相互转换</a:t>
            </a:r>
          </a:p>
          <a:p>
            <a:pPr fontAlgn="auto">
              <a:lnSpc>
                <a:spcPct val="130000"/>
              </a:lnSpc>
              <a:spcBef>
                <a:spcPts val="600"/>
              </a:spcBef>
              <a:spcAft>
                <a:spcPts val="0"/>
              </a:spcAft>
            </a:pPr>
            <a:r>
              <a:rPr lang="zh-CN" altLang="en-US" sz="2800" b="1" dirty="0">
                <a:solidFill>
                  <a:srgbClr val="0563C1"/>
                </a:solidFill>
                <a:latin typeface="楷体" panose="02010609060101010101" pitchFamily="49" charset="-122"/>
                <a:ea typeface="楷体" panose="02010609060101010101" pitchFamily="49" charset="-122"/>
                <a:sym typeface="+mn-ea"/>
              </a:rPr>
              <a:t>  （二--八--十--十六进制间的转换）</a:t>
            </a:r>
          </a:p>
          <a:p>
            <a:pPr fontAlgn="auto">
              <a:lnSpc>
                <a:spcPct val="13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1</a:t>
            </a:r>
            <a:r>
              <a:rPr lang="zh-CN" altLang="en-US" sz="2800" b="1" dirty="0">
                <a:solidFill>
                  <a:srgbClr val="ED7D31"/>
                </a:solidFill>
                <a:latin typeface="楷体" panose="02010609060101010101" pitchFamily="49" charset="-122"/>
                <a:ea typeface="楷体" panose="02010609060101010101" pitchFamily="49" charset="-122"/>
                <a:sym typeface="+mn-ea"/>
              </a:rPr>
              <a:t>）构成进位计数制的两个基本要素：</a:t>
            </a:r>
          </a:p>
          <a:p>
            <a:pPr fontAlgn="auto">
              <a:lnSpc>
                <a:spcPct val="13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三个概念：权</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基数、数符号</a:t>
            </a:r>
            <a:r>
              <a:rPr lang="zh-CN" altLang="en-US" sz="2800" b="1" dirty="0">
                <a:latin typeface="楷体" panose="02010609060101010101" pitchFamily="49" charset="-122"/>
                <a:ea typeface="楷体" panose="02010609060101010101" pitchFamily="49" charset="-122"/>
                <a:sym typeface="+mn-ea"/>
              </a:rPr>
              <a:t>。</a:t>
            </a:r>
            <a:endParaRPr lang="en-US" altLang="zh-CN" sz="2800" b="1" dirty="0">
              <a:solidFill>
                <a:schemeClr val="tx1"/>
              </a:solidFill>
              <a:latin typeface="楷体" panose="02010609060101010101" pitchFamily="49" charset="-122"/>
              <a:ea typeface="楷体" panose="02010609060101010101" pitchFamily="49" charset="-122"/>
              <a:sym typeface="+mn-ea"/>
            </a:endParaRPr>
          </a:p>
          <a:p>
            <a:pPr>
              <a:lnSpc>
                <a:spcPct val="130000"/>
              </a:lnSpc>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权</a:t>
            </a:r>
            <a:r>
              <a:rPr lang="zh-CN" altLang="en-US" sz="2800" b="1" dirty="0">
                <a:latin typeface="楷体" panose="02010609060101010101" pitchFamily="49" charset="-122"/>
                <a:ea typeface="楷体" panose="02010609060101010101" pitchFamily="49" charset="-122"/>
                <a:sym typeface="+mn-ea"/>
              </a:rPr>
              <a:t>：是一个与所在数位相关的常数。</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3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基数</a:t>
            </a:r>
            <a:r>
              <a:rPr lang="zh-CN" altLang="en-US" sz="2800" b="1" dirty="0">
                <a:solidFill>
                  <a:schemeClr val="tx1"/>
                </a:solidFill>
                <a:latin typeface="楷体" panose="02010609060101010101" pitchFamily="49" charset="-122"/>
                <a:ea typeface="楷体" panose="02010609060101010101" pitchFamily="49" charset="-122"/>
                <a:sym typeface="+mn-ea"/>
              </a:rPr>
              <a:t>：每个数位中所允许的最大数码值+1或每个数</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位中所允许的最多数码个数。</a:t>
            </a:r>
          </a:p>
          <a:p>
            <a:pPr fontAlgn="auto">
              <a:lnSpc>
                <a:spcPct val="13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权与基数的关系</a:t>
            </a:r>
            <a:r>
              <a:rPr lang="zh-CN" altLang="en-US" sz="2800" b="1" dirty="0">
                <a:solidFill>
                  <a:schemeClr val="tx1"/>
                </a:solidFill>
                <a:latin typeface="楷体" panose="02010609060101010101" pitchFamily="49" charset="-122"/>
                <a:ea typeface="楷体" panose="02010609060101010101" pitchFamily="49" charset="-122"/>
                <a:sym typeface="+mn-ea"/>
              </a:rPr>
              <a:t>：相邻两位的权值之比等于基数值。</a:t>
            </a:r>
            <a:endParaRPr lang="en-US" altLang="zh-CN" sz="2800" b="1" dirty="0">
              <a:solidFill>
                <a:schemeClr val="tx1"/>
              </a:solidFill>
              <a:latin typeface="楷体" panose="02010609060101010101" pitchFamily="49" charset="-122"/>
              <a:ea typeface="楷体" panose="02010609060101010101" pitchFamily="49" charset="-122"/>
              <a:sym typeface="+mn-ea"/>
            </a:endParaRPr>
          </a:p>
          <a:p>
            <a:pPr fontAlgn="auto">
              <a:lnSpc>
                <a:spcPct val="13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a:t>
            </a:r>
            <a:r>
              <a:rPr lang="zh-CN" altLang="en-US" sz="2800" b="1" dirty="0">
                <a:solidFill>
                  <a:schemeClr val="accent6"/>
                </a:solidFill>
                <a:latin typeface="楷体" panose="02010609060101010101" pitchFamily="49" charset="-122"/>
                <a:ea typeface="楷体" panose="02010609060101010101" pitchFamily="49" charset="-122"/>
                <a:sym typeface="+mn-ea"/>
              </a:rPr>
              <a:t>数符</a:t>
            </a:r>
            <a:r>
              <a:rPr lang="zh-CN" altLang="en-US" sz="2800" b="1" dirty="0">
                <a:latin typeface="楷体" panose="02010609060101010101" pitchFamily="49" charset="-122"/>
                <a:ea typeface="楷体" panose="02010609060101010101" pitchFamily="49" charset="-122"/>
                <a:sym typeface="+mn-ea"/>
              </a:rPr>
              <a:t>：在书写时表示某位数字本身的符号。</a:t>
            </a:r>
            <a:endParaRPr lang="zh-CN" altLang="en-US" sz="2800" b="1" dirty="0">
              <a:solidFill>
                <a:schemeClr val="tx1"/>
              </a:solidFill>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wipe(left)">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wipe(left)">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wipe(left)">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wipe(left)">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wipe(left)">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wipe(left)">
                                      <p:cBhvr>
                                        <p:cTn id="52"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a:t>
            </a:fld>
            <a:endParaRPr lang="zh-CN" altLang="en-US"/>
          </a:p>
        </p:txBody>
      </p:sp>
      <p:sp>
        <p:nvSpPr>
          <p:cNvPr id="11" name="Text Box 5"/>
          <p:cNvSpPr txBox="1"/>
          <p:nvPr/>
        </p:nvSpPr>
        <p:spPr>
          <a:xfrm>
            <a:off x="9525" y="799465"/>
            <a:ext cx="9047317" cy="5829866"/>
          </a:xfrm>
          <a:prstGeom prst="rect">
            <a:avLst/>
          </a:prstGeom>
          <a:noFill/>
          <a:ln w="9525">
            <a:noFill/>
          </a:ln>
        </p:spPr>
        <p:txBody>
          <a:bodyPr wrap="square" anchor="t">
            <a:spAutoFit/>
          </a:bodyPr>
          <a:lstStyle/>
          <a:p>
            <a:pPr fontAlgn="auto">
              <a:lnSpc>
                <a:spcPct val="17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2</a:t>
            </a:r>
            <a:r>
              <a:rPr lang="zh-CN" altLang="en-US" sz="2800" b="1" dirty="0">
                <a:solidFill>
                  <a:srgbClr val="ED7D31"/>
                </a:solidFill>
                <a:latin typeface="楷体" panose="02010609060101010101" pitchFamily="49" charset="-122"/>
                <a:ea typeface="楷体" panose="02010609060101010101" pitchFamily="49" charset="-122"/>
                <a:sym typeface="+mn-ea"/>
              </a:rPr>
              <a:t>）各种进位计数制的表示（二--八--十--十六进制）</a:t>
            </a:r>
          </a:p>
          <a:p>
            <a:pPr fontAlgn="auto">
              <a:lnSpc>
                <a:spcPct val="17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二进制</a:t>
            </a:r>
            <a:r>
              <a:rPr lang="zh-CN" altLang="en-US" sz="2800" b="1" dirty="0">
                <a:solidFill>
                  <a:schemeClr val="tx1"/>
                </a:solidFill>
                <a:latin typeface="楷体" panose="02010609060101010101" pitchFamily="49" charset="-122"/>
                <a:ea typeface="楷体" panose="02010609060101010101" pitchFamily="49" charset="-122"/>
                <a:sym typeface="+mn-ea"/>
              </a:rPr>
              <a:t>：权是2、基数是</a:t>
            </a:r>
            <a:r>
              <a:rPr lang="en-US" altLang="zh-CN" sz="2800" b="1" dirty="0">
                <a:solidFill>
                  <a:schemeClr val="tx1"/>
                </a:solidFill>
                <a:latin typeface="楷体" panose="02010609060101010101" pitchFamily="49" charset="-122"/>
                <a:ea typeface="楷体" panose="02010609060101010101" pitchFamily="49" charset="-122"/>
                <a:sym typeface="+mn-ea"/>
              </a:rPr>
              <a:t>2</a:t>
            </a:r>
            <a:r>
              <a:rPr lang="zh-CN" altLang="en-US" sz="2800" b="1" dirty="0">
                <a:solidFill>
                  <a:schemeClr val="tx1"/>
                </a:solidFill>
                <a:latin typeface="楷体" panose="02010609060101010101" pitchFamily="49" charset="-122"/>
                <a:ea typeface="楷体" panose="02010609060101010101" pitchFamily="49" charset="-122"/>
                <a:sym typeface="+mn-ea"/>
              </a:rPr>
              <a:t>，数符0、1</a:t>
            </a:r>
          </a:p>
          <a:p>
            <a:pPr fontAlgn="auto">
              <a:lnSpc>
                <a:spcPct val="17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八进制</a:t>
            </a:r>
            <a:r>
              <a:rPr lang="zh-CN" altLang="en-US" sz="2800" b="1" dirty="0">
                <a:solidFill>
                  <a:schemeClr val="tx1"/>
                </a:solidFill>
                <a:latin typeface="楷体" panose="02010609060101010101" pitchFamily="49" charset="-122"/>
                <a:ea typeface="楷体" panose="02010609060101010101" pitchFamily="49" charset="-122"/>
                <a:sym typeface="+mn-ea"/>
              </a:rPr>
              <a:t>：权是8、基数是</a:t>
            </a:r>
            <a:r>
              <a:rPr lang="en-US" altLang="zh-CN" sz="2800" b="1" dirty="0">
                <a:solidFill>
                  <a:schemeClr val="tx1"/>
                </a:solidFill>
                <a:latin typeface="楷体" panose="02010609060101010101" pitchFamily="49" charset="-122"/>
                <a:ea typeface="楷体" panose="02010609060101010101" pitchFamily="49" charset="-122"/>
                <a:sym typeface="+mn-ea"/>
              </a:rPr>
              <a:t>8</a:t>
            </a:r>
            <a:r>
              <a:rPr lang="zh-CN" altLang="en-US" sz="2800" b="1" dirty="0">
                <a:solidFill>
                  <a:schemeClr val="tx1"/>
                </a:solidFill>
                <a:latin typeface="楷体" panose="02010609060101010101" pitchFamily="49" charset="-122"/>
                <a:ea typeface="楷体" panose="02010609060101010101" pitchFamily="49" charset="-122"/>
                <a:sym typeface="+mn-ea"/>
              </a:rPr>
              <a:t>，数符0、1、2、3、4、5、  </a:t>
            </a:r>
            <a:endParaRPr lang="en-US" altLang="zh-CN" sz="2800" b="1" dirty="0">
              <a:solidFill>
                <a:schemeClr val="tx1"/>
              </a:solidFill>
              <a:latin typeface="楷体" panose="02010609060101010101" pitchFamily="49" charset="-122"/>
              <a:ea typeface="楷体" panose="02010609060101010101" pitchFamily="49" charset="-122"/>
              <a:sym typeface="+mn-ea"/>
            </a:endParaRPr>
          </a:p>
          <a:p>
            <a:pPr fontAlgn="auto">
              <a:lnSpc>
                <a:spcPct val="17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6、7</a:t>
            </a:r>
          </a:p>
          <a:p>
            <a:pPr fontAlgn="auto">
              <a:lnSpc>
                <a:spcPct val="17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十进制</a:t>
            </a:r>
            <a:r>
              <a:rPr lang="zh-CN" altLang="en-US" sz="2800" b="1" dirty="0">
                <a:solidFill>
                  <a:schemeClr val="tx1"/>
                </a:solidFill>
                <a:latin typeface="楷体" panose="02010609060101010101" pitchFamily="49" charset="-122"/>
                <a:ea typeface="楷体" panose="02010609060101010101" pitchFamily="49" charset="-122"/>
                <a:sym typeface="+mn-ea"/>
              </a:rPr>
              <a:t>：权是10、基数是</a:t>
            </a:r>
            <a:r>
              <a:rPr lang="en-US" altLang="zh-CN" sz="2800" b="1" dirty="0">
                <a:solidFill>
                  <a:schemeClr val="tx1"/>
                </a:solidFill>
                <a:latin typeface="楷体" panose="02010609060101010101" pitchFamily="49" charset="-122"/>
                <a:ea typeface="楷体" panose="02010609060101010101" pitchFamily="49" charset="-122"/>
                <a:sym typeface="+mn-ea"/>
              </a:rPr>
              <a:t>10</a:t>
            </a:r>
            <a:r>
              <a:rPr lang="zh-CN" altLang="en-US" sz="2800" b="1" dirty="0">
                <a:solidFill>
                  <a:schemeClr val="tx1"/>
                </a:solidFill>
                <a:latin typeface="楷体" panose="02010609060101010101" pitchFamily="49" charset="-122"/>
                <a:ea typeface="楷体" panose="02010609060101010101" pitchFamily="49" charset="-122"/>
                <a:sym typeface="+mn-ea"/>
              </a:rPr>
              <a:t>，数符0、1、2、3、4、5、 </a:t>
            </a:r>
            <a:endParaRPr lang="en-US" altLang="zh-CN" sz="2800" b="1" dirty="0">
              <a:solidFill>
                <a:schemeClr val="tx1"/>
              </a:solidFill>
              <a:latin typeface="楷体" panose="02010609060101010101" pitchFamily="49" charset="-122"/>
              <a:ea typeface="楷体" panose="02010609060101010101" pitchFamily="49" charset="-122"/>
              <a:sym typeface="+mn-ea"/>
            </a:endParaRPr>
          </a:p>
          <a:p>
            <a:pPr fontAlgn="auto">
              <a:lnSpc>
                <a:spcPct val="17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6、7、8、9</a:t>
            </a:r>
          </a:p>
          <a:p>
            <a:pPr fontAlgn="auto">
              <a:lnSpc>
                <a:spcPct val="17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十六进制</a:t>
            </a:r>
            <a:r>
              <a:rPr lang="zh-CN" altLang="en-US" sz="2800" b="1" dirty="0">
                <a:solidFill>
                  <a:schemeClr val="tx1"/>
                </a:solidFill>
                <a:latin typeface="楷体" panose="02010609060101010101" pitchFamily="49" charset="-122"/>
                <a:ea typeface="楷体" panose="02010609060101010101" pitchFamily="49" charset="-122"/>
                <a:sym typeface="+mn-ea"/>
              </a:rPr>
              <a:t>：权是16、基数是</a:t>
            </a:r>
            <a:r>
              <a:rPr lang="en-US" altLang="zh-CN" sz="2800" b="1" dirty="0">
                <a:solidFill>
                  <a:schemeClr val="tx1"/>
                </a:solidFill>
                <a:latin typeface="楷体" panose="02010609060101010101" pitchFamily="49" charset="-122"/>
                <a:ea typeface="楷体" panose="02010609060101010101" pitchFamily="49" charset="-122"/>
                <a:sym typeface="+mn-ea"/>
              </a:rPr>
              <a:t>16.</a:t>
            </a:r>
            <a:r>
              <a:rPr lang="zh-CN" altLang="en-US" sz="2800" b="1" dirty="0">
                <a:solidFill>
                  <a:schemeClr val="tx1"/>
                </a:solidFill>
                <a:latin typeface="楷体" panose="02010609060101010101" pitchFamily="49" charset="-122"/>
                <a:ea typeface="楷体" panose="02010609060101010101" pitchFamily="49" charset="-122"/>
                <a:sym typeface="+mn-ea"/>
              </a:rPr>
              <a:t>数符0、1、2、3、4、</a:t>
            </a:r>
            <a:endParaRPr lang="en-US" altLang="zh-CN" sz="2800" b="1" dirty="0">
              <a:solidFill>
                <a:schemeClr val="tx1"/>
              </a:solidFill>
              <a:latin typeface="楷体" panose="02010609060101010101" pitchFamily="49" charset="-122"/>
              <a:ea typeface="楷体" panose="02010609060101010101" pitchFamily="49" charset="-122"/>
              <a:sym typeface="+mn-ea"/>
            </a:endParaRPr>
          </a:p>
          <a:p>
            <a:pPr fontAlgn="auto">
              <a:lnSpc>
                <a:spcPct val="17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5、6、7、8、9、A、B、C、D、E、F</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wipe(left)">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wipe(left)">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wipe(left)">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wipe(left)">
                                      <p:cBhvr>
                                        <p:cTn id="4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a:t>
            </a:fld>
            <a:endParaRPr lang="zh-CN" altLang="en-US"/>
          </a:p>
        </p:txBody>
      </p:sp>
      <p:sp>
        <p:nvSpPr>
          <p:cNvPr id="11" name="Text Box 5"/>
          <p:cNvSpPr txBox="1"/>
          <p:nvPr/>
        </p:nvSpPr>
        <p:spPr>
          <a:xfrm>
            <a:off x="133985" y="694690"/>
            <a:ext cx="8705850" cy="461581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3</a:t>
            </a:r>
            <a:r>
              <a:rPr lang="zh-CN" altLang="en-US" sz="2800" b="1" dirty="0">
                <a:solidFill>
                  <a:srgbClr val="ED7D31"/>
                </a:solidFill>
                <a:latin typeface="楷体" panose="02010609060101010101" pitchFamily="49" charset="-122"/>
                <a:ea typeface="楷体" panose="02010609060101010101" pitchFamily="49" charset="-122"/>
                <a:sym typeface="+mn-ea"/>
              </a:rPr>
              <a:t>）各种进位计数制的相互表示</a:t>
            </a:r>
          </a:p>
          <a:p>
            <a:pPr fontAlgn="auto">
              <a:lnSpc>
                <a:spcPct val="15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  （二--八--十--十六进制的转换）</a:t>
            </a:r>
          </a:p>
          <a:p>
            <a:pPr fontAlgn="auto">
              <a:lnSpc>
                <a:spcPct val="15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   （</a:t>
            </a:r>
            <a:r>
              <a:rPr lang="en-US" altLang="zh-CN" sz="2800" b="1" dirty="0">
                <a:solidFill>
                  <a:srgbClr val="ED7D31"/>
                </a:solidFill>
                <a:latin typeface="楷体" panose="02010609060101010101" pitchFamily="49" charset="-122"/>
                <a:ea typeface="楷体" panose="02010609060101010101" pitchFamily="49" charset="-122"/>
                <a:sym typeface="+mn-ea"/>
              </a:rPr>
              <a:t>binary,octal,decimal,hexadecimal)</a:t>
            </a:r>
            <a:endParaRPr lang="zh-CN" altLang="en-US" sz="2800" b="1" dirty="0">
              <a:solidFill>
                <a:srgbClr val="ED7D3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a:t>
            </a:r>
            <a:r>
              <a:rPr lang="en-US" altLang="zh-CN" sz="2800" b="1" dirty="0">
                <a:solidFill>
                  <a:schemeClr val="tx1"/>
                </a:solidFill>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32</a:t>
            </a:r>
            <a:r>
              <a:rPr lang="en-US" altLang="zh-CN" sz="2800" b="1" dirty="0">
                <a:solidFill>
                  <a:schemeClr val="tx1"/>
                </a:solidFill>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100000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20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16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40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8</a:t>
            </a:r>
            <a:endParaRPr lang="zh-CN" altLang="en-US" sz="2800" b="1" dirty="0">
              <a:solidFill>
                <a:schemeClr val="accent6">
                  <a:lumMod val="75000"/>
                </a:schemeClr>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50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110010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32</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16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62</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8</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110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1101110</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6E</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16 </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156</a:t>
            </a:r>
            <a:r>
              <a:rPr lang="en-US" altLang="zh-CN" sz="2800" b="1" dirty="0">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8</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endParaRPr lang="zh-CN" altLang="en-US" sz="2800" b="1" dirty="0">
              <a:solidFill>
                <a:schemeClr val="tx1"/>
              </a:solidFill>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wipe(left)">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wipe(left)">
                                      <p:cBhvr>
                                        <p:cTn id="32"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8</a:t>
            </a:fld>
            <a:endParaRPr lang="zh-CN" altLang="en-US"/>
          </a:p>
        </p:txBody>
      </p:sp>
      <p:sp>
        <p:nvSpPr>
          <p:cNvPr id="3" name="Text Box 5"/>
          <p:cNvSpPr txBox="1"/>
          <p:nvPr/>
        </p:nvSpPr>
        <p:spPr>
          <a:xfrm>
            <a:off x="181610" y="761365"/>
            <a:ext cx="8060690" cy="5262245"/>
          </a:xfrm>
          <a:prstGeom prst="rect">
            <a:avLst/>
          </a:prstGeom>
          <a:noFill/>
          <a:ln w="9525">
            <a:noFill/>
          </a:ln>
        </p:spPr>
        <p:txBody>
          <a:bodyPr wrap="square" anchor="t">
            <a:spAutoFit/>
          </a:bodyPr>
          <a:lstStyle/>
          <a:p>
            <a:pPr fontAlgn="auto">
              <a:lnSpc>
                <a:spcPct val="150000"/>
              </a:lnSpc>
              <a:spcBef>
                <a:spcPts val="600"/>
              </a:spcBef>
              <a:spcAft>
                <a:spcPts val="0"/>
              </a:spcAft>
            </a:pP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、带符号数的表示</a:t>
            </a:r>
            <a:endParaRPr lang="zh-CN" altLang="en-US" sz="2800" b="1" dirty="0">
              <a:solidFill>
                <a:srgbClr val="0563C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1</a:t>
            </a:r>
            <a:r>
              <a:rPr lang="zh-CN" altLang="en-US" sz="2800" b="1" dirty="0">
                <a:solidFill>
                  <a:srgbClr val="ED7D31"/>
                </a:solidFill>
                <a:latin typeface="楷体" panose="02010609060101010101" pitchFamily="49" charset="-122"/>
                <a:ea typeface="楷体" panose="02010609060101010101" pitchFamily="49" charset="-122"/>
                <a:sym typeface="+mn-ea"/>
              </a:rPr>
              <a:t>）真值</a:t>
            </a:r>
            <a:r>
              <a:rPr lang="zh-CN" altLang="en-US" sz="2800" b="1" dirty="0">
                <a:solidFill>
                  <a:schemeClr val="tx1"/>
                </a:solidFill>
                <a:latin typeface="楷体" panose="02010609060101010101" pitchFamily="49" charset="-122"/>
                <a:ea typeface="楷体" panose="02010609060101010101" pitchFamily="49" charset="-122"/>
                <a:sym typeface="+mn-ea"/>
              </a:rPr>
              <a:t>：用</a:t>
            </a:r>
            <a:r>
              <a:rPr lang="zh-CN" altLang="en-US" sz="2800" b="1" dirty="0">
                <a:latin typeface="楷体" panose="02010609060101010101" pitchFamily="49" charset="-122"/>
                <a:ea typeface="楷体" panose="02010609060101010101" pitchFamily="49" charset="-122"/>
                <a:sym typeface="+mn-ea"/>
              </a:rPr>
              <a:t>正、负符号加绝对值表示数值。</a:t>
            </a:r>
          </a:p>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2）机器数、分类及组成</a:t>
            </a:r>
            <a:endParaRPr lang="zh-CN" altLang="en-US"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a.机器数的定义</a:t>
            </a:r>
            <a:r>
              <a:rPr lang="zh-CN" altLang="en-US" sz="2800" b="1" dirty="0">
                <a:solidFill>
                  <a:schemeClr val="tx1"/>
                </a:solidFill>
                <a:latin typeface="楷体" panose="02010609060101010101" pitchFamily="49" charset="-122"/>
                <a:ea typeface="楷体" panose="02010609060101010101" pitchFamily="49" charset="-122"/>
                <a:sym typeface="+mn-ea"/>
              </a:rPr>
              <a:t>：在计算机内部使用的，连同数符</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一起数码化了的数。</a:t>
            </a:r>
          </a:p>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b.分类</a:t>
            </a:r>
            <a:r>
              <a:rPr lang="zh-CN" altLang="en-US" sz="2800" b="1" dirty="0">
                <a:solidFill>
                  <a:schemeClr val="tx1"/>
                </a:solidFill>
                <a:latin typeface="楷体" panose="02010609060101010101" pitchFamily="49" charset="-122"/>
                <a:ea typeface="楷体" panose="02010609060101010101" pitchFamily="49" charset="-122"/>
                <a:sym typeface="+mn-ea"/>
              </a:rPr>
              <a:t>：原码、补码、反码</a:t>
            </a:r>
          </a:p>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c.组成</a:t>
            </a:r>
            <a:r>
              <a:rPr lang="zh-CN" altLang="en-US" sz="2800" b="1" dirty="0">
                <a:solidFill>
                  <a:schemeClr val="tx1"/>
                </a:solidFill>
                <a:latin typeface="楷体" panose="02010609060101010101" pitchFamily="49" charset="-122"/>
                <a:ea typeface="楷体" panose="02010609060101010101" pitchFamily="49" charset="-122"/>
                <a:sym typeface="+mn-ea"/>
              </a:rPr>
              <a:t>：符号位部分+有效数值部分</a:t>
            </a:r>
          </a:p>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e.原码、补码、反码的互换</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xfrm>
            <a:off x="7194550" y="6372225"/>
            <a:ext cx="1905000" cy="457200"/>
          </a:xfrm>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CF8BA0A-E66B-4FBB-9269-E5A7CA7B76B4}" type="slidenum">
              <a:rPr lang="en-US" altLang="zh-CN" sz="1400" smtClean="0"/>
              <a:t>9</a:t>
            </a:fld>
            <a:endParaRPr lang="en-US" altLang="zh-CN" sz="1400"/>
          </a:p>
        </p:txBody>
      </p:sp>
      <p:sp>
        <p:nvSpPr>
          <p:cNvPr id="17410" name="Rectangle 2"/>
          <p:cNvSpPr>
            <a:spLocks noChangeArrowheads="1"/>
          </p:cNvSpPr>
          <p:nvPr/>
        </p:nvSpPr>
        <p:spPr bwMode="auto">
          <a:xfrm>
            <a:off x="304800" y="304800"/>
            <a:ext cx="48768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1.1.1 </a:t>
            </a:r>
            <a:r>
              <a:rPr lang="zh-CN" altLang="en-US" sz="4400" b="1">
                <a:solidFill>
                  <a:schemeClr val="tx2"/>
                </a:solidFill>
                <a:latin typeface="黑体" panose="02010609060101010101" pitchFamily="49" charset="-122"/>
                <a:ea typeface="黑体" panose="02010609060101010101" pitchFamily="49" charset="-122"/>
              </a:rPr>
              <a:t>十进制计数</a:t>
            </a:r>
          </a:p>
        </p:txBody>
      </p:sp>
      <p:sp>
        <p:nvSpPr>
          <p:cNvPr id="17411" name="Rectangle 3"/>
          <p:cNvSpPr>
            <a:spLocks noChangeArrowheads="1"/>
          </p:cNvSpPr>
          <p:nvPr/>
        </p:nvSpPr>
        <p:spPr bwMode="auto">
          <a:xfrm>
            <a:off x="304800" y="1219200"/>
            <a:ext cx="70754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基数为十，数符</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9</a:t>
            </a:r>
          </a:p>
        </p:txBody>
      </p:sp>
      <p:sp>
        <p:nvSpPr>
          <p:cNvPr id="17412" name="Rectangle 4"/>
          <p:cNvSpPr>
            <a:spLocks noChangeArrowheads="1"/>
          </p:cNvSpPr>
          <p:nvPr/>
        </p:nvSpPr>
        <p:spPr bwMode="auto">
          <a:xfrm>
            <a:off x="304800" y="1981200"/>
            <a:ext cx="31877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位权为</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:10</a:t>
            </a:r>
            <a:r>
              <a:rPr lang="en-US" altLang="zh-CN" sz="3200" b="1" baseline="30000" dirty="0">
                <a:effectLst>
                  <a:outerShdw blurRad="38100" dist="38100" dir="2700000" algn="tl">
                    <a:srgbClr val="FFFFFF"/>
                  </a:outerShdw>
                </a:effectLst>
                <a:latin typeface="黑体" panose="02010609060101010101" pitchFamily="49" charset="-122"/>
                <a:ea typeface="黑体" panose="02010609060101010101" pitchFamily="49" charset="-122"/>
              </a:rPr>
              <a:t>i</a:t>
            </a:r>
          </a:p>
        </p:txBody>
      </p:sp>
      <p:sp>
        <p:nvSpPr>
          <p:cNvPr id="17413" name="Rectangle 5"/>
          <p:cNvSpPr>
            <a:spLocks noChangeArrowheads="1"/>
          </p:cNvSpPr>
          <p:nvPr/>
        </p:nvSpPr>
        <p:spPr bwMode="auto">
          <a:xfrm>
            <a:off x="533400" y="2819400"/>
            <a:ext cx="587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如果有</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m</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位整数，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n</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位小数。则：</a:t>
            </a:r>
          </a:p>
        </p:txBody>
      </p:sp>
      <p:grpSp>
        <p:nvGrpSpPr>
          <p:cNvPr id="17414" name="Group 6"/>
          <p:cNvGrpSpPr/>
          <p:nvPr/>
        </p:nvGrpSpPr>
        <p:grpSpPr bwMode="auto">
          <a:xfrm>
            <a:off x="323850" y="3573463"/>
            <a:ext cx="8229600" cy="1752600"/>
            <a:chOff x="0" y="2592"/>
            <a:chExt cx="5184" cy="1104"/>
          </a:xfrm>
        </p:grpSpPr>
        <p:grpSp>
          <p:nvGrpSpPr>
            <p:cNvPr id="27659" name="Group 7"/>
            <p:cNvGrpSpPr/>
            <p:nvPr/>
          </p:nvGrpSpPr>
          <p:grpSpPr bwMode="auto">
            <a:xfrm>
              <a:off x="0" y="2772"/>
              <a:ext cx="3894" cy="510"/>
              <a:chOff x="0" y="2772"/>
              <a:chExt cx="3894" cy="510"/>
            </a:xfrm>
          </p:grpSpPr>
          <p:sp>
            <p:nvSpPr>
              <p:cNvPr id="27662" name="Object 8"/>
              <p:cNvSpPr txBox="1"/>
              <p:nvPr/>
            </p:nvSpPr>
            <p:spPr bwMode="auto">
              <a:xfrm>
                <a:off x="3737" y="2772"/>
                <a:ext cx="157" cy="264"/>
              </a:xfrm>
              <a:prstGeom prst="rect">
                <a:avLst/>
              </a:prstGeom>
              <a:noFill/>
              <a:ln>
                <a:noFill/>
              </a:ln>
              <a:effectLst/>
            </p:spPr>
            <p:txBody>
              <a:bodyPr>
                <a:normAutofit/>
              </a:bodyPr>
              <a:lstStyle/>
              <a:p>
                <a:endParaRPr lang="zh-CN" altLang="en-US"/>
              </a:p>
            </p:txBody>
          </p:sp>
          <p:sp>
            <p:nvSpPr>
              <p:cNvPr id="17417" name="Rectangle 9"/>
              <p:cNvSpPr>
                <a:spLocks noChangeArrowheads="1"/>
              </p:cNvSpPr>
              <p:nvPr/>
            </p:nvSpPr>
            <p:spPr bwMode="auto">
              <a:xfrm>
                <a:off x="0" y="2955"/>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buFont typeface="Wingdings" panose="05000000000000000000" pitchFamily="2" charset="2"/>
                  <a:buNone/>
                  <a:defRPr/>
                </a:pPr>
                <a:endParaRPr lang="zh-CN" altLang="zh-CN" sz="2800" b="1">
                  <a:effectLst>
                    <a:outerShdw blurRad="38100" dist="38100" dir="2700000" algn="tl">
                      <a:srgbClr val="C0C0C0"/>
                    </a:outerShdw>
                  </a:effectLst>
                  <a:latin typeface="Arial Black" panose="020B0A04020102020204" pitchFamily="34" charset="0"/>
                </a:endParaRPr>
              </a:p>
            </p:txBody>
          </p:sp>
        </p:grpSp>
        <mc:AlternateContent xmlns:mc="http://schemas.openxmlformats.org/markup-compatibility/2006">
          <mc:Choice xmlns:a14="http://schemas.microsoft.com/office/drawing/2010/main" Requires="a14">
            <p:sp>
              <p:nvSpPr>
                <p:cNvPr id="27660" name="Object 10"/>
                <p:cNvSpPr txBox="1"/>
                <p:nvPr/>
              </p:nvSpPr>
              <p:spPr bwMode="auto">
                <a:xfrm>
                  <a:off x="442" y="2592"/>
                  <a:ext cx="4251" cy="110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0</m:t>
                            </m:r>
                          </m:sup>
                        </m:sSup>
                      </m:oMath>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𝑖</m:t>
                            </m:r>
                          </m:sup>
                        </m:sSup>
                      </m:oMath>
                    </m:oMathPara>
                  </a14:m>
                  <a:endParaRPr lang="zh-CN" altLang="en-US"/>
                </a:p>
              </p:txBody>
            </p:sp>
          </mc:Choice>
          <mc:Fallback>
            <p:sp>
              <p:nvSpPr>
                <p:cNvPr id="27660" name="Object 10"/>
                <p:cNvSpPr txBox="1">
                  <a:spLocks noRot="1" noChangeAspect="1" noMove="1" noResize="1" noEditPoints="1" noAdjustHandles="1" noChangeArrowheads="1" noChangeShapeType="1" noTextEdit="1"/>
                </p:cNvSpPr>
                <p:nvPr/>
              </p:nvSpPr>
              <p:spPr bwMode="auto">
                <a:xfrm>
                  <a:off x="442" y="2592"/>
                  <a:ext cx="4251" cy="1104"/>
                </a:xfrm>
                <a:prstGeom prst="rect">
                  <a:avLst/>
                </a:prstGeom>
                <a:blipFill>
                  <a:blip r:embed="rId3"/>
                  <a:stretch>
                    <a:fillRect l="-27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661" name="Object 11"/>
                <p:cNvSpPr txBox="1"/>
                <p:nvPr/>
              </p:nvSpPr>
              <p:spPr bwMode="auto">
                <a:xfrm>
                  <a:off x="4080" y="3168"/>
                  <a:ext cx="1104" cy="33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=0~9)</m:t>
                        </m:r>
                      </m:oMath>
                    </m:oMathPara>
                  </a14:m>
                  <a:endParaRPr lang="zh-CN" altLang="en-US"/>
                </a:p>
              </p:txBody>
            </p:sp>
          </mc:Choice>
          <mc:Fallback>
            <p:sp>
              <p:nvSpPr>
                <p:cNvPr id="27661" name="Object 11"/>
                <p:cNvSpPr txBox="1">
                  <a:spLocks noRot="1" noChangeAspect="1" noMove="1" noResize="1" noEditPoints="1" noAdjustHandles="1" noChangeArrowheads="1" noChangeShapeType="1" noTextEdit="1"/>
                </p:cNvSpPr>
                <p:nvPr/>
              </p:nvSpPr>
              <p:spPr bwMode="auto">
                <a:xfrm>
                  <a:off x="4080" y="3168"/>
                  <a:ext cx="1104" cy="332"/>
                </a:xfrm>
                <a:prstGeom prst="rect">
                  <a:avLst/>
                </a:prstGeom>
                <a:blipFill>
                  <a:blip r:embed="rId4"/>
                  <a:stretch>
                    <a:fillRect l="-1045"/>
                  </a:stretch>
                </a:blipFill>
                <a:ln>
                  <a:noFill/>
                </a:ln>
                <a:effectLst/>
              </p:spPr>
              <p:txBody>
                <a:bodyPr/>
                <a:lstStyle/>
                <a:p>
                  <a:r>
                    <a:rPr lang="zh-CN" altLang="en-US">
                      <a:noFill/>
                    </a:rPr>
                    <a:t> </a:t>
                  </a:r>
                </a:p>
              </p:txBody>
            </p:sp>
          </mc:Fallback>
        </mc:AlternateContent>
      </p:grpSp>
      <p:sp>
        <p:nvSpPr>
          <p:cNvPr id="17420" name="Rectangle 12"/>
          <p:cNvSpPr>
            <a:spLocks noChangeArrowheads="1"/>
          </p:cNvSpPr>
          <p:nvPr/>
        </p:nvSpPr>
        <p:spPr bwMode="auto">
          <a:xfrm>
            <a:off x="2262188" y="5424488"/>
            <a:ext cx="6470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=2×10</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5×10</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6×10</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7×10</a:t>
            </a:r>
            <a:r>
              <a:rPr lang="zh-CN" altLang="en-US"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p>
        </p:txBody>
      </p:sp>
      <p:sp>
        <p:nvSpPr>
          <p:cNvPr id="17422" name="Rectangle 14"/>
          <p:cNvSpPr>
            <a:spLocks noChangeArrowheads="1"/>
          </p:cNvSpPr>
          <p:nvPr/>
        </p:nvSpPr>
        <p:spPr bwMode="auto">
          <a:xfrm>
            <a:off x="317500" y="5424488"/>
            <a:ext cx="20129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例：</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256.7</a:t>
            </a:r>
          </a:p>
        </p:txBody>
      </p:sp>
      <p:sp>
        <p:nvSpPr>
          <p:cNvPr id="15" name="Rectangle 12"/>
          <p:cNvSpPr>
            <a:spLocks noChangeArrowheads="1"/>
          </p:cNvSpPr>
          <p:nvPr/>
        </p:nvSpPr>
        <p:spPr bwMode="auto">
          <a:xfrm>
            <a:off x="1144588" y="6081713"/>
            <a:ext cx="7416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245.125=2×10</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4×10</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5×10</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1×10</a:t>
            </a:r>
            <a:r>
              <a:rPr lang="zh-CN" altLang="en-US"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2×10</a:t>
            </a:r>
            <a:r>
              <a:rPr lang="zh-CN" altLang="en-US"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5×10</a:t>
            </a:r>
            <a:r>
              <a:rPr lang="zh-CN" altLang="en-US"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0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3</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box(in)">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box(in)">
                                      <p:cBhvr>
                                        <p:cTn id="12" dur="500"/>
                                        <p:tgtEl>
                                          <p:spTgt spid="174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wipe(left)">
                                      <p:cBhvr>
                                        <p:cTn id="17" dur="500"/>
                                        <p:tgtEl>
                                          <p:spTgt spid="174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414"/>
                                        </p:tgtEl>
                                        <p:attrNameLst>
                                          <p:attrName>style.visibility</p:attrName>
                                        </p:attrNameLst>
                                      </p:cBhvr>
                                      <p:to>
                                        <p:strVal val="visible"/>
                                      </p:to>
                                    </p:set>
                                    <p:animEffect transition="in" filter="dissolve">
                                      <p:cBhvr>
                                        <p:cTn id="22" dur="500"/>
                                        <p:tgtEl>
                                          <p:spTgt spid="174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22"/>
                                        </p:tgtEl>
                                        <p:attrNameLst>
                                          <p:attrName>style.visibility</p:attrName>
                                        </p:attrNameLst>
                                      </p:cBhvr>
                                      <p:to>
                                        <p:strVal val="visible"/>
                                      </p:to>
                                    </p:set>
                                    <p:animEffect transition="in" filter="wipe(left)">
                                      <p:cBhvr>
                                        <p:cTn id="27" dur="500"/>
                                        <p:tgtEl>
                                          <p:spTgt spid="174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20"/>
                                        </p:tgtEl>
                                        <p:attrNameLst>
                                          <p:attrName>style.visibility</p:attrName>
                                        </p:attrNameLst>
                                      </p:cBhvr>
                                      <p:to>
                                        <p:strVal val="visible"/>
                                      </p:to>
                                    </p:set>
                                    <p:animEffect transition="in" filter="wipe(left)">
                                      <p:cBhvr>
                                        <p:cTn id="32" dur="500"/>
                                        <p:tgtEl>
                                          <p:spTgt spid="174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ldLvl="0" animBg="1" autoUpdateAnimBg="0"/>
      <p:bldP spid="17412" grpId="0" bldLvl="0" animBg="1" autoUpdateAnimBg="0"/>
      <p:bldP spid="17413" grpId="0" bldLvl="0" animBg="1" autoUpdateAnimBg="0"/>
      <p:bldP spid="17420" grpId="0" bldLvl="0" animBg="1" autoUpdateAnimBg="0"/>
      <p:bldP spid="17422" grpId="0" bldLvl="0" animBg="1"/>
      <p:bldP spid="15"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152B1B-56D1-48CF-8C79-19615E62B65C}" type="slidenum">
              <a:rPr lang="en-US" altLang="zh-CN" sz="1400" smtClean="0"/>
              <a:t>10</a:t>
            </a:fld>
            <a:endParaRPr lang="en-US" altLang="zh-CN" sz="1400"/>
          </a:p>
        </p:txBody>
      </p:sp>
      <p:sp>
        <p:nvSpPr>
          <p:cNvPr id="18434" name="Rectangle 2"/>
          <p:cNvSpPr>
            <a:spLocks noChangeArrowheads="1"/>
          </p:cNvSpPr>
          <p:nvPr/>
        </p:nvSpPr>
        <p:spPr bwMode="auto">
          <a:xfrm>
            <a:off x="304800" y="228600"/>
            <a:ext cx="50292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1.1.2 </a:t>
            </a:r>
            <a:r>
              <a:rPr lang="zh-CN" altLang="en-US" sz="4400" b="1">
                <a:solidFill>
                  <a:schemeClr val="tx2"/>
                </a:solidFill>
                <a:latin typeface="黑体" panose="02010609060101010101" pitchFamily="49" charset="-122"/>
                <a:ea typeface="黑体" panose="02010609060101010101" pitchFamily="49" charset="-122"/>
              </a:rPr>
              <a:t>二进制计数</a:t>
            </a:r>
          </a:p>
        </p:txBody>
      </p:sp>
      <p:grpSp>
        <p:nvGrpSpPr>
          <p:cNvPr id="18435" name="Group 3"/>
          <p:cNvGrpSpPr/>
          <p:nvPr/>
        </p:nvGrpSpPr>
        <p:grpSpPr bwMode="auto">
          <a:xfrm>
            <a:off x="611188" y="3357563"/>
            <a:ext cx="8229600" cy="1828800"/>
            <a:chOff x="192" y="2640"/>
            <a:chExt cx="5280" cy="1104"/>
          </a:xfrm>
        </p:grpSpPr>
        <mc:AlternateContent xmlns:mc="http://schemas.openxmlformats.org/markup-compatibility/2006">
          <mc:Choice xmlns:a14="http://schemas.microsoft.com/office/drawing/2010/main" Requires="a14">
            <p:sp>
              <p:nvSpPr>
                <p:cNvPr id="29707" name="Object 4"/>
                <p:cNvSpPr txBox="1"/>
                <p:nvPr/>
              </p:nvSpPr>
              <p:spPr bwMode="auto">
                <a:xfrm>
                  <a:off x="192" y="2640"/>
                  <a:ext cx="5280" cy="110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0</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oMath>
                      <m:oMath xmlns:m="http://schemas.openxmlformats.org/officeDocument/2006/math">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𝑖</m:t>
                                </m:r>
                              </m:sup>
                            </m:sSup>
                          </m:e>
                        </m:nary>
                      </m:oMath>
                    </m:oMathPara>
                  </a14:m>
                  <a:endParaRPr lang="zh-CN" altLang="en-US"/>
                </a:p>
              </p:txBody>
            </p:sp>
          </mc:Choice>
          <mc:Fallback>
            <p:sp>
              <p:nvSpPr>
                <p:cNvPr id="29707" name="Object 4"/>
                <p:cNvSpPr txBox="1">
                  <a:spLocks noRot="1" noChangeAspect="1" noMove="1" noResize="1" noEditPoints="1" noAdjustHandles="1" noChangeArrowheads="1" noChangeShapeType="1" noTextEdit="1"/>
                </p:cNvSpPr>
                <p:nvPr/>
              </p:nvSpPr>
              <p:spPr bwMode="auto">
                <a:xfrm>
                  <a:off x="192" y="2640"/>
                  <a:ext cx="5280" cy="1104"/>
                </a:xfrm>
                <a:prstGeom prst="rect">
                  <a:avLst/>
                </a:prstGeom>
                <a:blipFill>
                  <a:blip r:embed="rId3"/>
                  <a:stretch>
                    <a:fillRect l="-22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08" name="Object 5"/>
                <p:cNvSpPr txBox="1"/>
                <p:nvPr/>
              </p:nvSpPr>
              <p:spPr bwMode="auto">
                <a:xfrm>
                  <a:off x="1615" y="3238"/>
                  <a:ext cx="1286" cy="40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=0~1)</m:t>
                        </m:r>
                      </m:oMath>
                    </m:oMathPara>
                  </a14:m>
                  <a:endParaRPr lang="zh-CN" altLang="en-US"/>
                </a:p>
              </p:txBody>
            </p:sp>
          </mc:Choice>
          <mc:Fallback>
            <p:sp>
              <p:nvSpPr>
                <p:cNvPr id="29708" name="Object 5"/>
                <p:cNvSpPr txBox="1">
                  <a:spLocks noRot="1" noChangeAspect="1" noMove="1" noResize="1" noEditPoints="1" noAdjustHandles="1" noChangeArrowheads="1" noChangeShapeType="1" noTextEdit="1"/>
                </p:cNvSpPr>
                <p:nvPr/>
              </p:nvSpPr>
              <p:spPr bwMode="auto">
                <a:xfrm>
                  <a:off x="1615" y="3238"/>
                  <a:ext cx="1286" cy="407"/>
                </a:xfrm>
                <a:prstGeom prst="rect">
                  <a:avLst/>
                </a:prstGeom>
                <a:blipFill>
                  <a:blip r:embed="rId4"/>
                  <a:stretch>
                    <a:fillRect l="-912"/>
                  </a:stretch>
                </a:blipFill>
                <a:ln>
                  <a:noFill/>
                </a:ln>
                <a:effectLst/>
              </p:spPr>
              <p:txBody>
                <a:bodyPr/>
                <a:lstStyle/>
                <a:p>
                  <a:r>
                    <a:rPr lang="zh-CN" altLang="en-US">
                      <a:noFill/>
                    </a:rPr>
                    <a:t> </a:t>
                  </a:r>
                </a:p>
              </p:txBody>
            </p:sp>
          </mc:Fallback>
        </mc:AlternateContent>
      </p:grpSp>
      <p:sp>
        <p:nvSpPr>
          <p:cNvPr id="18438" name="Rectangle 6"/>
          <p:cNvSpPr>
            <a:spLocks noChangeArrowheads="1"/>
          </p:cNvSpPr>
          <p:nvPr/>
        </p:nvSpPr>
        <p:spPr bwMode="auto">
          <a:xfrm>
            <a:off x="304800" y="1295400"/>
            <a:ext cx="721995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基数为二，数符</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a:t>
            </a:r>
          </a:p>
        </p:txBody>
      </p:sp>
      <p:sp>
        <p:nvSpPr>
          <p:cNvPr id="18439" name="Rectangle 7"/>
          <p:cNvSpPr>
            <a:spLocks noChangeArrowheads="1"/>
          </p:cNvSpPr>
          <p:nvPr/>
        </p:nvSpPr>
        <p:spPr bwMode="auto">
          <a:xfrm>
            <a:off x="304800" y="1981200"/>
            <a:ext cx="304323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位权为</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:2</a:t>
            </a:r>
            <a:r>
              <a:rPr lang="en-US" altLang="zh-CN" sz="3200" b="1" baseline="30000" dirty="0">
                <a:effectLst>
                  <a:outerShdw blurRad="38100" dist="38100" dir="2700000" algn="tl">
                    <a:srgbClr val="FFFFFF"/>
                  </a:outerShdw>
                </a:effectLst>
                <a:latin typeface="黑体" panose="02010609060101010101" pitchFamily="49" charset="-122"/>
                <a:ea typeface="黑体" panose="02010609060101010101" pitchFamily="49" charset="-122"/>
              </a:rPr>
              <a:t>i</a:t>
            </a:r>
          </a:p>
        </p:txBody>
      </p:sp>
      <p:sp>
        <p:nvSpPr>
          <p:cNvPr id="18440" name="Rectangle 8"/>
          <p:cNvSpPr>
            <a:spLocks noChangeArrowheads="1"/>
          </p:cNvSpPr>
          <p:nvPr/>
        </p:nvSpPr>
        <p:spPr bwMode="auto">
          <a:xfrm>
            <a:off x="476250" y="2667000"/>
            <a:ext cx="587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如果有</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m</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位整数，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n</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位小数。则：</a:t>
            </a:r>
          </a:p>
        </p:txBody>
      </p:sp>
      <p:sp>
        <p:nvSpPr>
          <p:cNvPr id="18441" name="Rectangle 9"/>
          <p:cNvSpPr>
            <a:spLocks noChangeArrowheads="1"/>
          </p:cNvSpPr>
          <p:nvPr/>
        </p:nvSpPr>
        <p:spPr bwMode="auto">
          <a:xfrm>
            <a:off x="-3175" y="5126038"/>
            <a:ext cx="2552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例：</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(101.1)</a:t>
            </a:r>
            <a:r>
              <a:rPr lang="en-US" altLang="zh-CN" sz="3200" baseline="-25000" dirty="0">
                <a:effectLst>
                  <a:outerShdw blurRad="38100" dist="38100" dir="2700000" algn="tl">
                    <a:srgbClr val="C0C0C0"/>
                  </a:outerShdw>
                </a:effectLst>
                <a:latin typeface="黑体" panose="02010609060101010101" pitchFamily="49" charset="-122"/>
                <a:ea typeface="黑体" panose="02010609060101010101" pitchFamily="49" charset="-122"/>
              </a:rPr>
              <a:t>2</a:t>
            </a:r>
            <a:endPar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8442" name="Rectangle 10"/>
          <p:cNvSpPr>
            <a:spLocks noChangeArrowheads="1"/>
          </p:cNvSpPr>
          <p:nvPr/>
        </p:nvSpPr>
        <p:spPr bwMode="auto">
          <a:xfrm>
            <a:off x="2413000" y="5116513"/>
            <a:ext cx="6337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=1×2</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0×2</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1×2</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1×2</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=5.5</a:t>
            </a:r>
          </a:p>
        </p:txBody>
      </p:sp>
      <p:sp>
        <p:nvSpPr>
          <p:cNvPr id="12" name="Rectangle 10"/>
          <p:cNvSpPr>
            <a:spLocks noChangeArrowheads="1"/>
          </p:cNvSpPr>
          <p:nvPr/>
        </p:nvSpPr>
        <p:spPr bwMode="auto">
          <a:xfrm>
            <a:off x="717550" y="5811838"/>
            <a:ext cx="80327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(11110101.001)</a:t>
            </a:r>
            <a:r>
              <a:rPr lang="en-US" altLang="zh-CN" baseline="-25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 </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7</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6</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5</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4</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+0+0+2</a:t>
            </a:r>
            <a:r>
              <a:rPr lang="en-US" altLang="zh-CN"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-3</a:t>
            </a:r>
            <a:r>
              <a:rPr lang="en-US" altLang="zh-CN"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=245.125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box(in)">
                                      <p:cBhvr>
                                        <p:cTn id="7" dur="500"/>
                                        <p:tgtEl>
                                          <p:spTgt spid="184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box(in)">
                                      <p:cBhvr>
                                        <p:cTn id="12" dur="500"/>
                                        <p:tgtEl>
                                          <p:spTgt spid="184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40"/>
                                        </p:tgtEl>
                                        <p:attrNameLst>
                                          <p:attrName>style.visibility</p:attrName>
                                        </p:attrNameLst>
                                      </p:cBhvr>
                                      <p:to>
                                        <p:strVal val="visible"/>
                                      </p:to>
                                    </p:set>
                                    <p:animEffect transition="in" filter="wipe(left)">
                                      <p:cBhvr>
                                        <p:cTn id="17" dur="500"/>
                                        <p:tgtEl>
                                          <p:spTgt spid="1844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435"/>
                                        </p:tgtEl>
                                        <p:attrNameLst>
                                          <p:attrName>style.visibility</p:attrName>
                                        </p:attrNameLst>
                                      </p:cBhvr>
                                      <p:to>
                                        <p:strVal val="visible"/>
                                      </p:to>
                                    </p:set>
                                    <p:animEffect transition="in" filter="dissolve">
                                      <p:cBhvr>
                                        <p:cTn id="22" dur="500"/>
                                        <p:tgtEl>
                                          <p:spTgt spid="184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41"/>
                                        </p:tgtEl>
                                        <p:attrNameLst>
                                          <p:attrName>style.visibility</p:attrName>
                                        </p:attrNameLst>
                                      </p:cBhvr>
                                      <p:to>
                                        <p:strVal val="visible"/>
                                      </p:to>
                                    </p:set>
                                    <p:animEffect transition="in" filter="wipe(left)">
                                      <p:cBhvr>
                                        <p:cTn id="27" dur="500"/>
                                        <p:tgtEl>
                                          <p:spTgt spid="184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42"/>
                                        </p:tgtEl>
                                        <p:attrNameLst>
                                          <p:attrName>style.visibility</p:attrName>
                                        </p:attrNameLst>
                                      </p:cBhvr>
                                      <p:to>
                                        <p:strVal val="visible"/>
                                      </p:to>
                                    </p:set>
                                    <p:animEffect transition="in" filter="wipe(left)">
                                      <p:cBhvr>
                                        <p:cTn id="32" dur="500"/>
                                        <p:tgtEl>
                                          <p:spTgt spid="184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bldLvl="0" animBg="1" autoUpdateAnimBg="0"/>
      <p:bldP spid="18439" grpId="0" bldLvl="0" animBg="1" autoUpdateAnimBg="0"/>
      <p:bldP spid="18440" grpId="0" bldLvl="0" animBg="1" autoUpdateAnimBg="0"/>
      <p:bldP spid="18441" grpId="0" bldLvl="0" animBg="1" autoUpdateAnimBg="0"/>
      <p:bldP spid="18442" grpId="0" bldLvl="0" animBg="1" autoUpdateAnimBg="0"/>
      <p:bldP spid="12"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xfrm>
            <a:off x="7199313" y="6415088"/>
            <a:ext cx="1905000" cy="457200"/>
          </a:xfrm>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E64EA1C-DA33-40BD-B755-752DE38CC479}" type="slidenum">
              <a:rPr lang="en-US" altLang="zh-CN" sz="1400" smtClean="0"/>
              <a:t>11</a:t>
            </a:fld>
            <a:endParaRPr lang="en-US" altLang="zh-CN" sz="1400"/>
          </a:p>
        </p:txBody>
      </p:sp>
      <p:sp>
        <p:nvSpPr>
          <p:cNvPr id="19458" name="Rectangle 2"/>
          <p:cNvSpPr>
            <a:spLocks noChangeArrowheads="1"/>
          </p:cNvSpPr>
          <p:nvPr/>
        </p:nvSpPr>
        <p:spPr bwMode="auto">
          <a:xfrm>
            <a:off x="304800" y="304800"/>
            <a:ext cx="48006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a:solidFill>
                  <a:schemeClr val="tx2"/>
                </a:solidFill>
                <a:latin typeface="黑体" panose="02010609060101010101" pitchFamily="49" charset="-122"/>
                <a:ea typeface="黑体" panose="02010609060101010101" pitchFamily="49" charset="-122"/>
              </a:rPr>
              <a:t>1.1.3 </a:t>
            </a:r>
            <a:r>
              <a:rPr lang="zh-CN" altLang="en-US" sz="4400">
                <a:solidFill>
                  <a:schemeClr val="tx2"/>
                </a:solidFill>
                <a:latin typeface="黑体" panose="02010609060101010101" pitchFamily="49" charset="-122"/>
                <a:ea typeface="黑体" panose="02010609060101010101" pitchFamily="49" charset="-122"/>
              </a:rPr>
              <a:t>八进制计数</a:t>
            </a:r>
            <a:r>
              <a:rPr lang="zh-CN" altLang="en-US" sz="4400">
                <a:solidFill>
                  <a:schemeClr val="tx2"/>
                </a:solidFill>
              </a:rPr>
              <a:t> </a:t>
            </a:r>
          </a:p>
        </p:txBody>
      </p:sp>
      <p:sp>
        <p:nvSpPr>
          <p:cNvPr id="19459" name="Rectangle 3"/>
          <p:cNvSpPr>
            <a:spLocks noChangeArrowheads="1"/>
          </p:cNvSpPr>
          <p:nvPr/>
        </p:nvSpPr>
        <p:spPr bwMode="auto">
          <a:xfrm>
            <a:off x="304800" y="1295400"/>
            <a:ext cx="4927952" cy="58477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基数为八，数符</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7</a:t>
            </a:r>
          </a:p>
        </p:txBody>
      </p:sp>
      <p:grpSp>
        <p:nvGrpSpPr>
          <p:cNvPr id="19460" name="Group 4"/>
          <p:cNvGrpSpPr/>
          <p:nvPr/>
        </p:nvGrpSpPr>
        <p:grpSpPr bwMode="auto">
          <a:xfrm>
            <a:off x="304800" y="1981200"/>
            <a:ext cx="2876550" cy="685800"/>
            <a:chOff x="0" y="1248"/>
            <a:chExt cx="1812" cy="432"/>
          </a:xfrm>
        </p:grpSpPr>
        <mc:AlternateContent xmlns:mc="http://schemas.openxmlformats.org/markup-compatibility/2006">
          <mc:Choice xmlns:a14="http://schemas.microsoft.com/office/drawing/2010/main" Requires="a14">
            <p:sp>
              <p:nvSpPr>
                <p:cNvPr id="31757" name="Object 5"/>
                <p:cNvSpPr txBox="1"/>
                <p:nvPr/>
              </p:nvSpPr>
              <p:spPr bwMode="auto">
                <a:xfrm>
                  <a:off x="1488" y="1248"/>
                  <a:ext cx="324" cy="432"/>
                </a:xfrm>
                <a:prstGeom prst="rect">
                  <a:avLst/>
                </a:prstGeom>
                <a:solidFill>
                  <a:srgbClr val="99FF33"/>
                </a:solid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3600" i="1">
                                <a:solidFill>
                                  <a:srgbClr val="000000"/>
                                </a:solidFill>
                                <a:latin typeface="Cambria Math" panose="02040503050406030204" pitchFamily="18" charset="0"/>
                              </a:rPr>
                            </m:ctrlPr>
                          </m:sSupPr>
                          <m:e>
                            <m:r>
                              <a:rPr lang="zh-CN" altLang="en-US" sz="3600" i="1">
                                <a:solidFill>
                                  <a:srgbClr val="000000"/>
                                </a:solidFill>
                                <a:latin typeface="Cambria Math" panose="02040503050406030204" pitchFamily="18" charset="0"/>
                              </a:rPr>
                              <m:t>8</m:t>
                            </m:r>
                          </m:e>
                          <m:sup>
                            <m:r>
                              <a:rPr lang="zh-CN" altLang="en-US" sz="3600" i="1">
                                <a:solidFill>
                                  <a:srgbClr val="000000"/>
                                </a:solidFill>
                                <a:latin typeface="Cambria Math" panose="02040503050406030204" pitchFamily="18" charset="0"/>
                              </a:rPr>
                              <m:t>𝑖</m:t>
                            </m:r>
                          </m:sup>
                        </m:sSup>
                      </m:oMath>
                    </m:oMathPara>
                  </a14:m>
                  <a:endParaRPr lang="zh-CN" altLang="en-US" sz="3600" dirty="0"/>
                </a:p>
              </p:txBody>
            </p:sp>
          </mc:Choice>
          <mc:Fallback>
            <p:sp>
              <p:nvSpPr>
                <p:cNvPr id="31757" name="Object 5"/>
                <p:cNvSpPr txBox="1">
                  <a:spLocks noRot="1" noChangeAspect="1" noMove="1" noResize="1" noEditPoints="1" noAdjustHandles="1" noChangeArrowheads="1" noChangeShapeType="1" noTextEdit="1"/>
                </p:cNvSpPr>
                <p:nvPr/>
              </p:nvSpPr>
              <p:spPr bwMode="auto">
                <a:xfrm>
                  <a:off x="1488" y="1248"/>
                  <a:ext cx="324" cy="432"/>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9462" name="Rectangle 6"/>
            <p:cNvSpPr>
              <a:spLocks noChangeArrowheads="1"/>
            </p:cNvSpPr>
            <p:nvPr/>
          </p:nvSpPr>
          <p:spPr bwMode="auto">
            <a:xfrm>
              <a:off x="0" y="1296"/>
              <a:ext cx="1532"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位权为</a:t>
              </a: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a:t>
              </a:r>
            </a:p>
          </p:txBody>
        </p:sp>
      </p:grpSp>
      <p:sp>
        <p:nvSpPr>
          <p:cNvPr id="19463" name="Rectangle 7"/>
          <p:cNvSpPr>
            <a:spLocks noChangeArrowheads="1"/>
          </p:cNvSpPr>
          <p:nvPr/>
        </p:nvSpPr>
        <p:spPr bwMode="auto">
          <a:xfrm>
            <a:off x="533400" y="2819400"/>
            <a:ext cx="587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如果有</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m</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位整数，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n</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位小数。则：</a:t>
            </a:r>
          </a:p>
        </p:txBody>
      </p:sp>
      <p:grpSp>
        <p:nvGrpSpPr>
          <p:cNvPr id="19464" name="Group 8"/>
          <p:cNvGrpSpPr/>
          <p:nvPr/>
        </p:nvGrpSpPr>
        <p:grpSpPr bwMode="auto">
          <a:xfrm>
            <a:off x="468313" y="3500438"/>
            <a:ext cx="8382000" cy="1752600"/>
            <a:chOff x="0" y="2688"/>
            <a:chExt cx="5760" cy="1327"/>
          </a:xfrm>
        </p:grpSpPr>
        <mc:AlternateContent xmlns:mc="http://schemas.openxmlformats.org/markup-compatibility/2006">
          <mc:Choice xmlns:a14="http://schemas.microsoft.com/office/drawing/2010/main" Requires="a14">
            <p:sp>
              <p:nvSpPr>
                <p:cNvPr id="31755" name="Object 9"/>
                <p:cNvSpPr txBox="1"/>
                <p:nvPr/>
              </p:nvSpPr>
              <p:spPr bwMode="auto">
                <a:xfrm>
                  <a:off x="0" y="2688"/>
                  <a:ext cx="5760" cy="132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8</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0</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oMath>
                      <m:oMath xmlns:m="http://schemas.openxmlformats.org/officeDocument/2006/math">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𝑖</m:t>
                                </m:r>
                              </m:sup>
                            </m:sSup>
                          </m:e>
                        </m:nary>
                      </m:oMath>
                    </m:oMathPara>
                  </a14:m>
                  <a:endParaRPr lang="zh-CN" altLang="en-US"/>
                </a:p>
              </p:txBody>
            </p:sp>
          </mc:Choice>
          <mc:Fallback>
            <p:sp>
              <p:nvSpPr>
                <p:cNvPr id="31755" name="Object 9"/>
                <p:cNvSpPr txBox="1">
                  <a:spLocks noRot="1" noChangeAspect="1" noMove="1" noResize="1" noEditPoints="1" noAdjustHandles="1" noChangeArrowheads="1" noChangeShapeType="1" noTextEdit="1"/>
                </p:cNvSpPr>
                <p:nvPr/>
              </p:nvSpPr>
              <p:spPr bwMode="auto">
                <a:xfrm>
                  <a:off x="0" y="2688"/>
                  <a:ext cx="5760" cy="1327"/>
                </a:xfrm>
                <a:prstGeom prst="rect">
                  <a:avLst/>
                </a:prstGeom>
                <a:blipFill>
                  <a:blip r:embed="rId4"/>
                  <a:stretch>
                    <a:fillRect l="-21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56" name="Object 10"/>
                <p:cNvSpPr txBox="1"/>
                <p:nvPr/>
              </p:nvSpPr>
              <p:spPr bwMode="auto">
                <a:xfrm>
                  <a:off x="1248" y="3360"/>
                  <a:ext cx="1508" cy="47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=0~7)</m:t>
                        </m:r>
                      </m:oMath>
                    </m:oMathPara>
                  </a14:m>
                  <a:endParaRPr lang="zh-CN" altLang="en-US"/>
                </a:p>
              </p:txBody>
            </p:sp>
          </mc:Choice>
          <mc:Fallback>
            <p:sp>
              <p:nvSpPr>
                <p:cNvPr id="31756" name="Object 10"/>
                <p:cNvSpPr txBox="1">
                  <a:spLocks noRot="1" noChangeAspect="1" noMove="1" noResize="1" noEditPoints="1" noAdjustHandles="1" noChangeArrowheads="1" noChangeShapeType="1" noTextEdit="1"/>
                </p:cNvSpPr>
                <p:nvPr/>
              </p:nvSpPr>
              <p:spPr bwMode="auto">
                <a:xfrm>
                  <a:off x="1248" y="3360"/>
                  <a:ext cx="1508" cy="476"/>
                </a:xfrm>
                <a:prstGeom prst="rect">
                  <a:avLst/>
                </a:prstGeom>
                <a:blipFill>
                  <a:blip r:embed="rId5"/>
                  <a:stretch>
                    <a:fillRect l="-833"/>
                  </a:stretch>
                </a:blipFill>
                <a:ln>
                  <a:noFill/>
                </a:ln>
                <a:effectLst/>
              </p:spPr>
              <p:txBody>
                <a:bodyPr/>
                <a:lstStyle/>
                <a:p>
                  <a:r>
                    <a:rPr lang="zh-CN" altLang="en-US">
                      <a:noFill/>
                    </a:rPr>
                    <a:t> </a:t>
                  </a:r>
                </a:p>
              </p:txBody>
            </p:sp>
          </mc:Fallback>
        </mc:AlternateContent>
      </p:grpSp>
      <p:sp>
        <p:nvSpPr>
          <p:cNvPr id="19467" name="Rectangle 11"/>
          <p:cNvSpPr>
            <a:spLocks noChangeArrowheads="1"/>
          </p:cNvSpPr>
          <p:nvPr/>
        </p:nvSpPr>
        <p:spPr bwMode="auto">
          <a:xfrm>
            <a:off x="179388" y="5324475"/>
            <a:ext cx="234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例：</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(12.4)</a:t>
            </a:r>
            <a:r>
              <a:rPr lang="en-US" altLang="zh-CN" sz="3200" baseline="-25000" dirty="0">
                <a:effectLst>
                  <a:outerShdw blurRad="38100" dist="38100" dir="2700000" algn="tl">
                    <a:srgbClr val="C0C0C0"/>
                  </a:outerShdw>
                </a:effectLst>
                <a:latin typeface="黑体" panose="02010609060101010101" pitchFamily="49" charset="-122"/>
                <a:ea typeface="黑体" panose="02010609060101010101" pitchFamily="49" charset="-122"/>
              </a:rPr>
              <a:t>8</a:t>
            </a:r>
            <a:endPar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9468" name="Rectangle 12"/>
          <p:cNvSpPr>
            <a:spLocks noChangeArrowheads="1"/>
          </p:cNvSpPr>
          <p:nvPr/>
        </p:nvSpPr>
        <p:spPr bwMode="auto">
          <a:xfrm>
            <a:off x="2557463" y="5321300"/>
            <a:ext cx="5321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=1×8</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2×8</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4×8</a:t>
            </a:r>
            <a:r>
              <a:rPr lang="zh-CN" altLang="en-US"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=10.5</a:t>
            </a:r>
          </a:p>
        </p:txBody>
      </p:sp>
      <p:sp>
        <p:nvSpPr>
          <p:cNvPr id="14" name="Rectangle 12"/>
          <p:cNvSpPr>
            <a:spLocks noChangeArrowheads="1"/>
          </p:cNvSpPr>
          <p:nvPr/>
        </p:nvSpPr>
        <p:spPr bwMode="auto">
          <a:xfrm>
            <a:off x="227013" y="6011863"/>
            <a:ext cx="8502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(365.1)</a:t>
            </a:r>
            <a:r>
              <a:rPr lang="en-US" altLang="zh-CN" sz="2800" baseline="-25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8</a:t>
            </a: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=3×8</a:t>
            </a:r>
            <a:r>
              <a:rPr lang="en-US" altLang="zh-CN" sz="28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6×8</a:t>
            </a:r>
            <a:r>
              <a:rPr lang="en-US" altLang="zh-CN" sz="28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5×8</a:t>
            </a:r>
            <a:r>
              <a:rPr lang="en-US" altLang="zh-CN" sz="28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1×8</a:t>
            </a:r>
            <a:r>
              <a:rPr lang="zh-CN" altLang="en-US" sz="28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baseline="30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en-US" altLang="zh-CN" sz="28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=245.125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ox(in)">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60"/>
                                        </p:tgtEl>
                                        <p:attrNameLst>
                                          <p:attrName>style.visibility</p:attrName>
                                        </p:attrNameLst>
                                      </p:cBhvr>
                                      <p:to>
                                        <p:strVal val="visible"/>
                                      </p:to>
                                    </p:set>
                                    <p:animEffect transition="in" filter="box(in)">
                                      <p:cBhvr>
                                        <p:cTn id="12" dur="500"/>
                                        <p:tgtEl>
                                          <p:spTgt spid="194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3"/>
                                        </p:tgtEl>
                                        <p:attrNameLst>
                                          <p:attrName>style.visibility</p:attrName>
                                        </p:attrNameLst>
                                      </p:cBhvr>
                                      <p:to>
                                        <p:strVal val="visible"/>
                                      </p:to>
                                    </p:set>
                                    <p:animEffect transition="in" filter="wipe(left)">
                                      <p:cBhvr>
                                        <p:cTn id="17" dur="500"/>
                                        <p:tgtEl>
                                          <p:spTgt spid="1946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464"/>
                                        </p:tgtEl>
                                        <p:attrNameLst>
                                          <p:attrName>style.visibility</p:attrName>
                                        </p:attrNameLst>
                                      </p:cBhvr>
                                      <p:to>
                                        <p:strVal val="visible"/>
                                      </p:to>
                                    </p:set>
                                    <p:animEffect transition="in" filter="dissolve">
                                      <p:cBhvr>
                                        <p:cTn id="22" dur="500"/>
                                        <p:tgtEl>
                                          <p:spTgt spid="194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7"/>
                                        </p:tgtEl>
                                        <p:attrNameLst>
                                          <p:attrName>style.visibility</p:attrName>
                                        </p:attrNameLst>
                                      </p:cBhvr>
                                      <p:to>
                                        <p:strVal val="visible"/>
                                      </p:to>
                                    </p:set>
                                    <p:animEffect transition="in" filter="wipe(left)">
                                      <p:cBhvr>
                                        <p:cTn id="27" dur="500"/>
                                        <p:tgtEl>
                                          <p:spTgt spid="194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468"/>
                                        </p:tgtEl>
                                        <p:attrNameLst>
                                          <p:attrName>style.visibility</p:attrName>
                                        </p:attrNameLst>
                                      </p:cBhvr>
                                      <p:to>
                                        <p:strVal val="visible"/>
                                      </p:to>
                                    </p:set>
                                    <p:animEffect transition="in" filter="wipe(left)">
                                      <p:cBhvr>
                                        <p:cTn id="32" dur="500"/>
                                        <p:tgtEl>
                                          <p:spTgt spid="194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ldLvl="0" animBg="1" autoUpdateAnimBg="0"/>
      <p:bldP spid="19463" grpId="0" bldLvl="0" animBg="1" autoUpdateAnimBg="0"/>
      <p:bldP spid="19467" grpId="0" bldLvl="0" animBg="1" autoUpdateAnimBg="0"/>
      <p:bldP spid="19468" grpId="0" bldLvl="0" animBg="1" autoUpdateAnimBg="0"/>
      <p:bldP spid="14" grpId="0" bldLvl="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a:xfrm>
            <a:off x="7232650" y="6400800"/>
            <a:ext cx="1905000" cy="457200"/>
          </a:xfrm>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32803A-979E-4795-8E07-1FA0BA03E335}" type="slidenum">
              <a:rPr lang="en-US" altLang="zh-CN" sz="1400" smtClean="0"/>
              <a:t>12</a:t>
            </a:fld>
            <a:endParaRPr lang="en-US" altLang="zh-CN" sz="1400"/>
          </a:p>
        </p:txBody>
      </p:sp>
      <p:sp>
        <p:nvSpPr>
          <p:cNvPr id="20482" name="Rectangle 2"/>
          <p:cNvSpPr>
            <a:spLocks noChangeArrowheads="1"/>
          </p:cNvSpPr>
          <p:nvPr/>
        </p:nvSpPr>
        <p:spPr bwMode="auto">
          <a:xfrm>
            <a:off x="228600" y="304800"/>
            <a:ext cx="53340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a:solidFill>
                  <a:schemeClr val="tx2"/>
                </a:solidFill>
                <a:latin typeface="黑体" panose="02010609060101010101" pitchFamily="49" charset="-122"/>
                <a:ea typeface="黑体" panose="02010609060101010101" pitchFamily="49" charset="-122"/>
              </a:rPr>
              <a:t>1.1.4 </a:t>
            </a:r>
            <a:r>
              <a:rPr lang="zh-CN" altLang="en-US" sz="4400">
                <a:solidFill>
                  <a:schemeClr val="tx2"/>
                </a:solidFill>
                <a:latin typeface="黑体" panose="02010609060101010101" pitchFamily="49" charset="-122"/>
                <a:ea typeface="黑体" panose="02010609060101010101" pitchFamily="49" charset="-122"/>
              </a:rPr>
              <a:t>十六进制计数</a:t>
            </a:r>
          </a:p>
        </p:txBody>
      </p:sp>
      <p:sp>
        <p:nvSpPr>
          <p:cNvPr id="20483" name="Rectangle 3"/>
          <p:cNvSpPr>
            <a:spLocks noChangeArrowheads="1"/>
          </p:cNvSpPr>
          <p:nvPr/>
        </p:nvSpPr>
        <p:spPr bwMode="auto">
          <a:xfrm>
            <a:off x="228600" y="1219200"/>
            <a:ext cx="75834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基数为十六，数符</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F</a:t>
            </a:r>
          </a:p>
        </p:txBody>
      </p:sp>
      <p:sp>
        <p:nvSpPr>
          <p:cNvPr id="20484" name="Rectangle 4"/>
          <p:cNvSpPr>
            <a:spLocks noChangeArrowheads="1"/>
          </p:cNvSpPr>
          <p:nvPr/>
        </p:nvSpPr>
        <p:spPr bwMode="auto">
          <a:xfrm>
            <a:off x="609600" y="2819400"/>
            <a:ext cx="587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如果有</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m</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位整数，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n</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位小数。则：</a:t>
            </a:r>
          </a:p>
        </p:txBody>
      </p:sp>
      <p:grpSp>
        <p:nvGrpSpPr>
          <p:cNvPr id="20485" name="Group 5"/>
          <p:cNvGrpSpPr/>
          <p:nvPr/>
        </p:nvGrpSpPr>
        <p:grpSpPr bwMode="auto">
          <a:xfrm>
            <a:off x="468313" y="3429000"/>
            <a:ext cx="8458200" cy="1981200"/>
            <a:chOff x="0" y="2448"/>
            <a:chExt cx="5760" cy="1296"/>
          </a:xfrm>
        </p:grpSpPr>
        <mc:AlternateContent xmlns:mc="http://schemas.openxmlformats.org/markup-compatibility/2006">
          <mc:Choice xmlns:a14="http://schemas.microsoft.com/office/drawing/2010/main" Requires="a14">
            <p:sp>
              <p:nvSpPr>
                <p:cNvPr id="33805" name="Object 6"/>
                <p:cNvSpPr txBox="1"/>
                <p:nvPr/>
              </p:nvSpPr>
              <p:spPr bwMode="auto">
                <a:xfrm>
                  <a:off x="0" y="2448"/>
                  <a:ext cx="5760" cy="129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16</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0</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−1</m:t>
                            </m:r>
                          </m:sup>
                        </m:sSup>
                      </m:oMath>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6</m:t>
                                </m:r>
                              </m:e>
                              <m:sup>
                                <m:r>
                                  <a:rPr lang="zh-CN" altLang="en-US" i="1">
                                    <a:solidFill>
                                      <a:srgbClr val="000000"/>
                                    </a:solidFill>
                                    <a:latin typeface="Cambria Math" panose="02040503050406030204" pitchFamily="18" charset="0"/>
                                  </a:rPr>
                                  <m:t>𝑖</m:t>
                                </m:r>
                              </m:sup>
                            </m:sSup>
                          </m:e>
                        </m:nary>
                      </m:oMath>
                    </m:oMathPara>
                  </a14:m>
                  <a:endParaRPr lang="zh-CN" altLang="en-US"/>
                </a:p>
              </p:txBody>
            </p:sp>
          </mc:Choice>
          <mc:Fallback>
            <p:sp>
              <p:nvSpPr>
                <p:cNvPr id="33805" name="Object 6"/>
                <p:cNvSpPr txBox="1">
                  <a:spLocks noRot="1" noChangeAspect="1" noMove="1" noResize="1" noEditPoints="1" noAdjustHandles="1" noChangeArrowheads="1" noChangeShapeType="1" noTextEdit="1"/>
                </p:cNvSpPr>
                <p:nvPr/>
              </p:nvSpPr>
              <p:spPr bwMode="auto">
                <a:xfrm>
                  <a:off x="0" y="2448"/>
                  <a:ext cx="5760" cy="1296"/>
                </a:xfrm>
                <a:prstGeom prst="rect">
                  <a:avLst/>
                </a:prstGeom>
                <a:blipFill>
                  <a:blip r:embed="rId3"/>
                  <a:stretch>
                    <a:fillRect l="-21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6" name="Object 7"/>
                <p:cNvSpPr txBox="1"/>
                <p:nvPr/>
              </p:nvSpPr>
              <p:spPr bwMode="auto">
                <a:xfrm>
                  <a:off x="2976" y="3168"/>
                  <a:ext cx="1728" cy="38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33806" name="Object 7"/>
                <p:cNvSpPr txBox="1">
                  <a:spLocks noRot="1" noChangeAspect="1" noMove="1" noResize="1" noEditPoints="1" noAdjustHandles="1" noChangeArrowheads="1" noChangeShapeType="1" noTextEdit="1"/>
                </p:cNvSpPr>
                <p:nvPr/>
              </p:nvSpPr>
              <p:spPr bwMode="auto">
                <a:xfrm>
                  <a:off x="2976" y="3168"/>
                  <a:ext cx="1728" cy="384"/>
                </a:xfrm>
                <a:prstGeom prst="rect">
                  <a:avLst/>
                </a:prstGeom>
                <a:blipFill>
                  <a:blip r:embed="rId4"/>
                  <a:stretch>
                    <a:fillRect l="-721"/>
                  </a:stretch>
                </a:blipFill>
                <a:ln>
                  <a:noFill/>
                </a:ln>
                <a:effectLst/>
              </p:spPr>
              <p:txBody>
                <a:bodyPr/>
                <a:lstStyle/>
                <a:p>
                  <a:r>
                    <a:rPr lang="zh-CN" altLang="en-US">
                      <a:noFill/>
                    </a:rPr>
                    <a:t> </a:t>
                  </a:r>
                </a:p>
              </p:txBody>
            </p:sp>
          </mc:Fallback>
        </mc:AlternateContent>
      </p:grpSp>
      <p:grpSp>
        <p:nvGrpSpPr>
          <p:cNvPr id="20488" name="Group 8"/>
          <p:cNvGrpSpPr/>
          <p:nvPr/>
        </p:nvGrpSpPr>
        <p:grpSpPr bwMode="auto">
          <a:xfrm>
            <a:off x="228600" y="2057401"/>
            <a:ext cx="3117850" cy="669926"/>
            <a:chOff x="0" y="1200"/>
            <a:chExt cx="1964" cy="422"/>
          </a:xfrm>
        </p:grpSpPr>
        <p:sp>
          <p:nvSpPr>
            <p:cNvPr id="20489" name="Rectangle 9"/>
            <p:cNvSpPr>
              <a:spLocks noChangeArrowheads="1"/>
            </p:cNvSpPr>
            <p:nvPr/>
          </p:nvSpPr>
          <p:spPr bwMode="auto">
            <a:xfrm>
              <a:off x="0" y="1200"/>
              <a:ext cx="1532"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位权为</a:t>
              </a: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a:t>
              </a:r>
              <a:endParaRPr lang="en-US" altLang="zh-CN" sz="3200" b="1" baseline="30000">
                <a:effectLst>
                  <a:outerShdw blurRad="38100" dist="38100" dir="2700000" algn="tl">
                    <a:srgbClr val="FFFFFF"/>
                  </a:outerShdw>
                </a:effectLst>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3804" name="Object 10"/>
                <p:cNvSpPr txBox="1"/>
                <p:nvPr/>
              </p:nvSpPr>
              <p:spPr bwMode="auto">
                <a:xfrm>
                  <a:off x="1532" y="1215"/>
                  <a:ext cx="432" cy="407"/>
                </a:xfrm>
                <a:prstGeom prst="rect">
                  <a:avLst/>
                </a:prstGeom>
                <a:solidFill>
                  <a:srgbClr val="99FF33"/>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1</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6</m:t>
                            </m:r>
                          </m:e>
                          <m:sup>
                            <m:r>
                              <a:rPr lang="zh-CN" altLang="en-US" sz="3200" i="1">
                                <a:solidFill>
                                  <a:srgbClr val="000000"/>
                                </a:solidFill>
                                <a:latin typeface="Cambria Math" panose="02040503050406030204" pitchFamily="18" charset="0"/>
                              </a:rPr>
                              <m:t>𝑖</m:t>
                            </m:r>
                          </m:sup>
                        </m:sSup>
                      </m:oMath>
                    </m:oMathPara>
                  </a14:m>
                  <a:endParaRPr lang="zh-CN" altLang="en-US" sz="3200" dirty="0"/>
                </a:p>
              </p:txBody>
            </p:sp>
          </mc:Choice>
          <mc:Fallback>
            <p:sp>
              <p:nvSpPr>
                <p:cNvPr id="33804" name="Object 10"/>
                <p:cNvSpPr txBox="1">
                  <a:spLocks noRot="1" noChangeAspect="1" noMove="1" noResize="1" noEditPoints="1" noAdjustHandles="1" noChangeArrowheads="1" noChangeShapeType="1" noTextEdit="1"/>
                </p:cNvSpPr>
                <p:nvPr/>
              </p:nvSpPr>
              <p:spPr bwMode="auto">
                <a:xfrm>
                  <a:off x="1532" y="1215"/>
                  <a:ext cx="432" cy="407"/>
                </a:xfrm>
                <a:prstGeom prst="rect">
                  <a:avLst/>
                </a:prstGeom>
                <a:blipFill>
                  <a:blip r:embed="rId5"/>
                  <a:stretch>
                    <a:fillRect/>
                  </a:stretch>
                </a:blipFill>
                <a:ln>
                  <a:noFill/>
                </a:ln>
                <a:effectLst/>
              </p:spPr>
              <p:txBody>
                <a:bodyPr/>
                <a:lstStyle/>
                <a:p>
                  <a:r>
                    <a:rPr lang="zh-CN" altLang="en-US">
                      <a:noFill/>
                    </a:rPr>
                    <a:t> </a:t>
                  </a:r>
                </a:p>
              </p:txBody>
            </p:sp>
          </mc:Fallback>
        </mc:AlternateContent>
      </p:grpSp>
      <p:sp>
        <p:nvSpPr>
          <p:cNvPr id="20491" name="Rectangle 11"/>
          <p:cNvSpPr>
            <a:spLocks noChangeArrowheads="1"/>
          </p:cNvSpPr>
          <p:nvPr/>
        </p:nvSpPr>
        <p:spPr bwMode="auto">
          <a:xfrm>
            <a:off x="228600" y="5440363"/>
            <a:ext cx="8077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a:latin typeface="黑体" panose="02010609060101010101" pitchFamily="49" charset="-122"/>
                <a:ea typeface="黑体" panose="02010609060101010101" pitchFamily="49" charset="-122"/>
              </a:rPr>
              <a:t>例：</a:t>
            </a:r>
            <a:r>
              <a:rPr lang="en-US" altLang="zh-CN">
                <a:latin typeface="黑体" panose="02010609060101010101" pitchFamily="49" charset="-122"/>
                <a:ea typeface="黑体" panose="02010609060101010101" pitchFamily="49" charset="-122"/>
              </a:rPr>
              <a:t>(3A6)</a:t>
            </a:r>
            <a:r>
              <a:rPr lang="en-US" altLang="zh-CN" baseline="-25000">
                <a:latin typeface="黑体" panose="02010609060101010101" pitchFamily="49" charset="-122"/>
                <a:ea typeface="黑体" panose="02010609060101010101" pitchFamily="49" charset="-122"/>
              </a:rPr>
              <a:t>16</a:t>
            </a:r>
            <a:endParaRPr lang="en-US" altLang="zh-CN">
              <a:latin typeface="黑体" panose="02010609060101010101" pitchFamily="49" charset="-122"/>
              <a:ea typeface="黑体" panose="02010609060101010101" pitchFamily="49" charset="-122"/>
            </a:endParaRPr>
          </a:p>
        </p:txBody>
      </p:sp>
      <p:sp>
        <p:nvSpPr>
          <p:cNvPr id="20492" name="Rectangle 12"/>
          <p:cNvSpPr>
            <a:spLocks noChangeArrowheads="1"/>
          </p:cNvSpPr>
          <p:nvPr/>
        </p:nvSpPr>
        <p:spPr bwMode="auto">
          <a:xfrm>
            <a:off x="2460625" y="5440363"/>
            <a:ext cx="61341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a:latin typeface="黑体" panose="02010609060101010101" pitchFamily="49" charset="-122"/>
                <a:ea typeface="黑体" panose="02010609060101010101" pitchFamily="49" charset="-122"/>
              </a:rPr>
              <a:t>=3×16</a:t>
            </a:r>
            <a:r>
              <a:rPr lang="en-US" altLang="zh-CN" baseline="30000">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10×16</a:t>
            </a:r>
            <a:r>
              <a:rPr lang="en-US" altLang="zh-CN" baseline="30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6×16</a:t>
            </a:r>
            <a:r>
              <a:rPr lang="en-US" altLang="zh-CN" baseline="30000">
                <a:latin typeface="黑体" panose="02010609060101010101" pitchFamily="49" charset="-122"/>
                <a:ea typeface="黑体" panose="02010609060101010101" pitchFamily="49" charset="-122"/>
              </a:rPr>
              <a:t>0</a:t>
            </a:r>
            <a:r>
              <a:rPr lang="en-US" altLang="zh-CN">
                <a:latin typeface="黑体" panose="02010609060101010101" pitchFamily="49" charset="-122"/>
                <a:ea typeface="黑体" panose="02010609060101010101" pitchFamily="49" charset="-122"/>
              </a:rPr>
              <a:t>=934</a:t>
            </a:r>
          </a:p>
        </p:txBody>
      </p:sp>
      <p:sp>
        <p:nvSpPr>
          <p:cNvPr id="14" name="Rectangle 12"/>
          <p:cNvSpPr>
            <a:spLocks noChangeArrowheads="1"/>
          </p:cNvSpPr>
          <p:nvPr/>
        </p:nvSpPr>
        <p:spPr bwMode="auto">
          <a:xfrm>
            <a:off x="684213" y="6088063"/>
            <a:ext cx="75168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latin typeface="黑体" panose="02010609060101010101" pitchFamily="49" charset="-122"/>
                <a:ea typeface="黑体" panose="02010609060101010101" pitchFamily="49" charset="-122"/>
              </a:rPr>
              <a:t>(F5.2)</a:t>
            </a:r>
            <a:r>
              <a:rPr lang="en-US" altLang="zh-CN" sz="2800" baseline="-25000">
                <a:solidFill>
                  <a:srgbClr val="FF0000"/>
                </a:solidFill>
                <a:latin typeface="黑体" panose="02010609060101010101" pitchFamily="49" charset="-122"/>
                <a:ea typeface="黑体" panose="02010609060101010101" pitchFamily="49" charset="-122"/>
              </a:rPr>
              <a:t>16 </a:t>
            </a:r>
            <a:r>
              <a:rPr lang="en-US" altLang="zh-CN" sz="2800">
                <a:solidFill>
                  <a:srgbClr val="FF0000"/>
                </a:solidFill>
                <a:latin typeface="黑体" panose="02010609060101010101" pitchFamily="49" charset="-122"/>
                <a:ea typeface="黑体" panose="02010609060101010101" pitchFamily="49" charset="-122"/>
              </a:rPr>
              <a:t>=15×16</a:t>
            </a:r>
            <a:r>
              <a:rPr lang="en-US" altLang="zh-CN" sz="2800" baseline="30000">
                <a:solidFill>
                  <a:srgbClr val="FF0000"/>
                </a:solidFill>
                <a:latin typeface="黑体" panose="02010609060101010101" pitchFamily="49" charset="-122"/>
                <a:ea typeface="黑体" panose="02010609060101010101" pitchFamily="49" charset="-122"/>
              </a:rPr>
              <a:t>1</a:t>
            </a: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5×16</a:t>
            </a:r>
            <a:r>
              <a:rPr lang="en-US" altLang="zh-CN" sz="2800" baseline="30000">
                <a:solidFill>
                  <a:srgbClr val="FF0000"/>
                </a:solidFill>
                <a:latin typeface="黑体" panose="02010609060101010101" pitchFamily="49" charset="-122"/>
                <a:ea typeface="黑体" panose="02010609060101010101" pitchFamily="49" charset="-122"/>
              </a:rPr>
              <a:t>0</a:t>
            </a:r>
            <a:r>
              <a:rPr lang="zh-CN" altLang="en-US" sz="2800">
                <a:solidFill>
                  <a:srgbClr val="FF0000"/>
                </a:solidFill>
                <a:latin typeface="黑体" panose="02010609060101010101" pitchFamily="49" charset="-122"/>
                <a:ea typeface="黑体" panose="02010609060101010101" pitchFamily="49" charset="-122"/>
              </a:rPr>
              <a:t> ＋</a:t>
            </a:r>
            <a:r>
              <a:rPr lang="en-US" altLang="zh-CN" sz="2800">
                <a:solidFill>
                  <a:srgbClr val="FF0000"/>
                </a:solidFill>
                <a:latin typeface="黑体" panose="02010609060101010101" pitchFamily="49" charset="-122"/>
                <a:ea typeface="黑体" panose="02010609060101010101" pitchFamily="49" charset="-122"/>
              </a:rPr>
              <a:t>2×16</a:t>
            </a:r>
            <a:r>
              <a:rPr lang="en-US" altLang="zh-CN" sz="2800" baseline="30000">
                <a:solidFill>
                  <a:srgbClr val="FF0000"/>
                </a:solidFill>
                <a:latin typeface="黑体" panose="02010609060101010101" pitchFamily="49" charset="-122"/>
                <a:ea typeface="黑体" panose="02010609060101010101" pitchFamily="49" charset="-122"/>
              </a:rPr>
              <a:t>-1</a:t>
            </a:r>
            <a:r>
              <a:rPr lang="en-US" altLang="zh-CN" sz="2800">
                <a:solidFill>
                  <a:srgbClr val="FF0000"/>
                </a:solidFill>
                <a:latin typeface="黑体" panose="02010609060101010101" pitchFamily="49" charset="-122"/>
                <a:ea typeface="黑体" panose="02010609060101010101" pitchFamily="49" charset="-122"/>
              </a:rPr>
              <a:t>=245.125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box(in)">
                                      <p:cBhvr>
                                        <p:cTn id="7" dur="500"/>
                                        <p:tgtEl>
                                          <p:spTgt spid="2048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488"/>
                                        </p:tgtEl>
                                        <p:attrNameLst>
                                          <p:attrName>style.visibility</p:attrName>
                                        </p:attrNameLst>
                                      </p:cBhvr>
                                      <p:to>
                                        <p:strVal val="visible"/>
                                      </p:to>
                                    </p:set>
                                    <p:animEffect transition="in" filter="box(in)">
                                      <p:cBhvr>
                                        <p:cTn id="12" dur="500"/>
                                        <p:tgtEl>
                                          <p:spTgt spid="204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4"/>
                                        </p:tgtEl>
                                        <p:attrNameLst>
                                          <p:attrName>style.visibility</p:attrName>
                                        </p:attrNameLst>
                                      </p:cBhvr>
                                      <p:to>
                                        <p:strVal val="visible"/>
                                      </p:to>
                                    </p:set>
                                    <p:animEffect transition="in" filter="wipe(left)">
                                      <p:cBhvr>
                                        <p:cTn id="17" dur="500"/>
                                        <p:tgtEl>
                                          <p:spTgt spid="2048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485"/>
                                        </p:tgtEl>
                                        <p:attrNameLst>
                                          <p:attrName>style.visibility</p:attrName>
                                        </p:attrNameLst>
                                      </p:cBhvr>
                                      <p:to>
                                        <p:strVal val="visible"/>
                                      </p:to>
                                    </p:set>
                                    <p:animEffect transition="in" filter="dissolve">
                                      <p:cBhvr>
                                        <p:cTn id="22" dur="500"/>
                                        <p:tgtEl>
                                          <p:spTgt spid="204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91"/>
                                        </p:tgtEl>
                                        <p:attrNameLst>
                                          <p:attrName>style.visibility</p:attrName>
                                        </p:attrNameLst>
                                      </p:cBhvr>
                                      <p:to>
                                        <p:strVal val="visible"/>
                                      </p:to>
                                    </p:set>
                                    <p:animEffect transition="in" filter="wipe(left)">
                                      <p:cBhvr>
                                        <p:cTn id="27" dur="500"/>
                                        <p:tgtEl>
                                          <p:spTgt spid="204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92"/>
                                        </p:tgtEl>
                                        <p:attrNameLst>
                                          <p:attrName>style.visibility</p:attrName>
                                        </p:attrNameLst>
                                      </p:cBhvr>
                                      <p:to>
                                        <p:strVal val="visible"/>
                                      </p:to>
                                    </p:set>
                                    <p:animEffect transition="in" filter="wipe(left)">
                                      <p:cBhvr>
                                        <p:cTn id="32" dur="500"/>
                                        <p:tgtEl>
                                          <p:spTgt spid="204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ldLvl="0" animBg="1" autoUpdateAnimBg="0"/>
      <p:bldP spid="20484" grpId="0" bldLvl="0" animBg="1" autoUpdateAnimBg="0"/>
      <p:bldP spid="20491" grpId="0" bldLvl="0" animBg="1" autoUpdateAnimBg="0"/>
      <p:bldP spid="20492" grpId="0" bldLvl="0" animBg="1" autoUpdateAnimBg="0"/>
      <p:bldP spid="14" grpId="0" bldLvl="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036FF74-A1D2-4994-AC82-69BDA0ED7E1B}" type="slidenum">
              <a:rPr lang="en-US" altLang="zh-CN" sz="1400" smtClean="0"/>
              <a:t>13</a:t>
            </a:fld>
            <a:endParaRPr lang="en-US" altLang="zh-CN" sz="1400"/>
          </a:p>
        </p:txBody>
      </p:sp>
      <p:sp>
        <p:nvSpPr>
          <p:cNvPr id="35843" name="Rectangle 2"/>
          <p:cNvSpPr>
            <a:spLocks noChangeArrowheads="1"/>
          </p:cNvSpPr>
          <p:nvPr/>
        </p:nvSpPr>
        <p:spPr bwMode="auto">
          <a:xfrm>
            <a:off x="228600" y="258763"/>
            <a:ext cx="61722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1.1.5 </a:t>
            </a:r>
            <a:r>
              <a:rPr lang="zh-CN" altLang="en-US" sz="4400" b="1">
                <a:solidFill>
                  <a:schemeClr val="tx2"/>
                </a:solidFill>
                <a:latin typeface="黑体" panose="02010609060101010101" pitchFamily="49" charset="-122"/>
                <a:ea typeface="黑体" panose="02010609060101010101" pitchFamily="49" charset="-122"/>
              </a:rPr>
              <a:t>二进制数的特点</a:t>
            </a:r>
          </a:p>
        </p:txBody>
      </p:sp>
      <p:grpSp>
        <p:nvGrpSpPr>
          <p:cNvPr id="21507" name="Group 3"/>
          <p:cNvGrpSpPr/>
          <p:nvPr/>
        </p:nvGrpSpPr>
        <p:grpSpPr bwMode="auto">
          <a:xfrm>
            <a:off x="152400" y="1325563"/>
            <a:ext cx="8978900" cy="1265237"/>
            <a:chOff x="0" y="624"/>
            <a:chExt cx="5656" cy="797"/>
          </a:xfrm>
        </p:grpSpPr>
        <p:sp>
          <p:nvSpPr>
            <p:cNvPr id="21508" name="Rectangle 4"/>
            <p:cNvSpPr>
              <a:spLocks noChangeArrowheads="1"/>
            </p:cNvSpPr>
            <p:nvPr/>
          </p:nvSpPr>
          <p:spPr bwMode="auto">
            <a:xfrm>
              <a:off x="12" y="624"/>
              <a:ext cx="5644"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二进制数只有</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和</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两个数码，故可以用</a:t>
              </a:r>
              <a:r>
                <a:rPr lang="zh-CN" altLang="en-US" sz="3200" b="1" dirty="0">
                  <a:solidFill>
                    <a:srgbClr val="FF0000"/>
                  </a:solidFill>
                  <a:effectLst>
                    <a:outerShdw blurRad="38100" dist="38100" dir="2700000" algn="tl">
                      <a:srgbClr val="FFFFFF"/>
                    </a:outerShdw>
                  </a:effectLst>
                  <a:latin typeface="黑体" panose="02010609060101010101" pitchFamily="49" charset="-122"/>
                  <a:ea typeface="黑体" panose="02010609060101010101" pitchFamily="49" charset="-122"/>
                </a:rPr>
                <a:t>晶体管</a:t>
              </a:r>
            </a:p>
          </p:txBody>
        </p:sp>
        <p:sp>
          <p:nvSpPr>
            <p:cNvPr id="21509" name="Rectangle 5"/>
            <p:cNvSpPr>
              <a:spLocks noChangeArrowheads="1"/>
            </p:cNvSpPr>
            <p:nvPr/>
          </p:nvSpPr>
          <p:spPr bwMode="auto">
            <a:xfrm>
              <a:off x="0" y="1056"/>
              <a:ext cx="5256"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的通、断或脉冲的有无来表示一位二进制数。</a:t>
              </a:r>
            </a:p>
          </p:txBody>
        </p:sp>
      </p:grpSp>
      <p:grpSp>
        <p:nvGrpSpPr>
          <p:cNvPr id="21510" name="Group 6"/>
          <p:cNvGrpSpPr/>
          <p:nvPr/>
        </p:nvGrpSpPr>
        <p:grpSpPr bwMode="auto">
          <a:xfrm>
            <a:off x="152400" y="2640013"/>
            <a:ext cx="8958263" cy="1265237"/>
            <a:chOff x="0" y="1680"/>
            <a:chExt cx="5643" cy="797"/>
          </a:xfrm>
        </p:grpSpPr>
        <p:sp>
          <p:nvSpPr>
            <p:cNvPr id="21511" name="Rectangle 7"/>
            <p:cNvSpPr>
              <a:spLocks noChangeArrowheads="1"/>
            </p:cNvSpPr>
            <p:nvPr/>
          </p:nvSpPr>
          <p:spPr bwMode="auto">
            <a:xfrm>
              <a:off x="0" y="1680"/>
              <a:ext cx="5643"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二进制数运算规则简单，其特点是逢二进一，</a:t>
              </a:r>
            </a:p>
          </p:txBody>
        </p:sp>
        <p:sp>
          <p:nvSpPr>
            <p:cNvPr id="21512" name="Rectangle 8"/>
            <p:cNvSpPr>
              <a:spLocks noChangeArrowheads="1"/>
            </p:cNvSpPr>
            <p:nvPr/>
          </p:nvSpPr>
          <p:spPr bwMode="auto">
            <a:xfrm>
              <a:off x="0" y="2112"/>
              <a:ext cx="1401" cy="365"/>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借一当二。</a:t>
              </a:r>
            </a:p>
          </p:txBody>
        </p:sp>
      </p:grpSp>
      <p:sp>
        <p:nvSpPr>
          <p:cNvPr id="21513" name="Rectangle 9"/>
          <p:cNvSpPr>
            <a:spLocks noChangeArrowheads="1"/>
          </p:cNvSpPr>
          <p:nvPr/>
        </p:nvSpPr>
        <p:spPr bwMode="auto">
          <a:xfrm>
            <a:off x="298450" y="4097338"/>
            <a:ext cx="83108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加法：</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p>
        </p:txBody>
      </p:sp>
      <p:sp>
        <p:nvSpPr>
          <p:cNvPr id="21514" name="Rectangle 10"/>
          <p:cNvSpPr>
            <a:spLocks noChangeArrowheads="1"/>
          </p:cNvSpPr>
          <p:nvPr/>
        </p:nvSpPr>
        <p:spPr bwMode="auto">
          <a:xfrm>
            <a:off x="304800" y="4727575"/>
            <a:ext cx="831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减法：</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p>
        </p:txBody>
      </p:sp>
      <p:sp>
        <p:nvSpPr>
          <p:cNvPr id="21515" name="Rectangle 11"/>
          <p:cNvSpPr>
            <a:spLocks noChangeArrowheads="1"/>
          </p:cNvSpPr>
          <p:nvPr/>
        </p:nvSpPr>
        <p:spPr bwMode="auto">
          <a:xfrm>
            <a:off x="304800" y="5946775"/>
            <a:ext cx="4654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除法：</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p>
        </p:txBody>
      </p:sp>
      <p:sp>
        <p:nvSpPr>
          <p:cNvPr id="21516" name="Rectangle 12"/>
          <p:cNvSpPr>
            <a:spLocks noChangeArrowheads="1"/>
          </p:cNvSpPr>
          <p:nvPr/>
        </p:nvSpPr>
        <p:spPr bwMode="auto">
          <a:xfrm>
            <a:off x="304800" y="5337175"/>
            <a:ext cx="831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乘法：</a:t>
            </a:r>
            <a:r>
              <a:rPr lang="en-US" altLang="zh-CN">
                <a:latin typeface="黑体" panose="02010609060101010101" pitchFamily="49" charset="-122"/>
                <a:ea typeface="黑体" panose="02010609060101010101" pitchFamily="49" charset="-122"/>
              </a:rPr>
              <a:t>0×0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0×1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ox(out)">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1510"/>
                                        </p:tgtEl>
                                        <p:attrNameLst>
                                          <p:attrName>style.visibility</p:attrName>
                                        </p:attrNameLst>
                                      </p:cBhvr>
                                      <p:to>
                                        <p:strVal val="visible"/>
                                      </p:to>
                                    </p:set>
                                    <p:animEffect transition="in" filter="box(out)">
                                      <p:cBhvr>
                                        <p:cTn id="12" dur="500"/>
                                        <p:tgtEl>
                                          <p:spTgt spid="2151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1513">
                                            <p:txEl>
                                              <p:pRg st="0" end="0"/>
                                            </p:txEl>
                                          </p:spTgt>
                                        </p:tgtEl>
                                        <p:attrNameLst>
                                          <p:attrName>style.visibility</p:attrName>
                                        </p:attrNameLst>
                                      </p:cBhvr>
                                      <p:to>
                                        <p:strVal val="visible"/>
                                      </p:to>
                                    </p:set>
                                    <p:animEffect transition="in" filter="box(out)">
                                      <p:cBhvr>
                                        <p:cTn id="17" dur="500"/>
                                        <p:tgtEl>
                                          <p:spTgt spid="215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1514">
                                            <p:txEl>
                                              <p:pRg st="0" end="0"/>
                                            </p:txEl>
                                          </p:spTgt>
                                        </p:tgtEl>
                                        <p:attrNameLst>
                                          <p:attrName>style.visibility</p:attrName>
                                        </p:attrNameLst>
                                      </p:cBhvr>
                                      <p:to>
                                        <p:strVal val="visible"/>
                                      </p:to>
                                    </p:set>
                                    <p:animEffect transition="in" filter="box(out)">
                                      <p:cBhvr>
                                        <p:cTn id="22" dur="500"/>
                                        <p:tgtEl>
                                          <p:spTgt spid="215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1516"/>
                                        </p:tgtEl>
                                        <p:attrNameLst>
                                          <p:attrName>style.visibility</p:attrName>
                                        </p:attrNameLst>
                                      </p:cBhvr>
                                      <p:to>
                                        <p:strVal val="visible"/>
                                      </p:to>
                                    </p:set>
                                    <p:animEffect transition="in" filter="box(out)">
                                      <p:cBhvr>
                                        <p:cTn id="27" dur="500"/>
                                        <p:tgtEl>
                                          <p:spTgt spid="2151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1515">
                                            <p:txEl>
                                              <p:pRg st="0" end="0"/>
                                            </p:txEl>
                                          </p:spTgt>
                                        </p:tgtEl>
                                        <p:attrNameLst>
                                          <p:attrName>style.visibility</p:attrName>
                                        </p:attrNameLst>
                                      </p:cBhvr>
                                      <p:to>
                                        <p:strVal val="visible"/>
                                      </p:to>
                                    </p:set>
                                    <p:animEffect transition="in" filter="box(out)">
                                      <p:cBhvr>
                                        <p:cTn id="32" dur="500"/>
                                        <p:tgtEl>
                                          <p:spTgt spid="215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build="p" autoUpdateAnimBg="0"/>
      <p:bldP spid="21514" grpId="0" build="p" autoUpdateAnimBg="0"/>
      <p:bldP spid="21515" grpId="0" build="p" autoUpdateAnimBg="0"/>
      <p:bldP spid="21516"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F5DC2BF-EA17-4A19-957B-0B06B4A86B49}" type="slidenum">
              <a:rPr lang="en-US" altLang="zh-CN" sz="1400" smtClean="0"/>
              <a:t>14</a:t>
            </a:fld>
            <a:endParaRPr lang="en-US" altLang="zh-CN" sz="1400"/>
          </a:p>
        </p:txBody>
      </p:sp>
      <p:sp>
        <p:nvSpPr>
          <p:cNvPr id="26634" name="Rectangle 10"/>
          <p:cNvSpPr>
            <a:spLocks noChangeArrowheads="1"/>
          </p:cNvSpPr>
          <p:nvPr/>
        </p:nvSpPr>
        <p:spPr bwMode="auto">
          <a:xfrm>
            <a:off x="228600" y="990600"/>
            <a:ext cx="7467600" cy="7016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000" b="1">
                <a:solidFill>
                  <a:schemeClr val="tx2"/>
                </a:solidFill>
                <a:latin typeface="黑体" panose="02010609060101010101" pitchFamily="49" charset="-122"/>
                <a:ea typeface="黑体" panose="02010609060101010101" pitchFamily="49" charset="-122"/>
              </a:rPr>
              <a:t>1.2.1 </a:t>
            </a:r>
            <a:r>
              <a:rPr lang="zh-CN" altLang="en-US" sz="4000" b="1">
                <a:solidFill>
                  <a:schemeClr val="tx2"/>
                </a:solidFill>
                <a:latin typeface="黑体" panose="02010609060101010101" pitchFamily="49" charset="-122"/>
                <a:ea typeface="黑体" panose="02010609060101010101" pitchFamily="49" charset="-122"/>
              </a:rPr>
              <a:t>二进制与十进制间的转换</a:t>
            </a:r>
          </a:p>
        </p:txBody>
      </p:sp>
      <p:grpSp>
        <p:nvGrpSpPr>
          <p:cNvPr id="26635" name="Group 11"/>
          <p:cNvGrpSpPr/>
          <p:nvPr/>
        </p:nvGrpSpPr>
        <p:grpSpPr bwMode="auto">
          <a:xfrm>
            <a:off x="611188" y="4076700"/>
            <a:ext cx="3260725" cy="590550"/>
            <a:chOff x="432" y="3305"/>
            <a:chExt cx="2054" cy="372"/>
          </a:xfrm>
        </p:grpSpPr>
        <p:sp>
          <p:nvSpPr>
            <p:cNvPr id="26636" name="Rectangle 12"/>
            <p:cNvSpPr>
              <a:spLocks noChangeArrowheads="1"/>
            </p:cNvSpPr>
            <p:nvPr/>
          </p:nvSpPr>
          <p:spPr bwMode="auto">
            <a:xfrm>
              <a:off x="816" y="3305"/>
              <a:ext cx="16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rPr>
                <a:t>：</a:t>
              </a:r>
              <a:r>
                <a:rPr lang="en-US" altLang="zh-CN" sz="3200" b="1">
                  <a:effectLst>
                    <a:outerShdw blurRad="38100" dist="38100" dir="2700000" algn="tl">
                      <a:srgbClr val="C0C0C0"/>
                    </a:outerShdw>
                  </a:effectLst>
                </a:rPr>
                <a:t>(25.875)</a:t>
              </a:r>
              <a:r>
                <a:rPr lang="en-US" altLang="zh-CN" sz="3200" b="1" baseline="-30000">
                  <a:effectLst>
                    <a:outerShdw blurRad="38100" dist="38100" dir="2700000" algn="tl">
                      <a:srgbClr val="C0C0C0"/>
                    </a:outerShdw>
                  </a:effectLst>
                </a:rPr>
                <a:t>10</a:t>
              </a:r>
              <a:r>
                <a:rPr lang="zh-CN" altLang="en-US" sz="3200" b="1">
                  <a:effectLst>
                    <a:outerShdw blurRad="38100" dist="38100" dir="2700000" algn="tl">
                      <a:srgbClr val="C0C0C0"/>
                    </a:outerShdw>
                  </a:effectLst>
                </a:rPr>
                <a:t>＝</a:t>
              </a:r>
              <a:endParaRPr lang="zh-CN" altLang="en-US" sz="3200" b="1" baseline="-30000">
                <a:effectLst>
                  <a:outerShdw blurRad="38100" dist="38100" dir="2700000" algn="tl">
                    <a:srgbClr val="C0C0C0"/>
                  </a:outerShdw>
                </a:effectLst>
              </a:endParaRPr>
            </a:p>
          </p:txBody>
        </p:sp>
        <p:sp>
          <p:nvSpPr>
            <p:cNvPr id="26637" name="Rectangle 13"/>
            <p:cNvSpPr>
              <a:spLocks noChangeArrowheads="1"/>
            </p:cNvSpPr>
            <p:nvPr/>
          </p:nvSpPr>
          <p:spPr bwMode="auto">
            <a:xfrm>
              <a:off x="432" y="3312"/>
              <a:ext cx="37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p>
          </p:txBody>
        </p:sp>
      </p:grpSp>
      <p:sp>
        <p:nvSpPr>
          <p:cNvPr id="26638" name="Rectangle 14"/>
          <p:cNvSpPr>
            <a:spLocks noChangeArrowheads="1"/>
          </p:cNvSpPr>
          <p:nvPr/>
        </p:nvSpPr>
        <p:spPr bwMode="auto">
          <a:xfrm>
            <a:off x="228600" y="1782763"/>
            <a:ext cx="5387975"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(1)</a:t>
            </a:r>
            <a:r>
              <a:rPr lang="en-US" altLang="zh-CN" sz="3200" b="1">
                <a:effectLst>
                  <a:outerShdw blurRad="38100" dist="38100" dir="2700000" algn="tl">
                    <a:srgbClr val="FFFFFF"/>
                  </a:outerShdw>
                </a:effectLst>
                <a:latin typeface="Times New Roman" panose="02020603050405020304"/>
                <a:ea typeface="黑体" panose="02010609060101010101" pitchFamily="49" charset="-122"/>
              </a:rPr>
              <a:t>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十进制数转换为二进制数</a:t>
            </a:r>
          </a:p>
        </p:txBody>
      </p:sp>
      <p:sp>
        <p:nvSpPr>
          <p:cNvPr id="26639" name="Rectangle 15"/>
          <p:cNvSpPr>
            <a:spLocks noChangeArrowheads="1"/>
          </p:cNvSpPr>
          <p:nvPr/>
        </p:nvSpPr>
        <p:spPr bwMode="auto">
          <a:xfrm>
            <a:off x="704850" y="23923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整数</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部分：除以</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取余数，直到商为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为止。</a:t>
            </a:r>
          </a:p>
        </p:txBody>
      </p:sp>
      <p:sp>
        <p:nvSpPr>
          <p:cNvPr id="26641" name="Rectangle 17"/>
          <p:cNvSpPr>
            <a:spLocks noChangeArrowheads="1"/>
          </p:cNvSpPr>
          <p:nvPr/>
        </p:nvSpPr>
        <p:spPr bwMode="auto">
          <a:xfrm>
            <a:off x="684213" y="2997200"/>
            <a:ext cx="8153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小数</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部分：乘以</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取整数，直到小数为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或到达要求精度</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为止。</a:t>
            </a:r>
          </a:p>
        </p:txBody>
      </p:sp>
      <p:sp>
        <p:nvSpPr>
          <p:cNvPr id="26643" name="Rectangle 19"/>
          <p:cNvSpPr>
            <a:spLocks noChangeArrowheads="1"/>
          </p:cNvSpPr>
          <p:nvPr/>
        </p:nvSpPr>
        <p:spPr bwMode="auto">
          <a:xfrm>
            <a:off x="6934200" y="420528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2000" dirty="0">
                <a:solidFill>
                  <a:srgbClr val="FFFF00"/>
                </a:solidFill>
                <a:effectLst>
                  <a:outerShdw blurRad="38100" dist="38100" dir="2700000" algn="tl">
                    <a:srgbClr val="C0C0C0"/>
                  </a:outerShdw>
                </a:effectLst>
                <a:latin typeface="黑体" panose="02010609060101010101" pitchFamily="49" charset="-122"/>
                <a:ea typeface="黑体" panose="02010609060101010101" pitchFamily="49" charset="-122"/>
                <a:hlinkClick r:id="" action="ppaction://noaction"/>
              </a:rPr>
              <a:t>超连</a:t>
            </a:r>
            <a:endParaRPr lang="zh-CN" altLang="en-US" sz="2000" dirty="0">
              <a:solidFill>
                <a:srgbClr val="FFFF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6644" name="Rectangle 20"/>
          <p:cNvSpPr>
            <a:spLocks noChangeArrowheads="1"/>
          </p:cNvSpPr>
          <p:nvPr/>
        </p:nvSpPr>
        <p:spPr bwMode="auto">
          <a:xfrm>
            <a:off x="250825" y="4802188"/>
            <a:ext cx="5467350"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二进制数转换为十进制数</a:t>
            </a:r>
          </a:p>
        </p:txBody>
      </p:sp>
      <p:sp>
        <p:nvSpPr>
          <p:cNvPr id="26645" name="Rectangle 21"/>
          <p:cNvSpPr>
            <a:spLocks noChangeArrowheads="1"/>
          </p:cNvSpPr>
          <p:nvPr/>
        </p:nvSpPr>
        <p:spPr bwMode="auto">
          <a:xfrm>
            <a:off x="684213" y="5445125"/>
            <a:ext cx="3435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ea typeface="黑体" panose="02010609060101010101" pitchFamily="49" charset="-122"/>
              </a:rPr>
              <a:t>按权位展开求和。</a:t>
            </a:r>
          </a:p>
        </p:txBody>
      </p:sp>
      <p:sp>
        <p:nvSpPr>
          <p:cNvPr id="26646" name="Rectangle 22"/>
          <p:cNvSpPr>
            <a:spLocks noChangeArrowheads="1"/>
          </p:cNvSpPr>
          <p:nvPr/>
        </p:nvSpPr>
        <p:spPr bwMode="auto">
          <a:xfrm>
            <a:off x="623888" y="6092825"/>
            <a:ext cx="2212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C0C0C0"/>
                  </a:outerShdw>
                </a:effectLst>
              </a:rPr>
              <a:t>例： </a:t>
            </a:r>
            <a:r>
              <a:rPr lang="en-US" altLang="zh-CN" sz="3200" b="1">
                <a:effectLst>
                  <a:outerShdw blurRad="38100" dist="38100" dir="2700000" algn="tl">
                    <a:srgbClr val="C0C0C0"/>
                  </a:outerShdw>
                </a:effectLst>
              </a:rPr>
              <a:t>(11.1)</a:t>
            </a:r>
            <a:r>
              <a:rPr lang="en-US" altLang="zh-CN" sz="3200" b="1" baseline="-25000">
                <a:effectLst>
                  <a:outerShdw blurRad="38100" dist="38100" dir="2700000" algn="tl">
                    <a:srgbClr val="C0C0C0"/>
                  </a:outerShdw>
                </a:effectLst>
              </a:rPr>
              <a:t>2</a:t>
            </a:r>
            <a:endParaRPr lang="en-US" altLang="zh-CN" sz="3200" b="1">
              <a:effectLst>
                <a:outerShdw blurRad="38100" dist="38100" dir="2700000" algn="tl">
                  <a:srgbClr val="C0C0C0"/>
                </a:outerShdw>
              </a:effectLst>
            </a:endParaRPr>
          </a:p>
        </p:txBody>
      </p:sp>
      <p:sp>
        <p:nvSpPr>
          <p:cNvPr id="41996" name="Rectangle 23"/>
          <p:cNvSpPr>
            <a:spLocks noChangeArrowheads="1"/>
          </p:cNvSpPr>
          <p:nvPr/>
        </p:nvSpPr>
        <p:spPr bwMode="auto">
          <a:xfrm>
            <a:off x="2411413" y="92075"/>
            <a:ext cx="4114800" cy="762000"/>
          </a:xfrm>
          <a:prstGeom prst="rect">
            <a:avLst/>
          </a:prstGeom>
          <a:solidFill>
            <a:srgbClr val="FF99FF"/>
          </a:solidFill>
          <a:ln>
            <a:noFill/>
          </a:ln>
          <a:effectLst/>
          <a:extLst>
            <a:ext uri="{91240B29-F687-4F45-9708-019B960494DF}">
              <a14:hiddenLine xmlns:a14="http://schemas.microsoft.com/office/drawing/2010/main" w="9525">
                <a:solidFill>
                  <a:srgbClr val="FF66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1.2 </a:t>
            </a:r>
            <a:r>
              <a:rPr lang="zh-CN" altLang="en-US" sz="4400" b="1">
                <a:solidFill>
                  <a:schemeClr val="tx2"/>
                </a:solidFill>
                <a:latin typeface="黑体" panose="02010609060101010101" pitchFamily="49" charset="-122"/>
                <a:ea typeface="黑体" panose="02010609060101010101" pitchFamily="49" charset="-122"/>
              </a:rPr>
              <a:t>数制转换</a:t>
            </a:r>
          </a:p>
        </p:txBody>
      </p:sp>
      <p:sp>
        <p:nvSpPr>
          <p:cNvPr id="26648" name="Rectangle 24"/>
          <p:cNvSpPr>
            <a:spLocks noChangeArrowheads="1"/>
          </p:cNvSpPr>
          <p:nvPr/>
        </p:nvSpPr>
        <p:spPr bwMode="auto">
          <a:xfrm>
            <a:off x="2743200" y="6092825"/>
            <a:ext cx="4997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=1×2</a:t>
            </a:r>
            <a:r>
              <a:rPr lang="en-US" altLang="zh-CN" sz="3200" b="1" baseline="30000">
                <a:effectLst>
                  <a:outerShdw blurRad="38100" dist="38100" dir="2700000" algn="tl">
                    <a:srgbClr val="C0C0C0"/>
                  </a:outerShdw>
                </a:effectLst>
              </a:rPr>
              <a:t>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1×2</a:t>
            </a:r>
            <a:r>
              <a:rPr lang="en-US" altLang="zh-CN" sz="3200" b="1" baseline="30000">
                <a:effectLst>
                  <a:outerShdw blurRad="38100" dist="38100" dir="2700000" algn="tl">
                    <a:srgbClr val="C0C0C0"/>
                  </a:outerShdw>
                </a:effectLst>
              </a:rPr>
              <a:t>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1×2</a:t>
            </a:r>
            <a:r>
              <a:rPr lang="en-US" altLang="zh-CN" sz="3200" b="1" baseline="30000">
                <a:effectLst>
                  <a:outerShdw blurRad="38100" dist="38100" dir="2700000" algn="tl">
                    <a:srgbClr val="C0C0C0"/>
                  </a:outerShdw>
                </a:effectLst>
              </a:rPr>
              <a:t>-1</a:t>
            </a:r>
            <a:r>
              <a:rPr lang="en-US" altLang="zh-CN" sz="3200" b="1">
                <a:effectLst>
                  <a:outerShdw blurRad="38100" dist="38100" dir="2700000" algn="tl">
                    <a:srgbClr val="C0C0C0"/>
                  </a:outerShdw>
                </a:effectLst>
              </a:rPr>
              <a:t> =3.5</a:t>
            </a:r>
          </a:p>
        </p:txBody>
      </p:sp>
      <p:grpSp>
        <p:nvGrpSpPr>
          <p:cNvPr id="26649" name="Group 25"/>
          <p:cNvGrpSpPr/>
          <p:nvPr/>
        </p:nvGrpSpPr>
        <p:grpSpPr bwMode="auto">
          <a:xfrm>
            <a:off x="3203575" y="4049713"/>
            <a:ext cx="2924175" cy="590550"/>
            <a:chOff x="432" y="3305"/>
            <a:chExt cx="1842" cy="372"/>
          </a:xfrm>
        </p:grpSpPr>
        <p:sp>
          <p:nvSpPr>
            <p:cNvPr id="26650" name="Rectangle 26"/>
            <p:cNvSpPr>
              <a:spLocks noChangeArrowheads="1"/>
            </p:cNvSpPr>
            <p:nvPr/>
          </p:nvSpPr>
          <p:spPr bwMode="auto">
            <a:xfrm>
              <a:off x="816" y="3305"/>
              <a:ext cx="14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(11001.111)</a:t>
              </a:r>
              <a:r>
                <a:rPr lang="en-US" altLang="zh-CN" sz="3200" b="1" baseline="-30000">
                  <a:effectLst>
                    <a:outerShdw blurRad="38100" dist="38100" dir="2700000" algn="tl">
                      <a:srgbClr val="C0C0C0"/>
                    </a:outerShdw>
                  </a:effectLst>
                </a:rPr>
                <a:t>2</a:t>
              </a:r>
            </a:p>
          </p:txBody>
        </p:sp>
        <p:sp>
          <p:nvSpPr>
            <p:cNvPr id="26651" name="Rectangle 27"/>
            <p:cNvSpPr>
              <a:spLocks noChangeArrowheads="1"/>
            </p:cNvSpPr>
            <p:nvPr/>
          </p:nvSpPr>
          <p:spPr bwMode="auto">
            <a:xfrm>
              <a:off x="432" y="3312"/>
              <a:ext cx="1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zh-CN" sz="3200" b="1">
                <a:effectLst>
                  <a:outerShdw blurRad="38100" dist="38100" dir="2700000" algn="tl">
                    <a:srgbClr val="C0C0C0"/>
                  </a:outerShdw>
                </a:effectLst>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34"/>
                                        </p:tgtEl>
                                        <p:attrNameLst>
                                          <p:attrName>style.visibility</p:attrName>
                                        </p:attrNameLst>
                                      </p:cBhvr>
                                      <p:to>
                                        <p:strVal val="visible"/>
                                      </p:to>
                                    </p:set>
                                    <p:anim calcmode="lin" valueType="num">
                                      <p:cBhvr additive="base">
                                        <p:cTn id="7" dur="500" fill="hold"/>
                                        <p:tgtEl>
                                          <p:spTgt spid="26634"/>
                                        </p:tgtEl>
                                        <p:attrNameLst>
                                          <p:attrName>ppt_x</p:attrName>
                                        </p:attrNameLst>
                                      </p:cBhvr>
                                      <p:tavLst>
                                        <p:tav tm="0">
                                          <p:val>
                                            <p:strVal val="0-#ppt_w/2"/>
                                          </p:val>
                                        </p:tav>
                                        <p:tav tm="100000">
                                          <p:val>
                                            <p:strVal val="#ppt_x"/>
                                          </p:val>
                                        </p:tav>
                                      </p:tavLst>
                                    </p:anim>
                                    <p:anim calcmode="lin" valueType="num">
                                      <p:cBhvr additive="base">
                                        <p:cTn id="8" dur="500" fill="hold"/>
                                        <p:tgtEl>
                                          <p:spTgt spid="26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6638"/>
                                        </p:tgtEl>
                                        <p:attrNameLst>
                                          <p:attrName>style.visibility</p:attrName>
                                        </p:attrNameLst>
                                      </p:cBhvr>
                                      <p:to>
                                        <p:strVal val="visible"/>
                                      </p:to>
                                    </p:set>
                                    <p:animEffect transition="in" filter="blinds(horizontal)">
                                      <p:cBhvr>
                                        <p:cTn id="13" dur="500"/>
                                        <p:tgtEl>
                                          <p:spTgt spid="2663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6639">
                                            <p:txEl>
                                              <p:pRg st="0" end="0"/>
                                            </p:txEl>
                                          </p:spTgt>
                                        </p:tgtEl>
                                        <p:attrNameLst>
                                          <p:attrName>style.visibility</p:attrName>
                                        </p:attrNameLst>
                                      </p:cBhvr>
                                      <p:to>
                                        <p:strVal val="visible"/>
                                      </p:to>
                                    </p:set>
                                    <p:animEffect transition="in" filter="blinds(horizontal)">
                                      <p:cBhvr>
                                        <p:cTn id="18" dur="500"/>
                                        <p:tgtEl>
                                          <p:spTgt spid="2663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6641"/>
                                        </p:tgtEl>
                                        <p:attrNameLst>
                                          <p:attrName>style.visibility</p:attrName>
                                        </p:attrNameLst>
                                      </p:cBhvr>
                                      <p:to>
                                        <p:strVal val="visible"/>
                                      </p:to>
                                    </p:set>
                                    <p:animEffect transition="in" filter="blinds(horizontal)">
                                      <p:cBhvr>
                                        <p:cTn id="23" dur="500"/>
                                        <p:tgtEl>
                                          <p:spTgt spid="266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6635"/>
                                        </p:tgtEl>
                                        <p:attrNameLst>
                                          <p:attrName>style.visibility</p:attrName>
                                        </p:attrNameLst>
                                      </p:cBhvr>
                                      <p:to>
                                        <p:strVal val="visible"/>
                                      </p:to>
                                    </p:set>
                                    <p:animEffect transition="in" filter="wipe(left)">
                                      <p:cBhvr>
                                        <p:cTn id="28" dur="500"/>
                                        <p:tgtEl>
                                          <p:spTgt spid="266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6649"/>
                                        </p:tgtEl>
                                        <p:attrNameLst>
                                          <p:attrName>style.visibility</p:attrName>
                                        </p:attrNameLst>
                                      </p:cBhvr>
                                      <p:to>
                                        <p:strVal val="visible"/>
                                      </p:to>
                                    </p:set>
                                    <p:animEffect transition="in" filter="wipe(left)">
                                      <p:cBhvr>
                                        <p:cTn id="33" dur="500"/>
                                        <p:tgtEl>
                                          <p:spTgt spid="2664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6644"/>
                                        </p:tgtEl>
                                        <p:attrNameLst>
                                          <p:attrName>style.visibility</p:attrName>
                                        </p:attrNameLst>
                                      </p:cBhvr>
                                      <p:to>
                                        <p:strVal val="visible"/>
                                      </p:to>
                                    </p:set>
                                    <p:animEffect transition="in" filter="blinds(horizontal)">
                                      <p:cBhvr>
                                        <p:cTn id="38" dur="500"/>
                                        <p:tgtEl>
                                          <p:spTgt spid="2664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6645"/>
                                        </p:tgtEl>
                                        <p:attrNameLst>
                                          <p:attrName>style.visibility</p:attrName>
                                        </p:attrNameLst>
                                      </p:cBhvr>
                                      <p:to>
                                        <p:strVal val="visible"/>
                                      </p:to>
                                    </p:set>
                                    <p:animEffect transition="in" filter="blinds(horizontal)">
                                      <p:cBhvr>
                                        <p:cTn id="43" dur="500"/>
                                        <p:tgtEl>
                                          <p:spTgt spid="266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6646"/>
                                        </p:tgtEl>
                                        <p:attrNameLst>
                                          <p:attrName>style.visibility</p:attrName>
                                        </p:attrNameLst>
                                      </p:cBhvr>
                                      <p:to>
                                        <p:strVal val="visible"/>
                                      </p:to>
                                    </p:set>
                                    <p:animEffect transition="in" filter="wipe(left)">
                                      <p:cBhvr>
                                        <p:cTn id="48" dur="500"/>
                                        <p:tgtEl>
                                          <p:spTgt spid="2664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648"/>
                                        </p:tgtEl>
                                        <p:attrNameLst>
                                          <p:attrName>style.visibility</p:attrName>
                                        </p:attrNameLst>
                                      </p:cBhvr>
                                      <p:to>
                                        <p:strVal val="visible"/>
                                      </p:to>
                                    </p:set>
                                    <p:animEffect transition="in" filter="wipe(left)">
                                      <p:cBhvr>
                                        <p:cTn id="53" dur="500"/>
                                        <p:tgtEl>
                                          <p:spTgt spid="26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 grpId="0" bldLvl="0" animBg="1" autoUpdateAnimBg="0"/>
      <p:bldP spid="26638" grpId="0" bldLvl="0" animBg="1" autoUpdateAnimBg="0"/>
      <p:bldP spid="26639" grpId="0" build="p" autoUpdateAnimBg="0"/>
      <p:bldP spid="26641" grpId="0" bldLvl="0" animBg="1" autoUpdateAnimBg="0"/>
      <p:bldP spid="26644" grpId="0" bldLvl="0" animBg="1" autoUpdateAnimBg="0"/>
      <p:bldP spid="26645" grpId="0" bldLvl="0" animBg="1" autoUpdateAnimBg="0"/>
      <p:bldP spid="26646" grpId="0" bldLvl="0" animBg="1" autoUpdateAnimBg="0"/>
      <p:bldP spid="26648"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5F09BC6-6B59-4905-A311-87A8FB9F3854}" type="slidenum">
              <a:rPr lang="en-US" altLang="zh-CN" sz="1400" smtClean="0"/>
              <a:t>15</a:t>
            </a:fld>
            <a:endParaRPr lang="en-US" altLang="zh-CN" sz="1400"/>
          </a:p>
        </p:txBody>
      </p:sp>
      <p:sp>
        <p:nvSpPr>
          <p:cNvPr id="44035" name="Rectangle 2"/>
          <p:cNvSpPr>
            <a:spLocks noChangeArrowheads="1"/>
          </p:cNvSpPr>
          <p:nvPr/>
        </p:nvSpPr>
        <p:spPr bwMode="auto">
          <a:xfrm>
            <a:off x="228600" y="228600"/>
            <a:ext cx="8610600" cy="13112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000" b="1">
                <a:solidFill>
                  <a:schemeClr val="tx2"/>
                </a:solidFill>
                <a:latin typeface="黑体" panose="02010609060101010101" pitchFamily="49" charset="-122"/>
                <a:ea typeface="黑体" panose="02010609060101010101" pitchFamily="49" charset="-122"/>
              </a:rPr>
              <a:t>1.2.2 </a:t>
            </a:r>
            <a:r>
              <a:rPr lang="zh-CN" altLang="en-US" sz="4000" b="1">
                <a:solidFill>
                  <a:schemeClr val="tx2"/>
                </a:solidFill>
                <a:latin typeface="黑体" panose="02010609060101010101" pitchFamily="49" charset="-122"/>
                <a:ea typeface="黑体" panose="02010609060101010101" pitchFamily="49" charset="-122"/>
              </a:rPr>
              <a:t>八进制、十六进制与二进制数的转换</a:t>
            </a:r>
          </a:p>
        </p:txBody>
      </p:sp>
      <p:sp>
        <p:nvSpPr>
          <p:cNvPr id="27651" name="Rectangle 3"/>
          <p:cNvSpPr>
            <a:spLocks noChangeArrowheads="1"/>
          </p:cNvSpPr>
          <p:nvPr/>
        </p:nvSpPr>
        <p:spPr bwMode="auto">
          <a:xfrm>
            <a:off x="152400" y="1681163"/>
            <a:ext cx="5491163"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二进制数转换为八进制数</a:t>
            </a:r>
          </a:p>
        </p:txBody>
      </p:sp>
      <p:sp>
        <p:nvSpPr>
          <p:cNvPr id="27652" name="Rectangle 4"/>
          <p:cNvSpPr>
            <a:spLocks noChangeArrowheads="1"/>
          </p:cNvSpPr>
          <p:nvPr/>
        </p:nvSpPr>
        <p:spPr bwMode="auto">
          <a:xfrm>
            <a:off x="590550" y="3460750"/>
            <a:ext cx="4611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dirty="0">
                <a:effectLst>
                  <a:outerShdw blurRad="38100" dist="38100" dir="2700000" algn="tl">
                    <a:srgbClr val="C0C0C0"/>
                  </a:outerShdw>
                </a:effectLst>
              </a:rPr>
              <a:t>例</a:t>
            </a:r>
            <a:r>
              <a:rPr lang="en-US" altLang="zh-CN" sz="3200" b="1" dirty="0">
                <a:effectLst>
                  <a:outerShdw blurRad="38100" dist="38100" dir="2700000" algn="tl">
                    <a:srgbClr val="C0C0C0"/>
                  </a:outerShdw>
                </a:effectLst>
              </a:rPr>
              <a:t>1: (1011101.0110101)</a:t>
            </a:r>
            <a:r>
              <a:rPr lang="en-US" altLang="zh-CN" sz="3200" b="1" baseline="-25000" dirty="0">
                <a:effectLst>
                  <a:outerShdw blurRad="38100" dist="38100" dir="2700000" algn="tl">
                    <a:srgbClr val="C0C0C0"/>
                  </a:outerShdw>
                </a:effectLst>
              </a:rPr>
              <a:t>2</a:t>
            </a:r>
            <a:r>
              <a:rPr lang="en-US" altLang="zh-CN" sz="3200" b="1" dirty="0">
                <a:effectLst>
                  <a:outerShdw blurRad="38100" dist="38100" dir="2700000" algn="tl">
                    <a:srgbClr val="C0C0C0"/>
                  </a:outerShdw>
                </a:effectLst>
              </a:rPr>
              <a:t>=</a:t>
            </a:r>
            <a:endParaRPr lang="en-US" altLang="zh-CN" sz="3200" b="1" baseline="-25000" dirty="0">
              <a:effectLst>
                <a:outerShdw blurRad="38100" dist="38100" dir="2700000" algn="tl">
                  <a:srgbClr val="C0C0C0"/>
                </a:outerShdw>
              </a:effectLst>
            </a:endParaRPr>
          </a:p>
        </p:txBody>
      </p:sp>
      <p:sp>
        <p:nvSpPr>
          <p:cNvPr id="27654" name="Rectangle 6"/>
          <p:cNvSpPr>
            <a:spLocks noChangeArrowheads="1"/>
          </p:cNvSpPr>
          <p:nvPr/>
        </p:nvSpPr>
        <p:spPr bwMode="auto">
          <a:xfrm>
            <a:off x="228600" y="2360906"/>
            <a:ext cx="873588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从小数点起每三位一组，整数部分不够三位时在前面添</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，小数部分不够三位时在后面添</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27656" name="Rectangle 8"/>
          <p:cNvSpPr>
            <a:spLocks noChangeArrowheads="1"/>
          </p:cNvSpPr>
          <p:nvPr/>
        </p:nvSpPr>
        <p:spPr bwMode="auto">
          <a:xfrm>
            <a:off x="152400" y="4195763"/>
            <a:ext cx="5899150"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二进制数转换为十六进制数</a:t>
            </a:r>
          </a:p>
        </p:txBody>
      </p:sp>
      <p:sp>
        <p:nvSpPr>
          <p:cNvPr id="27659" name="Rectangle 11"/>
          <p:cNvSpPr>
            <a:spLocks noChangeArrowheads="1"/>
          </p:cNvSpPr>
          <p:nvPr/>
        </p:nvSpPr>
        <p:spPr bwMode="auto">
          <a:xfrm>
            <a:off x="323850" y="4797425"/>
            <a:ext cx="8534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从小数点起四位一组，整数部分不够四位的在前面添</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，小数部分不够四位的在后面添</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27660" name="Rectangle 12"/>
          <p:cNvSpPr>
            <a:spLocks noChangeArrowheads="1"/>
          </p:cNvSpPr>
          <p:nvPr/>
        </p:nvSpPr>
        <p:spPr bwMode="auto">
          <a:xfrm>
            <a:off x="600075" y="5926138"/>
            <a:ext cx="4781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t>例</a:t>
            </a:r>
            <a:r>
              <a:rPr lang="en-US" altLang="zh-CN" b="1"/>
              <a:t>2</a:t>
            </a:r>
            <a:r>
              <a:rPr lang="zh-CN" altLang="en-US" b="1"/>
              <a:t>：</a:t>
            </a:r>
            <a:r>
              <a:rPr lang="en-US" altLang="zh-CN" b="1"/>
              <a:t>(1011101.0110101)</a:t>
            </a:r>
            <a:r>
              <a:rPr lang="en-US" altLang="zh-CN" b="1" baseline="-25000"/>
              <a:t>2</a:t>
            </a:r>
            <a:r>
              <a:rPr lang="en-US" altLang="zh-CN" b="1"/>
              <a:t>=</a:t>
            </a:r>
            <a:endParaRPr lang="en-US" altLang="zh-CN" b="1" baseline="-25000"/>
          </a:p>
        </p:txBody>
      </p:sp>
      <p:sp>
        <p:nvSpPr>
          <p:cNvPr id="27662" name="Rectangle 14"/>
          <p:cNvSpPr>
            <a:spLocks noChangeArrowheads="1"/>
          </p:cNvSpPr>
          <p:nvPr/>
        </p:nvSpPr>
        <p:spPr bwMode="auto">
          <a:xfrm>
            <a:off x="5276850" y="5932488"/>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(5D.6A)</a:t>
            </a:r>
            <a:r>
              <a:rPr lang="en-US" altLang="zh-CN" b="1" baseline="-25000" dirty="0"/>
              <a:t>16</a:t>
            </a:r>
          </a:p>
        </p:txBody>
      </p:sp>
      <p:grpSp>
        <p:nvGrpSpPr>
          <p:cNvPr id="9" name="组合 8"/>
          <p:cNvGrpSpPr/>
          <p:nvPr/>
        </p:nvGrpSpPr>
        <p:grpSpPr>
          <a:xfrm>
            <a:off x="1331640" y="4072111"/>
            <a:ext cx="3528392" cy="4961"/>
            <a:chOff x="1331640" y="4072111"/>
            <a:chExt cx="3528392" cy="4961"/>
          </a:xfrm>
        </p:grpSpPr>
        <p:cxnSp>
          <p:nvCxnSpPr>
            <p:cNvPr id="5" name="直接连接符 4"/>
            <p:cNvCxnSpPr/>
            <p:nvPr/>
          </p:nvCxnSpPr>
          <p:spPr bwMode="auto">
            <a:xfrm>
              <a:off x="2483768"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1898179"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1331640"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3181623"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3779912"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4355976" y="4072111"/>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5" name="组合 24"/>
          <p:cNvGrpSpPr/>
          <p:nvPr/>
        </p:nvGrpSpPr>
        <p:grpSpPr>
          <a:xfrm>
            <a:off x="683568" y="3486288"/>
            <a:ext cx="4518670" cy="536531"/>
            <a:chOff x="1201483" y="3344464"/>
            <a:chExt cx="3671170" cy="602419"/>
          </a:xfrm>
        </p:grpSpPr>
        <p:sp>
          <p:nvSpPr>
            <p:cNvPr id="26" name="矩形 25"/>
            <p:cNvSpPr/>
            <p:nvPr/>
          </p:nvSpPr>
          <p:spPr>
            <a:xfrm>
              <a:off x="1201483" y="3344464"/>
              <a:ext cx="794695" cy="587473"/>
            </a:xfrm>
            <a:prstGeom prst="rect">
              <a:avLst/>
            </a:prstGeom>
            <a:solidFill>
              <a:schemeClr val="bg1"/>
            </a:solidFill>
          </p:spPr>
          <p:txBody>
            <a:bodyPr wrap="square">
              <a:spAutoFit/>
            </a:bodyPr>
            <a:lstStyle/>
            <a:p>
              <a:r>
                <a:rPr lang="en-US" altLang="zh-CN" sz="2800" b="1" dirty="0">
                  <a:solidFill>
                    <a:srgbClr val="FF0000"/>
                  </a:solidFill>
                  <a:effectLst>
                    <a:outerShdw blurRad="38100" dist="38100" dir="2700000" algn="tl">
                      <a:srgbClr val="C0C0C0"/>
                    </a:outerShdw>
                  </a:effectLst>
                </a:rPr>
                <a:t>  </a:t>
              </a:r>
              <a:endParaRPr lang="zh-CN" altLang="en-US" sz="2800" dirty="0">
                <a:solidFill>
                  <a:srgbClr val="FF0000"/>
                </a:solidFill>
              </a:endParaRPr>
            </a:p>
          </p:txBody>
        </p:sp>
        <p:sp>
          <p:nvSpPr>
            <p:cNvPr id="27" name="矩形 26"/>
            <p:cNvSpPr/>
            <p:nvPr/>
          </p:nvSpPr>
          <p:spPr>
            <a:xfrm>
              <a:off x="4309085" y="3423663"/>
              <a:ext cx="563568" cy="523220"/>
            </a:xfrm>
            <a:prstGeom prst="rect">
              <a:avLst/>
            </a:prstGeom>
            <a:solidFill>
              <a:schemeClr val="bg1"/>
            </a:solidFill>
          </p:spPr>
          <p:txBody>
            <a:bodyPr wrap="square">
              <a:spAutoFit/>
            </a:bodyPr>
            <a:lstStyle/>
            <a:p>
              <a:r>
                <a:rPr lang="en-US" altLang="zh-CN" sz="2800" b="1" dirty="0">
                  <a:solidFill>
                    <a:schemeClr val="bg1"/>
                  </a:solidFill>
                  <a:effectLst>
                    <a:outerShdw blurRad="38100" dist="38100" dir="2700000" algn="tl">
                      <a:srgbClr val="C0C0C0"/>
                    </a:outerShdw>
                  </a:effectLst>
                </a:rPr>
                <a:t>      </a:t>
              </a:r>
              <a:endParaRPr lang="zh-CN" altLang="en-US" sz="2800" dirty="0">
                <a:solidFill>
                  <a:schemeClr val="bg1"/>
                </a:solidFill>
              </a:endParaRPr>
            </a:p>
          </p:txBody>
        </p:sp>
      </p:grpSp>
      <p:grpSp>
        <p:nvGrpSpPr>
          <p:cNvPr id="8" name="组合 7"/>
          <p:cNvGrpSpPr/>
          <p:nvPr/>
        </p:nvGrpSpPr>
        <p:grpSpPr>
          <a:xfrm>
            <a:off x="1200643" y="3470072"/>
            <a:ext cx="3802663" cy="595887"/>
            <a:chOff x="1201484" y="3455413"/>
            <a:chExt cx="3802663" cy="595887"/>
          </a:xfrm>
        </p:grpSpPr>
        <p:sp>
          <p:nvSpPr>
            <p:cNvPr id="6" name="矩形 5"/>
            <p:cNvSpPr/>
            <p:nvPr/>
          </p:nvSpPr>
          <p:spPr>
            <a:xfrm>
              <a:off x="1201484" y="3466525"/>
              <a:ext cx="595035" cy="584775"/>
            </a:xfrm>
            <a:prstGeom prst="rect">
              <a:avLst/>
            </a:prstGeom>
          </p:spPr>
          <p:txBody>
            <a:bodyPr wrap="none">
              <a:spAutoFit/>
            </a:bodyPr>
            <a:lstStyle/>
            <a:p>
              <a:r>
                <a:rPr lang="en-US" altLang="zh-CN" sz="3200" b="1" dirty="0">
                  <a:solidFill>
                    <a:srgbClr val="FF0000"/>
                  </a:solidFill>
                  <a:effectLst>
                    <a:outerShdw blurRad="38100" dist="38100" dir="2700000" algn="tl">
                      <a:srgbClr val="C0C0C0"/>
                    </a:outerShdw>
                  </a:effectLst>
                </a:rPr>
                <a:t>00</a:t>
              </a:r>
              <a:endParaRPr lang="zh-CN" altLang="en-US" sz="3200" dirty="0">
                <a:solidFill>
                  <a:srgbClr val="FF0000"/>
                </a:solidFill>
              </a:endParaRPr>
            </a:p>
          </p:txBody>
        </p:sp>
        <p:sp>
          <p:nvSpPr>
            <p:cNvPr id="22" name="矩形 21"/>
            <p:cNvSpPr/>
            <p:nvPr/>
          </p:nvSpPr>
          <p:spPr>
            <a:xfrm>
              <a:off x="4409112" y="3455413"/>
              <a:ext cx="595035" cy="584775"/>
            </a:xfrm>
            <a:prstGeom prst="rect">
              <a:avLst/>
            </a:prstGeom>
          </p:spPr>
          <p:txBody>
            <a:bodyPr wrap="none">
              <a:spAutoFit/>
            </a:bodyPr>
            <a:lstStyle/>
            <a:p>
              <a:r>
                <a:rPr lang="en-US" altLang="zh-CN" sz="3200" b="1" dirty="0">
                  <a:solidFill>
                    <a:srgbClr val="FF0000"/>
                  </a:solidFill>
                  <a:effectLst>
                    <a:outerShdw blurRad="38100" dist="38100" dir="2700000" algn="tl">
                      <a:srgbClr val="C0C0C0"/>
                    </a:outerShdw>
                  </a:effectLst>
                </a:rPr>
                <a:t>00</a:t>
              </a:r>
              <a:endParaRPr lang="zh-CN" altLang="en-US" sz="3200" dirty="0">
                <a:solidFill>
                  <a:srgbClr val="FF0000"/>
                </a:solidFill>
              </a:endParaRPr>
            </a:p>
          </p:txBody>
        </p:sp>
      </p:grpSp>
      <p:sp>
        <p:nvSpPr>
          <p:cNvPr id="27661" name="Rectangle 13"/>
          <p:cNvSpPr>
            <a:spLocks noChangeArrowheads="1"/>
          </p:cNvSpPr>
          <p:nvPr/>
        </p:nvSpPr>
        <p:spPr bwMode="auto">
          <a:xfrm>
            <a:off x="4880803" y="3468298"/>
            <a:ext cx="21611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=(135.324)</a:t>
            </a:r>
            <a:r>
              <a:rPr lang="en-US" altLang="zh-CN" sz="3200" b="1" baseline="-25000" dirty="0">
                <a:effectLst>
                  <a:outerShdw blurRad="38100" dist="38100" dir="2700000" algn="tl">
                    <a:srgbClr val="C0C0C0"/>
                  </a:outerShdw>
                </a:effectLst>
              </a:rPr>
              <a:t>8</a:t>
            </a:r>
          </a:p>
        </p:txBody>
      </p:sp>
      <p:grpSp>
        <p:nvGrpSpPr>
          <p:cNvPr id="29" name="组合 28"/>
          <p:cNvGrpSpPr/>
          <p:nvPr/>
        </p:nvGrpSpPr>
        <p:grpSpPr>
          <a:xfrm>
            <a:off x="1661721" y="6505575"/>
            <a:ext cx="3189627" cy="0"/>
            <a:chOff x="1521883" y="4077072"/>
            <a:chExt cx="3189627" cy="0"/>
          </a:xfrm>
        </p:grpSpPr>
        <p:cxnSp>
          <p:nvCxnSpPr>
            <p:cNvPr id="30" name="直接连接符 29"/>
            <p:cNvCxnSpPr/>
            <p:nvPr/>
          </p:nvCxnSpPr>
          <p:spPr bwMode="auto">
            <a:xfrm>
              <a:off x="2337864" y="4077072"/>
              <a:ext cx="649960"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p:nvPr/>
          </p:nvCxnSpPr>
          <p:spPr bwMode="auto">
            <a:xfrm>
              <a:off x="1521883" y="4077072"/>
              <a:ext cx="675495"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p:nvPr/>
          </p:nvCxnSpPr>
          <p:spPr bwMode="auto">
            <a:xfrm>
              <a:off x="3215707" y="4077072"/>
              <a:ext cx="703715"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auto">
            <a:xfrm>
              <a:off x="4006153" y="4077072"/>
              <a:ext cx="705357"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4" name="组合 33"/>
          <p:cNvGrpSpPr/>
          <p:nvPr/>
        </p:nvGrpSpPr>
        <p:grpSpPr>
          <a:xfrm>
            <a:off x="1574990" y="5924262"/>
            <a:ext cx="3422063" cy="593001"/>
            <a:chOff x="1376899" y="3455413"/>
            <a:chExt cx="3422063" cy="593001"/>
          </a:xfrm>
        </p:grpSpPr>
        <p:sp>
          <p:nvSpPr>
            <p:cNvPr id="35" name="矩形 34"/>
            <p:cNvSpPr/>
            <p:nvPr/>
          </p:nvSpPr>
          <p:spPr>
            <a:xfrm>
              <a:off x="1376899" y="3463639"/>
              <a:ext cx="389850" cy="584775"/>
            </a:xfrm>
            <a:prstGeom prst="rect">
              <a:avLst/>
            </a:prstGeom>
          </p:spPr>
          <p:txBody>
            <a:bodyPr wrap="none">
              <a:spAutoFit/>
            </a:bodyPr>
            <a:lstStyle/>
            <a:p>
              <a:r>
                <a:rPr lang="en-US" altLang="zh-CN" sz="3200" b="1" dirty="0">
                  <a:solidFill>
                    <a:srgbClr val="FF0000"/>
                  </a:solidFill>
                  <a:effectLst>
                    <a:outerShdw blurRad="38100" dist="38100" dir="2700000" algn="tl">
                      <a:srgbClr val="C0C0C0"/>
                    </a:outerShdw>
                  </a:effectLst>
                </a:rPr>
                <a:t>0</a:t>
              </a:r>
              <a:endParaRPr lang="zh-CN" altLang="en-US" sz="3200" dirty="0">
                <a:solidFill>
                  <a:srgbClr val="FF0000"/>
                </a:solidFill>
              </a:endParaRPr>
            </a:p>
          </p:txBody>
        </p:sp>
        <p:sp>
          <p:nvSpPr>
            <p:cNvPr id="36" name="矩形 35"/>
            <p:cNvSpPr/>
            <p:nvPr/>
          </p:nvSpPr>
          <p:spPr>
            <a:xfrm>
              <a:off x="4409112" y="3455413"/>
              <a:ext cx="389850" cy="584775"/>
            </a:xfrm>
            <a:prstGeom prst="rect">
              <a:avLst/>
            </a:prstGeom>
          </p:spPr>
          <p:txBody>
            <a:bodyPr wrap="none">
              <a:spAutoFit/>
            </a:bodyPr>
            <a:lstStyle/>
            <a:p>
              <a:r>
                <a:rPr lang="en-US" altLang="zh-CN" sz="3200" b="1" dirty="0">
                  <a:solidFill>
                    <a:srgbClr val="FF0000"/>
                  </a:solidFill>
                  <a:effectLst>
                    <a:outerShdw blurRad="38100" dist="38100" dir="2700000" algn="tl">
                      <a:srgbClr val="C0C0C0"/>
                    </a:outerShdw>
                  </a:effectLst>
                </a:rPr>
                <a:t>0</a:t>
              </a:r>
              <a:endParaRPr lang="zh-CN" altLang="en-US" sz="3200" dirty="0">
                <a:solidFill>
                  <a:srgbClr val="FF0000"/>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0-#ppt_w/2"/>
                                          </p:val>
                                        </p:tav>
                                        <p:tav tm="100000">
                                          <p:val>
                                            <p:strVal val="#ppt_x"/>
                                          </p:val>
                                        </p:tav>
                                      </p:tavLst>
                                    </p:anim>
                                    <p:anim calcmode="lin" valueType="num">
                                      <p:cBhvr additive="base">
                                        <p:cTn id="8"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7654"/>
                                        </p:tgtEl>
                                        <p:attrNameLst>
                                          <p:attrName>style.visibility</p:attrName>
                                        </p:attrNameLst>
                                      </p:cBhvr>
                                      <p:to>
                                        <p:strVal val="visible"/>
                                      </p:to>
                                    </p:set>
                                    <p:animEffect transition="in" filter="blinds(horizontal)">
                                      <p:cBhvr>
                                        <p:cTn id="13" dur="500"/>
                                        <p:tgtEl>
                                          <p:spTgt spid="2765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652">
                                            <p:txEl>
                                              <p:pRg st="0" end="0"/>
                                            </p:txEl>
                                          </p:spTgt>
                                        </p:tgtEl>
                                        <p:attrNameLst>
                                          <p:attrName>style.visibility</p:attrName>
                                        </p:attrNameLst>
                                      </p:cBhvr>
                                      <p:to>
                                        <p:strVal val="visible"/>
                                      </p:to>
                                    </p:set>
                                    <p:animEffect transition="in" filter="wipe(left)">
                                      <p:cBhvr>
                                        <p:cTn id="18" dur="500"/>
                                        <p:tgtEl>
                                          <p:spTgt spid="2765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661">
                                            <p:txEl>
                                              <p:pRg st="0" end="0"/>
                                            </p:txEl>
                                          </p:spTgt>
                                        </p:tgtEl>
                                        <p:attrNameLst>
                                          <p:attrName>style.visibility</p:attrName>
                                        </p:attrNameLst>
                                      </p:cBhvr>
                                      <p:to>
                                        <p:strVal val="visible"/>
                                      </p:to>
                                    </p:set>
                                    <p:animEffect transition="in" filter="wipe(left)">
                                      <p:cBhvr>
                                        <p:cTn id="36" dur="500"/>
                                        <p:tgtEl>
                                          <p:spTgt spid="2766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7656"/>
                                        </p:tgtEl>
                                        <p:attrNameLst>
                                          <p:attrName>style.visibility</p:attrName>
                                        </p:attrNameLst>
                                      </p:cBhvr>
                                      <p:to>
                                        <p:strVal val="visible"/>
                                      </p:to>
                                    </p:set>
                                    <p:anim calcmode="lin" valueType="num">
                                      <p:cBhvr additive="base">
                                        <p:cTn id="41" dur="500" fill="hold"/>
                                        <p:tgtEl>
                                          <p:spTgt spid="27656"/>
                                        </p:tgtEl>
                                        <p:attrNameLst>
                                          <p:attrName>ppt_x</p:attrName>
                                        </p:attrNameLst>
                                      </p:cBhvr>
                                      <p:tavLst>
                                        <p:tav tm="0">
                                          <p:val>
                                            <p:strVal val="0-#ppt_w/2"/>
                                          </p:val>
                                        </p:tav>
                                        <p:tav tm="100000">
                                          <p:val>
                                            <p:strVal val="#ppt_x"/>
                                          </p:val>
                                        </p:tav>
                                      </p:tavLst>
                                    </p:anim>
                                    <p:anim calcmode="lin" valueType="num">
                                      <p:cBhvr additive="base">
                                        <p:cTn id="42" dur="500" fill="hold"/>
                                        <p:tgtEl>
                                          <p:spTgt spid="27656"/>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659"/>
                                        </p:tgtEl>
                                        <p:attrNameLst>
                                          <p:attrName>style.visibility</p:attrName>
                                        </p:attrNameLst>
                                      </p:cBhvr>
                                      <p:to>
                                        <p:strVal val="visible"/>
                                      </p:to>
                                    </p:set>
                                    <p:animEffect transition="in" filter="blinds(horizontal)">
                                      <p:cBhvr>
                                        <p:cTn id="47" dur="500"/>
                                        <p:tgtEl>
                                          <p:spTgt spid="2765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660"/>
                                        </p:tgtEl>
                                        <p:attrNameLst>
                                          <p:attrName>style.visibility</p:attrName>
                                        </p:attrNameLst>
                                      </p:cBhvr>
                                      <p:to>
                                        <p:strVal val="visible"/>
                                      </p:to>
                                    </p:set>
                                    <p:animEffect transition="in" filter="wipe(left)">
                                      <p:cBhvr>
                                        <p:cTn id="52" dur="500"/>
                                        <p:tgtEl>
                                          <p:spTgt spid="2766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7662"/>
                                        </p:tgtEl>
                                        <p:attrNameLst>
                                          <p:attrName>style.visibility</p:attrName>
                                        </p:attrNameLst>
                                      </p:cBhvr>
                                      <p:to>
                                        <p:strVal val="visible"/>
                                      </p:to>
                                    </p:set>
                                    <p:animEffect transition="in" filter="wipe(left)">
                                      <p:cBhvr>
                                        <p:cTn id="66" dur="500"/>
                                        <p:tgtEl>
                                          <p:spTgt spid="27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ldLvl="0" animBg="1" autoUpdateAnimBg="0"/>
      <p:bldP spid="27652" grpId="0" build="p" autoUpdateAnimBg="0"/>
      <p:bldP spid="27654" grpId="0" bldLvl="0" animBg="1" autoUpdateAnimBg="0"/>
      <p:bldP spid="27656" grpId="0" bldLvl="0" animBg="1" autoUpdateAnimBg="0"/>
      <p:bldP spid="27659" grpId="0" bldLvl="0" animBg="1" autoUpdateAnimBg="0"/>
      <p:bldP spid="27660" grpId="0" bldLvl="0" animBg="1" autoUpdateAnimBg="0"/>
      <p:bldP spid="27662" grpId="0" bldLvl="0" animBg="1" autoUpdateAnimBg="0"/>
      <p:bldP spid="2766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xfrm>
            <a:off x="6553200" y="5814864"/>
            <a:ext cx="1905000" cy="457200"/>
          </a:xfrm>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7BE22E5-CF36-4480-AC13-27DF0012B9B7}" type="slidenum">
              <a:rPr lang="en-US" altLang="zh-CN" sz="1400" smtClean="0"/>
              <a:t>16</a:t>
            </a:fld>
            <a:endParaRPr lang="en-US" altLang="zh-CN" sz="1400"/>
          </a:p>
        </p:txBody>
      </p:sp>
      <p:sp>
        <p:nvSpPr>
          <p:cNvPr id="28675" name="Rectangle 3"/>
          <p:cNvSpPr>
            <a:spLocks noChangeArrowheads="1"/>
          </p:cNvSpPr>
          <p:nvPr/>
        </p:nvSpPr>
        <p:spPr bwMode="auto">
          <a:xfrm>
            <a:off x="1098798" y="1014301"/>
            <a:ext cx="546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dirty="0">
                <a:latin typeface="黑体" panose="02010609060101010101" pitchFamily="49" charset="-122"/>
                <a:ea typeface="黑体" panose="02010609060101010101" pitchFamily="49" charset="-122"/>
              </a:rPr>
              <a:t>按</a:t>
            </a:r>
            <a:r>
              <a:rPr lang="en-US" altLang="zh-CN" dirty="0">
                <a:latin typeface="黑体" panose="02010609060101010101" pitchFamily="49" charset="-122"/>
                <a:ea typeface="黑体" panose="02010609060101010101" pitchFamily="49" charset="-122"/>
              </a:rPr>
              <a:t>(1)(2)</a:t>
            </a:r>
            <a:r>
              <a:rPr lang="zh-CN" altLang="en-US" dirty="0">
                <a:latin typeface="黑体" panose="02010609060101010101" pitchFamily="49" charset="-122"/>
                <a:ea typeface="黑体" panose="02010609060101010101" pitchFamily="49" charset="-122"/>
              </a:rPr>
              <a:t>的逆过程进行转换。</a:t>
            </a:r>
          </a:p>
        </p:txBody>
      </p:sp>
      <p:sp>
        <p:nvSpPr>
          <p:cNvPr id="28676" name="Rectangle 4"/>
          <p:cNvSpPr>
            <a:spLocks noChangeArrowheads="1"/>
          </p:cNvSpPr>
          <p:nvPr/>
        </p:nvSpPr>
        <p:spPr bwMode="auto">
          <a:xfrm>
            <a:off x="381000" y="404664"/>
            <a:ext cx="80772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latin typeface="黑体" panose="02010609060101010101" pitchFamily="49" charset="-122"/>
                <a:ea typeface="黑体" panose="02010609060101010101" pitchFamily="49" charset="-122"/>
              </a:rPr>
              <a:t>(3) </a:t>
            </a:r>
            <a:r>
              <a:rPr lang="zh-CN" altLang="en-US" b="1" dirty="0">
                <a:latin typeface="黑体" panose="02010609060101010101" pitchFamily="49" charset="-122"/>
                <a:ea typeface="黑体" panose="02010609060101010101" pitchFamily="49" charset="-122"/>
              </a:rPr>
              <a:t>八进制数和十六进制数转换为二进制数</a:t>
            </a:r>
          </a:p>
        </p:txBody>
      </p:sp>
      <p:sp>
        <p:nvSpPr>
          <p:cNvPr id="5" name="Rectangle 3"/>
          <p:cNvSpPr>
            <a:spLocks noChangeArrowheads="1"/>
          </p:cNvSpPr>
          <p:nvPr/>
        </p:nvSpPr>
        <p:spPr bwMode="auto">
          <a:xfrm>
            <a:off x="531168" y="1601750"/>
            <a:ext cx="7776864" cy="107721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八进制数转换为二进制数：每</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位八进制数字写成</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3</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位二进制数字即可。</a:t>
            </a:r>
          </a:p>
        </p:txBody>
      </p:sp>
      <p:sp>
        <p:nvSpPr>
          <p:cNvPr id="6" name="Rectangle 13"/>
          <p:cNvSpPr>
            <a:spLocks noChangeArrowheads="1"/>
          </p:cNvSpPr>
          <p:nvPr/>
        </p:nvSpPr>
        <p:spPr bwMode="auto">
          <a:xfrm>
            <a:off x="755576" y="2814707"/>
            <a:ext cx="19271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(135.324)</a:t>
            </a:r>
            <a:r>
              <a:rPr lang="en-US" altLang="zh-CN" sz="3200" b="1" baseline="-25000" dirty="0">
                <a:effectLst>
                  <a:outerShdw blurRad="38100" dist="38100" dir="2700000" algn="tl">
                    <a:srgbClr val="C0C0C0"/>
                  </a:outerShdw>
                </a:effectLst>
              </a:rPr>
              <a:t>8</a:t>
            </a:r>
          </a:p>
        </p:txBody>
      </p:sp>
      <p:sp>
        <p:nvSpPr>
          <p:cNvPr id="7" name="Rectangle 4"/>
          <p:cNvSpPr>
            <a:spLocks noChangeArrowheads="1"/>
          </p:cNvSpPr>
          <p:nvPr/>
        </p:nvSpPr>
        <p:spPr bwMode="auto">
          <a:xfrm>
            <a:off x="2627784" y="2840479"/>
            <a:ext cx="45554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=(001</a:t>
            </a:r>
            <a:r>
              <a:rPr lang="en-US" altLang="zh-CN" sz="3200" b="1" dirty="0">
                <a:effectLst>
                  <a:outerShdw blurRad="38100" dist="38100" dir="2700000" algn="tl">
                    <a:srgbClr val="000000">
                      <a:alpha val="43137"/>
                    </a:srgbClr>
                  </a:outerShdw>
                </a:effectLst>
              </a:rPr>
              <a:t>011</a:t>
            </a:r>
            <a:r>
              <a:rPr lang="en-US" altLang="zh-CN" sz="3200" b="1" dirty="0">
                <a:effectLst>
                  <a:outerShdw blurRad="38100" dist="38100" dir="2700000" algn="tl">
                    <a:srgbClr val="C0C0C0"/>
                  </a:outerShdw>
                </a:effectLst>
              </a:rPr>
              <a:t>101.011010100)</a:t>
            </a:r>
            <a:r>
              <a:rPr lang="en-US" altLang="zh-CN" sz="3200" b="1" baseline="-25000" dirty="0">
                <a:effectLst>
                  <a:outerShdw blurRad="38100" dist="38100" dir="2700000" algn="tl">
                    <a:srgbClr val="C0C0C0"/>
                  </a:outerShdw>
                </a:effectLst>
              </a:rPr>
              <a:t>2</a:t>
            </a:r>
          </a:p>
        </p:txBody>
      </p:sp>
      <p:grpSp>
        <p:nvGrpSpPr>
          <p:cNvPr id="8" name="组合 7"/>
          <p:cNvGrpSpPr/>
          <p:nvPr/>
        </p:nvGrpSpPr>
        <p:grpSpPr>
          <a:xfrm>
            <a:off x="3131840" y="3397002"/>
            <a:ext cx="3600400" cy="0"/>
            <a:chOff x="1294692" y="4077072"/>
            <a:chExt cx="3600400" cy="0"/>
          </a:xfrm>
        </p:grpSpPr>
        <p:cxnSp>
          <p:nvCxnSpPr>
            <p:cNvPr id="9" name="直接连接符 8"/>
            <p:cNvCxnSpPr/>
            <p:nvPr/>
          </p:nvCxnSpPr>
          <p:spPr bwMode="auto">
            <a:xfrm>
              <a:off x="2483768"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1898179"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1294692"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3181623"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3779912"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4391036" y="4077072"/>
              <a:ext cx="504056"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 name="Rectangle 3"/>
          <p:cNvSpPr>
            <a:spLocks noChangeArrowheads="1"/>
          </p:cNvSpPr>
          <p:nvPr/>
        </p:nvSpPr>
        <p:spPr bwMode="auto">
          <a:xfrm>
            <a:off x="531168" y="3517069"/>
            <a:ext cx="7776864" cy="107721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十六进制数转换为二进制数：每</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位十六进制数字写成</a:t>
            </a:r>
            <a:r>
              <a:rPr lang="en-US" altLang="zh-CN" sz="3200" b="1" dirty="0">
                <a:effectLst>
                  <a:outerShdw blurRad="38100" dist="38100" dir="2700000" algn="tl">
                    <a:srgbClr val="FFFFFF"/>
                  </a:outerShdw>
                </a:effectLst>
                <a:latin typeface="黑体" panose="02010609060101010101" pitchFamily="49" charset="-122"/>
                <a:ea typeface="黑体" panose="02010609060101010101" pitchFamily="49" charset="-122"/>
              </a:rPr>
              <a:t>4</a:t>
            </a:r>
            <a:r>
              <a:rPr lang="zh-CN" altLang="en-US" sz="3200" b="1" dirty="0">
                <a:effectLst>
                  <a:outerShdw blurRad="38100" dist="38100" dir="2700000" algn="tl">
                    <a:srgbClr val="FFFFFF"/>
                  </a:outerShdw>
                </a:effectLst>
                <a:latin typeface="黑体" panose="02010609060101010101" pitchFamily="49" charset="-122"/>
                <a:ea typeface="黑体" panose="02010609060101010101" pitchFamily="49" charset="-122"/>
              </a:rPr>
              <a:t>位二进制数字即可。</a:t>
            </a:r>
          </a:p>
        </p:txBody>
      </p:sp>
      <p:sp>
        <p:nvSpPr>
          <p:cNvPr id="16" name="Rectangle 14"/>
          <p:cNvSpPr>
            <a:spLocks noChangeArrowheads="1"/>
          </p:cNvSpPr>
          <p:nvPr/>
        </p:nvSpPr>
        <p:spPr bwMode="auto">
          <a:xfrm>
            <a:off x="758354" y="4914857"/>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(5D.6A)</a:t>
            </a:r>
            <a:r>
              <a:rPr lang="en-US" altLang="zh-CN" b="1" baseline="-25000" dirty="0"/>
              <a:t>16</a:t>
            </a:r>
          </a:p>
        </p:txBody>
      </p:sp>
      <p:sp>
        <p:nvSpPr>
          <p:cNvPr id="17" name="Rectangle 4"/>
          <p:cNvSpPr>
            <a:spLocks noChangeArrowheads="1"/>
          </p:cNvSpPr>
          <p:nvPr/>
        </p:nvSpPr>
        <p:spPr bwMode="auto">
          <a:xfrm>
            <a:off x="2547233" y="4892679"/>
            <a:ext cx="41451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=(01</a:t>
            </a:r>
            <a:r>
              <a:rPr lang="en-US" altLang="zh-CN" sz="3200" b="1" dirty="0">
                <a:effectLst>
                  <a:outerShdw blurRad="38100" dist="38100" dir="2700000" algn="tl">
                    <a:srgbClr val="000000">
                      <a:alpha val="43137"/>
                    </a:srgbClr>
                  </a:outerShdw>
                </a:effectLst>
              </a:rPr>
              <a:t>011</a:t>
            </a:r>
            <a:r>
              <a:rPr lang="en-US" altLang="zh-CN" sz="3200" b="1" dirty="0">
                <a:effectLst>
                  <a:outerShdw blurRad="38100" dist="38100" dir="2700000" algn="tl">
                    <a:srgbClr val="C0C0C0"/>
                  </a:outerShdw>
                </a:effectLst>
              </a:rPr>
              <a:t>101.01101010)</a:t>
            </a:r>
            <a:r>
              <a:rPr lang="en-US" altLang="zh-CN" sz="3200" b="1" baseline="-25000" dirty="0">
                <a:effectLst>
                  <a:outerShdw blurRad="38100" dist="38100" dir="2700000" algn="tl">
                    <a:srgbClr val="C0C0C0"/>
                  </a:outerShdw>
                </a:effectLst>
              </a:rPr>
              <a:t>2</a:t>
            </a:r>
          </a:p>
        </p:txBody>
      </p:sp>
      <p:grpSp>
        <p:nvGrpSpPr>
          <p:cNvPr id="18" name="组合 17"/>
          <p:cNvGrpSpPr/>
          <p:nvPr/>
        </p:nvGrpSpPr>
        <p:grpSpPr>
          <a:xfrm>
            <a:off x="3038557" y="5474378"/>
            <a:ext cx="3189627" cy="0"/>
            <a:chOff x="1521883" y="4077072"/>
            <a:chExt cx="3189627" cy="0"/>
          </a:xfrm>
        </p:grpSpPr>
        <p:cxnSp>
          <p:nvCxnSpPr>
            <p:cNvPr id="19" name="直接连接符 18"/>
            <p:cNvCxnSpPr/>
            <p:nvPr/>
          </p:nvCxnSpPr>
          <p:spPr bwMode="auto">
            <a:xfrm>
              <a:off x="2337864" y="4077072"/>
              <a:ext cx="649960"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auto">
            <a:xfrm>
              <a:off x="1521883" y="4077072"/>
              <a:ext cx="675495"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p:cNvCxnSpPr/>
            <p:nvPr/>
          </p:nvCxnSpPr>
          <p:spPr bwMode="auto">
            <a:xfrm>
              <a:off x="3215707" y="4077072"/>
              <a:ext cx="703715"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p:nvPr/>
          </p:nvCxnSpPr>
          <p:spPr bwMode="auto">
            <a:xfrm>
              <a:off x="4006153" y="4077072"/>
              <a:ext cx="705357" cy="0"/>
            </a:xfrm>
            <a:prstGeom prst="line">
              <a:avLst/>
            </a:prstGeom>
            <a:solidFill>
              <a:schemeClr val="accent1"/>
            </a:solidFill>
            <a:ln w="571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blinds(horizontal)">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left)">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0-#ppt_w/2"/>
                                          </p:val>
                                        </p:tav>
                                        <p:tav tm="100000">
                                          <p:val>
                                            <p:strVal val="#ppt_x"/>
                                          </p:val>
                                        </p:tav>
                                      </p:tavLst>
                                    </p:anim>
                                    <p:anim calcmode="lin" valueType="num">
                                      <p:cBhvr additive="base">
                                        <p:cTn id="3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wipe(left)">
                                      <p:cBhvr>
                                        <p:cTn id="43" dur="500"/>
                                        <p:tgtEl>
                                          <p:spTgt spid="1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ldLvl="0" animBg="1" autoUpdateAnimBg="0"/>
      <p:bldP spid="5" grpId="0" bldLvl="0" animBg="1" autoUpdateAnimBg="0"/>
      <p:bldP spid="6" grpId="0" build="p" autoUpdateAnimBg="0"/>
      <p:bldP spid="7" grpId="0" build="p" autoUpdateAnimBg="0"/>
      <p:bldP spid="15" grpId="0" bldLvl="0" animBg="1" autoUpdateAnimBg="0"/>
      <p:bldP spid="16" grpId="0" bldLvl="0" animBg="1" autoUpdateAnimBg="0"/>
      <p:bldP spid="1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B06A569-0589-471E-A5E6-5B45F840B830}" type="slidenum">
              <a:rPr lang="en-US" altLang="zh-CN" sz="1400" smtClean="0"/>
              <a:t>17</a:t>
            </a:fld>
            <a:endParaRPr lang="en-US" altLang="zh-CN" sz="1400"/>
          </a:p>
        </p:txBody>
      </p:sp>
      <p:sp>
        <p:nvSpPr>
          <p:cNvPr id="29698" name="Rectangle 2"/>
          <p:cNvSpPr>
            <a:spLocks noChangeArrowheads="1"/>
          </p:cNvSpPr>
          <p:nvPr/>
        </p:nvSpPr>
        <p:spPr bwMode="auto">
          <a:xfrm>
            <a:off x="228600" y="371475"/>
            <a:ext cx="8610600" cy="13112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000" b="1">
                <a:solidFill>
                  <a:schemeClr val="tx2"/>
                </a:solidFill>
                <a:latin typeface="黑体" panose="02010609060101010101" pitchFamily="49" charset="-122"/>
                <a:ea typeface="黑体" panose="02010609060101010101" pitchFamily="49" charset="-122"/>
              </a:rPr>
              <a:t>1.2.3 </a:t>
            </a:r>
            <a:r>
              <a:rPr lang="zh-CN" altLang="en-US" sz="4000" b="1">
                <a:solidFill>
                  <a:schemeClr val="tx2"/>
                </a:solidFill>
                <a:latin typeface="黑体" panose="02010609060101010101" pitchFamily="49" charset="-122"/>
                <a:ea typeface="黑体" panose="02010609060101010101" pitchFamily="49" charset="-122"/>
              </a:rPr>
              <a:t>十进制数与八进制数、十六进制数间的转换</a:t>
            </a:r>
          </a:p>
        </p:txBody>
      </p:sp>
      <p:sp>
        <p:nvSpPr>
          <p:cNvPr id="29700" name="Rectangle 4"/>
          <p:cNvSpPr>
            <a:spLocks noChangeArrowheads="1"/>
          </p:cNvSpPr>
          <p:nvPr/>
        </p:nvSpPr>
        <p:spPr bwMode="auto">
          <a:xfrm>
            <a:off x="228600" y="1981200"/>
            <a:ext cx="86106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(1)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十进制数转换为八进制数、十六进制数</a:t>
            </a:r>
          </a:p>
        </p:txBody>
      </p:sp>
      <p:sp>
        <p:nvSpPr>
          <p:cNvPr id="29703" name="Rectangle 7"/>
          <p:cNvSpPr>
            <a:spLocks noChangeArrowheads="1"/>
          </p:cNvSpPr>
          <p:nvPr/>
        </p:nvSpPr>
        <p:spPr bwMode="auto">
          <a:xfrm>
            <a:off x="228600" y="2743200"/>
            <a:ext cx="8610600" cy="1592263"/>
          </a:xfrm>
          <a:prstGeom prst="rect">
            <a:avLst/>
          </a:prstGeom>
          <a:noFill/>
          <a:ln w="38100">
            <a:solidFill>
              <a:srgbClr val="FF9900"/>
            </a:solidFill>
            <a:miter lim="800000"/>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buFont typeface="Wingdings" panose="05000000000000000000" pitchFamily="2" charset="2"/>
              <a:buChar char="Ø"/>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整数部分除以</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8</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16</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取余数，直到商为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止。</a:t>
            </a:r>
            <a:endPar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endParaRPr>
          </a:p>
          <a:p>
            <a:pPr marL="457200" indent="-457200" eaLnBrk="1" hangingPunct="1">
              <a:buFont typeface="Wingdings" panose="05000000000000000000" pitchFamily="2" charset="2"/>
              <a:buChar char="Ø"/>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小数部分乘以</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8</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16</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取整数，直到小数为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或到要求精度止。</a:t>
            </a:r>
          </a:p>
        </p:txBody>
      </p:sp>
      <p:sp>
        <p:nvSpPr>
          <p:cNvPr id="29706" name="Rectangle 10"/>
          <p:cNvSpPr>
            <a:spLocks noChangeArrowheads="1"/>
          </p:cNvSpPr>
          <p:nvPr/>
        </p:nvSpPr>
        <p:spPr bwMode="auto">
          <a:xfrm>
            <a:off x="228600" y="4648200"/>
            <a:ext cx="86106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八进制数、十六进制数转换为十进制数</a:t>
            </a:r>
          </a:p>
        </p:txBody>
      </p:sp>
      <p:sp>
        <p:nvSpPr>
          <p:cNvPr id="29708" name="Rectangle 12"/>
          <p:cNvSpPr>
            <a:spLocks noChangeArrowheads="1"/>
          </p:cNvSpPr>
          <p:nvPr/>
        </p:nvSpPr>
        <p:spPr bwMode="auto">
          <a:xfrm>
            <a:off x="228600" y="5486400"/>
            <a:ext cx="86106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按权位展开求和。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500" fill="hold"/>
                                        <p:tgtEl>
                                          <p:spTgt spid="29700"/>
                                        </p:tgtEl>
                                        <p:attrNameLst>
                                          <p:attrName>ppt_x</p:attrName>
                                        </p:attrNameLst>
                                      </p:cBhvr>
                                      <p:tavLst>
                                        <p:tav tm="0">
                                          <p:val>
                                            <p:strVal val="0-#ppt_w/2"/>
                                          </p:val>
                                        </p:tav>
                                        <p:tav tm="100000">
                                          <p:val>
                                            <p:strVal val="#ppt_x"/>
                                          </p:val>
                                        </p:tav>
                                      </p:tavLst>
                                    </p:anim>
                                    <p:anim calcmode="lin" valueType="num">
                                      <p:cBhvr additive="base">
                                        <p:cTn id="8"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9703"/>
                                        </p:tgtEl>
                                        <p:attrNameLst>
                                          <p:attrName>style.visibility</p:attrName>
                                        </p:attrNameLst>
                                      </p:cBhvr>
                                      <p:to>
                                        <p:strVal val="visible"/>
                                      </p:to>
                                    </p:set>
                                    <p:animEffect transition="in" filter="blinds(horizontal)">
                                      <p:cBhvr>
                                        <p:cTn id="13" dur="500"/>
                                        <p:tgtEl>
                                          <p:spTgt spid="2970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9706"/>
                                        </p:tgtEl>
                                        <p:attrNameLst>
                                          <p:attrName>style.visibility</p:attrName>
                                        </p:attrNameLst>
                                      </p:cBhvr>
                                      <p:to>
                                        <p:strVal val="visible"/>
                                      </p:to>
                                    </p:set>
                                    <p:anim calcmode="lin" valueType="num">
                                      <p:cBhvr additive="base">
                                        <p:cTn id="18" dur="500" fill="hold"/>
                                        <p:tgtEl>
                                          <p:spTgt spid="29706"/>
                                        </p:tgtEl>
                                        <p:attrNameLst>
                                          <p:attrName>ppt_x</p:attrName>
                                        </p:attrNameLst>
                                      </p:cBhvr>
                                      <p:tavLst>
                                        <p:tav tm="0">
                                          <p:val>
                                            <p:strVal val="0-#ppt_w/2"/>
                                          </p:val>
                                        </p:tav>
                                        <p:tav tm="100000">
                                          <p:val>
                                            <p:strVal val="#ppt_x"/>
                                          </p:val>
                                        </p:tav>
                                      </p:tavLst>
                                    </p:anim>
                                    <p:anim calcmode="lin" valueType="num">
                                      <p:cBhvr additive="base">
                                        <p:cTn id="19" dur="500" fill="hold"/>
                                        <p:tgtEl>
                                          <p:spTgt spid="2970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9708"/>
                                        </p:tgtEl>
                                        <p:attrNameLst>
                                          <p:attrName>style.visibility</p:attrName>
                                        </p:attrNameLst>
                                      </p:cBhvr>
                                      <p:to>
                                        <p:strVal val="visible"/>
                                      </p:to>
                                    </p:set>
                                    <p:animEffect transition="in" filter="blinds(horizontal)">
                                      <p:cBhvr>
                                        <p:cTn id="24" dur="500"/>
                                        <p:tgtEl>
                                          <p:spTgt spid="29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ldLvl="0" animBg="1" autoUpdateAnimBg="0"/>
      <p:bldP spid="29703" grpId="0" bldLvl="0" animBg="1" autoUpdateAnimBg="0"/>
      <p:bldP spid="29706" grpId="0" bldLvl="0" animBg="1" autoUpdateAnimBg="0"/>
      <p:bldP spid="29708"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E3092D0-F674-4C49-9A69-7881BF099D81}" type="slidenum">
              <a:rPr lang="en-US" altLang="zh-CN" sz="1400" smtClean="0"/>
              <a:t>18</a:t>
            </a:fld>
            <a:endParaRPr lang="en-US" altLang="zh-CN" sz="1400"/>
          </a:p>
        </p:txBody>
      </p:sp>
      <p:sp>
        <p:nvSpPr>
          <p:cNvPr id="30722" name="Rectangle 2"/>
          <p:cNvSpPr>
            <a:spLocks noChangeArrowheads="1"/>
          </p:cNvSpPr>
          <p:nvPr/>
        </p:nvSpPr>
        <p:spPr bwMode="auto">
          <a:xfrm>
            <a:off x="381000" y="239713"/>
            <a:ext cx="4972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(369)</a:t>
            </a:r>
            <a:r>
              <a:rPr lang="en-US" altLang="zh-CN" sz="3200" b="1" baseline="-25000">
                <a:effectLst>
                  <a:outerShdw blurRad="38100" dist="38100" dir="2700000" algn="tl">
                    <a:srgbClr val="C0C0C0"/>
                  </a:outerShdw>
                </a:effectLst>
              </a:rPr>
              <a:t>10</a:t>
            </a:r>
            <a:r>
              <a:rPr lang="en-US" altLang="zh-CN" sz="3200" b="1">
                <a:effectLst>
                  <a:outerShdw blurRad="38100" dist="38100" dir="2700000" algn="tl">
                    <a:srgbClr val="C0C0C0"/>
                  </a:outerShdw>
                </a:effectLst>
              </a:rPr>
              <a:t>=(561)</a:t>
            </a:r>
            <a:r>
              <a:rPr lang="en-US" altLang="zh-CN" sz="3200" b="1" baseline="-25000">
                <a:effectLst>
                  <a:outerShdw blurRad="38100" dist="38100" dir="2700000" algn="tl">
                    <a:srgbClr val="C0C0C0"/>
                  </a:outerShdw>
                </a:effectLst>
              </a:rPr>
              <a:t>8</a:t>
            </a:r>
            <a:r>
              <a:rPr lang="en-US" altLang="zh-CN" sz="3200" b="1">
                <a:effectLst>
                  <a:outerShdw blurRad="38100" dist="38100" dir="2700000" algn="tl">
                    <a:srgbClr val="C0C0C0"/>
                  </a:outerShdw>
                </a:effectLst>
              </a:rPr>
              <a:t>=(171)</a:t>
            </a:r>
            <a:r>
              <a:rPr lang="en-US" altLang="zh-CN" sz="3200" b="1" baseline="-25000">
                <a:effectLst>
                  <a:outerShdw blurRad="38100" dist="38100" dir="2700000" algn="tl">
                    <a:srgbClr val="C0C0C0"/>
                  </a:outerShdw>
                </a:effectLst>
              </a:rPr>
              <a:t>16</a:t>
            </a:r>
          </a:p>
        </p:txBody>
      </p:sp>
      <p:grpSp>
        <p:nvGrpSpPr>
          <p:cNvPr id="30723" name="Group 3"/>
          <p:cNvGrpSpPr/>
          <p:nvPr/>
        </p:nvGrpSpPr>
        <p:grpSpPr bwMode="auto">
          <a:xfrm>
            <a:off x="558800" y="874713"/>
            <a:ext cx="2968625" cy="2254250"/>
            <a:chOff x="407" y="944"/>
            <a:chExt cx="1870" cy="1420"/>
          </a:xfrm>
        </p:grpSpPr>
        <p:sp>
          <p:nvSpPr>
            <p:cNvPr id="50203" name="Line 4"/>
            <p:cNvSpPr>
              <a:spLocks noChangeShapeType="1"/>
            </p:cNvSpPr>
            <p:nvPr/>
          </p:nvSpPr>
          <p:spPr bwMode="auto">
            <a:xfrm>
              <a:off x="647" y="1073"/>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204" name="Line 5"/>
            <p:cNvSpPr>
              <a:spLocks noChangeShapeType="1"/>
            </p:cNvSpPr>
            <p:nvPr/>
          </p:nvSpPr>
          <p:spPr bwMode="auto">
            <a:xfrm>
              <a:off x="647" y="1313"/>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205" name="Line 6"/>
            <p:cNvSpPr>
              <a:spLocks noChangeShapeType="1"/>
            </p:cNvSpPr>
            <p:nvPr/>
          </p:nvSpPr>
          <p:spPr bwMode="auto">
            <a:xfrm>
              <a:off x="647" y="1409"/>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206" name="Line 7"/>
            <p:cNvSpPr>
              <a:spLocks noChangeShapeType="1"/>
            </p:cNvSpPr>
            <p:nvPr/>
          </p:nvSpPr>
          <p:spPr bwMode="auto">
            <a:xfrm>
              <a:off x="647" y="1649"/>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207" name="Line 8"/>
            <p:cNvSpPr>
              <a:spLocks noChangeShapeType="1"/>
            </p:cNvSpPr>
            <p:nvPr/>
          </p:nvSpPr>
          <p:spPr bwMode="auto">
            <a:xfrm>
              <a:off x="647" y="1745"/>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208" name="Line 9"/>
            <p:cNvSpPr>
              <a:spLocks noChangeShapeType="1"/>
            </p:cNvSpPr>
            <p:nvPr/>
          </p:nvSpPr>
          <p:spPr bwMode="auto">
            <a:xfrm>
              <a:off x="647" y="1985"/>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0" name="Rectangle 10"/>
            <p:cNvSpPr>
              <a:spLocks noChangeArrowheads="1"/>
            </p:cNvSpPr>
            <p:nvPr/>
          </p:nvSpPr>
          <p:spPr bwMode="auto">
            <a:xfrm>
              <a:off x="695" y="988"/>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369</a:t>
              </a:r>
            </a:p>
          </p:txBody>
        </p:sp>
        <p:sp>
          <p:nvSpPr>
            <p:cNvPr id="30731" name="Rectangle 11"/>
            <p:cNvSpPr>
              <a:spLocks noChangeArrowheads="1"/>
            </p:cNvSpPr>
            <p:nvPr/>
          </p:nvSpPr>
          <p:spPr bwMode="auto">
            <a:xfrm>
              <a:off x="1511" y="944"/>
              <a:ext cx="6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余数</a:t>
              </a:r>
            </a:p>
          </p:txBody>
        </p:sp>
        <p:sp>
          <p:nvSpPr>
            <p:cNvPr id="30732" name="Rectangle 12"/>
            <p:cNvSpPr>
              <a:spLocks noChangeArrowheads="1"/>
            </p:cNvSpPr>
            <p:nvPr/>
          </p:nvSpPr>
          <p:spPr bwMode="auto">
            <a:xfrm>
              <a:off x="1429" y="1315"/>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…1  a</a:t>
              </a:r>
              <a:r>
                <a:rPr lang="en-US" altLang="zh-CN" sz="3200" b="1" baseline="-25000" dirty="0">
                  <a:effectLst>
                    <a:outerShdw blurRad="38100" dist="38100" dir="2700000" algn="tl">
                      <a:srgbClr val="C0C0C0"/>
                    </a:outerShdw>
                  </a:effectLst>
                </a:rPr>
                <a:t>0</a:t>
              </a:r>
            </a:p>
          </p:txBody>
        </p:sp>
        <p:sp>
          <p:nvSpPr>
            <p:cNvPr id="30733" name="Rectangle 13"/>
            <p:cNvSpPr>
              <a:spLocks noChangeArrowheads="1"/>
            </p:cNvSpPr>
            <p:nvPr/>
          </p:nvSpPr>
          <p:spPr bwMode="auto">
            <a:xfrm>
              <a:off x="1429" y="1678"/>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…6  a</a:t>
              </a:r>
              <a:r>
                <a:rPr lang="en-US" altLang="zh-CN" sz="3200" b="1" baseline="-25000" dirty="0">
                  <a:effectLst>
                    <a:outerShdw blurRad="38100" dist="38100" dir="2700000" algn="tl">
                      <a:srgbClr val="C0C0C0"/>
                    </a:outerShdw>
                  </a:effectLst>
                </a:rPr>
                <a:t>1</a:t>
              </a:r>
            </a:p>
          </p:txBody>
        </p:sp>
        <p:sp>
          <p:nvSpPr>
            <p:cNvPr id="30734" name="Rectangle 14"/>
            <p:cNvSpPr>
              <a:spLocks noChangeArrowheads="1"/>
            </p:cNvSpPr>
            <p:nvPr/>
          </p:nvSpPr>
          <p:spPr bwMode="auto">
            <a:xfrm>
              <a:off x="1429" y="1996"/>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…5  a</a:t>
              </a:r>
              <a:r>
                <a:rPr lang="en-US" altLang="zh-CN" sz="3200" b="1" baseline="-25000" dirty="0">
                  <a:effectLst>
                    <a:outerShdw blurRad="38100" dist="38100" dir="2700000" algn="tl">
                      <a:srgbClr val="C0C0C0"/>
                    </a:outerShdw>
                  </a:effectLst>
                </a:rPr>
                <a:t>2</a:t>
              </a:r>
            </a:p>
          </p:txBody>
        </p:sp>
        <p:sp>
          <p:nvSpPr>
            <p:cNvPr id="30735" name="Rectangle 15"/>
            <p:cNvSpPr>
              <a:spLocks noChangeArrowheads="1"/>
            </p:cNvSpPr>
            <p:nvPr/>
          </p:nvSpPr>
          <p:spPr bwMode="auto">
            <a:xfrm>
              <a:off x="794" y="1315"/>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46</a:t>
              </a:r>
            </a:p>
          </p:txBody>
        </p:sp>
        <p:sp>
          <p:nvSpPr>
            <p:cNvPr id="30736" name="Rectangle 16"/>
            <p:cNvSpPr>
              <a:spLocks noChangeArrowheads="1"/>
            </p:cNvSpPr>
            <p:nvPr/>
          </p:nvSpPr>
          <p:spPr bwMode="auto">
            <a:xfrm>
              <a:off x="930" y="167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5</a:t>
              </a:r>
            </a:p>
          </p:txBody>
        </p:sp>
        <p:sp>
          <p:nvSpPr>
            <p:cNvPr id="30737" name="Rectangle 17"/>
            <p:cNvSpPr>
              <a:spLocks noChangeArrowheads="1"/>
            </p:cNvSpPr>
            <p:nvPr/>
          </p:nvSpPr>
          <p:spPr bwMode="auto">
            <a:xfrm>
              <a:off x="930" y="1979"/>
              <a:ext cx="22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0</a:t>
              </a:r>
            </a:p>
          </p:txBody>
        </p:sp>
        <p:sp>
          <p:nvSpPr>
            <p:cNvPr id="30738" name="Rectangle 18"/>
            <p:cNvSpPr>
              <a:spLocks noChangeArrowheads="1"/>
            </p:cNvSpPr>
            <p:nvPr/>
          </p:nvSpPr>
          <p:spPr bwMode="auto">
            <a:xfrm>
              <a:off x="407" y="98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8</a:t>
              </a:r>
            </a:p>
          </p:txBody>
        </p:sp>
        <p:sp>
          <p:nvSpPr>
            <p:cNvPr id="30739" name="Rectangle 19"/>
            <p:cNvSpPr>
              <a:spLocks noChangeArrowheads="1"/>
            </p:cNvSpPr>
            <p:nvPr/>
          </p:nvSpPr>
          <p:spPr bwMode="auto">
            <a:xfrm>
              <a:off x="407" y="132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8</a:t>
              </a:r>
            </a:p>
          </p:txBody>
        </p:sp>
        <p:sp>
          <p:nvSpPr>
            <p:cNvPr id="30740" name="Rectangle 20"/>
            <p:cNvSpPr>
              <a:spLocks noChangeArrowheads="1"/>
            </p:cNvSpPr>
            <p:nvPr/>
          </p:nvSpPr>
          <p:spPr bwMode="auto">
            <a:xfrm>
              <a:off x="407" y="166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8</a:t>
              </a:r>
            </a:p>
          </p:txBody>
        </p:sp>
      </p:grpSp>
      <p:grpSp>
        <p:nvGrpSpPr>
          <p:cNvPr id="30741" name="Group 21"/>
          <p:cNvGrpSpPr/>
          <p:nvPr/>
        </p:nvGrpSpPr>
        <p:grpSpPr bwMode="auto">
          <a:xfrm>
            <a:off x="4556125" y="950913"/>
            <a:ext cx="3146425" cy="2254250"/>
            <a:chOff x="2925" y="989"/>
            <a:chExt cx="1982" cy="1420"/>
          </a:xfrm>
        </p:grpSpPr>
        <p:sp>
          <p:nvSpPr>
            <p:cNvPr id="50186" name="Line 22"/>
            <p:cNvSpPr>
              <a:spLocks noChangeShapeType="1"/>
            </p:cNvSpPr>
            <p:nvPr/>
          </p:nvSpPr>
          <p:spPr bwMode="auto">
            <a:xfrm>
              <a:off x="3277" y="1118"/>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187" name="Line 23"/>
            <p:cNvSpPr>
              <a:spLocks noChangeShapeType="1"/>
            </p:cNvSpPr>
            <p:nvPr/>
          </p:nvSpPr>
          <p:spPr bwMode="auto">
            <a:xfrm>
              <a:off x="3277" y="1358"/>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188" name="Line 24"/>
            <p:cNvSpPr>
              <a:spLocks noChangeShapeType="1"/>
            </p:cNvSpPr>
            <p:nvPr/>
          </p:nvSpPr>
          <p:spPr bwMode="auto">
            <a:xfrm>
              <a:off x="3277" y="1454"/>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189" name="Line 25"/>
            <p:cNvSpPr>
              <a:spLocks noChangeShapeType="1"/>
            </p:cNvSpPr>
            <p:nvPr/>
          </p:nvSpPr>
          <p:spPr bwMode="auto">
            <a:xfrm>
              <a:off x="3277" y="1694"/>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190" name="Line 26"/>
            <p:cNvSpPr>
              <a:spLocks noChangeShapeType="1"/>
            </p:cNvSpPr>
            <p:nvPr/>
          </p:nvSpPr>
          <p:spPr bwMode="auto">
            <a:xfrm>
              <a:off x="3277" y="1790"/>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191" name="Line 27"/>
            <p:cNvSpPr>
              <a:spLocks noChangeShapeType="1"/>
            </p:cNvSpPr>
            <p:nvPr/>
          </p:nvSpPr>
          <p:spPr bwMode="auto">
            <a:xfrm>
              <a:off x="3277" y="2030"/>
              <a:ext cx="57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48" name="Rectangle 28"/>
            <p:cNvSpPr>
              <a:spLocks noChangeArrowheads="1"/>
            </p:cNvSpPr>
            <p:nvPr/>
          </p:nvSpPr>
          <p:spPr bwMode="auto">
            <a:xfrm>
              <a:off x="3325" y="1033"/>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369</a:t>
              </a:r>
            </a:p>
          </p:txBody>
        </p:sp>
        <p:sp>
          <p:nvSpPr>
            <p:cNvPr id="30749" name="Rectangle 29"/>
            <p:cNvSpPr>
              <a:spLocks noChangeArrowheads="1"/>
            </p:cNvSpPr>
            <p:nvPr/>
          </p:nvSpPr>
          <p:spPr bwMode="auto">
            <a:xfrm>
              <a:off x="4141" y="989"/>
              <a:ext cx="6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余数</a:t>
              </a:r>
            </a:p>
          </p:txBody>
        </p:sp>
        <p:sp>
          <p:nvSpPr>
            <p:cNvPr id="30750" name="Rectangle 30"/>
            <p:cNvSpPr>
              <a:spLocks noChangeArrowheads="1"/>
            </p:cNvSpPr>
            <p:nvPr/>
          </p:nvSpPr>
          <p:spPr bwMode="auto">
            <a:xfrm>
              <a:off x="4059" y="1360"/>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…1  a</a:t>
              </a:r>
              <a:r>
                <a:rPr lang="en-US" altLang="zh-CN" sz="3200" b="1" baseline="-25000" dirty="0">
                  <a:effectLst>
                    <a:outerShdw blurRad="38100" dist="38100" dir="2700000" algn="tl">
                      <a:srgbClr val="C0C0C0"/>
                    </a:outerShdw>
                  </a:effectLst>
                </a:rPr>
                <a:t>0</a:t>
              </a:r>
            </a:p>
          </p:txBody>
        </p:sp>
        <p:sp>
          <p:nvSpPr>
            <p:cNvPr id="30751" name="Rectangle 31"/>
            <p:cNvSpPr>
              <a:spLocks noChangeArrowheads="1"/>
            </p:cNvSpPr>
            <p:nvPr/>
          </p:nvSpPr>
          <p:spPr bwMode="auto">
            <a:xfrm>
              <a:off x="4059" y="1723"/>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…7  a</a:t>
              </a:r>
              <a:r>
                <a:rPr lang="en-US" altLang="zh-CN" sz="3200" b="1" baseline="-25000" dirty="0">
                  <a:effectLst>
                    <a:outerShdw blurRad="38100" dist="38100" dir="2700000" algn="tl">
                      <a:srgbClr val="C0C0C0"/>
                    </a:outerShdw>
                  </a:effectLst>
                </a:rPr>
                <a:t>1</a:t>
              </a:r>
            </a:p>
          </p:txBody>
        </p:sp>
        <p:sp>
          <p:nvSpPr>
            <p:cNvPr id="30752" name="Rectangle 32"/>
            <p:cNvSpPr>
              <a:spLocks noChangeArrowheads="1"/>
            </p:cNvSpPr>
            <p:nvPr/>
          </p:nvSpPr>
          <p:spPr bwMode="auto">
            <a:xfrm>
              <a:off x="4059" y="2041"/>
              <a:ext cx="84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…1  a</a:t>
              </a:r>
              <a:r>
                <a:rPr lang="en-US" altLang="zh-CN" sz="3200" b="1" baseline="-25000" dirty="0">
                  <a:effectLst>
                    <a:outerShdw blurRad="38100" dist="38100" dir="2700000" algn="tl">
                      <a:srgbClr val="C0C0C0"/>
                    </a:outerShdw>
                  </a:effectLst>
                </a:rPr>
                <a:t>2</a:t>
              </a:r>
            </a:p>
          </p:txBody>
        </p:sp>
        <p:sp>
          <p:nvSpPr>
            <p:cNvPr id="30753" name="Rectangle 33"/>
            <p:cNvSpPr>
              <a:spLocks noChangeArrowheads="1"/>
            </p:cNvSpPr>
            <p:nvPr/>
          </p:nvSpPr>
          <p:spPr bwMode="auto">
            <a:xfrm>
              <a:off x="3424" y="1360"/>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23</a:t>
              </a:r>
            </a:p>
          </p:txBody>
        </p:sp>
        <p:sp>
          <p:nvSpPr>
            <p:cNvPr id="30754" name="Rectangle 34"/>
            <p:cNvSpPr>
              <a:spLocks noChangeArrowheads="1"/>
            </p:cNvSpPr>
            <p:nvPr/>
          </p:nvSpPr>
          <p:spPr bwMode="auto">
            <a:xfrm>
              <a:off x="3560" y="172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a:t>
              </a:r>
            </a:p>
          </p:txBody>
        </p:sp>
        <p:sp>
          <p:nvSpPr>
            <p:cNvPr id="30755" name="Rectangle 35"/>
            <p:cNvSpPr>
              <a:spLocks noChangeArrowheads="1"/>
            </p:cNvSpPr>
            <p:nvPr/>
          </p:nvSpPr>
          <p:spPr bwMode="auto">
            <a:xfrm>
              <a:off x="3560" y="2024"/>
              <a:ext cx="22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0</a:t>
              </a:r>
            </a:p>
          </p:txBody>
        </p:sp>
        <p:sp>
          <p:nvSpPr>
            <p:cNvPr id="30756" name="Rectangle 36"/>
            <p:cNvSpPr>
              <a:spLocks noChangeArrowheads="1"/>
            </p:cNvSpPr>
            <p:nvPr/>
          </p:nvSpPr>
          <p:spPr bwMode="auto">
            <a:xfrm>
              <a:off x="2925" y="1043"/>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16</a:t>
              </a:r>
            </a:p>
          </p:txBody>
        </p:sp>
        <p:sp>
          <p:nvSpPr>
            <p:cNvPr id="30757" name="Rectangle 37"/>
            <p:cNvSpPr>
              <a:spLocks noChangeArrowheads="1"/>
            </p:cNvSpPr>
            <p:nvPr/>
          </p:nvSpPr>
          <p:spPr bwMode="auto">
            <a:xfrm>
              <a:off x="2925" y="1361"/>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16</a:t>
              </a:r>
            </a:p>
          </p:txBody>
        </p:sp>
        <p:sp>
          <p:nvSpPr>
            <p:cNvPr id="30758" name="Rectangle 38"/>
            <p:cNvSpPr>
              <a:spLocks noChangeArrowheads="1"/>
            </p:cNvSpPr>
            <p:nvPr/>
          </p:nvSpPr>
          <p:spPr bwMode="auto">
            <a:xfrm>
              <a:off x="2925" y="1723"/>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16</a:t>
              </a:r>
            </a:p>
          </p:txBody>
        </p:sp>
      </p:grpSp>
      <p:sp>
        <p:nvSpPr>
          <p:cNvPr id="30759" name="Rectangle 39"/>
          <p:cNvSpPr>
            <a:spLocks noChangeArrowheads="1"/>
          </p:cNvSpPr>
          <p:nvPr/>
        </p:nvSpPr>
        <p:spPr bwMode="auto">
          <a:xfrm>
            <a:off x="596900" y="3276600"/>
            <a:ext cx="3594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(561)</a:t>
            </a:r>
            <a:r>
              <a:rPr lang="en-US" altLang="zh-CN" sz="3200" b="1" baseline="-25000">
                <a:effectLst>
                  <a:outerShdw blurRad="38100" dist="38100" dir="2700000" algn="tl">
                    <a:srgbClr val="C0C0C0"/>
                  </a:outerShdw>
                </a:effectLst>
              </a:rPr>
              <a:t>8</a:t>
            </a:r>
            <a:r>
              <a:rPr lang="en-US" altLang="zh-CN" sz="3200" b="1">
                <a:effectLst>
                  <a:outerShdw blurRad="38100" dist="38100" dir="2700000" algn="tl">
                    <a:srgbClr val="C0C0C0"/>
                  </a:outerShdw>
                </a:effectLst>
              </a:rPr>
              <a:t>=(369)</a:t>
            </a:r>
            <a:r>
              <a:rPr lang="en-US" altLang="zh-CN" sz="3200" b="1" baseline="-25000">
                <a:effectLst>
                  <a:outerShdw blurRad="38100" dist="38100" dir="2700000" algn="tl">
                    <a:srgbClr val="C0C0C0"/>
                  </a:outerShdw>
                </a:effectLst>
              </a:rPr>
              <a:t>10</a:t>
            </a:r>
          </a:p>
        </p:txBody>
      </p:sp>
      <p:sp>
        <p:nvSpPr>
          <p:cNvPr id="30760" name="Rectangle 40"/>
          <p:cNvSpPr>
            <a:spLocks noChangeArrowheads="1"/>
          </p:cNvSpPr>
          <p:nvPr/>
        </p:nvSpPr>
        <p:spPr bwMode="auto">
          <a:xfrm>
            <a:off x="522288" y="3992563"/>
            <a:ext cx="84089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(561)</a:t>
            </a:r>
            <a:r>
              <a:rPr lang="en-US" altLang="zh-CN" sz="3200" b="1" baseline="-25000">
                <a:effectLst>
                  <a:outerShdw blurRad="38100" dist="38100" dir="2700000" algn="tl">
                    <a:srgbClr val="C0C0C0"/>
                  </a:outerShdw>
                </a:effectLst>
              </a:rPr>
              <a:t>8</a:t>
            </a:r>
            <a:r>
              <a:rPr lang="en-US" altLang="zh-CN" sz="3200" b="1">
                <a:effectLst>
                  <a:outerShdw blurRad="38100" dist="38100" dir="2700000" algn="tl">
                    <a:srgbClr val="C0C0C0"/>
                  </a:outerShdw>
                </a:effectLst>
              </a:rPr>
              <a:t> =5×8</a:t>
            </a:r>
            <a:r>
              <a:rPr lang="en-US" altLang="zh-CN" sz="3200" b="1" baseline="30000">
                <a:effectLst>
                  <a:outerShdw blurRad="38100" dist="38100" dir="2700000" algn="tl">
                    <a:srgbClr val="C0C0C0"/>
                  </a:outerShdw>
                </a:effectLst>
              </a:rPr>
              <a:t>2</a:t>
            </a:r>
            <a:r>
              <a:rPr lang="en-US" altLang="zh-CN" sz="3200" b="1">
                <a:effectLst>
                  <a:outerShdw blurRad="38100" dist="38100" dir="2700000" algn="tl">
                    <a:srgbClr val="C0C0C0"/>
                  </a:outerShdw>
                </a:effectLst>
              </a:rPr>
              <a:t>+6×8</a:t>
            </a:r>
            <a:r>
              <a:rPr lang="en-US" altLang="zh-CN" sz="3200" b="1" baseline="30000">
                <a:effectLst>
                  <a:outerShdw blurRad="38100" dist="38100" dir="2700000" algn="tl">
                    <a:srgbClr val="C0C0C0"/>
                  </a:outerShdw>
                </a:effectLst>
              </a:rPr>
              <a:t>1</a:t>
            </a:r>
            <a:r>
              <a:rPr lang="en-US" altLang="zh-CN" sz="3200" b="1">
                <a:effectLst>
                  <a:outerShdw blurRad="38100" dist="38100" dir="2700000" algn="tl">
                    <a:srgbClr val="C0C0C0"/>
                  </a:outerShdw>
                </a:effectLst>
              </a:rPr>
              <a:t>+1×8</a:t>
            </a:r>
            <a:r>
              <a:rPr lang="en-US" altLang="zh-CN" sz="3200" b="1" baseline="30000">
                <a:effectLst>
                  <a:outerShdw blurRad="38100" dist="38100" dir="2700000" algn="tl">
                    <a:srgbClr val="C0C0C0"/>
                  </a:outerShdw>
                </a:effectLst>
              </a:rPr>
              <a:t>0</a:t>
            </a:r>
            <a:r>
              <a:rPr lang="en-US" altLang="zh-CN" sz="3200" b="1">
                <a:effectLst>
                  <a:outerShdw blurRad="38100" dist="38100" dir="2700000" algn="tl">
                    <a:srgbClr val="C0C0C0"/>
                  </a:outerShdw>
                </a:effectLst>
              </a:rPr>
              <a:t>=5×64+6×8+1=369</a:t>
            </a:r>
          </a:p>
        </p:txBody>
      </p:sp>
      <p:sp>
        <p:nvSpPr>
          <p:cNvPr id="30761" name="Rectangle 41"/>
          <p:cNvSpPr>
            <a:spLocks noChangeArrowheads="1"/>
          </p:cNvSpPr>
          <p:nvPr/>
        </p:nvSpPr>
        <p:spPr bwMode="auto">
          <a:xfrm>
            <a:off x="595313" y="4754563"/>
            <a:ext cx="37274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3</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(171)</a:t>
            </a:r>
            <a:r>
              <a:rPr lang="en-US" altLang="zh-CN" sz="3200" b="1" baseline="-25000">
                <a:effectLst>
                  <a:outerShdw blurRad="38100" dist="38100" dir="2700000" algn="tl">
                    <a:srgbClr val="C0C0C0"/>
                  </a:outerShdw>
                </a:effectLst>
              </a:rPr>
              <a:t>16</a:t>
            </a:r>
            <a:r>
              <a:rPr lang="en-US" altLang="zh-CN" sz="3200" b="1">
                <a:effectLst>
                  <a:outerShdw blurRad="38100" dist="38100" dir="2700000" algn="tl">
                    <a:srgbClr val="C0C0C0"/>
                  </a:outerShdw>
                </a:effectLst>
              </a:rPr>
              <a:t>=(369)</a:t>
            </a:r>
            <a:r>
              <a:rPr lang="en-US" altLang="zh-CN" sz="3200" b="1" baseline="-25000">
                <a:effectLst>
                  <a:outerShdw blurRad="38100" dist="38100" dir="2700000" algn="tl">
                    <a:srgbClr val="C0C0C0"/>
                  </a:outerShdw>
                </a:effectLst>
              </a:rPr>
              <a:t>10</a:t>
            </a:r>
          </a:p>
        </p:txBody>
      </p:sp>
      <p:sp>
        <p:nvSpPr>
          <p:cNvPr id="30762" name="Rectangle 42"/>
          <p:cNvSpPr>
            <a:spLocks noChangeArrowheads="1"/>
          </p:cNvSpPr>
          <p:nvPr/>
        </p:nvSpPr>
        <p:spPr bwMode="auto">
          <a:xfrm>
            <a:off x="522288" y="5410200"/>
            <a:ext cx="558006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(171)</a:t>
            </a:r>
            <a:r>
              <a:rPr lang="en-US" altLang="zh-CN" sz="3200" b="1" baseline="-25000">
                <a:effectLst>
                  <a:outerShdw blurRad="38100" dist="38100" dir="2700000" algn="tl">
                    <a:srgbClr val="C0C0C0"/>
                  </a:outerShdw>
                </a:effectLst>
              </a:rPr>
              <a:t>16</a:t>
            </a:r>
            <a:r>
              <a:rPr lang="en-US" altLang="zh-CN" sz="3200" b="1">
                <a:effectLst>
                  <a:outerShdw blurRad="38100" dist="38100" dir="2700000" algn="tl">
                    <a:srgbClr val="C0C0C0"/>
                  </a:outerShdw>
                </a:effectLst>
              </a:rPr>
              <a:t> =1×16</a:t>
            </a:r>
            <a:r>
              <a:rPr lang="en-US" altLang="zh-CN" sz="3200" b="1" baseline="30000">
                <a:effectLst>
                  <a:outerShdw blurRad="38100" dist="38100" dir="2700000" algn="tl">
                    <a:srgbClr val="C0C0C0"/>
                  </a:outerShdw>
                </a:effectLst>
              </a:rPr>
              <a:t>2</a:t>
            </a:r>
            <a:r>
              <a:rPr lang="en-US" altLang="zh-CN" sz="3200" b="1">
                <a:effectLst>
                  <a:outerShdw blurRad="38100" dist="38100" dir="2700000" algn="tl">
                    <a:srgbClr val="C0C0C0"/>
                  </a:outerShdw>
                </a:effectLst>
              </a:rPr>
              <a:t>+7×16</a:t>
            </a:r>
            <a:r>
              <a:rPr lang="en-US" altLang="zh-CN" sz="3200" b="1" baseline="30000">
                <a:effectLst>
                  <a:outerShdw blurRad="38100" dist="38100" dir="2700000" algn="tl">
                    <a:srgbClr val="C0C0C0"/>
                  </a:outerShdw>
                </a:effectLst>
              </a:rPr>
              <a:t>1</a:t>
            </a:r>
            <a:r>
              <a:rPr lang="en-US" altLang="zh-CN" sz="3200" b="1">
                <a:effectLst>
                  <a:outerShdw blurRad="38100" dist="38100" dir="2700000" algn="tl">
                    <a:srgbClr val="C0C0C0"/>
                  </a:outerShdw>
                </a:effectLst>
              </a:rPr>
              <a:t>+1×16</a:t>
            </a:r>
            <a:r>
              <a:rPr lang="en-US" altLang="zh-CN" sz="3200" b="1" baseline="30000">
                <a:effectLst>
                  <a:outerShdw blurRad="38100" dist="38100" dir="2700000" algn="tl">
                    <a:srgbClr val="C0C0C0"/>
                  </a:outerShdw>
                </a:effectLst>
              </a:rPr>
              <a:t>0</a:t>
            </a:r>
            <a:endParaRPr lang="en-US" altLang="zh-CN" sz="3200" b="1">
              <a:effectLst>
                <a:outerShdw blurRad="38100" dist="38100" dir="2700000" algn="tl">
                  <a:srgbClr val="C0C0C0"/>
                </a:outerShdw>
              </a:effectLst>
            </a:endParaRPr>
          </a:p>
          <a:p>
            <a:pPr eaLnBrk="1" hangingPunct="1">
              <a:defRPr/>
            </a:pPr>
            <a:r>
              <a:rPr lang="en-US" altLang="zh-CN" sz="3200" b="1">
                <a:effectLst>
                  <a:outerShdw blurRad="38100" dist="38100" dir="2700000" algn="tl">
                    <a:srgbClr val="C0C0C0"/>
                  </a:outerShdw>
                </a:effectLst>
              </a:rPr>
              <a:t>            =1×256+7×16+1=369</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dissolve">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741"/>
                                        </p:tgtEl>
                                        <p:attrNameLst>
                                          <p:attrName>style.visibility</p:attrName>
                                        </p:attrNameLst>
                                      </p:cBhvr>
                                      <p:to>
                                        <p:strVal val="visible"/>
                                      </p:to>
                                    </p:set>
                                    <p:animEffect transition="in" filter="dissolve">
                                      <p:cBhvr>
                                        <p:cTn id="12" dur="500"/>
                                        <p:tgtEl>
                                          <p:spTgt spid="307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59"/>
                                        </p:tgtEl>
                                        <p:attrNameLst>
                                          <p:attrName>style.visibility</p:attrName>
                                        </p:attrNameLst>
                                      </p:cBhvr>
                                      <p:to>
                                        <p:strVal val="visible"/>
                                      </p:to>
                                    </p:set>
                                    <p:animEffect transition="in" filter="wipe(left)">
                                      <p:cBhvr>
                                        <p:cTn id="17" dur="500"/>
                                        <p:tgtEl>
                                          <p:spTgt spid="307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760"/>
                                        </p:tgtEl>
                                        <p:attrNameLst>
                                          <p:attrName>style.visibility</p:attrName>
                                        </p:attrNameLst>
                                      </p:cBhvr>
                                      <p:to>
                                        <p:strVal val="visible"/>
                                      </p:to>
                                    </p:set>
                                    <p:animEffect transition="in" filter="wipe(left)">
                                      <p:cBhvr>
                                        <p:cTn id="22" dur="500"/>
                                        <p:tgtEl>
                                          <p:spTgt spid="307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61"/>
                                        </p:tgtEl>
                                        <p:attrNameLst>
                                          <p:attrName>style.visibility</p:attrName>
                                        </p:attrNameLst>
                                      </p:cBhvr>
                                      <p:to>
                                        <p:strVal val="visible"/>
                                      </p:to>
                                    </p:set>
                                    <p:animEffect transition="in" filter="wipe(left)">
                                      <p:cBhvr>
                                        <p:cTn id="27" dur="500"/>
                                        <p:tgtEl>
                                          <p:spTgt spid="307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762"/>
                                        </p:tgtEl>
                                        <p:attrNameLst>
                                          <p:attrName>style.visibility</p:attrName>
                                        </p:attrNameLst>
                                      </p:cBhvr>
                                      <p:to>
                                        <p:strVal val="visible"/>
                                      </p:to>
                                    </p:set>
                                    <p:animEffect transition="in" filter="wipe(left)">
                                      <p:cBhvr>
                                        <p:cTn id="32" dur="500"/>
                                        <p:tgtEl>
                                          <p:spTgt spid="30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9" grpId="0" bldLvl="0" animBg="1" autoUpdateAnimBg="0"/>
      <p:bldP spid="30760" grpId="0" bldLvl="0" animBg="1" autoUpdateAnimBg="0"/>
      <p:bldP spid="30761" grpId="0" bldLvl="0" animBg="1" autoUpdateAnimBg="0"/>
      <p:bldP spid="30762"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962836F-95EC-4917-991A-03B1F8BAB749}" type="slidenum">
              <a:rPr lang="en-US" altLang="zh-CN" sz="1400" smtClean="0"/>
              <a:t>19</a:t>
            </a:fld>
            <a:endParaRPr lang="en-US" altLang="zh-CN" sz="1400"/>
          </a:p>
        </p:txBody>
      </p:sp>
      <p:sp>
        <p:nvSpPr>
          <p:cNvPr id="31746" name="Rectangle 2"/>
          <p:cNvSpPr>
            <a:spLocks noChangeArrowheads="1"/>
          </p:cNvSpPr>
          <p:nvPr/>
        </p:nvSpPr>
        <p:spPr bwMode="auto">
          <a:xfrm>
            <a:off x="228600" y="1127125"/>
            <a:ext cx="5410200" cy="7016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000" b="1">
                <a:solidFill>
                  <a:schemeClr val="tx2"/>
                </a:solidFill>
                <a:latin typeface="黑体" panose="02010609060101010101" pitchFamily="49" charset="-122"/>
                <a:ea typeface="黑体" panose="02010609060101010101" pitchFamily="49" charset="-122"/>
              </a:rPr>
              <a:t>1.3.1 </a:t>
            </a:r>
            <a:r>
              <a:rPr lang="zh-CN" altLang="en-US" sz="4000" b="1">
                <a:solidFill>
                  <a:schemeClr val="tx2"/>
                </a:solidFill>
                <a:latin typeface="黑体" panose="02010609060101010101" pitchFamily="49" charset="-122"/>
                <a:ea typeface="黑体" panose="02010609060101010101" pitchFamily="49" charset="-122"/>
              </a:rPr>
              <a:t>真值与机器数</a:t>
            </a:r>
          </a:p>
        </p:txBody>
      </p:sp>
      <p:sp>
        <p:nvSpPr>
          <p:cNvPr id="31748" name="Rectangle 4"/>
          <p:cNvSpPr>
            <a:spLocks noChangeArrowheads="1"/>
          </p:cNvSpPr>
          <p:nvPr/>
        </p:nvSpPr>
        <p:spPr bwMode="auto">
          <a:xfrm>
            <a:off x="228600" y="1905000"/>
            <a:ext cx="88392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一个带符号的数由两部分组成，一部分表示数的符号，另一部分表示数的数值。符号位习惯以</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表示正数，以</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表示负数。</a:t>
            </a:r>
          </a:p>
        </p:txBody>
      </p:sp>
      <p:sp>
        <p:nvSpPr>
          <p:cNvPr id="31752" name="Rectangle 8"/>
          <p:cNvSpPr>
            <a:spLocks noChangeArrowheads="1"/>
          </p:cNvSpPr>
          <p:nvPr/>
        </p:nvSpPr>
        <p:spPr bwMode="auto">
          <a:xfrm>
            <a:off x="228600" y="3717925"/>
            <a:ext cx="8759825"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若以正号</a:t>
            </a:r>
            <a:r>
              <a:rPr lang="zh-CN" altLang="en-US" sz="3200" dirty="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dirty="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和负号</a:t>
            </a:r>
            <a:r>
              <a:rPr lang="zh-CN" altLang="en-US" sz="3200" dirty="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dirty="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来表示有符号的二进制数，称为符号数的真值。</a:t>
            </a:r>
          </a:p>
        </p:txBody>
      </p:sp>
      <p:sp>
        <p:nvSpPr>
          <p:cNvPr id="31755" name="Rectangle 11"/>
          <p:cNvSpPr>
            <a:spLocks noChangeArrowheads="1"/>
          </p:cNvSpPr>
          <p:nvPr/>
        </p:nvSpPr>
        <p:spPr bwMode="auto">
          <a:xfrm>
            <a:off x="228600" y="5013325"/>
            <a:ext cx="8839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如</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+0.1011</a:t>
            </a:r>
            <a:r>
              <a:rPr lang="zh-CN" altLang="en-US" sz="3200"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-0.1011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。但这种表示方法不能直接用于计算机中。只有使符号数值化以后，才可以在计算机中使用了。</a:t>
            </a:r>
          </a:p>
        </p:txBody>
      </p:sp>
      <p:sp>
        <p:nvSpPr>
          <p:cNvPr id="52231" name="Rectangle 14"/>
          <p:cNvSpPr>
            <a:spLocks noChangeArrowheads="1"/>
          </p:cNvSpPr>
          <p:nvPr/>
        </p:nvSpPr>
        <p:spPr bwMode="auto">
          <a:xfrm>
            <a:off x="1295400" y="152400"/>
            <a:ext cx="6629400" cy="762000"/>
          </a:xfrm>
          <a:prstGeom prst="rect">
            <a:avLst/>
          </a:prstGeom>
          <a:solidFill>
            <a:srgbClr val="FF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1.3 </a:t>
            </a:r>
            <a:r>
              <a:rPr lang="zh-CN" altLang="en-US" sz="4400" b="1">
                <a:solidFill>
                  <a:schemeClr val="tx2"/>
                </a:solidFill>
                <a:latin typeface="黑体" panose="02010609060101010101" pitchFamily="49" charset="-122"/>
                <a:ea typeface="黑体" panose="02010609060101010101" pitchFamily="49" charset="-122"/>
              </a:rPr>
              <a:t>带符号数的代码表示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0-#ppt_w/2"/>
                                          </p:val>
                                        </p:tav>
                                        <p:tav tm="100000">
                                          <p:val>
                                            <p:strVal val="#ppt_x"/>
                                          </p:val>
                                        </p:tav>
                                      </p:tavLst>
                                    </p:anim>
                                    <p:anim calcmode="lin" valueType="num">
                                      <p:cBhvr additive="base">
                                        <p:cTn id="8" dur="500" fill="hold"/>
                                        <p:tgtEl>
                                          <p:spTgt spid="317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1748"/>
                                        </p:tgtEl>
                                        <p:attrNameLst>
                                          <p:attrName>style.visibility</p:attrName>
                                        </p:attrNameLst>
                                      </p:cBhvr>
                                      <p:to>
                                        <p:strVal val="visible"/>
                                      </p:to>
                                    </p:set>
                                    <p:animEffect transition="in" filter="blinds(horizontal)">
                                      <p:cBhvr>
                                        <p:cTn id="13" dur="500"/>
                                        <p:tgtEl>
                                          <p:spTgt spid="31748"/>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1752"/>
                                        </p:tgtEl>
                                        <p:attrNameLst>
                                          <p:attrName>style.visibility</p:attrName>
                                        </p:attrNameLst>
                                      </p:cBhvr>
                                      <p:to>
                                        <p:strVal val="visible"/>
                                      </p:to>
                                    </p:set>
                                    <p:animEffect transition="in" filter="box(in)">
                                      <p:cBhvr>
                                        <p:cTn id="18" dur="500"/>
                                        <p:tgtEl>
                                          <p:spTgt spid="3175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755"/>
                                        </p:tgtEl>
                                        <p:attrNameLst>
                                          <p:attrName>style.visibility</p:attrName>
                                        </p:attrNameLst>
                                      </p:cBhvr>
                                      <p:to>
                                        <p:strVal val="visible"/>
                                      </p:to>
                                    </p:set>
                                    <p:animEffect transition="in" filter="blinds(horizontal)">
                                      <p:cBhvr>
                                        <p:cTn id="23" dur="500"/>
                                        <p:tgtEl>
                                          <p:spTgt spid="31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ldLvl="0" animBg="1" autoUpdateAnimBg="0"/>
      <p:bldP spid="31748" grpId="0" bldLvl="0" animBg="1" autoUpdateAnimBg="0"/>
      <p:bldP spid="31752" grpId="0" bldLvl="0" animBg="1" autoUpdateAnimBg="0"/>
      <p:bldP spid="31755"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9AD3A21-D9A6-4631-B5B4-CBCBA4178F12}" type="slidenum">
              <a:rPr lang="en-US" altLang="zh-CN" sz="1400" smtClean="0"/>
              <a:t>20</a:t>
            </a:fld>
            <a:endParaRPr lang="en-US" altLang="zh-CN" sz="1400"/>
          </a:p>
        </p:txBody>
      </p:sp>
      <p:sp>
        <p:nvSpPr>
          <p:cNvPr id="32771" name="Rectangle 3"/>
          <p:cNvSpPr>
            <a:spLocks noChangeArrowheads="1"/>
          </p:cNvSpPr>
          <p:nvPr/>
        </p:nvSpPr>
        <p:spPr bwMode="auto">
          <a:xfrm>
            <a:off x="228600" y="358775"/>
            <a:ext cx="8879904"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n-US" altLang="zh-CN" sz="3200" b="1"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计算机中使用的符号数称为机器数。</a:t>
            </a:r>
          </a:p>
          <a:p>
            <a:pPr eaLnBrk="1" hangingPunct="1">
              <a:defRPr/>
            </a:pP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如</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+1011</a:t>
            </a: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表示为</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01011</a:t>
            </a: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，而</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-1011</a:t>
            </a: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表示为</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11011</a:t>
            </a:r>
            <a:r>
              <a:rPr lang="zh-CN" altLang="en-US" sz="3200" b="1"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32775" name="Rectangle 7"/>
          <p:cNvSpPr>
            <a:spLocks noChangeArrowheads="1"/>
          </p:cNvSpPr>
          <p:nvPr/>
        </p:nvSpPr>
        <p:spPr bwMode="auto">
          <a:xfrm>
            <a:off x="228600" y="1600200"/>
            <a:ext cx="88392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前面介绍的二进制数的加、减、乘、除运算，乘法运算实际上是作移位加法运算；除法运算则可用移位减法来完成。</a:t>
            </a:r>
          </a:p>
        </p:txBody>
      </p:sp>
      <p:sp>
        <p:nvSpPr>
          <p:cNvPr id="32777" name="Rectangle 9"/>
          <p:cNvSpPr>
            <a:spLocks noChangeArrowheads="1"/>
          </p:cNvSpPr>
          <p:nvPr/>
        </p:nvSpPr>
        <p:spPr bwMode="auto">
          <a:xfrm>
            <a:off x="228600" y="3352800"/>
            <a:ext cx="8839200" cy="2079625"/>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注意：</a:t>
            </a:r>
            <a:r>
              <a:rPr lang="zh-CN" altLang="en-US" sz="3200" b="1">
                <a:effectLst>
                  <a:outerShdw blurRad="38100" dist="38100" dir="2700000" algn="tl">
                    <a:srgbClr val="C0C0C0"/>
                  </a:outerShdw>
                </a:effectLst>
                <a:latin typeface="黑体" panose="02010609060101010101" pitchFamily="49" charset="-122"/>
                <a:ea typeface="黑体" panose="02010609060101010101" pitchFamily="49" charset="-122"/>
              </a:rPr>
              <a:t>作</a:t>
            </a:r>
            <a:r>
              <a:rPr lang="zh-CN" altLang="en-US" sz="3200" b="1">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减法</a:t>
            </a:r>
            <a:r>
              <a:rPr lang="zh-CN" altLang="en-US" sz="3200" b="1">
                <a:effectLst>
                  <a:outerShdw blurRad="38100" dist="38100" dir="2700000" algn="tl">
                    <a:srgbClr val="C0C0C0"/>
                  </a:outerShdw>
                </a:effectLst>
                <a:latin typeface="黑体" panose="02010609060101010101" pitchFamily="49" charset="-122"/>
                <a:ea typeface="黑体" panose="02010609060101010101" pitchFamily="49" charset="-122"/>
              </a:rPr>
              <a:t>时，必须</a:t>
            </a:r>
            <a:r>
              <a:rPr lang="zh-CN" altLang="en-US" sz="3200" b="1">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先比较两个数绝对值</a:t>
            </a:r>
            <a:r>
              <a:rPr lang="zh-CN" altLang="en-US" sz="3200" b="1">
                <a:effectLst>
                  <a:outerShdw blurRad="38100" dist="38100" dir="2700000" algn="tl">
                    <a:srgbClr val="C0C0C0"/>
                  </a:outerShdw>
                </a:effectLst>
                <a:latin typeface="黑体" panose="02010609060101010101" pitchFamily="49" charset="-122"/>
                <a:ea typeface="黑体" panose="02010609060101010101" pitchFamily="49" charset="-122"/>
              </a:rPr>
              <a:t>的大小，将绝对值大的数减去绝对值小的数，最后再在运算结果前加上正确的符号。故作减法运算所需电路复杂，耗时长。</a:t>
            </a:r>
          </a:p>
        </p:txBody>
      </p:sp>
      <p:sp>
        <p:nvSpPr>
          <p:cNvPr id="32782" name="Rectangle 14"/>
          <p:cNvSpPr>
            <a:spLocks noChangeArrowheads="1"/>
          </p:cNvSpPr>
          <p:nvPr/>
        </p:nvSpPr>
        <p:spPr bwMode="auto">
          <a:xfrm>
            <a:off x="228600" y="5562600"/>
            <a:ext cx="8915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为了能</a:t>
            </a:r>
            <a:r>
              <a:rPr lang="zh-CN" altLang="en-US" sz="3200">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变减法为作加法</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，下面提出了三种机器数的表示方法。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5"/>
                                        </p:tgtEl>
                                        <p:attrNameLst>
                                          <p:attrName>style.visibility</p:attrName>
                                        </p:attrNameLst>
                                      </p:cBhvr>
                                      <p:to>
                                        <p:strVal val="visible"/>
                                      </p:to>
                                    </p:set>
                                    <p:animEffect transition="in" filter="blinds(horizontal)">
                                      <p:cBhvr>
                                        <p:cTn id="7" dur="500"/>
                                        <p:tgtEl>
                                          <p:spTgt spid="327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777"/>
                                        </p:tgtEl>
                                        <p:attrNameLst>
                                          <p:attrName>style.visibility</p:attrName>
                                        </p:attrNameLst>
                                      </p:cBhvr>
                                      <p:to>
                                        <p:strVal val="visible"/>
                                      </p:to>
                                    </p:set>
                                    <p:animEffect transition="in" filter="box(in)">
                                      <p:cBhvr>
                                        <p:cTn id="12" dur="500"/>
                                        <p:tgtEl>
                                          <p:spTgt spid="327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82"/>
                                        </p:tgtEl>
                                        <p:attrNameLst>
                                          <p:attrName>style.visibility</p:attrName>
                                        </p:attrNameLst>
                                      </p:cBhvr>
                                      <p:to>
                                        <p:strVal val="visible"/>
                                      </p:to>
                                    </p:set>
                                    <p:animEffect transition="in" filter="blinds(horizontal)">
                                      <p:cBhvr>
                                        <p:cTn id="17" dur="500"/>
                                        <p:tgtEl>
                                          <p:spTgt spid="32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bldLvl="0" animBg="1" autoUpdateAnimBg="0"/>
      <p:bldP spid="32777" grpId="0" bldLvl="0" animBg="1" autoUpdateAnimBg="0"/>
      <p:bldP spid="32782"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943294F-D44C-4CBE-AF9F-8766DA607DA5}" type="slidenum">
              <a:rPr lang="en-US" altLang="zh-CN" sz="1400" smtClean="0"/>
              <a:t>21</a:t>
            </a:fld>
            <a:endParaRPr lang="en-US" altLang="zh-CN" sz="1400"/>
          </a:p>
        </p:txBody>
      </p:sp>
      <p:sp>
        <p:nvSpPr>
          <p:cNvPr id="33794" name="Rectangle 2"/>
          <p:cNvSpPr>
            <a:spLocks noChangeArrowheads="1"/>
          </p:cNvSpPr>
          <p:nvPr/>
        </p:nvSpPr>
        <p:spPr bwMode="auto">
          <a:xfrm>
            <a:off x="304800" y="152400"/>
            <a:ext cx="34290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1.3.2 </a:t>
            </a:r>
            <a:r>
              <a:rPr lang="zh-CN" altLang="en-US" sz="4400" b="1">
                <a:solidFill>
                  <a:schemeClr val="tx2"/>
                </a:solidFill>
                <a:latin typeface="黑体" panose="02010609060101010101" pitchFamily="49" charset="-122"/>
                <a:ea typeface="黑体" panose="02010609060101010101" pitchFamily="49" charset="-122"/>
              </a:rPr>
              <a:t>原码</a:t>
            </a:r>
          </a:p>
        </p:txBody>
      </p:sp>
      <p:sp>
        <p:nvSpPr>
          <p:cNvPr id="33796" name="Rectangle 4"/>
          <p:cNvSpPr>
            <a:spLocks noChangeArrowheads="1"/>
          </p:cNvSpPr>
          <p:nvPr/>
        </p:nvSpPr>
        <p:spPr bwMode="auto">
          <a:xfrm>
            <a:off x="107504" y="1066800"/>
            <a:ext cx="8928992" cy="156966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原码又称</a:t>
            </a:r>
            <a:r>
              <a:rPr lang="zh-CN" altLang="en-US" sz="3200" dirty="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符号－数值表示</a:t>
            </a:r>
            <a:r>
              <a:rPr lang="zh-CN" altLang="en-US" sz="3200" dirty="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，在以原码表示的正负数中，第一位为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正数</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负数</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。如：</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+10011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记为</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010011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-10011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记为</a:t>
            </a:r>
            <a:r>
              <a:rPr lang="en-US" altLang="zh-CN" sz="3200" b="1" dirty="0">
                <a:effectLst>
                  <a:outerShdw blurRad="38100" dist="38100" dir="2700000" algn="tl">
                    <a:srgbClr val="C0C0C0"/>
                  </a:outerShdw>
                </a:effectLst>
                <a:latin typeface="Courier New" panose="02070309020205020404" pitchFamily="49" charset="0"/>
                <a:ea typeface="黑体" panose="02010609060101010101" pitchFamily="49" charset="-122"/>
                <a:cs typeface="Courier New" panose="02070309020205020404" pitchFamily="49" charset="0"/>
              </a:rPr>
              <a:t>110011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33799" name="Rectangle 7"/>
          <p:cNvSpPr>
            <a:spLocks noChangeArrowheads="1"/>
          </p:cNvSpPr>
          <p:nvPr/>
        </p:nvSpPr>
        <p:spPr bwMode="auto">
          <a:xfrm>
            <a:off x="233363" y="2819400"/>
            <a:ext cx="9015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(1) </a:t>
            </a:r>
            <a:r>
              <a:rPr lang="zh-CN" altLang="en-US" sz="3200" b="1" dirty="0">
                <a:effectLst>
                  <a:outerShdw blurRad="38100" dist="38100" dir="2700000" algn="tl">
                    <a:srgbClr val="C0C0C0"/>
                  </a:outerShdw>
                </a:effectLst>
              </a:rPr>
              <a:t>若二进制整数的原码序列为</a:t>
            </a:r>
            <a:r>
              <a:rPr lang="en-US" altLang="zh-CN" sz="3200" b="1" dirty="0">
                <a:effectLst>
                  <a:outerShdw blurRad="38100" dist="38100" dir="2700000" algn="tl">
                    <a:srgbClr val="C0C0C0"/>
                  </a:outerShdw>
                </a:effectLst>
              </a:rPr>
              <a:t>:X</a:t>
            </a:r>
            <a:r>
              <a:rPr lang="en-US" altLang="zh-CN" sz="3200" b="1" baseline="-25000" dirty="0">
                <a:effectLst>
                  <a:outerShdw blurRad="38100" dist="38100" dir="2700000" algn="tl">
                    <a:srgbClr val="C0C0C0"/>
                  </a:outerShdw>
                </a:effectLst>
              </a:rPr>
              <a:t>n-1</a:t>
            </a:r>
            <a:r>
              <a:rPr lang="en-US" altLang="zh-CN" sz="3200" b="1" dirty="0">
                <a:effectLst>
                  <a:outerShdw blurRad="38100" dist="38100" dir="2700000" algn="tl">
                    <a:srgbClr val="C0C0C0"/>
                  </a:outerShdw>
                </a:effectLst>
              </a:rPr>
              <a:t>X</a:t>
            </a:r>
            <a:r>
              <a:rPr lang="en-US" altLang="zh-CN" sz="3200" b="1" baseline="-25000" dirty="0">
                <a:effectLst>
                  <a:outerShdw blurRad="38100" dist="38100" dir="2700000" algn="tl">
                    <a:srgbClr val="C0C0C0"/>
                  </a:outerShdw>
                </a:effectLst>
              </a:rPr>
              <a:t>n-2</a:t>
            </a:r>
            <a:r>
              <a:rPr lang="en-US" altLang="zh-CN" sz="3200" b="1" dirty="0">
                <a:effectLst>
                  <a:outerShdw blurRad="38100" dist="38100" dir="2700000" algn="tl">
                    <a:srgbClr val="C0C0C0"/>
                  </a:outerShdw>
                </a:effectLst>
              </a:rPr>
              <a:t>……X</a:t>
            </a:r>
            <a:r>
              <a:rPr lang="en-US" altLang="zh-CN" sz="3200" b="1" baseline="-25000"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则</a:t>
            </a:r>
            <a:r>
              <a:rPr lang="en-US" altLang="zh-CN" sz="3200" b="1" dirty="0">
                <a:effectLst>
                  <a:outerShdw blurRad="38100" dist="38100" dir="2700000" algn="tl">
                    <a:srgbClr val="C0C0C0"/>
                  </a:outerShdw>
                </a:effectLst>
              </a:rPr>
              <a:t>:</a:t>
            </a:r>
          </a:p>
        </p:txBody>
      </p:sp>
      <p:grpSp>
        <p:nvGrpSpPr>
          <p:cNvPr id="33800" name="Group 8"/>
          <p:cNvGrpSpPr/>
          <p:nvPr/>
        </p:nvGrpSpPr>
        <p:grpSpPr bwMode="auto">
          <a:xfrm>
            <a:off x="766763" y="3292475"/>
            <a:ext cx="7539037" cy="1447800"/>
            <a:chOff x="192" y="2708"/>
            <a:chExt cx="4749" cy="1081"/>
          </a:xfrm>
        </p:grpSpPr>
        <p:sp>
          <p:nvSpPr>
            <p:cNvPr id="56335" name="Line 9"/>
            <p:cNvSpPr>
              <a:spLocks noChangeShapeType="1"/>
            </p:cNvSpPr>
            <p:nvPr/>
          </p:nvSpPr>
          <p:spPr bwMode="auto">
            <a:xfrm>
              <a:off x="2688" y="3408"/>
              <a:ext cx="1" cy="24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336" name="AutoShape 10"/>
            <p:cNvSpPr/>
            <p:nvPr/>
          </p:nvSpPr>
          <p:spPr bwMode="auto">
            <a:xfrm>
              <a:off x="816" y="2815"/>
              <a:ext cx="188" cy="767"/>
            </a:xfrm>
            <a:prstGeom prst="leftBrace">
              <a:avLst>
                <a:gd name="adj1" fmla="val 33998"/>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803" name="Rectangle 11"/>
            <p:cNvSpPr>
              <a:spLocks noChangeArrowheads="1"/>
            </p:cNvSpPr>
            <p:nvPr/>
          </p:nvSpPr>
          <p:spPr bwMode="auto">
            <a:xfrm>
              <a:off x="1056" y="2708"/>
              <a:ext cx="365" cy="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 X</a:t>
              </a:r>
            </a:p>
          </p:txBody>
        </p:sp>
        <p:sp>
          <p:nvSpPr>
            <p:cNvPr id="33804" name="Rectangle 12"/>
            <p:cNvSpPr>
              <a:spLocks noChangeArrowheads="1"/>
            </p:cNvSpPr>
            <p:nvPr/>
          </p:nvSpPr>
          <p:spPr bwMode="auto">
            <a:xfrm>
              <a:off x="3696" y="2781"/>
              <a:ext cx="1053" cy="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r>
                <a:rPr lang="en-US" altLang="zh-CN" sz="3200" b="1">
                  <a:effectLst>
                    <a:outerShdw blurRad="38100" dist="38100" dir="2700000" algn="tl">
                      <a:srgbClr val="C0C0C0"/>
                    </a:outerShdw>
                  </a:effectLst>
                </a:rPr>
                <a:t>&gt;X≥0</a:t>
              </a:r>
            </a:p>
          </p:txBody>
        </p:sp>
        <p:sp>
          <p:nvSpPr>
            <p:cNvPr id="33805" name="Rectangle 13"/>
            <p:cNvSpPr>
              <a:spLocks noChangeArrowheads="1"/>
            </p:cNvSpPr>
            <p:nvPr/>
          </p:nvSpPr>
          <p:spPr bwMode="auto">
            <a:xfrm>
              <a:off x="192" y="3043"/>
              <a:ext cx="616" cy="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a:t>
              </a:r>
              <a:r>
                <a:rPr lang="zh-CN" altLang="en-US" sz="3200" b="1" baseline="-25000">
                  <a:effectLst>
                    <a:outerShdw blurRad="38100" dist="38100" dir="2700000" algn="tl">
                      <a:srgbClr val="C0C0C0"/>
                    </a:outerShdw>
                  </a:effectLst>
                </a:rPr>
                <a:t>原</a:t>
              </a:r>
              <a:r>
                <a:rPr lang="en-US" altLang="zh-CN" sz="3200" b="1">
                  <a:effectLst>
                    <a:outerShdw blurRad="38100" dist="38100" dir="2700000" algn="tl">
                      <a:srgbClr val="C0C0C0"/>
                    </a:outerShdw>
                  </a:effectLst>
                </a:rPr>
                <a:t>=</a:t>
              </a:r>
            </a:p>
          </p:txBody>
        </p:sp>
        <p:sp>
          <p:nvSpPr>
            <p:cNvPr id="33806" name="Rectangle 14"/>
            <p:cNvSpPr>
              <a:spLocks noChangeArrowheads="1"/>
            </p:cNvSpPr>
            <p:nvPr/>
          </p:nvSpPr>
          <p:spPr bwMode="auto">
            <a:xfrm>
              <a:off x="1152" y="3356"/>
              <a:ext cx="3789" cy="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            0≥X&gt;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p>
          </p:txBody>
        </p:sp>
        <p:sp>
          <p:nvSpPr>
            <p:cNvPr id="56341" name="Line 15"/>
            <p:cNvSpPr>
              <a:spLocks noChangeShapeType="1"/>
            </p:cNvSpPr>
            <p:nvPr/>
          </p:nvSpPr>
          <p:spPr bwMode="auto">
            <a:xfrm>
              <a:off x="3024" y="3408"/>
              <a:ext cx="0" cy="24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3808" name="Group 16"/>
          <p:cNvGrpSpPr/>
          <p:nvPr/>
        </p:nvGrpSpPr>
        <p:grpSpPr bwMode="auto">
          <a:xfrm>
            <a:off x="858838" y="5278438"/>
            <a:ext cx="7299325" cy="1416050"/>
            <a:chOff x="240" y="731"/>
            <a:chExt cx="4598" cy="985"/>
          </a:xfrm>
        </p:grpSpPr>
        <p:sp>
          <p:nvSpPr>
            <p:cNvPr id="56329" name="AutoShape 17"/>
            <p:cNvSpPr/>
            <p:nvPr/>
          </p:nvSpPr>
          <p:spPr bwMode="auto">
            <a:xfrm>
              <a:off x="816" y="864"/>
              <a:ext cx="192" cy="672"/>
            </a:xfrm>
            <a:prstGeom prst="leftBrace">
              <a:avLst>
                <a:gd name="adj1" fmla="val 29167"/>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6330" name="Line 18"/>
            <p:cNvSpPr>
              <a:spLocks noChangeShapeType="1"/>
            </p:cNvSpPr>
            <p:nvPr/>
          </p:nvSpPr>
          <p:spPr bwMode="auto">
            <a:xfrm>
              <a:off x="2352" y="1392"/>
              <a:ext cx="0" cy="19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331" name="Line 19"/>
            <p:cNvSpPr>
              <a:spLocks noChangeShapeType="1"/>
            </p:cNvSpPr>
            <p:nvPr/>
          </p:nvSpPr>
          <p:spPr bwMode="auto">
            <a:xfrm>
              <a:off x="2736" y="1392"/>
              <a:ext cx="0" cy="19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12" name="Rectangle 20"/>
            <p:cNvSpPr>
              <a:spLocks noChangeArrowheads="1"/>
            </p:cNvSpPr>
            <p:nvPr/>
          </p:nvSpPr>
          <p:spPr bwMode="auto">
            <a:xfrm>
              <a:off x="1104" y="731"/>
              <a:ext cx="35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                                      1&gt;X≥0</a:t>
              </a:r>
            </a:p>
          </p:txBody>
        </p:sp>
        <p:sp>
          <p:nvSpPr>
            <p:cNvPr id="33813" name="Rectangle 21"/>
            <p:cNvSpPr>
              <a:spLocks noChangeArrowheads="1"/>
            </p:cNvSpPr>
            <p:nvPr/>
          </p:nvSpPr>
          <p:spPr bwMode="auto">
            <a:xfrm>
              <a:off x="1008" y="1313"/>
              <a:ext cx="38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 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                0≥X&gt;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a:t>
              </a:r>
            </a:p>
          </p:txBody>
        </p:sp>
        <p:sp>
          <p:nvSpPr>
            <p:cNvPr id="33814" name="Rectangle 22"/>
            <p:cNvSpPr>
              <a:spLocks noChangeArrowheads="1"/>
            </p:cNvSpPr>
            <p:nvPr/>
          </p:nvSpPr>
          <p:spPr bwMode="auto">
            <a:xfrm>
              <a:off x="240" y="1019"/>
              <a:ext cx="61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a:t>
              </a:r>
              <a:r>
                <a:rPr lang="zh-CN" altLang="en-US" sz="3200" b="1" baseline="-25000">
                  <a:effectLst>
                    <a:outerShdw blurRad="38100" dist="38100" dir="2700000" algn="tl">
                      <a:srgbClr val="C0C0C0"/>
                    </a:outerShdw>
                  </a:effectLst>
                </a:rPr>
                <a:t>原</a:t>
              </a:r>
              <a:r>
                <a:rPr lang="en-US" altLang="zh-CN" sz="3200" b="1">
                  <a:effectLst>
                    <a:outerShdw blurRad="38100" dist="38100" dir="2700000" algn="tl">
                      <a:srgbClr val="C0C0C0"/>
                    </a:outerShdw>
                  </a:effectLst>
                </a:rPr>
                <a:t>=</a:t>
              </a:r>
            </a:p>
          </p:txBody>
        </p:sp>
      </p:grpSp>
      <p:sp>
        <p:nvSpPr>
          <p:cNvPr id="33815" name="Rectangle 23"/>
          <p:cNvSpPr>
            <a:spLocks noChangeArrowheads="1"/>
          </p:cNvSpPr>
          <p:nvPr/>
        </p:nvSpPr>
        <p:spPr bwMode="auto">
          <a:xfrm>
            <a:off x="233363" y="4743450"/>
            <a:ext cx="8529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(2)</a:t>
            </a:r>
            <a:r>
              <a:rPr lang="en-US" altLang="zh-CN" sz="2800" b="1">
                <a:effectLst>
                  <a:outerShdw blurRad="38100" dist="38100" dir="2700000" algn="tl">
                    <a:srgbClr val="C0C0C0"/>
                  </a:outerShdw>
                </a:effectLst>
              </a:rPr>
              <a:t> </a:t>
            </a:r>
            <a:r>
              <a:rPr lang="zh-CN" altLang="en-US" sz="3200" b="1">
                <a:effectLst>
                  <a:outerShdw blurRad="38100" dist="38100" dir="2700000" algn="tl">
                    <a:srgbClr val="C0C0C0"/>
                  </a:outerShdw>
                </a:effectLst>
              </a:rPr>
              <a:t>若二进制小数的原码序列为</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0</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1</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n</a:t>
            </a:r>
            <a:r>
              <a:rPr lang="zh-CN" altLang="en-US" sz="3200" b="1">
                <a:effectLst>
                  <a:outerShdw blurRad="38100" dist="38100" dir="2700000" algn="tl">
                    <a:srgbClr val="C0C0C0"/>
                  </a:outerShdw>
                </a:effectLst>
              </a:rPr>
              <a:t>则</a:t>
            </a:r>
            <a:r>
              <a:rPr lang="en-US" altLang="zh-CN" sz="3200" b="1">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box(in)">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9"/>
                                        </p:tgtEl>
                                        <p:attrNameLst>
                                          <p:attrName>style.visibility</p:attrName>
                                        </p:attrNameLst>
                                      </p:cBhvr>
                                      <p:to>
                                        <p:strVal val="visible"/>
                                      </p:to>
                                    </p:set>
                                    <p:animEffect transition="in" filter="wipe(left)">
                                      <p:cBhvr>
                                        <p:cTn id="12" dur="500"/>
                                        <p:tgtEl>
                                          <p:spTgt spid="3379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800"/>
                                        </p:tgtEl>
                                        <p:attrNameLst>
                                          <p:attrName>style.visibility</p:attrName>
                                        </p:attrNameLst>
                                      </p:cBhvr>
                                      <p:to>
                                        <p:strVal val="visible"/>
                                      </p:to>
                                    </p:set>
                                    <p:animEffect transition="in" filter="dissolve">
                                      <p:cBhvr>
                                        <p:cTn id="17" dur="500"/>
                                        <p:tgtEl>
                                          <p:spTgt spid="338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15"/>
                                        </p:tgtEl>
                                        <p:attrNameLst>
                                          <p:attrName>style.visibility</p:attrName>
                                        </p:attrNameLst>
                                      </p:cBhvr>
                                      <p:to>
                                        <p:strVal val="visible"/>
                                      </p:to>
                                    </p:set>
                                    <p:animEffect transition="in" filter="wipe(left)">
                                      <p:cBhvr>
                                        <p:cTn id="22" dur="500"/>
                                        <p:tgtEl>
                                          <p:spTgt spid="338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3808"/>
                                        </p:tgtEl>
                                        <p:attrNameLst>
                                          <p:attrName>style.visibility</p:attrName>
                                        </p:attrNameLst>
                                      </p:cBhvr>
                                      <p:to>
                                        <p:strVal val="visible"/>
                                      </p:to>
                                    </p:set>
                                    <p:animEffect transition="in" filter="dissolve">
                                      <p:cBhvr>
                                        <p:cTn id="27"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ldLvl="0" animBg="1" autoUpdateAnimBg="0"/>
      <p:bldP spid="33799" grpId="0" bldLvl="0" animBg="1" autoUpdateAnimBg="0"/>
      <p:bldP spid="33815"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994A684-961C-45B4-87EB-2B74D9B54D0F}" type="slidenum">
              <a:rPr lang="en-US" altLang="zh-CN" sz="1400" smtClean="0"/>
              <a:t>22</a:t>
            </a:fld>
            <a:endParaRPr lang="en-US" altLang="zh-CN" sz="1400"/>
          </a:p>
        </p:txBody>
      </p:sp>
      <p:sp>
        <p:nvSpPr>
          <p:cNvPr id="35842" name="Rectangle 2"/>
          <p:cNvSpPr>
            <a:spLocks noChangeArrowheads="1"/>
          </p:cNvSpPr>
          <p:nvPr/>
        </p:nvSpPr>
        <p:spPr bwMode="auto">
          <a:xfrm>
            <a:off x="228600" y="258763"/>
            <a:ext cx="2224088"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原码的性质</a:t>
            </a:r>
          </a:p>
        </p:txBody>
      </p:sp>
      <p:sp>
        <p:nvSpPr>
          <p:cNvPr id="35844" name="Rectangle 4"/>
          <p:cNvSpPr>
            <a:spLocks noChangeArrowheads="1"/>
          </p:cNvSpPr>
          <p:nvPr/>
        </p:nvSpPr>
        <p:spPr bwMode="auto">
          <a:xfrm>
            <a:off x="228600" y="1028700"/>
            <a:ext cx="8763000" cy="2079625"/>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当二进制数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为正数时，对应的原码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原</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和</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只是增加了一位用</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表示的符号。由于在数的左边增加一位</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对该数值无影响，所以</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原</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就是</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本身。</a:t>
            </a:r>
          </a:p>
        </p:txBody>
      </p:sp>
      <p:sp>
        <p:nvSpPr>
          <p:cNvPr id="35858" name="Rectangle 18"/>
          <p:cNvSpPr>
            <a:spLocks noChangeArrowheads="1"/>
          </p:cNvSpPr>
          <p:nvPr/>
        </p:nvSpPr>
        <p:spPr bwMode="auto">
          <a:xfrm>
            <a:off x="228600" y="3352800"/>
            <a:ext cx="87630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当二进制数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为负数时，对应的原码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原</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就是在原二进制数前增加一位用</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表示的符号位。</a:t>
            </a:r>
          </a:p>
        </p:txBody>
      </p:sp>
      <p:sp>
        <p:nvSpPr>
          <p:cNvPr id="35859" name="Rectangle 19"/>
          <p:cNvSpPr>
            <a:spLocks noChangeArrowheads="1"/>
          </p:cNvSpPr>
          <p:nvPr/>
        </p:nvSpPr>
        <p:spPr bwMode="auto">
          <a:xfrm>
            <a:off x="273050" y="4716463"/>
            <a:ext cx="8686800" cy="617537"/>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在原码表示中，有两种不同形式的</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35861" name="Rectangle 21"/>
          <p:cNvSpPr>
            <a:spLocks noChangeArrowheads="1"/>
          </p:cNvSpPr>
          <p:nvPr/>
        </p:nvSpPr>
        <p:spPr bwMode="auto">
          <a:xfrm>
            <a:off x="609600" y="5562600"/>
            <a:ext cx="6442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即</a:t>
            </a:r>
            <a:r>
              <a:rPr lang="en-US" altLang="zh-CN" sz="3200" b="1">
                <a:effectLst>
                  <a:outerShdw blurRad="38100" dist="38100" dir="2700000" algn="tl">
                    <a:srgbClr val="C0C0C0"/>
                  </a:outerShdw>
                </a:effectLst>
              </a:rPr>
              <a:t>:[+0]</a:t>
            </a:r>
            <a:r>
              <a:rPr lang="zh-CN" altLang="en-US" sz="3200" b="1" baseline="-25000">
                <a:effectLst>
                  <a:outerShdw blurRad="38100" dist="38100" dir="2700000" algn="tl">
                    <a:srgbClr val="C0C0C0"/>
                  </a:outerShdw>
                </a:effectLst>
              </a:rPr>
              <a:t>原</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a:t>
            </a:r>
            <a:r>
              <a:rPr lang="zh-CN" altLang="en-US" sz="3200" b="1" baseline="-25000">
                <a:effectLst>
                  <a:outerShdw blurRad="38100" dist="38100" dir="2700000" algn="tl">
                    <a:srgbClr val="C0C0C0"/>
                  </a:outerShdw>
                </a:effectLst>
              </a:rPr>
              <a:t>原</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1.00…0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ox(in)">
                                      <p:cBhvr>
                                        <p:cTn id="7" dur="500"/>
                                        <p:tgtEl>
                                          <p:spTgt spid="3584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5858"/>
                                        </p:tgtEl>
                                        <p:attrNameLst>
                                          <p:attrName>style.visibility</p:attrName>
                                        </p:attrNameLst>
                                      </p:cBhvr>
                                      <p:to>
                                        <p:strVal val="visible"/>
                                      </p:to>
                                    </p:set>
                                    <p:animEffect transition="in" filter="box(in)">
                                      <p:cBhvr>
                                        <p:cTn id="12" dur="500"/>
                                        <p:tgtEl>
                                          <p:spTgt spid="3585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5859"/>
                                        </p:tgtEl>
                                        <p:attrNameLst>
                                          <p:attrName>style.visibility</p:attrName>
                                        </p:attrNameLst>
                                      </p:cBhvr>
                                      <p:to>
                                        <p:strVal val="visible"/>
                                      </p:to>
                                    </p:set>
                                    <p:animEffect transition="in" filter="box(in)">
                                      <p:cBhvr>
                                        <p:cTn id="17" dur="500"/>
                                        <p:tgtEl>
                                          <p:spTgt spid="3585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5861"/>
                                        </p:tgtEl>
                                        <p:attrNameLst>
                                          <p:attrName>style.visibility</p:attrName>
                                        </p:attrNameLst>
                                      </p:cBhvr>
                                      <p:to>
                                        <p:strVal val="visible"/>
                                      </p:to>
                                    </p:set>
                                    <p:anim calcmode="lin" valueType="num">
                                      <p:cBhvr additive="base">
                                        <p:cTn id="22" dur="500" fill="hold"/>
                                        <p:tgtEl>
                                          <p:spTgt spid="35861"/>
                                        </p:tgtEl>
                                        <p:attrNameLst>
                                          <p:attrName>ppt_x</p:attrName>
                                        </p:attrNameLst>
                                      </p:cBhvr>
                                      <p:tavLst>
                                        <p:tav tm="0">
                                          <p:val>
                                            <p:strVal val="#ppt_x"/>
                                          </p:val>
                                        </p:tav>
                                        <p:tav tm="100000">
                                          <p:val>
                                            <p:strVal val="#ppt_x"/>
                                          </p:val>
                                        </p:tav>
                                      </p:tavLst>
                                    </p:anim>
                                    <p:anim calcmode="lin" valueType="num">
                                      <p:cBhvr additive="base">
                                        <p:cTn id="23" dur="500" fill="hold"/>
                                        <p:tgtEl>
                                          <p:spTgt spid="358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ldLvl="0" animBg="1" autoUpdateAnimBg="0"/>
      <p:bldP spid="35858" grpId="0" bldLvl="0" animBg="1" autoUpdateAnimBg="0"/>
      <p:bldP spid="35859" grpId="0" bldLvl="0" animBg="1" autoUpdateAnimBg="0"/>
      <p:bldP spid="35861"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184D3EE-3DC2-46C4-80E8-0029470ABE47}" type="slidenum">
              <a:rPr lang="en-US" altLang="zh-CN" sz="1400" smtClean="0"/>
              <a:t>23</a:t>
            </a:fld>
            <a:endParaRPr lang="en-US" altLang="zh-CN" sz="1400"/>
          </a:p>
        </p:txBody>
      </p:sp>
      <p:sp>
        <p:nvSpPr>
          <p:cNvPr id="37891" name="Rectangle 3"/>
          <p:cNvSpPr>
            <a:spLocks noChangeArrowheads="1"/>
          </p:cNvSpPr>
          <p:nvPr/>
        </p:nvSpPr>
        <p:spPr bwMode="auto">
          <a:xfrm>
            <a:off x="323850" y="685800"/>
            <a:ext cx="859155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(4)</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符号位不是数值的一部分，它们是人为约定的，</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为正，</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为负。所以符号位在运算中要单独处理，不能当作数值的一部分直接参加运算。</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C24F689-7CDB-4E34-8D1D-B12767BB50C3}" type="slidenum">
              <a:rPr lang="en-US" altLang="zh-CN" sz="1400" smtClean="0"/>
              <a:t>24</a:t>
            </a:fld>
            <a:endParaRPr lang="en-US" altLang="zh-CN" sz="1400"/>
          </a:p>
        </p:txBody>
      </p:sp>
      <p:sp>
        <p:nvSpPr>
          <p:cNvPr id="38914" name="Rectangle 2"/>
          <p:cNvSpPr>
            <a:spLocks noChangeArrowheads="1"/>
          </p:cNvSpPr>
          <p:nvPr/>
        </p:nvSpPr>
        <p:spPr bwMode="auto">
          <a:xfrm>
            <a:off x="304800" y="173038"/>
            <a:ext cx="32766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1.3.3 </a:t>
            </a:r>
            <a:r>
              <a:rPr lang="zh-CN" altLang="en-US" sz="4400" b="1">
                <a:solidFill>
                  <a:schemeClr val="tx2"/>
                </a:solidFill>
                <a:latin typeface="黑体" panose="02010609060101010101" pitchFamily="49" charset="-122"/>
                <a:ea typeface="黑体" panose="02010609060101010101" pitchFamily="49" charset="-122"/>
              </a:rPr>
              <a:t>反码</a:t>
            </a:r>
          </a:p>
        </p:txBody>
      </p:sp>
      <p:sp>
        <p:nvSpPr>
          <p:cNvPr id="38916" name="Rectangle 4"/>
          <p:cNvSpPr>
            <a:spLocks noChangeArrowheads="1"/>
          </p:cNvSpPr>
          <p:nvPr/>
        </p:nvSpPr>
        <p:spPr bwMode="auto">
          <a:xfrm>
            <a:off x="381000" y="1219200"/>
            <a:ext cx="8369300" cy="256698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反码又称</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的补码</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，用反码表示时，左边的第一位也为符号位，</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代表正数，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代表负数。对于负数，反码的数值是将原码数值部分按位求反，符号位</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保持不变。而对于正数，反码和原码相同。</a:t>
            </a:r>
          </a:p>
        </p:txBody>
      </p:sp>
      <p:sp>
        <p:nvSpPr>
          <p:cNvPr id="38920" name="Rectangle 8"/>
          <p:cNvSpPr>
            <a:spLocks noChangeArrowheads="1"/>
          </p:cNvSpPr>
          <p:nvPr/>
        </p:nvSpPr>
        <p:spPr bwMode="auto">
          <a:xfrm>
            <a:off x="773113" y="4124325"/>
            <a:ext cx="6426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如：</a:t>
            </a:r>
            <a:r>
              <a:rPr lang="en-US" altLang="zh-CN" sz="3200" b="1">
                <a:effectLst>
                  <a:outerShdw blurRad="38100" dist="38100" dir="2700000" algn="tl">
                    <a:srgbClr val="C0C0C0"/>
                  </a:outerShdw>
                </a:effectLst>
              </a:rPr>
              <a:t>X</a:t>
            </a:r>
            <a:r>
              <a:rPr lang="en-US" altLang="zh-CN" sz="3200" b="1" baseline="-30000">
                <a:effectLst>
                  <a:outerShdw blurRad="38100" dist="38100" dir="2700000" algn="tl">
                    <a:srgbClr val="C0C0C0"/>
                  </a:outerShdw>
                </a:effectLst>
              </a:rPr>
              <a:t>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1001</a:t>
            </a:r>
            <a:r>
              <a:rPr lang="zh-CN" altLang="en-US" sz="3200" b="1">
                <a:effectLst>
                  <a:outerShdw blurRad="38100" dist="38100" dir="2700000" algn="tl">
                    <a:srgbClr val="C0C0C0"/>
                  </a:outerShdw>
                </a:effectLst>
              </a:rPr>
              <a:t>表示为  </a:t>
            </a:r>
            <a:r>
              <a:rPr lang="en-US" altLang="zh-CN" sz="3200" b="1">
                <a:effectLst>
                  <a:outerShdw blurRad="38100" dist="38100" dir="2700000" algn="tl">
                    <a:srgbClr val="C0C0C0"/>
                  </a:outerShdw>
                </a:effectLst>
              </a:rPr>
              <a:t>X</a:t>
            </a:r>
            <a:r>
              <a:rPr lang="en-US" altLang="zh-CN" sz="3200" b="1" baseline="-30000">
                <a:effectLst>
                  <a:outerShdw blurRad="38100" dist="38100" dir="2700000" algn="tl">
                    <a:srgbClr val="C0C0C0"/>
                  </a:outerShdw>
                </a:effectLst>
              </a:rPr>
              <a:t>1</a:t>
            </a:r>
            <a:r>
              <a:rPr lang="zh-CN" altLang="en-US" sz="3200" b="1" baseline="-30000">
                <a:effectLst>
                  <a:outerShdw blurRad="38100" dist="38100" dir="2700000" algn="tl">
                    <a:srgbClr val="C0C0C0"/>
                  </a:outerShdw>
                </a:effectLst>
              </a:rPr>
              <a:t>反</a:t>
            </a:r>
            <a:r>
              <a:rPr lang="en-US" altLang="zh-CN" sz="3200" b="1">
                <a:effectLst>
                  <a:outerShdw blurRad="38100" dist="38100" dir="2700000" algn="tl">
                    <a:srgbClr val="C0C0C0"/>
                  </a:outerShdw>
                </a:effectLst>
              </a:rPr>
              <a:t>=01001</a:t>
            </a:r>
          </a:p>
        </p:txBody>
      </p:sp>
      <p:sp>
        <p:nvSpPr>
          <p:cNvPr id="38921" name="Rectangle 9"/>
          <p:cNvSpPr>
            <a:spLocks noChangeArrowheads="1"/>
          </p:cNvSpPr>
          <p:nvPr/>
        </p:nvSpPr>
        <p:spPr bwMode="auto">
          <a:xfrm>
            <a:off x="1628775" y="4989513"/>
            <a:ext cx="561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a:t>
            </a:r>
            <a:r>
              <a:rPr lang="en-US" altLang="zh-CN" sz="3200" b="1" baseline="-30000">
                <a:effectLst>
                  <a:outerShdw blurRad="38100" dist="38100" dir="2700000" algn="tl">
                    <a:srgbClr val="C0C0C0"/>
                  </a:outerShdw>
                </a:effectLst>
              </a:rPr>
              <a:t>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1001</a:t>
            </a:r>
            <a:r>
              <a:rPr lang="zh-CN" altLang="en-US" sz="3200" b="1">
                <a:effectLst>
                  <a:outerShdw blurRad="38100" dist="38100" dir="2700000" algn="tl">
                    <a:srgbClr val="C0C0C0"/>
                  </a:outerShdw>
                </a:effectLst>
              </a:rPr>
              <a:t>表示为  </a:t>
            </a:r>
            <a:r>
              <a:rPr lang="en-US" altLang="zh-CN" sz="3200" b="1">
                <a:effectLst>
                  <a:outerShdw blurRad="38100" dist="38100" dir="2700000" algn="tl">
                    <a:srgbClr val="C0C0C0"/>
                  </a:outerShdw>
                </a:effectLst>
              </a:rPr>
              <a:t>X</a:t>
            </a:r>
            <a:r>
              <a:rPr lang="en-US" altLang="zh-CN" sz="3200" b="1" baseline="-30000">
                <a:effectLst>
                  <a:outerShdw blurRad="38100" dist="38100" dir="2700000" algn="tl">
                    <a:srgbClr val="C0C0C0"/>
                  </a:outerShdw>
                </a:effectLst>
              </a:rPr>
              <a:t>2</a:t>
            </a:r>
            <a:r>
              <a:rPr lang="zh-CN" altLang="en-US" sz="3200" b="1" baseline="-30000">
                <a:effectLst>
                  <a:outerShdw blurRad="38100" dist="38100" dir="2700000" algn="tl">
                    <a:srgbClr val="C0C0C0"/>
                  </a:outerShdw>
                </a:effectLst>
              </a:rPr>
              <a:t>反</a:t>
            </a:r>
            <a:r>
              <a:rPr lang="en-US" altLang="zh-CN" sz="3200" b="1">
                <a:effectLst>
                  <a:outerShdw blurRad="38100" dist="38100" dir="2700000" algn="tl">
                    <a:srgbClr val="C0C0C0"/>
                  </a:outerShdw>
                </a:effectLst>
              </a:rPr>
              <a:t>=10110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ox(in)">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20"/>
                                        </p:tgtEl>
                                        <p:attrNameLst>
                                          <p:attrName>style.visibility</p:attrName>
                                        </p:attrNameLst>
                                      </p:cBhvr>
                                      <p:to>
                                        <p:strVal val="visible"/>
                                      </p:to>
                                    </p:set>
                                    <p:animEffect transition="in" filter="wipe(left)">
                                      <p:cBhvr>
                                        <p:cTn id="12" dur="500"/>
                                        <p:tgtEl>
                                          <p:spTgt spid="389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21"/>
                                        </p:tgtEl>
                                        <p:attrNameLst>
                                          <p:attrName>style.visibility</p:attrName>
                                        </p:attrNameLst>
                                      </p:cBhvr>
                                      <p:to>
                                        <p:strVal val="visible"/>
                                      </p:to>
                                    </p:set>
                                    <p:animEffect transition="in" filter="wipe(left)">
                                      <p:cBhvr>
                                        <p:cTn id="17" dur="5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autoUpdateAnimBg="0"/>
      <p:bldP spid="38920" grpId="0" bldLvl="0" animBg="1" autoUpdateAnimBg="0"/>
      <p:bldP spid="38921"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128D737-15B1-4A80-849A-E07D082C3511}" type="slidenum">
              <a:rPr lang="en-US" altLang="zh-CN" sz="1400" smtClean="0"/>
              <a:t>25</a:t>
            </a:fld>
            <a:endParaRPr lang="en-US" altLang="zh-CN" sz="1400"/>
          </a:p>
        </p:txBody>
      </p:sp>
      <p:sp>
        <p:nvSpPr>
          <p:cNvPr id="39938" name="Rectangle 2"/>
          <p:cNvSpPr>
            <a:spLocks noChangeArrowheads="1"/>
          </p:cNvSpPr>
          <p:nvPr/>
        </p:nvSpPr>
        <p:spPr bwMode="auto">
          <a:xfrm>
            <a:off x="311150" y="990600"/>
            <a:ext cx="7183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dirty="0">
                <a:effectLst>
                  <a:outerShdw blurRad="38100" dist="38100" dir="2700000" algn="tl">
                    <a:srgbClr val="C0C0C0"/>
                  </a:outerShdw>
                </a:effectLst>
              </a:rPr>
              <a:t>(1) </a:t>
            </a:r>
            <a:r>
              <a:rPr lang="zh-CN" altLang="en-US" sz="3200" b="1" dirty="0">
                <a:effectLst>
                  <a:outerShdw blurRad="38100" dist="38100" dir="2700000" algn="tl">
                    <a:srgbClr val="C0C0C0"/>
                  </a:outerShdw>
                </a:effectLst>
              </a:rPr>
              <a:t>若二进制整数形式为</a:t>
            </a:r>
            <a:r>
              <a:rPr lang="en-US" altLang="zh-CN" sz="3200" b="1" dirty="0">
                <a:effectLst>
                  <a:outerShdw blurRad="38100" dist="38100" dir="2700000" algn="tl">
                    <a:srgbClr val="C0C0C0"/>
                  </a:outerShdw>
                </a:effectLst>
              </a:rPr>
              <a:t>X</a:t>
            </a:r>
            <a:r>
              <a:rPr lang="en-US" altLang="zh-CN" sz="3200" b="1" baseline="-25000" dirty="0">
                <a:effectLst>
                  <a:outerShdw blurRad="38100" dist="38100" dir="2700000" algn="tl">
                    <a:srgbClr val="C0C0C0"/>
                  </a:outerShdw>
                </a:effectLst>
              </a:rPr>
              <a:t>0</a:t>
            </a:r>
            <a:r>
              <a:rPr lang="en-US" altLang="zh-CN" sz="3200" b="1" dirty="0">
                <a:effectLst>
                  <a:outerShdw blurRad="38100" dist="38100" dir="2700000" algn="tl">
                    <a:srgbClr val="C0C0C0"/>
                  </a:outerShdw>
                </a:effectLst>
              </a:rPr>
              <a:t>X</a:t>
            </a:r>
            <a:r>
              <a:rPr lang="en-US" altLang="zh-CN" sz="3200" b="1" baseline="-25000" dirty="0">
                <a:effectLst>
                  <a:outerShdw blurRad="38100" dist="38100" dir="2700000" algn="tl">
                    <a:srgbClr val="C0C0C0"/>
                  </a:outerShdw>
                </a:effectLst>
              </a:rPr>
              <a:t>1</a:t>
            </a:r>
            <a:r>
              <a:rPr lang="en-US" altLang="zh-CN" sz="3200" b="1" dirty="0">
                <a:effectLst>
                  <a:outerShdw blurRad="38100" dist="38100" dir="2700000" algn="tl">
                    <a:srgbClr val="C0C0C0"/>
                  </a:outerShdw>
                </a:effectLst>
              </a:rPr>
              <a:t>……</a:t>
            </a:r>
            <a:r>
              <a:rPr lang="en-US" altLang="zh-CN" sz="3200" b="1" dirty="0" err="1">
                <a:effectLst>
                  <a:outerShdw blurRad="38100" dist="38100" dir="2700000" algn="tl">
                    <a:srgbClr val="C0C0C0"/>
                  </a:outerShdw>
                </a:effectLst>
              </a:rPr>
              <a:t>X</a:t>
            </a:r>
            <a:r>
              <a:rPr lang="en-US" altLang="zh-CN" sz="3200" b="1" baseline="-25000" dirty="0" err="1">
                <a:effectLst>
                  <a:outerShdw blurRad="38100" dist="38100" dir="2700000" algn="tl">
                    <a:srgbClr val="C0C0C0"/>
                  </a:outerShdw>
                </a:effectLst>
              </a:rPr>
              <a:t>n</a:t>
            </a:r>
            <a:r>
              <a:rPr lang="zh-CN" altLang="en-US" sz="3200" b="1" dirty="0">
                <a:effectLst>
                  <a:outerShdw blurRad="38100" dist="38100" dir="2700000" algn="tl">
                    <a:srgbClr val="C0C0C0"/>
                  </a:outerShdw>
                </a:effectLst>
              </a:rPr>
              <a:t>则 </a:t>
            </a:r>
            <a:r>
              <a:rPr lang="en-US" altLang="zh-CN" sz="3200" b="1" dirty="0">
                <a:effectLst>
                  <a:outerShdw blurRad="38100" dist="38100" dir="2700000" algn="tl">
                    <a:srgbClr val="C0C0C0"/>
                  </a:outerShdw>
                </a:effectLst>
              </a:rPr>
              <a:t>:</a:t>
            </a:r>
          </a:p>
        </p:txBody>
      </p:sp>
      <p:grpSp>
        <p:nvGrpSpPr>
          <p:cNvPr id="39948" name="Group 12"/>
          <p:cNvGrpSpPr/>
          <p:nvPr/>
        </p:nvGrpSpPr>
        <p:grpSpPr bwMode="auto">
          <a:xfrm>
            <a:off x="1117600" y="1600200"/>
            <a:ext cx="6432550" cy="1387475"/>
            <a:chOff x="481" y="883"/>
            <a:chExt cx="4052" cy="874"/>
          </a:xfrm>
        </p:grpSpPr>
        <p:sp>
          <p:nvSpPr>
            <p:cNvPr id="64523" name="AutoShape 3"/>
            <p:cNvSpPr/>
            <p:nvPr/>
          </p:nvSpPr>
          <p:spPr bwMode="auto">
            <a:xfrm>
              <a:off x="1009" y="1031"/>
              <a:ext cx="192" cy="624"/>
            </a:xfrm>
            <a:prstGeom prst="leftBrace">
              <a:avLst>
                <a:gd name="adj1" fmla="val 27083"/>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9940" name="Rectangle 4"/>
            <p:cNvSpPr>
              <a:spLocks noChangeArrowheads="1"/>
            </p:cNvSpPr>
            <p:nvPr/>
          </p:nvSpPr>
          <p:spPr bwMode="auto">
            <a:xfrm>
              <a:off x="1338" y="883"/>
              <a:ext cx="296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                           2</a:t>
              </a:r>
              <a:r>
                <a:rPr lang="en-US" altLang="zh-CN" sz="3200" b="1" baseline="30000">
                  <a:effectLst>
                    <a:outerShdw blurRad="38100" dist="38100" dir="2700000" algn="tl">
                      <a:srgbClr val="C0C0C0"/>
                    </a:outerShdw>
                  </a:effectLst>
                </a:rPr>
                <a:t>n</a:t>
              </a:r>
              <a:r>
                <a:rPr lang="en-US" altLang="zh-CN" sz="3200" b="1">
                  <a:effectLst>
                    <a:outerShdw blurRad="38100" dist="38100" dir="2700000" algn="tl">
                      <a:srgbClr val="C0C0C0"/>
                    </a:outerShdw>
                  </a:effectLst>
                </a:rPr>
                <a:t>&gt;X≥0</a:t>
              </a:r>
            </a:p>
          </p:txBody>
        </p:sp>
        <p:sp>
          <p:nvSpPr>
            <p:cNvPr id="39941" name="Rectangle 5"/>
            <p:cNvSpPr>
              <a:spLocks noChangeArrowheads="1"/>
            </p:cNvSpPr>
            <p:nvPr/>
          </p:nvSpPr>
          <p:spPr bwMode="auto">
            <a:xfrm>
              <a:off x="481" y="1138"/>
              <a:ext cx="6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a:t>
              </a:r>
              <a:r>
                <a:rPr lang="zh-CN" altLang="en-US" sz="3200" b="1" baseline="-25000">
                  <a:effectLst>
                    <a:outerShdw blurRad="38100" dist="38100" dir="2700000" algn="tl">
                      <a:srgbClr val="C0C0C0"/>
                    </a:outerShdw>
                  </a:effectLst>
                </a:rPr>
                <a:t>反</a:t>
              </a:r>
              <a:r>
                <a:rPr lang="en-US" altLang="zh-CN" sz="3200" b="1">
                  <a:effectLst>
                    <a:outerShdw blurRad="38100" dist="38100" dir="2700000" algn="tl">
                      <a:srgbClr val="C0C0C0"/>
                    </a:outerShdw>
                  </a:effectLst>
                </a:rPr>
                <a:t>=</a:t>
              </a:r>
            </a:p>
          </p:txBody>
        </p:sp>
        <p:sp>
          <p:nvSpPr>
            <p:cNvPr id="39942" name="Rectangle 6"/>
            <p:cNvSpPr>
              <a:spLocks noChangeArrowheads="1"/>
            </p:cNvSpPr>
            <p:nvPr/>
          </p:nvSpPr>
          <p:spPr bwMode="auto">
            <a:xfrm>
              <a:off x="1249" y="1392"/>
              <a:ext cx="32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( 2</a:t>
              </a:r>
              <a:r>
                <a:rPr lang="en-US" altLang="zh-CN" sz="3200" b="1" baseline="30000">
                  <a:effectLst>
                    <a:outerShdw blurRad="38100" dist="38100" dir="2700000" algn="tl">
                      <a:srgbClr val="C0C0C0"/>
                    </a:outerShdw>
                  </a:effectLst>
                </a:rPr>
                <a:t>n+1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       0≥X&gt;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p>
          </p:txBody>
        </p:sp>
      </p:grpSp>
      <p:sp>
        <p:nvSpPr>
          <p:cNvPr id="39943" name="Rectangle 7"/>
          <p:cNvSpPr>
            <a:spLocks noChangeArrowheads="1"/>
          </p:cNvSpPr>
          <p:nvPr/>
        </p:nvSpPr>
        <p:spPr bwMode="auto">
          <a:xfrm>
            <a:off x="311150" y="3230563"/>
            <a:ext cx="81359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10101</a:t>
            </a:r>
            <a:r>
              <a:rPr lang="zh-CN" altLang="en-US" sz="3200" b="1">
                <a:effectLst>
                  <a:outerShdw blurRad="38100" dist="38100" dir="2700000" algn="tl">
                    <a:srgbClr val="C0C0C0"/>
                  </a:outerShdw>
                </a:effectLst>
              </a:rPr>
              <a:t>的反码为</a:t>
            </a:r>
            <a:r>
              <a:rPr lang="en-US" altLang="zh-CN" sz="3200" b="1">
                <a:effectLst>
                  <a:outerShdw blurRad="38100" dist="38100" dir="2700000" algn="tl">
                    <a:srgbClr val="C0C0C0"/>
                  </a:outerShdw>
                </a:effectLst>
              </a:rPr>
              <a:t>1000000-1-10101=101010</a:t>
            </a:r>
          </a:p>
        </p:txBody>
      </p:sp>
      <p:grpSp>
        <p:nvGrpSpPr>
          <p:cNvPr id="39949" name="Group 13"/>
          <p:cNvGrpSpPr/>
          <p:nvPr/>
        </p:nvGrpSpPr>
        <p:grpSpPr bwMode="auto">
          <a:xfrm>
            <a:off x="2843213" y="3933825"/>
            <a:ext cx="2624137" cy="2528888"/>
            <a:chOff x="1899" y="2487"/>
            <a:chExt cx="1653" cy="1593"/>
          </a:xfrm>
        </p:grpSpPr>
        <p:sp>
          <p:nvSpPr>
            <p:cNvPr id="39945" name="Rectangle 9"/>
            <p:cNvSpPr>
              <a:spLocks noChangeArrowheads="1"/>
            </p:cNvSpPr>
            <p:nvPr/>
          </p:nvSpPr>
          <p:spPr bwMode="auto">
            <a:xfrm>
              <a:off x="1965" y="2487"/>
              <a:ext cx="1587" cy="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dirty="0">
                  <a:effectLst>
                    <a:outerShdw blurRad="38100" dist="38100" dir="2700000" algn="tl">
                      <a:srgbClr val="C0C0C0"/>
                    </a:outerShdw>
                  </a:effectLst>
                </a:rPr>
                <a:t>    1000000</a:t>
              </a:r>
            </a:p>
            <a:p>
              <a:pPr eaLnBrk="1" hangingPunct="1">
                <a:buFontTx/>
                <a:buChar char="-"/>
                <a:defRPr/>
              </a:pPr>
              <a:r>
                <a:rPr lang="en-US" altLang="zh-CN" sz="3200" b="1" dirty="0">
                  <a:effectLst>
                    <a:outerShdw blurRad="38100" dist="38100" dir="2700000" algn="tl">
                      <a:srgbClr val="C0C0C0"/>
                    </a:outerShdw>
                  </a:effectLst>
                </a:rPr>
                <a:t>               1</a:t>
              </a:r>
            </a:p>
            <a:p>
              <a:pPr eaLnBrk="1" hangingPunct="1">
                <a:defRPr/>
              </a:pPr>
              <a:r>
                <a:rPr lang="en-US" altLang="zh-CN" sz="3200" b="1" dirty="0">
                  <a:effectLst>
                    <a:outerShdw blurRad="38100" dist="38100" dir="2700000" algn="tl">
                      <a:srgbClr val="C0C0C0"/>
                    </a:outerShdw>
                  </a:effectLst>
                </a:rPr>
                <a:t>      111111</a:t>
              </a:r>
            </a:p>
            <a:p>
              <a:pPr eaLnBrk="1" hangingPunct="1">
                <a:buFontTx/>
                <a:buChar char="-"/>
                <a:defRPr/>
              </a:pPr>
              <a:r>
                <a:rPr lang="en-US" altLang="zh-CN" sz="3200" b="1" dirty="0">
                  <a:effectLst>
                    <a:outerShdw blurRad="38100" dist="38100" dir="2700000" algn="tl">
                      <a:srgbClr val="C0C0C0"/>
                    </a:outerShdw>
                  </a:effectLst>
                </a:rPr>
                <a:t>       10101</a:t>
              </a:r>
            </a:p>
            <a:p>
              <a:pPr eaLnBrk="1" hangingPunct="1">
                <a:defRPr/>
              </a:pPr>
              <a:r>
                <a:rPr lang="en-US" altLang="zh-CN" sz="3200" b="1" dirty="0">
                  <a:effectLst>
                    <a:outerShdw blurRad="38100" dist="38100" dir="2700000" algn="tl">
                      <a:srgbClr val="C0C0C0"/>
                    </a:outerShdw>
                  </a:effectLst>
                </a:rPr>
                <a:t>      101010 </a:t>
              </a:r>
            </a:p>
          </p:txBody>
        </p:sp>
        <p:sp>
          <p:nvSpPr>
            <p:cNvPr id="64521" name="Line 10"/>
            <p:cNvSpPr>
              <a:spLocks noChangeShapeType="1"/>
            </p:cNvSpPr>
            <p:nvPr/>
          </p:nvSpPr>
          <p:spPr bwMode="auto">
            <a:xfrm>
              <a:off x="1995" y="3167"/>
              <a:ext cx="1269"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522" name="Line 11"/>
            <p:cNvSpPr>
              <a:spLocks noChangeShapeType="1"/>
            </p:cNvSpPr>
            <p:nvPr/>
          </p:nvSpPr>
          <p:spPr bwMode="auto">
            <a:xfrm>
              <a:off x="1899" y="3757"/>
              <a:ext cx="136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9950" name="Rectangle 14"/>
          <p:cNvSpPr>
            <a:spLocks noChangeArrowheads="1"/>
          </p:cNvSpPr>
          <p:nvPr/>
        </p:nvSpPr>
        <p:spPr bwMode="auto">
          <a:xfrm>
            <a:off x="304800" y="258763"/>
            <a:ext cx="3040063"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反码的一般表示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948"/>
                                        </p:tgtEl>
                                        <p:attrNameLst>
                                          <p:attrName>style.visibility</p:attrName>
                                        </p:attrNameLst>
                                      </p:cBhvr>
                                      <p:to>
                                        <p:strVal val="visible"/>
                                      </p:to>
                                    </p:set>
                                    <p:animEffect transition="in" filter="dissolve">
                                      <p:cBhvr>
                                        <p:cTn id="12" dur="500"/>
                                        <p:tgtEl>
                                          <p:spTgt spid="399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wipe(left)">
                                      <p:cBhvr>
                                        <p:cTn id="17" dur="500"/>
                                        <p:tgtEl>
                                          <p:spTgt spid="399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9949"/>
                                        </p:tgtEl>
                                        <p:attrNameLst>
                                          <p:attrName>style.visibility</p:attrName>
                                        </p:attrNameLst>
                                      </p:cBhvr>
                                      <p:to>
                                        <p:strVal val="visible"/>
                                      </p:to>
                                    </p:set>
                                    <p:animEffect transition="in" filter="dissolve">
                                      <p:cBhvr>
                                        <p:cTn id="22" dur="500"/>
                                        <p:tgtEl>
                                          <p:spTgt spid="39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autoUpdateAnimBg="0"/>
      <p:bldP spid="39943"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F1DE113-E729-42B8-88D4-8B31E8D87E0A}" type="slidenum">
              <a:rPr lang="en-US" altLang="zh-CN" sz="1400" smtClean="0"/>
              <a:t>26</a:t>
            </a:fld>
            <a:endParaRPr lang="en-US" altLang="zh-CN" sz="1400"/>
          </a:p>
        </p:txBody>
      </p:sp>
      <p:grpSp>
        <p:nvGrpSpPr>
          <p:cNvPr id="40962" name="Group 2"/>
          <p:cNvGrpSpPr/>
          <p:nvPr/>
        </p:nvGrpSpPr>
        <p:grpSpPr bwMode="auto">
          <a:xfrm>
            <a:off x="1277938" y="1243013"/>
            <a:ext cx="6265862" cy="1722437"/>
            <a:chOff x="192" y="2555"/>
            <a:chExt cx="3947" cy="1085"/>
          </a:xfrm>
        </p:grpSpPr>
        <p:sp>
          <p:nvSpPr>
            <p:cNvPr id="66570" name="AutoShape 3"/>
            <p:cNvSpPr/>
            <p:nvPr/>
          </p:nvSpPr>
          <p:spPr bwMode="auto">
            <a:xfrm>
              <a:off x="816" y="2736"/>
              <a:ext cx="192" cy="768"/>
            </a:xfrm>
            <a:prstGeom prst="leftBrace">
              <a:avLst>
                <a:gd name="adj1" fmla="val 33333"/>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0964" name="Rectangle 4"/>
            <p:cNvSpPr>
              <a:spLocks noChangeArrowheads="1"/>
            </p:cNvSpPr>
            <p:nvPr/>
          </p:nvSpPr>
          <p:spPr bwMode="auto">
            <a:xfrm>
              <a:off x="1056" y="2555"/>
              <a:ext cx="236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                   1&gt;X≥0</a:t>
              </a:r>
            </a:p>
          </p:txBody>
        </p:sp>
        <p:sp>
          <p:nvSpPr>
            <p:cNvPr id="40965" name="Rectangle 5"/>
            <p:cNvSpPr>
              <a:spLocks noChangeArrowheads="1"/>
            </p:cNvSpPr>
            <p:nvPr/>
          </p:nvSpPr>
          <p:spPr bwMode="auto">
            <a:xfrm>
              <a:off x="192" y="2939"/>
              <a:ext cx="6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a:t>
              </a:r>
              <a:r>
                <a:rPr lang="zh-CN" altLang="en-US" sz="3200" b="1" baseline="-25000">
                  <a:effectLst>
                    <a:outerShdw blurRad="38100" dist="38100" dir="2700000" algn="tl">
                      <a:srgbClr val="C0C0C0"/>
                    </a:outerShdw>
                  </a:effectLst>
                </a:rPr>
                <a:t>反</a:t>
              </a:r>
              <a:r>
                <a:rPr lang="en-US" altLang="zh-CN" sz="3200" b="1">
                  <a:effectLst>
                    <a:outerShdw blurRad="38100" dist="38100" dir="2700000" algn="tl">
                      <a:srgbClr val="C0C0C0"/>
                    </a:outerShdw>
                  </a:effectLst>
                </a:rPr>
                <a:t>=</a:t>
              </a:r>
            </a:p>
          </p:txBody>
        </p:sp>
        <p:sp>
          <p:nvSpPr>
            <p:cNvPr id="40966" name="Rectangle 6"/>
            <p:cNvSpPr>
              <a:spLocks noChangeArrowheads="1"/>
            </p:cNvSpPr>
            <p:nvPr/>
          </p:nvSpPr>
          <p:spPr bwMode="auto">
            <a:xfrm>
              <a:off x="1008" y="3275"/>
              <a:ext cx="313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( 2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2</a:t>
              </a:r>
              <a:r>
                <a:rPr lang="en-US" altLang="zh-CN" sz="3200" b="1" baseline="30000">
                  <a:effectLst>
                    <a:outerShdw blurRad="38100" dist="38100" dir="2700000" algn="tl">
                      <a:srgbClr val="C0C0C0"/>
                    </a:outerShdw>
                  </a:effectLst>
                </a:rPr>
                <a:t>-n</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        0≥X&gt;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a:t>
              </a:r>
            </a:p>
          </p:txBody>
        </p:sp>
      </p:grpSp>
      <p:sp>
        <p:nvSpPr>
          <p:cNvPr id="40967" name="Rectangle 7"/>
          <p:cNvSpPr>
            <a:spLocks noChangeArrowheads="1"/>
          </p:cNvSpPr>
          <p:nvPr/>
        </p:nvSpPr>
        <p:spPr bwMode="auto">
          <a:xfrm>
            <a:off x="476250" y="506413"/>
            <a:ext cx="7318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(2) </a:t>
            </a:r>
            <a:r>
              <a:rPr lang="zh-CN" altLang="en-US" b="1"/>
              <a:t>若二进制小数序列为</a:t>
            </a:r>
            <a:r>
              <a:rPr lang="en-US" altLang="zh-CN" b="1"/>
              <a:t>:X</a:t>
            </a:r>
            <a:r>
              <a:rPr lang="en-US" altLang="zh-CN" b="1" baseline="-25000"/>
              <a:t>0</a:t>
            </a:r>
            <a:r>
              <a:rPr lang="en-US" altLang="zh-CN" b="1"/>
              <a:t>.X</a:t>
            </a:r>
            <a:r>
              <a:rPr lang="en-US" altLang="zh-CN" b="1" baseline="-25000"/>
              <a:t>1</a:t>
            </a:r>
            <a:r>
              <a:rPr lang="en-US" altLang="zh-CN" b="1"/>
              <a:t>……X</a:t>
            </a:r>
            <a:r>
              <a:rPr lang="en-US" altLang="zh-CN" b="1" baseline="-25000"/>
              <a:t>n</a:t>
            </a:r>
            <a:r>
              <a:rPr lang="zh-CN" altLang="en-US" b="1"/>
              <a:t>则</a:t>
            </a:r>
            <a:r>
              <a:rPr lang="en-US" altLang="zh-CN" b="1"/>
              <a:t>:</a:t>
            </a:r>
          </a:p>
        </p:txBody>
      </p:sp>
      <p:sp>
        <p:nvSpPr>
          <p:cNvPr id="40968" name="Rectangle 8"/>
          <p:cNvSpPr>
            <a:spLocks noChangeArrowheads="1"/>
          </p:cNvSpPr>
          <p:nvPr/>
        </p:nvSpPr>
        <p:spPr bwMode="auto">
          <a:xfrm>
            <a:off x="476250" y="3330575"/>
            <a:ext cx="7332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a:t>
            </a:r>
            <a:r>
              <a:rPr lang="zh-CN" altLang="en-US" sz="3200" b="1">
                <a:effectLst>
                  <a:outerShdw blurRad="38100" dist="38100" dir="2700000" algn="tl">
                    <a:srgbClr val="C0C0C0"/>
                  </a:outerShdw>
                </a:effectLst>
              </a:rPr>
              <a:t>的反码为</a:t>
            </a:r>
            <a:r>
              <a:rPr lang="en-US" altLang="zh-CN" sz="3200" b="1">
                <a:effectLst>
                  <a:outerShdw blurRad="38100" dist="38100" dir="2700000" algn="tl">
                    <a:srgbClr val="C0C0C0"/>
                  </a:outerShdw>
                </a:effectLst>
              </a:rPr>
              <a:t>10-0.001-0.101=1.010</a:t>
            </a:r>
          </a:p>
        </p:txBody>
      </p:sp>
      <p:grpSp>
        <p:nvGrpSpPr>
          <p:cNvPr id="40969" name="Group 9"/>
          <p:cNvGrpSpPr/>
          <p:nvPr/>
        </p:nvGrpSpPr>
        <p:grpSpPr bwMode="auto">
          <a:xfrm>
            <a:off x="3135313" y="4024313"/>
            <a:ext cx="2808287" cy="2528887"/>
            <a:chOff x="249" y="2387"/>
            <a:chExt cx="1769" cy="1593"/>
          </a:xfrm>
        </p:grpSpPr>
        <p:sp>
          <p:nvSpPr>
            <p:cNvPr id="40970" name="Rectangle 10"/>
            <p:cNvSpPr>
              <a:spLocks noChangeArrowheads="1"/>
            </p:cNvSpPr>
            <p:nvPr/>
          </p:nvSpPr>
          <p:spPr bwMode="auto">
            <a:xfrm>
              <a:off x="340" y="2387"/>
              <a:ext cx="1678" cy="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10</a:t>
              </a:r>
            </a:p>
            <a:p>
              <a:pPr eaLnBrk="1" hangingPunct="1">
                <a:buFontTx/>
                <a:buChar char="-"/>
                <a:defRPr/>
              </a:pPr>
              <a:r>
                <a:rPr lang="en-US" altLang="zh-CN" sz="3200" b="1">
                  <a:effectLst>
                    <a:outerShdw blurRad="38100" dist="38100" dir="2700000" algn="tl">
                      <a:srgbClr val="C0C0C0"/>
                    </a:outerShdw>
                  </a:effectLst>
                </a:rPr>
                <a:t>    0.001</a:t>
              </a:r>
            </a:p>
            <a:p>
              <a:pPr eaLnBrk="1" hangingPunct="1">
                <a:defRPr/>
              </a:pPr>
              <a:r>
                <a:rPr lang="en-US" altLang="zh-CN" sz="3200" b="1">
                  <a:effectLst>
                    <a:outerShdw blurRad="38100" dist="38100" dir="2700000" algn="tl">
                      <a:srgbClr val="C0C0C0"/>
                    </a:outerShdw>
                  </a:effectLst>
                </a:rPr>
                <a:t>     1.111</a:t>
              </a:r>
            </a:p>
            <a:p>
              <a:pPr eaLnBrk="1" hangingPunct="1">
                <a:buFontTx/>
                <a:buChar char="-"/>
                <a:defRPr/>
              </a:pPr>
              <a:r>
                <a:rPr lang="en-US" altLang="zh-CN" sz="3200" b="1">
                  <a:effectLst>
                    <a:outerShdw blurRad="38100" dist="38100" dir="2700000" algn="tl">
                      <a:srgbClr val="C0C0C0"/>
                    </a:outerShdw>
                  </a:effectLst>
                </a:rPr>
                <a:t>    0.101</a:t>
              </a:r>
            </a:p>
            <a:p>
              <a:pPr eaLnBrk="1" hangingPunct="1">
                <a:defRPr/>
              </a:pPr>
              <a:r>
                <a:rPr lang="en-US" altLang="zh-CN" sz="3200" b="1">
                  <a:effectLst>
                    <a:outerShdw blurRad="38100" dist="38100" dir="2700000" algn="tl">
                      <a:srgbClr val="C0C0C0"/>
                    </a:outerShdw>
                  </a:effectLst>
                </a:rPr>
                <a:t>     1.010</a:t>
              </a:r>
            </a:p>
          </p:txBody>
        </p:sp>
        <p:sp>
          <p:nvSpPr>
            <p:cNvPr id="66568" name="Line 11"/>
            <p:cNvSpPr>
              <a:spLocks noChangeShapeType="1"/>
            </p:cNvSpPr>
            <p:nvPr/>
          </p:nvSpPr>
          <p:spPr bwMode="auto">
            <a:xfrm>
              <a:off x="295" y="3067"/>
              <a:ext cx="127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569" name="Line 12"/>
            <p:cNvSpPr>
              <a:spLocks noChangeShapeType="1"/>
            </p:cNvSpPr>
            <p:nvPr/>
          </p:nvSpPr>
          <p:spPr bwMode="auto">
            <a:xfrm>
              <a:off x="249" y="3657"/>
              <a:ext cx="127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dissolve">
                                      <p:cBhvr>
                                        <p:cTn id="7" dur="500"/>
                                        <p:tgtEl>
                                          <p:spTgt spid="409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8"/>
                                        </p:tgtEl>
                                        <p:attrNameLst>
                                          <p:attrName>style.visibility</p:attrName>
                                        </p:attrNameLst>
                                      </p:cBhvr>
                                      <p:to>
                                        <p:strVal val="visible"/>
                                      </p:to>
                                    </p:set>
                                    <p:animEffect transition="in" filter="wipe(left)">
                                      <p:cBhvr>
                                        <p:cTn id="12" dur="500"/>
                                        <p:tgtEl>
                                          <p:spTgt spid="409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969"/>
                                        </p:tgtEl>
                                        <p:attrNameLst>
                                          <p:attrName>style.visibility</p:attrName>
                                        </p:attrNameLst>
                                      </p:cBhvr>
                                      <p:to>
                                        <p:strVal val="visible"/>
                                      </p:to>
                                    </p:set>
                                    <p:animEffect transition="in" filter="dissolve">
                                      <p:cBhvr>
                                        <p:cTn id="17" dur="500"/>
                                        <p:tgtEl>
                                          <p:spTgt spid="40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8"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DE4BEF3-45EB-4703-9B7D-32D899AD477A}" type="slidenum">
              <a:rPr lang="en-US" altLang="zh-CN" sz="1400" smtClean="0"/>
              <a:t>27</a:t>
            </a:fld>
            <a:endParaRPr lang="en-US" altLang="zh-CN" sz="1400"/>
          </a:p>
        </p:txBody>
      </p:sp>
      <p:sp>
        <p:nvSpPr>
          <p:cNvPr id="63490" name="Rectangle 2"/>
          <p:cNvSpPr>
            <a:spLocks noChangeArrowheads="1"/>
          </p:cNvSpPr>
          <p:nvPr/>
        </p:nvSpPr>
        <p:spPr bwMode="auto">
          <a:xfrm>
            <a:off x="228600" y="411163"/>
            <a:ext cx="2224088"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反码的性质</a:t>
            </a:r>
          </a:p>
        </p:txBody>
      </p:sp>
      <p:sp>
        <p:nvSpPr>
          <p:cNvPr id="63491" name="Rectangle 3"/>
          <p:cNvSpPr>
            <a:spLocks noChangeArrowheads="1"/>
          </p:cNvSpPr>
          <p:nvPr/>
        </p:nvSpPr>
        <p:spPr bwMode="auto">
          <a:xfrm>
            <a:off x="228600" y="1181100"/>
            <a:ext cx="87630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buFontTx/>
              <a:buAutoNum type="arabicParenBoth"/>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正数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的反码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反</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与原码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25000">
                <a:effectLst>
                  <a:outerShdw blurRad="38100" dist="38100" dir="2700000" algn="tl">
                    <a:srgbClr val="C0C0C0"/>
                  </a:outerShdw>
                </a:effectLst>
                <a:latin typeface="黑体" panose="02010609060101010101" pitchFamily="49" charset="-122"/>
                <a:ea typeface="黑体" panose="02010609060101010101" pitchFamily="49" charset="-122"/>
              </a:rPr>
              <a:t>原</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相同。</a:t>
            </a:r>
          </a:p>
        </p:txBody>
      </p:sp>
      <p:sp>
        <p:nvSpPr>
          <p:cNvPr id="63492" name="Rectangle 4"/>
          <p:cNvSpPr>
            <a:spLocks noChangeArrowheads="1"/>
          </p:cNvSpPr>
          <p:nvPr/>
        </p:nvSpPr>
        <p:spPr bwMode="auto">
          <a:xfrm>
            <a:off x="228600" y="1981200"/>
            <a:ext cx="87630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负数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的反码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反</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的符号位为</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，数值部分按位取反。</a:t>
            </a:r>
          </a:p>
        </p:txBody>
      </p:sp>
      <p:sp>
        <p:nvSpPr>
          <p:cNvPr id="63493" name="Rectangle 5"/>
          <p:cNvSpPr>
            <a:spLocks noChangeArrowheads="1"/>
          </p:cNvSpPr>
          <p:nvPr/>
        </p:nvSpPr>
        <p:spPr bwMode="auto">
          <a:xfrm>
            <a:off x="260350" y="3276600"/>
            <a:ext cx="86868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在反码表示中，</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的表示有两种不同形式。</a:t>
            </a:r>
          </a:p>
        </p:txBody>
      </p:sp>
      <p:sp>
        <p:nvSpPr>
          <p:cNvPr id="63494" name="Rectangle 6"/>
          <p:cNvSpPr>
            <a:spLocks noChangeArrowheads="1"/>
          </p:cNvSpPr>
          <p:nvPr/>
        </p:nvSpPr>
        <p:spPr bwMode="auto">
          <a:xfrm>
            <a:off x="381000" y="4038600"/>
            <a:ext cx="7456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latin typeface="宋体" panose="02010600030101010101" pitchFamily="2" charset="-122"/>
              </a:rPr>
              <a:t>即</a:t>
            </a:r>
            <a:r>
              <a:rPr lang="en-US" altLang="zh-CN" sz="3200" b="1">
                <a:effectLst>
                  <a:outerShdw blurRad="38100" dist="38100" dir="2700000" algn="tl">
                    <a:srgbClr val="C0C0C0"/>
                  </a:outerShdw>
                </a:effectLst>
                <a:latin typeface="宋体" panose="02010600030101010101" pitchFamily="2" charset="-122"/>
              </a:rPr>
              <a:t>:</a:t>
            </a:r>
            <a:r>
              <a:rPr lang="zh-CN" altLang="en-US" sz="3200" b="1">
                <a:effectLst>
                  <a:outerShdw blurRad="38100" dist="38100" dir="2700000" algn="tl">
                    <a:srgbClr val="C0C0C0"/>
                  </a:outerShdw>
                </a:effectLst>
                <a:latin typeface="宋体" panose="02010600030101010101" pitchFamily="2" charset="-122"/>
              </a:rPr>
              <a:t>＋</a:t>
            </a:r>
            <a:r>
              <a:rPr lang="en-US" altLang="zh-CN" sz="3200" b="1">
                <a:effectLst>
                  <a:outerShdw blurRad="38100" dist="38100" dir="2700000" algn="tl">
                    <a:srgbClr val="C0C0C0"/>
                  </a:outerShdw>
                </a:effectLst>
                <a:latin typeface="宋体" panose="02010600030101010101" pitchFamily="2" charset="-122"/>
              </a:rPr>
              <a:t>0</a:t>
            </a:r>
            <a:r>
              <a:rPr lang="zh-CN" altLang="en-US" sz="3200" b="1" baseline="-25000">
                <a:effectLst>
                  <a:outerShdw blurRad="38100" dist="38100" dir="2700000" algn="tl">
                    <a:srgbClr val="C0C0C0"/>
                  </a:outerShdw>
                </a:effectLst>
                <a:latin typeface="宋体" panose="02010600030101010101" pitchFamily="2" charset="-122"/>
              </a:rPr>
              <a:t>反</a:t>
            </a:r>
            <a:r>
              <a:rPr lang="zh-CN" altLang="en-US" sz="3200" b="1">
                <a:effectLst>
                  <a:outerShdw blurRad="38100" dist="38100" dir="2700000" algn="tl">
                    <a:srgbClr val="C0C0C0"/>
                  </a:outerShdw>
                </a:effectLst>
                <a:latin typeface="宋体" panose="02010600030101010101" pitchFamily="2" charset="-122"/>
              </a:rPr>
              <a:t>＝</a:t>
            </a:r>
            <a:r>
              <a:rPr lang="en-US" altLang="zh-CN" sz="3200" b="1">
                <a:effectLst>
                  <a:outerShdw blurRad="38100" dist="38100" dir="2700000" algn="tl">
                    <a:srgbClr val="C0C0C0"/>
                  </a:outerShdw>
                </a:effectLst>
                <a:latin typeface="宋体" panose="02010600030101010101" pitchFamily="2" charset="-122"/>
              </a:rPr>
              <a:t>0.00</a:t>
            </a:r>
            <a:r>
              <a:rPr lang="en-US" altLang="zh-CN" sz="3200" b="1">
                <a:effectLst>
                  <a:outerShdw blurRad="38100" dist="38100" dir="2700000" algn="tl">
                    <a:srgbClr val="C0C0C0"/>
                  </a:outerShdw>
                </a:effectLst>
                <a:latin typeface="Times New Roman" panose="02020603050405020304"/>
              </a:rPr>
              <a:t>……</a:t>
            </a:r>
            <a:r>
              <a:rPr lang="en-US" altLang="zh-CN" sz="3200" b="1">
                <a:effectLst>
                  <a:outerShdw blurRad="38100" dist="38100" dir="2700000" algn="tl">
                    <a:srgbClr val="C0C0C0"/>
                  </a:outerShdw>
                </a:effectLst>
                <a:latin typeface="宋体" panose="02010600030101010101" pitchFamily="2" charset="-122"/>
              </a:rPr>
              <a:t>0</a:t>
            </a:r>
            <a:r>
              <a:rPr lang="zh-CN" altLang="en-US" sz="3200" b="1">
                <a:effectLst>
                  <a:outerShdw blurRad="38100" dist="38100" dir="2700000" algn="tl">
                    <a:srgbClr val="C0C0C0"/>
                  </a:outerShdw>
                </a:effectLst>
                <a:latin typeface="宋体" panose="02010600030101010101" pitchFamily="2" charset="-122"/>
              </a:rPr>
              <a:t>，－</a:t>
            </a:r>
            <a:r>
              <a:rPr lang="en-US" altLang="zh-CN" sz="3200" b="1">
                <a:effectLst>
                  <a:outerShdw blurRad="38100" dist="38100" dir="2700000" algn="tl">
                    <a:srgbClr val="C0C0C0"/>
                  </a:outerShdw>
                </a:effectLst>
                <a:latin typeface="宋体" panose="02010600030101010101" pitchFamily="2" charset="-122"/>
              </a:rPr>
              <a:t>0</a:t>
            </a:r>
            <a:r>
              <a:rPr lang="zh-CN" altLang="en-US" sz="3200" b="1" baseline="-25000">
                <a:effectLst>
                  <a:outerShdw blurRad="38100" dist="38100" dir="2700000" algn="tl">
                    <a:srgbClr val="C0C0C0"/>
                  </a:outerShdw>
                </a:effectLst>
                <a:latin typeface="宋体" panose="02010600030101010101" pitchFamily="2" charset="-122"/>
              </a:rPr>
              <a:t>反</a:t>
            </a:r>
            <a:r>
              <a:rPr lang="zh-CN" altLang="en-US" sz="3200" b="1">
                <a:effectLst>
                  <a:outerShdw blurRad="38100" dist="38100" dir="2700000" algn="tl">
                    <a:srgbClr val="C0C0C0"/>
                  </a:outerShdw>
                </a:effectLst>
                <a:latin typeface="宋体" panose="02010600030101010101" pitchFamily="2" charset="-122"/>
              </a:rPr>
              <a:t>＝</a:t>
            </a:r>
            <a:r>
              <a:rPr lang="en-US" altLang="zh-CN" sz="3200" b="1">
                <a:effectLst>
                  <a:outerShdw blurRad="38100" dist="38100" dir="2700000" algn="tl">
                    <a:srgbClr val="C0C0C0"/>
                  </a:outerShdw>
                </a:effectLst>
                <a:latin typeface="宋体" panose="02010600030101010101" pitchFamily="2" charset="-122"/>
              </a:rPr>
              <a:t>1.11</a:t>
            </a:r>
            <a:r>
              <a:rPr lang="en-US" altLang="zh-CN" sz="3200" b="1">
                <a:effectLst>
                  <a:outerShdw blurRad="38100" dist="38100" dir="2700000" algn="tl">
                    <a:srgbClr val="C0C0C0"/>
                  </a:outerShdw>
                </a:effectLst>
                <a:latin typeface="Times New Roman" panose="02020603050405020304"/>
              </a:rPr>
              <a:t>……</a:t>
            </a:r>
            <a:r>
              <a:rPr lang="en-US" altLang="zh-CN" sz="3200" b="1">
                <a:effectLst>
                  <a:outerShdw blurRad="38100" dist="38100" dir="2700000" algn="tl">
                    <a:srgbClr val="C0C0C0"/>
                  </a:outerShdw>
                </a:effectLst>
                <a:latin typeface="宋体" panose="02010600030101010101" pitchFamily="2" charset="-122"/>
              </a:rPr>
              <a:t>1</a:t>
            </a:r>
          </a:p>
        </p:txBody>
      </p:sp>
      <p:sp>
        <p:nvSpPr>
          <p:cNvPr id="63495" name="Rectangle 7"/>
          <p:cNvSpPr>
            <a:spLocks noChangeArrowheads="1"/>
          </p:cNvSpPr>
          <p:nvPr/>
        </p:nvSpPr>
        <p:spPr bwMode="auto">
          <a:xfrm>
            <a:off x="273050" y="4914900"/>
            <a:ext cx="86868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(4)</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反码就是除符号位外，用同样字长的全</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码减去该数的绝对值而得，所以</a:t>
            </a:r>
            <a:r>
              <a:rPr lang="zh-CN" altLang="en-US" sz="3200" dirty="0">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反码称为</a:t>
            </a:r>
            <a:r>
              <a:rPr lang="en-US" altLang="zh-CN" sz="3200" dirty="0">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dirty="0">
                <a:solidFill>
                  <a:schemeClr val="accent2"/>
                </a:solidFill>
                <a:effectLst>
                  <a:outerShdw blurRad="38100" dist="38100" dir="2700000" algn="tl">
                    <a:srgbClr val="C0C0C0"/>
                  </a:outerShdw>
                </a:effectLst>
                <a:latin typeface="黑体" panose="02010609060101010101" pitchFamily="49" charset="-122"/>
                <a:ea typeface="黑体" panose="02010609060101010101" pitchFamily="49" charset="-122"/>
              </a:rPr>
              <a:t>的补码</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box(in)">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box(in)">
                                      <p:cBhvr>
                                        <p:cTn id="12" dur="500"/>
                                        <p:tgtEl>
                                          <p:spTgt spid="6349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3493"/>
                                        </p:tgtEl>
                                        <p:attrNameLst>
                                          <p:attrName>style.visibility</p:attrName>
                                        </p:attrNameLst>
                                      </p:cBhvr>
                                      <p:to>
                                        <p:strVal val="visible"/>
                                      </p:to>
                                    </p:set>
                                    <p:animEffect transition="in" filter="box(in)">
                                      <p:cBhvr>
                                        <p:cTn id="17" dur="500"/>
                                        <p:tgtEl>
                                          <p:spTgt spid="634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4"/>
                                        </p:tgtEl>
                                        <p:attrNameLst>
                                          <p:attrName>style.visibility</p:attrName>
                                        </p:attrNameLst>
                                      </p:cBhvr>
                                      <p:to>
                                        <p:strVal val="visible"/>
                                      </p:to>
                                    </p:set>
                                    <p:animEffect transition="in" filter="wipe(left)">
                                      <p:cBhvr>
                                        <p:cTn id="22" dur="500"/>
                                        <p:tgtEl>
                                          <p:spTgt spid="634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3495"/>
                                        </p:tgtEl>
                                        <p:attrNameLst>
                                          <p:attrName>style.visibility</p:attrName>
                                        </p:attrNameLst>
                                      </p:cBhvr>
                                      <p:to>
                                        <p:strVal val="visible"/>
                                      </p:to>
                                    </p:set>
                                    <p:animEffect transition="in" filter="box(in)">
                                      <p:cBhvr>
                                        <p:cTn id="27" dur="5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ldLvl="0" animBg="1" autoUpdateAnimBg="0"/>
      <p:bldP spid="63492" grpId="0" bldLvl="0" animBg="1" autoUpdateAnimBg="0"/>
      <p:bldP spid="63493" grpId="0" bldLvl="0" animBg="1" autoUpdateAnimBg="0"/>
      <p:bldP spid="63494" grpId="0" bldLvl="0" animBg="1" autoUpdateAnimBg="0"/>
      <p:bldP spid="63495"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BB84202-0056-449C-93D5-AC0A060813ED}" type="slidenum">
              <a:rPr lang="en-US" altLang="zh-CN" sz="1400" smtClean="0"/>
              <a:t>28</a:t>
            </a:fld>
            <a:endParaRPr lang="en-US" altLang="zh-CN" sz="1400"/>
          </a:p>
        </p:txBody>
      </p:sp>
      <p:sp>
        <p:nvSpPr>
          <p:cNvPr id="43010" name="Rectangle 2"/>
          <p:cNvSpPr>
            <a:spLocks noChangeArrowheads="1"/>
          </p:cNvSpPr>
          <p:nvPr/>
        </p:nvSpPr>
        <p:spPr bwMode="auto">
          <a:xfrm>
            <a:off x="665163" y="1412875"/>
            <a:ext cx="6553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dirty="0">
                <a:effectLst>
                  <a:outerShdw blurRad="38100" dist="38100" dir="2700000" algn="tl">
                    <a:srgbClr val="C0C0C0"/>
                  </a:outerShdw>
                </a:effectLst>
              </a:rPr>
              <a:t>例：求原码</a:t>
            </a:r>
            <a:r>
              <a:rPr lang="en-US" altLang="zh-CN" sz="3200" b="1" dirty="0">
                <a:effectLst>
                  <a:outerShdw blurRad="38100" dist="38100" dir="2700000" algn="tl">
                    <a:srgbClr val="C0C0C0"/>
                  </a:outerShdw>
                </a:effectLst>
              </a:rPr>
              <a:t>11101100</a:t>
            </a:r>
            <a:r>
              <a:rPr lang="zh-CN" altLang="en-US" sz="3200" b="1" dirty="0">
                <a:effectLst>
                  <a:outerShdw blurRad="38100" dist="38100" dir="2700000" algn="tl">
                    <a:srgbClr val="C0C0C0"/>
                  </a:outerShdw>
                </a:effectLst>
              </a:rPr>
              <a:t>的反码。</a:t>
            </a:r>
          </a:p>
        </p:txBody>
      </p:sp>
      <p:grpSp>
        <p:nvGrpSpPr>
          <p:cNvPr id="43011" name="Group 3"/>
          <p:cNvGrpSpPr/>
          <p:nvPr/>
        </p:nvGrpSpPr>
        <p:grpSpPr bwMode="auto">
          <a:xfrm>
            <a:off x="3133725" y="2276475"/>
            <a:ext cx="6010275" cy="1570038"/>
            <a:chOff x="703" y="1434"/>
            <a:chExt cx="4218" cy="989"/>
          </a:xfrm>
        </p:grpSpPr>
        <p:sp>
          <p:nvSpPr>
            <p:cNvPr id="43012" name="Rectangle 4"/>
            <p:cNvSpPr>
              <a:spLocks noChangeArrowheads="1"/>
            </p:cNvSpPr>
            <p:nvPr/>
          </p:nvSpPr>
          <p:spPr bwMode="auto">
            <a:xfrm>
              <a:off x="793" y="1434"/>
              <a:ext cx="4128"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dirty="0">
                  <a:effectLst>
                    <a:outerShdw blurRad="38100" dist="38100" dir="2700000" algn="tl">
                      <a:srgbClr val="C0C0C0"/>
                    </a:outerShdw>
                  </a:effectLst>
                </a:rPr>
                <a:t>  1111111</a:t>
              </a:r>
            </a:p>
            <a:p>
              <a:pPr eaLnBrk="1" hangingPunct="1">
                <a:defRPr/>
              </a:pPr>
              <a:r>
                <a:rPr lang="en-US" altLang="zh-CN" sz="3200" b="1" dirty="0">
                  <a:effectLst>
                    <a:outerShdw blurRad="38100" dist="38100" dir="2700000" algn="tl">
                      <a:srgbClr val="C0C0C0"/>
                    </a:outerShdw>
                  </a:effectLst>
                </a:rPr>
                <a:t>- 1101100</a:t>
              </a:r>
            </a:p>
            <a:p>
              <a:pPr eaLnBrk="1" hangingPunct="1">
                <a:defRPr/>
              </a:pPr>
              <a:r>
                <a:rPr lang="en-US" altLang="zh-CN" sz="3200" b="1" dirty="0">
                  <a:effectLst>
                    <a:outerShdw blurRad="38100" dist="38100" dir="2700000" algn="tl">
                      <a:srgbClr val="C0C0C0"/>
                    </a:outerShdw>
                  </a:effectLst>
                </a:rPr>
                <a:t>  0010011</a:t>
              </a:r>
            </a:p>
          </p:txBody>
        </p:sp>
        <p:sp>
          <p:nvSpPr>
            <p:cNvPr id="70663" name="Line 5"/>
            <p:cNvSpPr>
              <a:spLocks noChangeShapeType="1"/>
            </p:cNvSpPr>
            <p:nvPr/>
          </p:nvSpPr>
          <p:spPr bwMode="auto">
            <a:xfrm>
              <a:off x="703" y="2115"/>
              <a:ext cx="127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3014" name="Rectangle 6"/>
          <p:cNvSpPr>
            <a:spLocks noChangeArrowheads="1"/>
          </p:cNvSpPr>
          <p:nvPr/>
        </p:nvSpPr>
        <p:spPr bwMode="auto">
          <a:xfrm>
            <a:off x="736600" y="4076700"/>
            <a:ext cx="6553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dirty="0">
                <a:effectLst>
                  <a:outerShdw blurRad="38100" dist="38100" dir="2700000" algn="tl">
                    <a:srgbClr val="C0C0C0"/>
                  </a:outerShdw>
                </a:effectLst>
              </a:rPr>
              <a:t>添加符号位得：</a:t>
            </a:r>
            <a:r>
              <a:rPr lang="en-US" altLang="zh-CN" sz="3200" b="1" dirty="0">
                <a:effectLst>
                  <a:outerShdw blurRad="38100" dist="38100" dir="2700000" algn="tl">
                    <a:srgbClr val="C0C0C0"/>
                  </a:outerShdw>
                </a:effectLst>
              </a:rPr>
              <a:t>10010011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dissolve">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wipe(left)">
                                      <p:cBhvr>
                                        <p:cTn id="12"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414E064-52DE-48AB-AFA1-5224B480A118}" type="slidenum">
              <a:rPr lang="en-US" altLang="zh-CN" sz="1400" smtClean="0"/>
              <a:t>29</a:t>
            </a:fld>
            <a:endParaRPr lang="en-US" altLang="zh-CN" sz="1400" dirty="0"/>
          </a:p>
        </p:txBody>
      </p:sp>
      <p:sp>
        <p:nvSpPr>
          <p:cNvPr id="44034" name="Rectangle 2"/>
          <p:cNvSpPr>
            <a:spLocks noChangeArrowheads="1"/>
          </p:cNvSpPr>
          <p:nvPr/>
        </p:nvSpPr>
        <p:spPr bwMode="auto">
          <a:xfrm>
            <a:off x="228600" y="258763"/>
            <a:ext cx="33528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1.3.4 </a:t>
            </a:r>
            <a:r>
              <a:rPr lang="zh-CN" altLang="en-US" sz="4400" b="1">
                <a:solidFill>
                  <a:schemeClr val="tx2"/>
                </a:solidFill>
                <a:latin typeface="黑体" panose="02010609060101010101" pitchFamily="49" charset="-122"/>
                <a:ea typeface="黑体" panose="02010609060101010101" pitchFamily="49" charset="-122"/>
              </a:rPr>
              <a:t>补码</a:t>
            </a:r>
          </a:p>
        </p:txBody>
      </p:sp>
      <p:sp>
        <p:nvSpPr>
          <p:cNvPr id="44035" name="Rectangle 3"/>
          <p:cNvSpPr>
            <a:spLocks noChangeArrowheads="1"/>
          </p:cNvSpPr>
          <p:nvPr/>
        </p:nvSpPr>
        <p:spPr bwMode="auto">
          <a:xfrm>
            <a:off x="304800" y="1387475"/>
            <a:ext cx="8534400" cy="2079625"/>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补码又称</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对</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的补数</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，补码表示法是：如果数为正，则正数的补码与原码表示形式相同；如果数为负，则将负数的原码除符号位外，其余各位取反后末尾再加</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44040" name="Rectangle 8"/>
          <p:cNvSpPr>
            <a:spLocks noChangeArrowheads="1"/>
          </p:cNvSpPr>
          <p:nvPr/>
        </p:nvSpPr>
        <p:spPr bwMode="auto">
          <a:xfrm>
            <a:off x="381000" y="4065588"/>
            <a:ext cx="73003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dirty="0">
                <a:effectLst>
                  <a:outerShdw blurRad="38100" dist="38100" dir="2700000" algn="tl">
                    <a:srgbClr val="C0C0C0"/>
                  </a:outerShdw>
                </a:effectLst>
              </a:rPr>
              <a:t>例： </a:t>
            </a:r>
            <a:r>
              <a:rPr lang="en-US" altLang="zh-CN" sz="3200" b="1" dirty="0">
                <a:effectLst>
                  <a:outerShdw blurRad="38100" dist="38100" dir="2700000" algn="tl">
                    <a:srgbClr val="C0C0C0"/>
                  </a:outerShdw>
                </a:effectLst>
              </a:rPr>
              <a:t>X</a:t>
            </a:r>
            <a:r>
              <a:rPr lang="en-US" altLang="zh-CN" sz="3200" b="1" baseline="-30000"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latin typeface="Courier New" panose="02070309020205020404" pitchFamily="49" charset="0"/>
                <a:cs typeface="Courier New" panose="02070309020205020404" pitchFamily="49" charset="0"/>
              </a:rPr>
              <a:t>+10011</a:t>
            </a:r>
            <a:r>
              <a:rPr lang="zh-CN" altLang="en-US" sz="3200" b="1" dirty="0">
                <a:effectLst>
                  <a:outerShdw blurRad="38100" dist="38100" dir="2700000" algn="tl">
                    <a:srgbClr val="C0C0C0"/>
                  </a:outerShdw>
                </a:effectLst>
              </a:rPr>
              <a:t>表示为  </a:t>
            </a:r>
            <a:r>
              <a:rPr lang="en-US" altLang="zh-CN" sz="3200" b="1" dirty="0">
                <a:effectLst>
                  <a:outerShdw blurRad="38100" dist="38100" dir="2700000" algn="tl">
                    <a:srgbClr val="C0C0C0"/>
                  </a:outerShdw>
                </a:effectLst>
              </a:rPr>
              <a:t>X</a:t>
            </a:r>
            <a:r>
              <a:rPr lang="en-US" altLang="zh-CN" sz="3200" b="1" baseline="-30000" dirty="0">
                <a:effectLst>
                  <a:outerShdw blurRad="38100" dist="38100" dir="2700000" algn="tl">
                    <a:srgbClr val="C0C0C0"/>
                  </a:outerShdw>
                </a:effectLst>
              </a:rPr>
              <a:t>1</a:t>
            </a:r>
            <a:r>
              <a:rPr lang="zh-CN" altLang="en-US" sz="3200" b="1" baseline="-30000" dirty="0">
                <a:effectLst>
                  <a:outerShdw blurRad="38100" dist="38100" dir="2700000" algn="tl">
                    <a:srgbClr val="C0C0C0"/>
                  </a:outerShdw>
                </a:effectLst>
              </a:rPr>
              <a:t>补</a:t>
            </a:r>
            <a:r>
              <a:rPr lang="en-US" altLang="zh-CN"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latin typeface="Courier New" panose="02070309020205020404" pitchFamily="49" charset="0"/>
                <a:cs typeface="Courier New" panose="02070309020205020404" pitchFamily="49" charset="0"/>
              </a:rPr>
              <a:t>010011</a:t>
            </a:r>
          </a:p>
        </p:txBody>
      </p:sp>
      <p:sp>
        <p:nvSpPr>
          <p:cNvPr id="44041" name="Rectangle 9"/>
          <p:cNvSpPr>
            <a:spLocks noChangeArrowheads="1"/>
          </p:cNvSpPr>
          <p:nvPr/>
        </p:nvSpPr>
        <p:spPr bwMode="auto">
          <a:xfrm>
            <a:off x="1295400" y="4903788"/>
            <a:ext cx="63738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X</a:t>
            </a:r>
            <a:r>
              <a:rPr lang="en-US" altLang="zh-CN" sz="3200" b="1" baseline="-30000" dirty="0">
                <a:effectLst>
                  <a:outerShdw blurRad="38100" dist="38100" dir="2700000" algn="tl">
                    <a:srgbClr val="C0C0C0"/>
                  </a:outerShdw>
                </a:effectLst>
              </a:rPr>
              <a:t>2</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latin typeface="Courier New" panose="02070309020205020404" pitchFamily="49" charset="0"/>
                <a:cs typeface="Courier New" panose="02070309020205020404" pitchFamily="49" charset="0"/>
              </a:rPr>
              <a:t>-01010</a:t>
            </a:r>
            <a:r>
              <a:rPr lang="zh-CN" altLang="en-US" sz="3200" b="1" dirty="0">
                <a:effectLst>
                  <a:outerShdw blurRad="38100" dist="38100" dir="2700000" algn="tl">
                    <a:srgbClr val="C0C0C0"/>
                  </a:outerShdw>
                </a:effectLst>
              </a:rPr>
              <a:t>表示为  </a:t>
            </a:r>
            <a:r>
              <a:rPr lang="en-US" altLang="zh-CN" sz="3200" b="1" dirty="0">
                <a:effectLst>
                  <a:outerShdw blurRad="38100" dist="38100" dir="2700000" algn="tl">
                    <a:srgbClr val="C0C0C0"/>
                  </a:outerShdw>
                </a:effectLst>
              </a:rPr>
              <a:t>X</a:t>
            </a:r>
            <a:r>
              <a:rPr lang="en-US" altLang="zh-CN" sz="3200" b="1" baseline="-30000" dirty="0">
                <a:effectLst>
                  <a:outerShdw blurRad="38100" dist="38100" dir="2700000" algn="tl">
                    <a:srgbClr val="C0C0C0"/>
                  </a:outerShdw>
                </a:effectLst>
              </a:rPr>
              <a:t>2</a:t>
            </a:r>
            <a:r>
              <a:rPr lang="zh-CN" altLang="en-US" sz="3200" b="1" baseline="-30000" dirty="0">
                <a:effectLst>
                  <a:outerShdw blurRad="38100" dist="38100" dir="2700000" algn="tl">
                    <a:srgbClr val="C0C0C0"/>
                  </a:outerShdw>
                </a:effectLst>
              </a:rPr>
              <a:t>补</a:t>
            </a:r>
            <a:r>
              <a:rPr lang="en-US" altLang="zh-CN"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latin typeface="Courier New" panose="02070309020205020404" pitchFamily="49" charset="0"/>
                <a:cs typeface="Courier New" panose="02070309020205020404" pitchFamily="49" charset="0"/>
              </a:rPr>
              <a:t>110110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animEffect transition="in" filter="box(in)">
                                      <p:cBhvr>
                                        <p:cTn id="7" dur="500"/>
                                        <p:tgtEl>
                                          <p:spTgt spid="4403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4040"/>
                                        </p:tgtEl>
                                        <p:attrNameLst>
                                          <p:attrName>style.visibility</p:attrName>
                                        </p:attrNameLst>
                                      </p:cBhvr>
                                      <p:to>
                                        <p:strVal val="visible"/>
                                      </p:to>
                                    </p:set>
                                    <p:anim calcmode="lin" valueType="num">
                                      <p:cBhvr additive="base">
                                        <p:cTn id="12" dur="500" fill="hold"/>
                                        <p:tgtEl>
                                          <p:spTgt spid="44040"/>
                                        </p:tgtEl>
                                        <p:attrNameLst>
                                          <p:attrName>ppt_x</p:attrName>
                                        </p:attrNameLst>
                                      </p:cBhvr>
                                      <p:tavLst>
                                        <p:tav tm="0">
                                          <p:val>
                                            <p:strVal val="0-#ppt_w/2"/>
                                          </p:val>
                                        </p:tav>
                                        <p:tav tm="100000">
                                          <p:val>
                                            <p:strVal val="#ppt_x"/>
                                          </p:val>
                                        </p:tav>
                                      </p:tavLst>
                                    </p:anim>
                                    <p:anim calcmode="lin" valueType="num">
                                      <p:cBhvr additive="base">
                                        <p:cTn id="13" dur="500" fill="hold"/>
                                        <p:tgtEl>
                                          <p:spTgt spid="4404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4041"/>
                                        </p:tgtEl>
                                        <p:attrNameLst>
                                          <p:attrName>style.visibility</p:attrName>
                                        </p:attrNameLst>
                                      </p:cBhvr>
                                      <p:to>
                                        <p:strVal val="visible"/>
                                      </p:to>
                                    </p:set>
                                    <p:anim calcmode="lin" valueType="num">
                                      <p:cBhvr additive="base">
                                        <p:cTn id="18" dur="500" fill="hold"/>
                                        <p:tgtEl>
                                          <p:spTgt spid="44041"/>
                                        </p:tgtEl>
                                        <p:attrNameLst>
                                          <p:attrName>ppt_x</p:attrName>
                                        </p:attrNameLst>
                                      </p:cBhvr>
                                      <p:tavLst>
                                        <p:tav tm="0">
                                          <p:val>
                                            <p:strVal val="0-#ppt_w/2"/>
                                          </p:val>
                                        </p:tav>
                                        <p:tav tm="100000">
                                          <p:val>
                                            <p:strVal val="#ppt_x"/>
                                          </p:val>
                                        </p:tav>
                                      </p:tavLst>
                                    </p:anim>
                                    <p:anim calcmode="lin" valueType="num">
                                      <p:cBhvr additive="base">
                                        <p:cTn id="19" dur="500" fill="hold"/>
                                        <p:tgtEl>
                                          <p:spTgt spid="440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ldLvl="0" animBg="1" autoUpdateAnimBg="0"/>
      <p:bldP spid="44040" grpId="0" bldLvl="0" animBg="1" autoUpdateAnimBg="0"/>
      <p:bldP spid="44041"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54DE52F-EA5A-4B33-97E6-BEF32E11BE61}" type="slidenum">
              <a:rPr lang="en-US" altLang="zh-CN" sz="1400" smtClean="0"/>
              <a:t>30</a:t>
            </a:fld>
            <a:endParaRPr lang="en-US" altLang="zh-CN" sz="1400"/>
          </a:p>
        </p:txBody>
      </p:sp>
      <p:sp>
        <p:nvSpPr>
          <p:cNvPr id="47106" name="Rectangle 2"/>
          <p:cNvSpPr>
            <a:spLocks noChangeArrowheads="1"/>
          </p:cNvSpPr>
          <p:nvPr/>
        </p:nvSpPr>
        <p:spPr bwMode="auto">
          <a:xfrm>
            <a:off x="457200" y="955675"/>
            <a:ext cx="7999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(1) </a:t>
            </a:r>
            <a:r>
              <a:rPr lang="zh-CN" altLang="en-US" sz="3200" b="1">
                <a:effectLst>
                  <a:outerShdw blurRad="38100" dist="38100" dir="2700000" algn="tl">
                    <a:srgbClr val="C0C0C0"/>
                  </a:outerShdw>
                </a:effectLst>
              </a:rPr>
              <a:t>若定点整数的补码序列为 </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0</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1</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n</a:t>
            </a:r>
            <a:r>
              <a:rPr lang="zh-CN" altLang="en-US" sz="3200" b="1">
                <a:effectLst>
                  <a:outerShdw blurRad="38100" dist="38100" dir="2700000" algn="tl">
                    <a:srgbClr val="C0C0C0"/>
                  </a:outerShdw>
                </a:effectLst>
              </a:rPr>
              <a:t>则</a:t>
            </a:r>
            <a:r>
              <a:rPr lang="en-US" altLang="zh-CN" sz="3200" b="1">
                <a:effectLst>
                  <a:outerShdw blurRad="38100" dist="38100" dir="2700000" algn="tl">
                    <a:srgbClr val="C0C0C0"/>
                  </a:outerShdw>
                </a:effectLst>
              </a:rPr>
              <a:t>:</a:t>
            </a:r>
          </a:p>
        </p:txBody>
      </p:sp>
      <p:grpSp>
        <p:nvGrpSpPr>
          <p:cNvPr id="47107" name="Group 3"/>
          <p:cNvGrpSpPr/>
          <p:nvPr/>
        </p:nvGrpSpPr>
        <p:grpSpPr bwMode="auto">
          <a:xfrm>
            <a:off x="838200" y="1524001"/>
            <a:ext cx="7470775" cy="1498601"/>
            <a:chOff x="0" y="2363"/>
            <a:chExt cx="4706" cy="944"/>
          </a:xfrm>
        </p:grpSpPr>
        <p:sp>
          <p:nvSpPr>
            <p:cNvPr id="78864" name="Line 4"/>
            <p:cNvSpPr>
              <a:spLocks noChangeShapeType="1"/>
            </p:cNvSpPr>
            <p:nvPr/>
          </p:nvSpPr>
          <p:spPr bwMode="auto">
            <a:xfrm>
              <a:off x="3024" y="3024"/>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5" name="AutoShape 5"/>
            <p:cNvSpPr/>
            <p:nvPr/>
          </p:nvSpPr>
          <p:spPr bwMode="auto">
            <a:xfrm>
              <a:off x="864" y="2544"/>
              <a:ext cx="192" cy="624"/>
            </a:xfrm>
            <a:prstGeom prst="leftBrace">
              <a:avLst>
                <a:gd name="adj1" fmla="val 27083"/>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7110" name="Rectangle 6"/>
            <p:cNvSpPr>
              <a:spLocks noChangeArrowheads="1"/>
            </p:cNvSpPr>
            <p:nvPr/>
          </p:nvSpPr>
          <p:spPr bwMode="auto">
            <a:xfrm>
              <a:off x="1200" y="2363"/>
              <a:ext cx="341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 X                                 2</a:t>
              </a:r>
              <a:r>
                <a:rPr lang="en-US" altLang="zh-CN" sz="3200" b="1" baseline="30000" dirty="0">
                  <a:effectLst>
                    <a:outerShdw blurRad="38100" dist="38100" dir="2700000" algn="tl">
                      <a:srgbClr val="C0C0C0"/>
                    </a:outerShdw>
                  </a:effectLst>
                </a:rPr>
                <a:t>n</a:t>
              </a:r>
              <a:r>
                <a:rPr lang="en-US" altLang="zh-CN" sz="3200" b="1" dirty="0">
                  <a:effectLst>
                    <a:outerShdw blurRad="38100" dist="38100" dir="2700000" algn="tl">
                      <a:srgbClr val="C0C0C0"/>
                    </a:outerShdw>
                  </a:effectLst>
                </a:rPr>
                <a:t>&gt;X≥0</a:t>
              </a:r>
            </a:p>
          </p:txBody>
        </p:sp>
        <p:sp>
          <p:nvSpPr>
            <p:cNvPr id="47111" name="Rectangle 7"/>
            <p:cNvSpPr>
              <a:spLocks noChangeArrowheads="1"/>
            </p:cNvSpPr>
            <p:nvPr/>
          </p:nvSpPr>
          <p:spPr bwMode="auto">
            <a:xfrm>
              <a:off x="1200" y="2939"/>
              <a:ext cx="350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 2</a:t>
              </a:r>
              <a:r>
                <a:rPr lang="en-US" altLang="zh-CN" sz="3200" b="1" baseline="30000" dirty="0">
                  <a:effectLst>
                    <a:outerShdw blurRad="38100" dist="38100" dir="2700000" algn="tl">
                      <a:srgbClr val="C0C0C0"/>
                    </a:outerShdw>
                  </a:effectLst>
                </a:rPr>
                <a:t>n+1</a:t>
              </a:r>
              <a:r>
                <a:rPr lang="en-US" altLang="zh-CN" sz="3200" b="1" dirty="0">
                  <a:effectLst>
                    <a:outerShdw blurRad="38100" dist="38100" dir="2700000" algn="tl">
                      <a:srgbClr val="C0C0C0"/>
                    </a:outerShdw>
                  </a:effectLst>
                </a:rPr>
                <a:t>+X</a:t>
              </a:r>
              <a:r>
                <a:rPr lang="zh-CN" altLang="en-US" sz="3200"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2</a:t>
              </a:r>
              <a:r>
                <a:rPr lang="en-US" altLang="zh-CN" sz="3200" b="1" baseline="30000" dirty="0">
                  <a:effectLst>
                    <a:outerShdw blurRad="38100" dist="38100" dir="2700000" algn="tl">
                      <a:srgbClr val="C0C0C0"/>
                    </a:outerShdw>
                  </a:effectLst>
                </a:rPr>
                <a:t>n+1</a:t>
              </a:r>
              <a:r>
                <a:rPr lang="zh-CN" altLang="en-US" sz="3200"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X      0&gt;X ≥ </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2</a:t>
              </a:r>
              <a:r>
                <a:rPr lang="en-US" altLang="zh-CN" sz="3200" b="1" baseline="30000" dirty="0">
                  <a:effectLst>
                    <a:outerShdw blurRad="38100" dist="38100" dir="2700000" algn="tl">
                      <a:srgbClr val="C0C0C0"/>
                    </a:outerShdw>
                  </a:effectLst>
                </a:rPr>
                <a:t>n</a:t>
              </a:r>
            </a:p>
          </p:txBody>
        </p:sp>
        <p:sp>
          <p:nvSpPr>
            <p:cNvPr id="47112" name="Rectangle 8"/>
            <p:cNvSpPr>
              <a:spLocks noChangeArrowheads="1"/>
            </p:cNvSpPr>
            <p:nvPr/>
          </p:nvSpPr>
          <p:spPr bwMode="auto">
            <a:xfrm>
              <a:off x="0" y="2651"/>
              <a:ext cx="8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   X</a:t>
              </a:r>
              <a:r>
                <a:rPr lang="zh-CN" altLang="en-US" sz="3200" b="1" baseline="-25000">
                  <a:effectLst>
                    <a:outerShdw blurRad="38100" dist="38100" dir="2700000" algn="tl">
                      <a:srgbClr val="C0C0C0"/>
                    </a:outerShdw>
                  </a:effectLst>
                </a:rPr>
                <a:t>补</a:t>
              </a:r>
              <a:r>
                <a:rPr lang="en-US" altLang="zh-CN" sz="3200" b="1">
                  <a:effectLst>
                    <a:outerShdw blurRad="38100" dist="38100" dir="2700000" algn="tl">
                      <a:srgbClr val="C0C0C0"/>
                    </a:outerShdw>
                  </a:effectLst>
                </a:rPr>
                <a:t>=</a:t>
              </a:r>
            </a:p>
          </p:txBody>
        </p:sp>
        <p:sp>
          <p:nvSpPr>
            <p:cNvPr id="78869" name="Line 9"/>
            <p:cNvSpPr>
              <a:spLocks noChangeShapeType="1"/>
            </p:cNvSpPr>
            <p:nvPr/>
          </p:nvSpPr>
          <p:spPr bwMode="auto">
            <a:xfrm>
              <a:off x="3216" y="3024"/>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114" name="Rectangle 10"/>
          <p:cNvSpPr>
            <a:spLocks noChangeArrowheads="1"/>
          </p:cNvSpPr>
          <p:nvPr/>
        </p:nvSpPr>
        <p:spPr bwMode="auto">
          <a:xfrm>
            <a:off x="457200" y="3154363"/>
            <a:ext cx="81819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10101</a:t>
            </a:r>
            <a:r>
              <a:rPr lang="zh-CN" altLang="en-US" sz="3200" b="1">
                <a:effectLst>
                  <a:outerShdw blurRad="38100" dist="38100" dir="2700000" algn="tl">
                    <a:srgbClr val="C0C0C0"/>
                  </a:outerShdw>
                </a:effectLst>
              </a:rPr>
              <a:t>的补码为</a:t>
            </a:r>
            <a:r>
              <a:rPr lang="en-US" altLang="zh-CN" sz="3200" b="1">
                <a:effectLst>
                  <a:outerShdw blurRad="38100" dist="38100" dir="2700000" algn="tl">
                    <a:srgbClr val="C0C0C0"/>
                  </a:outerShdw>
                </a:effectLst>
              </a:rPr>
              <a:t>1000000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10101=101011</a:t>
            </a:r>
          </a:p>
        </p:txBody>
      </p:sp>
      <p:sp>
        <p:nvSpPr>
          <p:cNvPr id="47115" name="Rectangle 11"/>
          <p:cNvSpPr>
            <a:spLocks noChangeArrowheads="1"/>
          </p:cNvSpPr>
          <p:nvPr/>
        </p:nvSpPr>
        <p:spPr bwMode="auto">
          <a:xfrm>
            <a:off x="457200" y="3810000"/>
            <a:ext cx="8101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(2) </a:t>
            </a:r>
            <a:r>
              <a:rPr lang="zh-CN" altLang="en-US" sz="3200" b="1">
                <a:effectLst>
                  <a:outerShdw blurRad="38100" dist="38100" dir="2700000" algn="tl">
                    <a:srgbClr val="C0C0C0"/>
                  </a:outerShdw>
                </a:effectLst>
              </a:rPr>
              <a:t>若定点小数的补码序列为 </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0</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1</a:t>
            </a:r>
            <a:r>
              <a:rPr lang="en-US" altLang="zh-CN" sz="3200" b="1">
                <a:effectLst>
                  <a:outerShdw blurRad="38100" dist="38100" dir="2700000" algn="tl">
                    <a:srgbClr val="C0C0C0"/>
                  </a:outerShdw>
                </a:effectLst>
              </a:rPr>
              <a:t>……X</a:t>
            </a:r>
            <a:r>
              <a:rPr lang="en-US" altLang="zh-CN" sz="3200" b="1" baseline="-25000">
                <a:effectLst>
                  <a:outerShdw blurRad="38100" dist="38100" dir="2700000" algn="tl">
                    <a:srgbClr val="C0C0C0"/>
                  </a:outerShdw>
                </a:effectLst>
              </a:rPr>
              <a:t>n</a:t>
            </a:r>
            <a:r>
              <a:rPr lang="zh-CN" altLang="en-US" sz="3200" b="1">
                <a:effectLst>
                  <a:outerShdw blurRad="38100" dist="38100" dir="2700000" algn="tl">
                    <a:srgbClr val="C0C0C0"/>
                  </a:outerShdw>
                </a:effectLst>
              </a:rPr>
              <a:t>则</a:t>
            </a:r>
            <a:r>
              <a:rPr lang="en-US" altLang="zh-CN" sz="3200" b="1">
                <a:effectLst>
                  <a:outerShdw blurRad="38100" dist="38100" dir="2700000" algn="tl">
                    <a:srgbClr val="C0C0C0"/>
                  </a:outerShdw>
                </a:effectLst>
              </a:rPr>
              <a:t>:</a:t>
            </a:r>
          </a:p>
        </p:txBody>
      </p:sp>
      <p:sp>
        <p:nvSpPr>
          <p:cNvPr id="47116" name="Rectangle 12"/>
          <p:cNvSpPr>
            <a:spLocks noChangeArrowheads="1"/>
          </p:cNvSpPr>
          <p:nvPr/>
        </p:nvSpPr>
        <p:spPr bwMode="auto">
          <a:xfrm>
            <a:off x="457200" y="6008688"/>
            <a:ext cx="76152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0.1010</a:t>
            </a:r>
            <a:r>
              <a:rPr lang="zh-CN" altLang="en-US" sz="3200" b="1">
                <a:effectLst>
                  <a:outerShdw blurRad="38100" dist="38100" dir="2700000" algn="tl">
                    <a:srgbClr val="C0C0C0"/>
                  </a:outerShdw>
                </a:effectLst>
              </a:rPr>
              <a:t>的补码为</a:t>
            </a:r>
            <a:r>
              <a:rPr lang="en-US" altLang="zh-CN" sz="3200" b="1">
                <a:effectLst>
                  <a:outerShdw blurRad="38100" dist="38100" dir="2700000" algn="tl">
                    <a:srgbClr val="C0C0C0"/>
                  </a:outerShdw>
                </a:effectLst>
              </a:rPr>
              <a:t>10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1.0110</a:t>
            </a:r>
          </a:p>
        </p:txBody>
      </p:sp>
      <p:grpSp>
        <p:nvGrpSpPr>
          <p:cNvPr id="47117" name="Group 13"/>
          <p:cNvGrpSpPr/>
          <p:nvPr/>
        </p:nvGrpSpPr>
        <p:grpSpPr bwMode="auto">
          <a:xfrm>
            <a:off x="1233488" y="4408488"/>
            <a:ext cx="6313488" cy="1574799"/>
            <a:chOff x="288" y="779"/>
            <a:chExt cx="3977" cy="992"/>
          </a:xfrm>
        </p:grpSpPr>
        <p:sp>
          <p:nvSpPr>
            <p:cNvPr id="78858" name="AutoShape 14"/>
            <p:cNvSpPr/>
            <p:nvPr/>
          </p:nvSpPr>
          <p:spPr bwMode="auto">
            <a:xfrm>
              <a:off x="864" y="1008"/>
              <a:ext cx="192" cy="624"/>
            </a:xfrm>
            <a:prstGeom prst="leftBrace">
              <a:avLst>
                <a:gd name="adj1" fmla="val 27083"/>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8859" name="Line 15"/>
            <p:cNvSpPr>
              <a:spLocks noChangeShapeType="1"/>
            </p:cNvSpPr>
            <p:nvPr/>
          </p:nvSpPr>
          <p:spPr bwMode="auto">
            <a:xfrm>
              <a:off x="2736" y="1488"/>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20" name="Rectangle 16"/>
            <p:cNvSpPr>
              <a:spLocks noChangeArrowheads="1"/>
            </p:cNvSpPr>
            <p:nvPr/>
          </p:nvSpPr>
          <p:spPr bwMode="auto">
            <a:xfrm>
              <a:off x="1200" y="779"/>
              <a:ext cx="306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                              1&gt;X≥0</a:t>
              </a:r>
            </a:p>
          </p:txBody>
        </p:sp>
        <p:sp>
          <p:nvSpPr>
            <p:cNvPr id="47121" name="Rectangle 17"/>
            <p:cNvSpPr>
              <a:spLocks noChangeArrowheads="1"/>
            </p:cNvSpPr>
            <p:nvPr/>
          </p:nvSpPr>
          <p:spPr bwMode="auto">
            <a:xfrm>
              <a:off x="288" y="1115"/>
              <a:ext cx="6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a:t>
              </a:r>
              <a:r>
                <a:rPr lang="zh-CN" altLang="en-US" sz="3200" b="1" baseline="-25000">
                  <a:effectLst>
                    <a:outerShdw blurRad="38100" dist="38100" dir="2700000" algn="tl">
                      <a:srgbClr val="C0C0C0"/>
                    </a:outerShdw>
                  </a:effectLst>
                </a:rPr>
                <a:t>补</a:t>
              </a:r>
              <a:r>
                <a:rPr lang="en-US" altLang="zh-CN" sz="3200" b="1">
                  <a:effectLst>
                    <a:outerShdw blurRad="38100" dist="38100" dir="2700000" algn="tl">
                      <a:srgbClr val="C0C0C0"/>
                    </a:outerShdw>
                  </a:effectLst>
                </a:rPr>
                <a:t>=</a:t>
              </a:r>
            </a:p>
          </p:txBody>
        </p:sp>
        <p:sp>
          <p:nvSpPr>
            <p:cNvPr id="47122" name="Rectangle 18"/>
            <p:cNvSpPr>
              <a:spLocks noChangeArrowheads="1"/>
            </p:cNvSpPr>
            <p:nvPr/>
          </p:nvSpPr>
          <p:spPr bwMode="auto">
            <a:xfrm>
              <a:off x="1200" y="1403"/>
              <a:ext cx="296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2+X</a:t>
              </a:r>
              <a:r>
                <a:rPr lang="zh-CN" altLang="en-US" sz="3200"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2</a:t>
              </a:r>
              <a:r>
                <a:rPr lang="zh-CN" altLang="en-US" sz="3200"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X         0&gt;X≥</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a:t>
              </a:r>
            </a:p>
          </p:txBody>
        </p:sp>
        <p:sp>
          <p:nvSpPr>
            <p:cNvPr id="78863" name="Line 19"/>
            <p:cNvSpPr>
              <a:spLocks noChangeShapeType="1"/>
            </p:cNvSpPr>
            <p:nvPr/>
          </p:nvSpPr>
          <p:spPr bwMode="auto">
            <a:xfrm>
              <a:off x="2496" y="1488"/>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124" name="Rectangle 20"/>
          <p:cNvSpPr>
            <a:spLocks noChangeArrowheads="1"/>
          </p:cNvSpPr>
          <p:nvPr/>
        </p:nvSpPr>
        <p:spPr bwMode="auto">
          <a:xfrm>
            <a:off x="374650" y="228600"/>
            <a:ext cx="3040063"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补码的一般表示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dissolve">
                                      <p:cBhvr>
                                        <p:cTn id="12" dur="500"/>
                                        <p:tgtEl>
                                          <p:spTgt spid="471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14"/>
                                        </p:tgtEl>
                                        <p:attrNameLst>
                                          <p:attrName>style.visibility</p:attrName>
                                        </p:attrNameLst>
                                      </p:cBhvr>
                                      <p:to>
                                        <p:strVal val="visible"/>
                                      </p:to>
                                    </p:set>
                                    <p:animEffect transition="in" filter="wipe(left)">
                                      <p:cBhvr>
                                        <p:cTn id="17" dur="500"/>
                                        <p:tgtEl>
                                          <p:spTgt spid="471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15"/>
                                        </p:tgtEl>
                                        <p:attrNameLst>
                                          <p:attrName>style.visibility</p:attrName>
                                        </p:attrNameLst>
                                      </p:cBhvr>
                                      <p:to>
                                        <p:strVal val="visible"/>
                                      </p:to>
                                    </p:set>
                                    <p:animEffect transition="in" filter="wipe(left)">
                                      <p:cBhvr>
                                        <p:cTn id="22" dur="500"/>
                                        <p:tgtEl>
                                          <p:spTgt spid="471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7117"/>
                                        </p:tgtEl>
                                        <p:attrNameLst>
                                          <p:attrName>style.visibility</p:attrName>
                                        </p:attrNameLst>
                                      </p:cBhvr>
                                      <p:to>
                                        <p:strVal val="visible"/>
                                      </p:to>
                                    </p:set>
                                    <p:animEffect transition="in" filter="dissolve">
                                      <p:cBhvr>
                                        <p:cTn id="27" dur="500"/>
                                        <p:tgtEl>
                                          <p:spTgt spid="471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16"/>
                                        </p:tgtEl>
                                        <p:attrNameLst>
                                          <p:attrName>style.visibility</p:attrName>
                                        </p:attrNameLst>
                                      </p:cBhvr>
                                      <p:to>
                                        <p:strVal val="visible"/>
                                      </p:to>
                                    </p:set>
                                    <p:animEffect transition="in" filter="wipe(left)">
                                      <p:cBhvr>
                                        <p:cTn id="32" dur="500"/>
                                        <p:tgtEl>
                                          <p:spTgt spid="47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ldLvl="0" animBg="1" autoUpdateAnimBg="0"/>
      <p:bldP spid="47114" grpId="0" bldLvl="0" animBg="1" autoUpdateAnimBg="0"/>
      <p:bldP spid="47115" grpId="0" bldLvl="0" animBg="1" autoUpdateAnimBg="0"/>
      <p:bldP spid="47116"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BFEC77-8299-4693-9739-CB18045F737B}" type="slidenum">
              <a:rPr lang="en-US" altLang="zh-CN" sz="1400" smtClean="0"/>
              <a:t>31</a:t>
            </a:fld>
            <a:endParaRPr lang="en-US" altLang="zh-CN" sz="1400"/>
          </a:p>
        </p:txBody>
      </p:sp>
      <p:sp>
        <p:nvSpPr>
          <p:cNvPr id="64514" name="Rectangle 2"/>
          <p:cNvSpPr>
            <a:spLocks noChangeArrowheads="1"/>
          </p:cNvSpPr>
          <p:nvPr/>
        </p:nvSpPr>
        <p:spPr bwMode="auto">
          <a:xfrm>
            <a:off x="228600" y="411163"/>
            <a:ext cx="2224088"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ea typeface="黑体" panose="02010609060101010101" pitchFamily="49" charset="-122"/>
              </a:rPr>
              <a:t>补码的性质</a:t>
            </a:r>
          </a:p>
        </p:txBody>
      </p:sp>
      <p:sp>
        <p:nvSpPr>
          <p:cNvPr id="64515" name="Rectangle 3"/>
          <p:cNvSpPr>
            <a:spLocks noChangeArrowheads="1"/>
          </p:cNvSpPr>
          <p:nvPr/>
        </p:nvSpPr>
        <p:spPr bwMode="auto">
          <a:xfrm>
            <a:off x="228600" y="1181100"/>
            <a:ext cx="87630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buFontTx/>
              <a:buAutoNum type="arabicParenBoth"/>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正数</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补</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反</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和</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原</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是相同的。</a:t>
            </a:r>
          </a:p>
        </p:txBody>
      </p:sp>
      <p:sp>
        <p:nvSpPr>
          <p:cNvPr id="64516" name="Rectangle 4"/>
          <p:cNvSpPr>
            <a:spLocks noChangeArrowheads="1"/>
          </p:cNvSpPr>
          <p:nvPr/>
        </p:nvSpPr>
        <p:spPr bwMode="auto">
          <a:xfrm>
            <a:off x="228600" y="1981200"/>
            <a:ext cx="87630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对于负数， </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30000">
                <a:effectLst>
                  <a:outerShdw blurRad="38100" dist="38100" dir="2700000" algn="tl">
                    <a:srgbClr val="C0C0C0"/>
                  </a:outerShdw>
                </a:effectLst>
                <a:latin typeface="黑体" panose="02010609060101010101" pitchFamily="49" charset="-122"/>
                <a:ea typeface="黑体" panose="02010609060101010101" pitchFamily="49" charset="-122"/>
              </a:rPr>
              <a:t>补</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的符号位为</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，数值部分是将原码每位求反并尾数加</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64517" name="Rectangle 5"/>
          <p:cNvSpPr>
            <a:spLocks noChangeArrowheads="1"/>
          </p:cNvSpPr>
          <p:nvPr/>
        </p:nvSpPr>
        <p:spPr bwMode="auto">
          <a:xfrm>
            <a:off x="228600" y="3276600"/>
            <a:ext cx="87630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补码表示中，</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的形式是唯一的。</a:t>
            </a:r>
          </a:p>
        </p:txBody>
      </p:sp>
      <p:sp>
        <p:nvSpPr>
          <p:cNvPr id="64518" name="Rectangle 6"/>
          <p:cNvSpPr>
            <a:spLocks noChangeArrowheads="1"/>
          </p:cNvSpPr>
          <p:nvPr/>
        </p:nvSpPr>
        <p:spPr bwMode="auto">
          <a:xfrm>
            <a:off x="381000" y="4038600"/>
            <a:ext cx="71643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即</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a:t>
            </a:r>
            <a:r>
              <a:rPr lang="zh-CN" altLang="en-US" sz="3200" b="1" baseline="-25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a:t>
            </a:r>
            <a:r>
              <a:rPr lang="zh-CN" altLang="en-US" sz="3200" b="1" baseline="-25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0.00……0</a:t>
            </a:r>
          </a:p>
        </p:txBody>
      </p:sp>
      <p:sp>
        <p:nvSpPr>
          <p:cNvPr id="64519" name="Rectangle 7"/>
          <p:cNvSpPr>
            <a:spLocks noChangeArrowheads="1"/>
          </p:cNvSpPr>
          <p:nvPr/>
        </p:nvSpPr>
        <p:spPr bwMode="auto">
          <a:xfrm>
            <a:off x="273050" y="4914900"/>
            <a:ext cx="86868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(4)</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根据我们对补码表示方法的描述可知：</a:t>
            </a:r>
          </a:p>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25000" dirty="0">
                <a:effectLst>
                  <a:outerShdw blurRad="38100" dist="38100" dir="2700000" algn="tl">
                    <a:srgbClr val="C0C0C0"/>
                  </a:outerShdw>
                </a:effectLst>
                <a:latin typeface="黑体" panose="02010609060101010101" pitchFamily="49" charset="-122"/>
                <a:ea typeface="黑体" panose="02010609060101010101" pitchFamily="49" charset="-122"/>
              </a:rPr>
              <a:t>补</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=X</a:t>
            </a:r>
            <a:r>
              <a:rPr lang="zh-CN" altLang="en-US" sz="3200" baseline="-25000" dirty="0">
                <a:effectLst>
                  <a:outerShdw blurRad="38100" dist="38100" dir="2700000" algn="tl">
                    <a:srgbClr val="C0C0C0"/>
                  </a:outerShdw>
                </a:effectLst>
                <a:latin typeface="黑体" panose="02010609060101010101" pitchFamily="49" charset="-122"/>
                <a:ea typeface="黑体" panose="02010609060101010101" pitchFamily="49" charset="-122"/>
              </a:rPr>
              <a:t>反</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+1=111</a:t>
            </a:r>
            <a:r>
              <a:rPr lang="en-US" altLang="zh-CN" sz="3200" dirty="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1-︱X︱+1=2</a:t>
            </a:r>
            <a:r>
              <a:rPr lang="en-US" altLang="zh-CN" sz="3200" baseline="30000" dirty="0">
                <a:effectLst>
                  <a:outerShdw blurRad="38100" dist="38100" dir="2700000" algn="tl">
                    <a:srgbClr val="C0C0C0"/>
                  </a:outerShdw>
                </a:effectLst>
                <a:latin typeface="黑体" panose="02010609060101010101" pitchFamily="49" charset="-122"/>
                <a:ea typeface="黑体" panose="02010609060101010101" pitchFamily="49" charset="-122"/>
              </a:rPr>
              <a:t>n+1</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-︱X︱</a:t>
            </a:r>
          </a:p>
          <a:p>
            <a:pPr eaLnBrk="1" hangingPunct="1">
              <a:defRPr/>
            </a:pP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所以补码又称为</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的补码。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box(in)">
                                      <p:cBhvr>
                                        <p:cTn id="7" dur="500"/>
                                        <p:tgtEl>
                                          <p:spTgt spid="645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box(in)">
                                      <p:cBhvr>
                                        <p:cTn id="12" dur="500"/>
                                        <p:tgtEl>
                                          <p:spTgt spid="6451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4517"/>
                                        </p:tgtEl>
                                        <p:attrNameLst>
                                          <p:attrName>style.visibility</p:attrName>
                                        </p:attrNameLst>
                                      </p:cBhvr>
                                      <p:to>
                                        <p:strVal val="visible"/>
                                      </p:to>
                                    </p:set>
                                    <p:animEffect transition="in" filter="box(in)">
                                      <p:cBhvr>
                                        <p:cTn id="17" dur="500"/>
                                        <p:tgtEl>
                                          <p:spTgt spid="645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18"/>
                                        </p:tgtEl>
                                        <p:attrNameLst>
                                          <p:attrName>style.visibility</p:attrName>
                                        </p:attrNameLst>
                                      </p:cBhvr>
                                      <p:to>
                                        <p:strVal val="visible"/>
                                      </p:to>
                                    </p:set>
                                    <p:animEffect transition="in" filter="wipe(left)">
                                      <p:cBhvr>
                                        <p:cTn id="22" dur="500"/>
                                        <p:tgtEl>
                                          <p:spTgt spid="645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4519"/>
                                        </p:tgtEl>
                                        <p:attrNameLst>
                                          <p:attrName>style.visibility</p:attrName>
                                        </p:attrNameLst>
                                      </p:cBhvr>
                                      <p:to>
                                        <p:strVal val="visible"/>
                                      </p:to>
                                    </p:set>
                                    <p:animEffect transition="in" filter="box(in)">
                                      <p:cBhvr>
                                        <p:cTn id="27" dur="500"/>
                                        <p:tgtEl>
                                          <p:spTgt spid="64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ldLvl="0" animBg="1" autoUpdateAnimBg="0"/>
      <p:bldP spid="64516" grpId="0" bldLvl="0" animBg="1" autoUpdateAnimBg="0"/>
      <p:bldP spid="64517" grpId="0" bldLvl="0" animBg="1" autoUpdateAnimBg="0"/>
      <p:bldP spid="64518" grpId="0" bldLvl="0" animBg="1" autoUpdateAnimBg="0"/>
      <p:bldP spid="64519"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49DCA58-2C75-42E8-B5EC-363CC663B7F4}" type="slidenum">
              <a:rPr lang="en-US" altLang="zh-CN" sz="1400" smtClean="0"/>
              <a:t>32</a:t>
            </a:fld>
            <a:endParaRPr lang="en-US" altLang="zh-CN" sz="1400"/>
          </a:p>
        </p:txBody>
      </p:sp>
      <p:sp>
        <p:nvSpPr>
          <p:cNvPr id="48130" name="Rectangle 2"/>
          <p:cNvSpPr>
            <a:spLocks noChangeArrowheads="1"/>
          </p:cNvSpPr>
          <p:nvPr/>
        </p:nvSpPr>
        <p:spPr bwMode="auto">
          <a:xfrm>
            <a:off x="273050" y="258763"/>
            <a:ext cx="688975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rPr>
              <a:t> </a:t>
            </a:r>
            <a:r>
              <a:rPr lang="en-US" altLang="zh-CN" sz="4400" b="1">
                <a:solidFill>
                  <a:schemeClr val="tx2"/>
                </a:solidFill>
                <a:latin typeface="黑体" panose="02010609060101010101" pitchFamily="49" charset="-122"/>
                <a:ea typeface="黑体" panose="02010609060101010101" pitchFamily="49" charset="-122"/>
              </a:rPr>
              <a:t>1.3.5 </a:t>
            </a:r>
            <a:r>
              <a:rPr lang="zh-CN" altLang="en-US" sz="4400" b="1">
                <a:solidFill>
                  <a:schemeClr val="tx2"/>
                </a:solidFill>
                <a:latin typeface="黑体" panose="02010609060101010101" pitchFamily="49" charset="-122"/>
                <a:ea typeface="黑体" panose="02010609060101010101" pitchFamily="49" charset="-122"/>
              </a:rPr>
              <a:t>机器数的加减运算</a:t>
            </a:r>
          </a:p>
        </p:txBody>
      </p:sp>
      <p:grpSp>
        <p:nvGrpSpPr>
          <p:cNvPr id="48131" name="Group 3"/>
          <p:cNvGrpSpPr/>
          <p:nvPr/>
        </p:nvGrpSpPr>
        <p:grpSpPr bwMode="auto">
          <a:xfrm>
            <a:off x="3200400" y="4114800"/>
            <a:ext cx="1905000" cy="1570038"/>
            <a:chOff x="240" y="2651"/>
            <a:chExt cx="1200" cy="989"/>
          </a:xfrm>
        </p:grpSpPr>
        <p:sp>
          <p:nvSpPr>
            <p:cNvPr id="82953" name="Line 4"/>
            <p:cNvSpPr>
              <a:spLocks noChangeShapeType="1"/>
            </p:cNvSpPr>
            <p:nvPr/>
          </p:nvSpPr>
          <p:spPr bwMode="auto">
            <a:xfrm>
              <a:off x="288" y="3312"/>
              <a:ext cx="1152"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133" name="Rectangle 5"/>
            <p:cNvSpPr>
              <a:spLocks noChangeArrowheads="1"/>
            </p:cNvSpPr>
            <p:nvPr/>
          </p:nvSpPr>
          <p:spPr bwMode="auto">
            <a:xfrm>
              <a:off x="480" y="3275"/>
              <a:ext cx="8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0.1000</a:t>
              </a:r>
            </a:p>
          </p:txBody>
        </p:sp>
        <p:sp>
          <p:nvSpPr>
            <p:cNvPr id="48134" name="Rectangle 6"/>
            <p:cNvSpPr>
              <a:spLocks noChangeArrowheads="1"/>
            </p:cNvSpPr>
            <p:nvPr/>
          </p:nvSpPr>
          <p:spPr bwMode="auto">
            <a:xfrm>
              <a:off x="240" y="2939"/>
              <a:ext cx="107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0.0011</a:t>
              </a:r>
            </a:p>
          </p:txBody>
        </p:sp>
        <p:sp>
          <p:nvSpPr>
            <p:cNvPr id="48135" name="Rectangle 7"/>
            <p:cNvSpPr>
              <a:spLocks noChangeArrowheads="1"/>
            </p:cNvSpPr>
            <p:nvPr/>
          </p:nvSpPr>
          <p:spPr bwMode="auto">
            <a:xfrm>
              <a:off x="480" y="2651"/>
              <a:ext cx="8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0.1011</a:t>
              </a:r>
            </a:p>
          </p:txBody>
        </p:sp>
      </p:grpSp>
      <p:sp>
        <p:nvSpPr>
          <p:cNvPr id="48138" name="Rectangle 10"/>
          <p:cNvSpPr>
            <a:spLocks noChangeArrowheads="1"/>
          </p:cNvSpPr>
          <p:nvPr/>
        </p:nvSpPr>
        <p:spPr bwMode="auto">
          <a:xfrm>
            <a:off x="381000" y="3105150"/>
            <a:ext cx="8839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a:effectLst>
                  <a:outerShdw blurRad="38100" dist="38100" dir="2700000" algn="tl">
                    <a:srgbClr val="C0C0C0"/>
                  </a:outerShdw>
                </a:effectLst>
              </a:rPr>
              <a:t>解：</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 </a:t>
            </a:r>
            <a:r>
              <a:rPr lang="zh-CN" altLang="en-US" sz="3200" b="1">
                <a:effectLst>
                  <a:outerShdw blurRad="38100" dist="38100" dir="2700000" algn="tl">
                    <a:srgbClr val="C0C0C0"/>
                  </a:outerShdw>
                </a:effectLst>
              </a:rPr>
              <a:t>，因为</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和</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符号不同，且</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的</a:t>
            </a:r>
          </a:p>
          <a:p>
            <a:pPr eaLnBrk="1" hangingPunct="1">
              <a:defRPr/>
            </a:pPr>
            <a:r>
              <a:rPr lang="zh-CN" altLang="en-US" sz="3200" b="1">
                <a:effectLst>
                  <a:outerShdw blurRad="38100" dist="38100" dir="2700000" algn="tl">
                    <a:srgbClr val="C0C0C0"/>
                  </a:outerShdw>
                </a:effectLst>
              </a:rPr>
              <a:t>       绝对值大于</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，故进行：</a:t>
            </a:r>
          </a:p>
        </p:txBody>
      </p:sp>
      <p:sp>
        <p:nvSpPr>
          <p:cNvPr id="48140" name="Rectangle 12"/>
          <p:cNvSpPr>
            <a:spLocks noChangeArrowheads="1"/>
          </p:cNvSpPr>
          <p:nvPr/>
        </p:nvSpPr>
        <p:spPr bwMode="auto">
          <a:xfrm>
            <a:off x="304800" y="1885950"/>
            <a:ext cx="84391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0.1011</a:t>
            </a:r>
            <a:r>
              <a:rPr lang="zh-CN" altLang="en-US" sz="3200" b="1">
                <a:effectLst>
                  <a:outerShdw blurRad="38100" dist="38100" dir="2700000" algn="tl">
                    <a:srgbClr val="C0C0C0"/>
                  </a:outerShdw>
                </a:effectLst>
              </a:rPr>
              <a:t>，求  </a:t>
            </a:r>
          </a:p>
          <a:p>
            <a:pPr eaLnBrk="1" hangingPunct="1">
              <a:defRPr/>
            </a:pP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  </a:t>
            </a:r>
            <a:r>
              <a:rPr lang="zh-CN" altLang="en-US" sz="3200" b="1">
                <a:effectLst>
                  <a:outerShdw blurRad="38100" dist="38100" dir="2700000" algn="tl">
                    <a:srgbClr val="C0C0C0"/>
                  </a:outerShdw>
                </a:effectLst>
              </a:rPr>
              <a:t>和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p>
        </p:txBody>
      </p:sp>
      <p:sp>
        <p:nvSpPr>
          <p:cNvPr id="48141" name="Rectangle 13"/>
          <p:cNvSpPr>
            <a:spLocks noChangeArrowheads="1"/>
          </p:cNvSpPr>
          <p:nvPr/>
        </p:nvSpPr>
        <p:spPr bwMode="auto">
          <a:xfrm>
            <a:off x="349250" y="1173163"/>
            <a:ext cx="2632075"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一、原码运算</a:t>
            </a:r>
          </a:p>
        </p:txBody>
      </p:sp>
      <p:sp>
        <p:nvSpPr>
          <p:cNvPr id="48142" name="Rectangle 14"/>
          <p:cNvSpPr>
            <a:spLocks noChangeArrowheads="1"/>
          </p:cNvSpPr>
          <p:nvPr/>
        </p:nvSpPr>
        <p:spPr bwMode="auto">
          <a:xfrm>
            <a:off x="749300" y="5745163"/>
            <a:ext cx="7786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结果为正，所以</a:t>
            </a:r>
            <a:r>
              <a:rPr lang="en-US" altLang="zh-CN" sz="3200" b="1">
                <a:effectLst>
                  <a:outerShdw blurRad="38100" dist="38100" dir="2700000" algn="tl">
                    <a:srgbClr val="C0C0C0"/>
                  </a:outerShdw>
                </a:effectLst>
              </a:rPr>
              <a:t>X1+X2=[X1+X2]</a:t>
            </a:r>
            <a:r>
              <a:rPr lang="zh-CN" altLang="en-US" sz="3200" b="1" baseline="-30000">
                <a:effectLst>
                  <a:outerShdw blurRad="38100" dist="38100" dir="2700000" algn="tl">
                    <a:srgbClr val="C0C0C0"/>
                  </a:outerShdw>
                </a:effectLst>
              </a:rPr>
              <a:t>原</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0.1000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41"/>
                                        </p:tgtEl>
                                        <p:attrNameLst>
                                          <p:attrName>style.visibility</p:attrName>
                                        </p:attrNameLst>
                                      </p:cBhvr>
                                      <p:to>
                                        <p:strVal val="visible"/>
                                      </p:to>
                                    </p:set>
                                    <p:anim calcmode="lin" valueType="num">
                                      <p:cBhvr additive="base">
                                        <p:cTn id="7" dur="500" fill="hold"/>
                                        <p:tgtEl>
                                          <p:spTgt spid="48141"/>
                                        </p:tgtEl>
                                        <p:attrNameLst>
                                          <p:attrName>ppt_x</p:attrName>
                                        </p:attrNameLst>
                                      </p:cBhvr>
                                      <p:tavLst>
                                        <p:tav tm="0">
                                          <p:val>
                                            <p:strVal val="0-#ppt_w/2"/>
                                          </p:val>
                                        </p:tav>
                                        <p:tav tm="100000">
                                          <p:val>
                                            <p:strVal val="#ppt_x"/>
                                          </p:val>
                                        </p:tav>
                                      </p:tavLst>
                                    </p:anim>
                                    <p:anim calcmode="lin" valueType="num">
                                      <p:cBhvr additive="base">
                                        <p:cTn id="8" dur="500" fill="hold"/>
                                        <p:tgtEl>
                                          <p:spTgt spid="481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8140"/>
                                        </p:tgtEl>
                                        <p:attrNameLst>
                                          <p:attrName>style.visibility</p:attrName>
                                        </p:attrNameLst>
                                      </p:cBhvr>
                                      <p:to>
                                        <p:strVal val="visible"/>
                                      </p:to>
                                    </p:set>
                                    <p:animEffect transition="in" filter="blinds(horizontal)">
                                      <p:cBhvr>
                                        <p:cTn id="13" dur="500"/>
                                        <p:tgtEl>
                                          <p:spTgt spid="4814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8138"/>
                                        </p:tgtEl>
                                        <p:attrNameLst>
                                          <p:attrName>style.visibility</p:attrName>
                                        </p:attrNameLst>
                                      </p:cBhvr>
                                      <p:to>
                                        <p:strVal val="visible"/>
                                      </p:to>
                                    </p:set>
                                    <p:animEffect transition="in" filter="wipe(left)">
                                      <p:cBhvr>
                                        <p:cTn id="18" dur="500"/>
                                        <p:tgtEl>
                                          <p:spTgt spid="4813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8131"/>
                                        </p:tgtEl>
                                        <p:attrNameLst>
                                          <p:attrName>style.visibility</p:attrName>
                                        </p:attrNameLst>
                                      </p:cBhvr>
                                      <p:to>
                                        <p:strVal val="visible"/>
                                      </p:to>
                                    </p:set>
                                    <p:animEffect transition="in" filter="dissolve">
                                      <p:cBhvr>
                                        <p:cTn id="23" dur="500"/>
                                        <p:tgtEl>
                                          <p:spTgt spid="4813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8142"/>
                                        </p:tgtEl>
                                        <p:attrNameLst>
                                          <p:attrName>style.visibility</p:attrName>
                                        </p:attrNameLst>
                                      </p:cBhvr>
                                      <p:to>
                                        <p:strVal val="visible"/>
                                      </p:to>
                                    </p:set>
                                    <p:animEffect transition="in" filter="wipe(left)">
                                      <p:cBhvr>
                                        <p:cTn id="28" dur="500"/>
                                        <p:tgtEl>
                                          <p:spTgt spid="48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8" grpId="0" bldLvl="0" animBg="1" autoUpdateAnimBg="0"/>
      <p:bldP spid="48140" grpId="0" bldLvl="0" animBg="1" autoUpdateAnimBg="0"/>
      <p:bldP spid="48141" grpId="0" bldLvl="0" animBg="1" autoUpdateAnimBg="0"/>
      <p:bldP spid="48142"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54845E0-49F5-45A3-B677-FD6169FAACEC}" type="slidenum">
              <a:rPr lang="en-US" altLang="zh-CN" sz="1400" smtClean="0"/>
              <a:t>33</a:t>
            </a:fld>
            <a:endParaRPr lang="en-US" altLang="zh-CN" sz="1400"/>
          </a:p>
        </p:txBody>
      </p:sp>
      <p:sp>
        <p:nvSpPr>
          <p:cNvPr id="49154" name="Rectangle 2"/>
          <p:cNvSpPr>
            <a:spLocks noChangeArrowheads="1"/>
          </p:cNvSpPr>
          <p:nvPr/>
        </p:nvSpPr>
        <p:spPr bwMode="auto">
          <a:xfrm>
            <a:off x="685800" y="4572000"/>
            <a:ext cx="445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即：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原 </a:t>
            </a:r>
            <a:r>
              <a:rPr lang="en-US" altLang="zh-CN" sz="3200" b="1">
                <a:effectLst>
                  <a:outerShdw blurRad="38100" dist="38100" dir="2700000" algn="tl">
                    <a:srgbClr val="C0C0C0"/>
                  </a:outerShdw>
                </a:effectLst>
              </a:rPr>
              <a:t>=1.1110</a:t>
            </a:r>
          </a:p>
        </p:txBody>
      </p:sp>
      <p:sp>
        <p:nvSpPr>
          <p:cNvPr id="49155" name="Rectangle 3"/>
          <p:cNvSpPr>
            <a:spLocks noChangeArrowheads="1"/>
          </p:cNvSpPr>
          <p:nvPr/>
        </p:nvSpPr>
        <p:spPr bwMode="auto">
          <a:xfrm>
            <a:off x="533400" y="3886200"/>
            <a:ext cx="4743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所以，</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0.1110</a:t>
            </a:r>
          </a:p>
        </p:txBody>
      </p:sp>
      <p:grpSp>
        <p:nvGrpSpPr>
          <p:cNvPr id="49156" name="Group 4"/>
          <p:cNvGrpSpPr/>
          <p:nvPr/>
        </p:nvGrpSpPr>
        <p:grpSpPr bwMode="auto">
          <a:xfrm>
            <a:off x="3505200" y="1935163"/>
            <a:ext cx="1905000" cy="1798637"/>
            <a:chOff x="1104" y="1163"/>
            <a:chExt cx="1200" cy="1133"/>
          </a:xfrm>
        </p:grpSpPr>
        <p:sp>
          <p:nvSpPr>
            <p:cNvPr id="84999" name="Line 5"/>
            <p:cNvSpPr>
              <a:spLocks noChangeShapeType="1"/>
            </p:cNvSpPr>
            <p:nvPr/>
          </p:nvSpPr>
          <p:spPr bwMode="auto">
            <a:xfrm>
              <a:off x="1248" y="1920"/>
              <a:ext cx="105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158" name="Rectangle 6"/>
            <p:cNvSpPr>
              <a:spLocks noChangeArrowheads="1"/>
            </p:cNvSpPr>
            <p:nvPr/>
          </p:nvSpPr>
          <p:spPr bwMode="auto">
            <a:xfrm>
              <a:off x="1344" y="1931"/>
              <a:ext cx="8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0.1110</a:t>
              </a:r>
            </a:p>
          </p:txBody>
        </p:sp>
        <p:sp>
          <p:nvSpPr>
            <p:cNvPr id="49159" name="Rectangle 7"/>
            <p:cNvSpPr>
              <a:spLocks noChangeArrowheads="1"/>
            </p:cNvSpPr>
            <p:nvPr/>
          </p:nvSpPr>
          <p:spPr bwMode="auto">
            <a:xfrm>
              <a:off x="1104" y="1547"/>
              <a:ext cx="107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0.1011</a:t>
              </a:r>
            </a:p>
          </p:txBody>
        </p:sp>
        <p:sp>
          <p:nvSpPr>
            <p:cNvPr id="49160" name="Rectangle 8"/>
            <p:cNvSpPr>
              <a:spLocks noChangeArrowheads="1"/>
            </p:cNvSpPr>
            <p:nvPr/>
          </p:nvSpPr>
          <p:spPr bwMode="auto">
            <a:xfrm>
              <a:off x="1344" y="1163"/>
              <a:ext cx="8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0.0011</a:t>
              </a:r>
            </a:p>
          </p:txBody>
        </p:sp>
      </p:grpSp>
      <p:sp>
        <p:nvSpPr>
          <p:cNvPr id="49162" name="Rectangle 10"/>
          <p:cNvSpPr>
            <a:spLocks noChangeArrowheads="1"/>
          </p:cNvSpPr>
          <p:nvPr/>
        </p:nvSpPr>
        <p:spPr bwMode="auto">
          <a:xfrm>
            <a:off x="425450" y="331788"/>
            <a:ext cx="833755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而</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[0.1011]</a:t>
            </a:r>
            <a:r>
              <a:rPr lang="zh-CN" altLang="en-US" sz="3200" b="1">
                <a:effectLst>
                  <a:outerShdw blurRad="38100" dist="38100" dir="2700000" algn="tl">
                    <a:srgbClr val="C0C0C0"/>
                  </a:outerShdw>
                </a:effectLst>
              </a:rPr>
              <a:t>；因为这时</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符号相同，故作</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的运算，结果为负。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dissolve">
                                      <p:cBhvr>
                                        <p:cTn id="7" dur="500"/>
                                        <p:tgtEl>
                                          <p:spTgt spid="491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pRg st="0" end="0"/>
                                            </p:txEl>
                                          </p:spTgt>
                                        </p:tgtEl>
                                        <p:attrNameLst>
                                          <p:attrName>style.visibility</p:attrName>
                                        </p:attrNameLst>
                                      </p:cBhvr>
                                      <p:to>
                                        <p:strVal val="visible"/>
                                      </p:to>
                                    </p:set>
                                    <p:animEffect transition="in" filter="wipe(left)">
                                      <p:cBhvr>
                                        <p:cTn id="12" dur="500"/>
                                        <p:tgtEl>
                                          <p:spTgt spid="491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54">
                                            <p:txEl>
                                              <p:pRg st="0" end="0"/>
                                            </p:txEl>
                                          </p:spTgt>
                                        </p:tgtEl>
                                        <p:attrNameLst>
                                          <p:attrName>style.visibility</p:attrName>
                                        </p:attrNameLst>
                                      </p:cBhvr>
                                      <p:to>
                                        <p:strVal val="visible"/>
                                      </p:to>
                                    </p:set>
                                    <p:animEffect transition="in" filter="wipe(left)">
                                      <p:cBhvr>
                                        <p:cTn id="17" dur="500"/>
                                        <p:tgtEl>
                                          <p:spTgt spid="49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autoUpdateAnimBg="0"/>
      <p:bldP spid="4915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C6AB2CA-32AB-4251-90D2-43CAA5F52846}" type="slidenum">
              <a:rPr lang="en-US" altLang="zh-CN" sz="1400" smtClean="0"/>
              <a:t>34</a:t>
            </a:fld>
            <a:endParaRPr lang="en-US" altLang="zh-CN" sz="1400"/>
          </a:p>
        </p:txBody>
      </p:sp>
      <p:sp>
        <p:nvSpPr>
          <p:cNvPr id="50178" name="Rectangle 2"/>
          <p:cNvSpPr>
            <a:spLocks noChangeArrowheads="1"/>
          </p:cNvSpPr>
          <p:nvPr/>
        </p:nvSpPr>
        <p:spPr bwMode="auto">
          <a:xfrm>
            <a:off x="306388" y="220663"/>
            <a:ext cx="2836862"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二、补码运算</a:t>
            </a:r>
          </a:p>
        </p:txBody>
      </p:sp>
      <p:sp>
        <p:nvSpPr>
          <p:cNvPr id="50182" name="Rectangle 6"/>
          <p:cNvSpPr>
            <a:spLocks noChangeArrowheads="1"/>
          </p:cNvSpPr>
          <p:nvPr/>
        </p:nvSpPr>
        <p:spPr bwMode="auto">
          <a:xfrm>
            <a:off x="349250" y="990600"/>
            <a:ext cx="856615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a:effectLst>
                  <a:outerShdw blurRad="38100" dist="38100" dir="2700000" algn="tl">
                    <a:srgbClr val="C0C0C0"/>
                  </a:outerShdw>
                </a:effectLst>
              </a:rPr>
              <a:t>运算规则：两数和的补码等于两数的补码之和。而两数差的补码也可以用加法实现。</a:t>
            </a:r>
          </a:p>
        </p:txBody>
      </p:sp>
      <p:sp>
        <p:nvSpPr>
          <p:cNvPr id="50185" name="Rectangle 9"/>
          <p:cNvSpPr>
            <a:spLocks noChangeArrowheads="1"/>
          </p:cNvSpPr>
          <p:nvPr/>
        </p:nvSpPr>
        <p:spPr bwMode="auto">
          <a:xfrm>
            <a:off x="336550" y="3886200"/>
            <a:ext cx="8601075" cy="256698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运算时，符号位和数值位一样参加运算。如果符号位产生进位，则将进位“丢掉”。运算结果的符号位为</a:t>
            </a:r>
            <a:r>
              <a:rPr lang="en-US" altLang="zh-CN" sz="3200" b="1">
                <a:effectLst>
                  <a:outerShdw blurRad="38100" dist="38100" dir="2700000" algn="tl">
                    <a:srgbClr val="C0C0C0"/>
                  </a:outerShdw>
                </a:effectLst>
              </a:rPr>
              <a:t>0</a:t>
            </a:r>
            <a:r>
              <a:rPr lang="zh-CN" altLang="en-US" sz="3200" b="1">
                <a:effectLst>
                  <a:outerShdw blurRad="38100" dist="38100" dir="2700000" algn="tl">
                    <a:srgbClr val="C0C0C0"/>
                  </a:outerShdw>
                </a:effectLst>
              </a:rPr>
              <a:t>时，说明是正数的补码，其与原码相同。符</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号位为</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时，说明是负数的补码，应再对运算结果再求补码，才得到原码。</a:t>
            </a:r>
          </a:p>
        </p:txBody>
      </p:sp>
      <p:sp>
        <p:nvSpPr>
          <p:cNvPr id="50188" name="Rectangle 12"/>
          <p:cNvSpPr>
            <a:spLocks noChangeArrowheads="1"/>
          </p:cNvSpPr>
          <p:nvPr/>
        </p:nvSpPr>
        <p:spPr bwMode="auto">
          <a:xfrm>
            <a:off x="1676400" y="2286000"/>
            <a:ext cx="501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p>
        </p:txBody>
      </p:sp>
      <p:sp>
        <p:nvSpPr>
          <p:cNvPr id="50189" name="Rectangle 13"/>
          <p:cNvSpPr>
            <a:spLocks noChangeArrowheads="1"/>
          </p:cNvSpPr>
          <p:nvPr/>
        </p:nvSpPr>
        <p:spPr bwMode="auto">
          <a:xfrm>
            <a:off x="1679575" y="3001963"/>
            <a:ext cx="5418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182"/>
                                        </p:tgtEl>
                                        <p:attrNameLst>
                                          <p:attrName>style.visibility</p:attrName>
                                        </p:attrNameLst>
                                      </p:cBhvr>
                                      <p:to>
                                        <p:strVal val="visible"/>
                                      </p:to>
                                    </p:set>
                                    <p:animEffect transition="in" filter="box(in)">
                                      <p:cBhvr>
                                        <p:cTn id="7" dur="500"/>
                                        <p:tgtEl>
                                          <p:spTgt spid="501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0188"/>
                                        </p:tgtEl>
                                        <p:attrNameLst>
                                          <p:attrName>style.visibility</p:attrName>
                                        </p:attrNameLst>
                                      </p:cBhvr>
                                      <p:to>
                                        <p:strVal val="visible"/>
                                      </p:to>
                                    </p:set>
                                    <p:anim calcmode="lin" valueType="num">
                                      <p:cBhvr additive="base">
                                        <p:cTn id="12" dur="500" fill="hold"/>
                                        <p:tgtEl>
                                          <p:spTgt spid="50188"/>
                                        </p:tgtEl>
                                        <p:attrNameLst>
                                          <p:attrName>ppt_x</p:attrName>
                                        </p:attrNameLst>
                                      </p:cBhvr>
                                      <p:tavLst>
                                        <p:tav tm="0">
                                          <p:val>
                                            <p:strVal val="0-#ppt_w/2"/>
                                          </p:val>
                                        </p:tav>
                                        <p:tav tm="100000">
                                          <p:val>
                                            <p:strVal val="#ppt_x"/>
                                          </p:val>
                                        </p:tav>
                                      </p:tavLst>
                                    </p:anim>
                                    <p:anim calcmode="lin" valueType="num">
                                      <p:cBhvr additive="base">
                                        <p:cTn id="13" dur="500" fill="hold"/>
                                        <p:tgtEl>
                                          <p:spTgt spid="5018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0189"/>
                                        </p:tgtEl>
                                        <p:attrNameLst>
                                          <p:attrName>style.visibility</p:attrName>
                                        </p:attrNameLst>
                                      </p:cBhvr>
                                      <p:to>
                                        <p:strVal val="visible"/>
                                      </p:to>
                                    </p:set>
                                    <p:anim calcmode="lin" valueType="num">
                                      <p:cBhvr additive="base">
                                        <p:cTn id="18" dur="500" fill="hold"/>
                                        <p:tgtEl>
                                          <p:spTgt spid="50189"/>
                                        </p:tgtEl>
                                        <p:attrNameLst>
                                          <p:attrName>ppt_x</p:attrName>
                                        </p:attrNameLst>
                                      </p:cBhvr>
                                      <p:tavLst>
                                        <p:tav tm="0">
                                          <p:val>
                                            <p:strVal val="0-#ppt_w/2"/>
                                          </p:val>
                                        </p:tav>
                                        <p:tav tm="100000">
                                          <p:val>
                                            <p:strVal val="#ppt_x"/>
                                          </p:val>
                                        </p:tav>
                                      </p:tavLst>
                                    </p:anim>
                                    <p:anim calcmode="lin" valueType="num">
                                      <p:cBhvr additive="base">
                                        <p:cTn id="19" dur="500" fill="hold"/>
                                        <p:tgtEl>
                                          <p:spTgt spid="5018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0185"/>
                                        </p:tgtEl>
                                        <p:attrNameLst>
                                          <p:attrName>style.visibility</p:attrName>
                                        </p:attrNameLst>
                                      </p:cBhvr>
                                      <p:to>
                                        <p:strVal val="visible"/>
                                      </p:to>
                                    </p:set>
                                    <p:animEffect transition="in" filter="box(in)">
                                      <p:cBhvr>
                                        <p:cTn id="24" dur="500"/>
                                        <p:tgtEl>
                                          <p:spTgt spid="50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2" grpId="0" bldLvl="0" animBg="1" autoUpdateAnimBg="0"/>
      <p:bldP spid="50185" grpId="0" bldLvl="0" animBg="1" autoUpdateAnimBg="0"/>
      <p:bldP spid="50188" grpId="0" bldLvl="0" animBg="1" autoUpdateAnimBg="0"/>
      <p:bldP spid="50189"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A1B477D-6B5A-4857-97E4-A74C0FF55B9D}" type="slidenum">
              <a:rPr lang="en-US" altLang="zh-CN" sz="1400" smtClean="0">
                <a:solidFill>
                  <a:srgbClr val="FF0000"/>
                </a:solidFill>
              </a:rPr>
              <a:t>35</a:t>
            </a:fld>
            <a:endParaRPr lang="en-US" altLang="zh-CN" sz="1400">
              <a:solidFill>
                <a:srgbClr val="FF0000"/>
              </a:solidFill>
            </a:endParaRPr>
          </a:p>
        </p:txBody>
      </p:sp>
      <p:sp>
        <p:nvSpPr>
          <p:cNvPr id="51202" name="Rectangle 2"/>
          <p:cNvSpPr>
            <a:spLocks noChangeArrowheads="1"/>
          </p:cNvSpPr>
          <p:nvPr/>
        </p:nvSpPr>
        <p:spPr bwMode="auto">
          <a:xfrm>
            <a:off x="374650" y="44450"/>
            <a:ext cx="8388350"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dirty="0">
                <a:effectLst>
                  <a:outerShdw blurRad="38100" dist="38100" dir="2700000" algn="tl">
                    <a:srgbClr val="C0C0C0"/>
                  </a:outerShdw>
                </a:effectLst>
              </a:rPr>
              <a:t>  </a:t>
            </a:r>
            <a:r>
              <a:rPr lang="zh-CN" altLang="en-US" sz="3200" b="1" dirty="0">
                <a:effectLst>
                  <a:outerShdw blurRad="38100" dist="38100" dir="2700000" algn="tl">
                    <a:srgbClr val="C0C0C0"/>
                  </a:outerShdw>
                </a:effectLst>
              </a:rPr>
              <a:t>例： </a:t>
            </a: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0.1100</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0.0010</a:t>
            </a:r>
            <a:r>
              <a:rPr lang="zh-CN" altLang="en-US" sz="3200" b="1" dirty="0">
                <a:effectLst>
                  <a:outerShdw blurRad="38100" dist="38100" dir="2700000" algn="tl">
                    <a:srgbClr val="C0C0C0"/>
                  </a:outerShdw>
                </a:effectLst>
              </a:rPr>
              <a:t>，</a:t>
            </a:r>
          </a:p>
          <a:p>
            <a:pPr eaLnBrk="1" hangingPunct="1">
              <a:spcBef>
                <a:spcPct val="20000"/>
              </a:spcBef>
              <a:defRPr/>
            </a:pPr>
            <a:r>
              <a:rPr lang="zh-CN" altLang="en-US" sz="3200" b="1" dirty="0">
                <a:effectLst>
                  <a:outerShdw blurRad="38100" dist="38100" dir="2700000" algn="tl">
                    <a:srgbClr val="C0C0C0"/>
                  </a:outerShdw>
                </a:effectLst>
              </a:rPr>
              <a:t>          求 </a:t>
            </a: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补 </a:t>
            </a:r>
            <a:r>
              <a:rPr lang="zh-CN" altLang="en-US" sz="3200" b="1" dirty="0">
                <a:effectLst>
                  <a:outerShdw blurRad="38100" dist="38100" dir="2700000" algn="tl">
                    <a:srgbClr val="C0C0C0"/>
                  </a:outerShdw>
                </a:effectLst>
              </a:rPr>
              <a:t>和 </a:t>
            </a: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补 </a:t>
            </a:r>
            <a:r>
              <a:rPr lang="zh-CN" altLang="en-US" sz="3200" b="1" dirty="0">
                <a:effectLst>
                  <a:outerShdw blurRad="38100" dist="38100" dir="2700000" algn="tl">
                    <a:srgbClr val="C0C0C0"/>
                  </a:outerShdw>
                </a:effectLst>
              </a:rPr>
              <a:t>。</a:t>
            </a:r>
          </a:p>
        </p:txBody>
      </p:sp>
      <p:sp>
        <p:nvSpPr>
          <p:cNvPr id="51205" name="Rectangle 5"/>
          <p:cNvSpPr>
            <a:spLocks noChangeArrowheads="1"/>
          </p:cNvSpPr>
          <p:nvPr/>
        </p:nvSpPr>
        <p:spPr bwMode="auto">
          <a:xfrm>
            <a:off x="515938" y="1208088"/>
            <a:ext cx="8083550"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dirty="0">
                <a:effectLst>
                  <a:outerShdw blurRad="38100" dist="38100" dir="2700000" algn="tl">
                    <a:srgbClr val="C0C0C0"/>
                  </a:outerShdw>
                </a:effectLst>
              </a:rPr>
              <a:t>解：</a:t>
            </a:r>
            <a:r>
              <a:rPr lang="en-US" altLang="zh-CN" sz="3200" b="1" dirty="0">
                <a:effectLst>
                  <a:outerShdw blurRad="38100" dist="38100" dir="2700000" algn="tl">
                    <a:srgbClr val="C0C0C0"/>
                  </a:outerShdw>
                </a:effectLst>
              </a:rPr>
              <a:t>  [X1]</a:t>
            </a:r>
            <a:r>
              <a:rPr lang="zh-CN" altLang="en-US" sz="3200" b="1" baseline="-30000" dirty="0">
                <a:effectLst>
                  <a:outerShdw blurRad="38100" dist="38100" dir="2700000" algn="tl">
                    <a:srgbClr val="C0C0C0"/>
                  </a:outerShdw>
                </a:effectLst>
              </a:rPr>
              <a:t>补</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1.0011+0.0001=1.0100</a:t>
            </a:r>
          </a:p>
          <a:p>
            <a:pPr eaLnBrk="1" hangingPunct="1">
              <a:defRPr/>
            </a:pPr>
            <a:r>
              <a:rPr lang="en-US" altLang="zh-CN" sz="3200" b="1" dirty="0">
                <a:effectLst>
                  <a:outerShdw blurRad="38100" dist="38100" dir="2700000" algn="tl">
                    <a:srgbClr val="C0C0C0"/>
                  </a:outerShdw>
                </a:effectLst>
              </a:rPr>
              <a:t>	 [X2]</a:t>
            </a:r>
            <a:r>
              <a:rPr lang="zh-CN" altLang="en-US" sz="3200" b="1" baseline="-30000" dirty="0">
                <a:effectLst>
                  <a:outerShdw blurRad="38100" dist="38100" dir="2700000" algn="tl">
                    <a:srgbClr val="C0C0C0"/>
                  </a:outerShdw>
                </a:effectLst>
              </a:rPr>
              <a:t>补</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1.1101+0.0001=1.1110</a:t>
            </a:r>
          </a:p>
          <a:p>
            <a:pPr eaLnBrk="1" hangingPunct="1">
              <a:defRPr/>
            </a:pPr>
            <a:r>
              <a:rPr lang="en-US" altLang="zh-CN" sz="3200" b="1" dirty="0">
                <a:effectLst>
                  <a:outerShdw blurRad="38100" dist="38100" dir="2700000" algn="tl">
                    <a:srgbClr val="C0C0C0"/>
                  </a:outerShdw>
                </a:effectLst>
              </a:rPr>
              <a:t>	 [X1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补</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[X1]</a:t>
            </a:r>
            <a:r>
              <a:rPr lang="zh-CN" altLang="en-US" sz="3200" b="1" baseline="-30000" dirty="0">
                <a:effectLst>
                  <a:outerShdw blurRad="38100" dist="38100" dir="2700000" algn="tl">
                    <a:srgbClr val="C0C0C0"/>
                  </a:outerShdw>
                </a:effectLst>
              </a:rPr>
              <a:t>补</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补</a:t>
            </a:r>
          </a:p>
          <a:p>
            <a:pPr eaLnBrk="1" hangingPunct="1">
              <a:defRPr/>
            </a:pPr>
            <a:r>
              <a:rPr lang="zh-CN" altLang="en-US" sz="3200" b="1" baseline="-30000" dirty="0">
                <a:effectLst>
                  <a:outerShdw blurRad="38100" dist="38100" dir="2700000" algn="tl">
                    <a:srgbClr val="C0C0C0"/>
                  </a:outerShdw>
                </a:effectLst>
              </a:rPr>
              <a:t>                                            </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1.0100</a:t>
            </a:r>
            <a:r>
              <a:rPr lang="zh-CN" altLang="en-US" sz="3200"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1.1110</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1.0010</a:t>
            </a:r>
          </a:p>
        </p:txBody>
      </p:sp>
      <p:grpSp>
        <p:nvGrpSpPr>
          <p:cNvPr id="51207" name="Group 7"/>
          <p:cNvGrpSpPr/>
          <p:nvPr/>
        </p:nvGrpSpPr>
        <p:grpSpPr bwMode="auto">
          <a:xfrm>
            <a:off x="3213100" y="3195638"/>
            <a:ext cx="3203575" cy="1747837"/>
            <a:chOff x="295" y="2296"/>
            <a:chExt cx="2018" cy="1101"/>
          </a:xfrm>
        </p:grpSpPr>
        <p:sp>
          <p:nvSpPr>
            <p:cNvPr id="51208" name="Rectangle 8"/>
            <p:cNvSpPr>
              <a:spLocks noChangeArrowheads="1"/>
            </p:cNvSpPr>
            <p:nvPr/>
          </p:nvSpPr>
          <p:spPr bwMode="auto">
            <a:xfrm>
              <a:off x="295" y="2296"/>
              <a:ext cx="2018" cy="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dirty="0">
                  <a:effectLst>
                    <a:outerShdw blurRad="38100" dist="38100" dir="2700000" algn="tl">
                      <a:srgbClr val="C0C0C0"/>
                    </a:outerShdw>
                  </a:effectLst>
                </a:rPr>
                <a:t>      1.0100</a:t>
              </a:r>
            </a:p>
            <a:p>
              <a:pPr eaLnBrk="1" hangingPunct="1">
                <a:spcBef>
                  <a:spcPct val="20000"/>
                </a:spcBef>
                <a:defRPr/>
              </a:pPr>
              <a:r>
                <a:rPr lang="en-US" altLang="zh-CN" sz="3200" b="1" dirty="0">
                  <a:effectLst>
                    <a:outerShdw blurRad="38100" dist="38100" dir="2700000" algn="tl">
                      <a:srgbClr val="C0C0C0"/>
                    </a:outerShdw>
                  </a:effectLst>
                </a:rPr>
                <a:t> +   1.1110</a:t>
              </a:r>
            </a:p>
            <a:p>
              <a:pPr eaLnBrk="1" hangingPunct="1">
                <a:spcBef>
                  <a:spcPct val="20000"/>
                </a:spcBef>
                <a:defRPr/>
              </a:pPr>
              <a:r>
                <a:rPr lang="en-US" altLang="zh-CN" sz="3200" b="1" dirty="0">
                  <a:effectLst>
                    <a:outerShdw blurRad="38100" dist="38100" dir="2700000" algn="tl">
                      <a:srgbClr val="C0C0C0"/>
                    </a:outerShdw>
                  </a:effectLst>
                </a:rPr>
                <a:t>  [1]1.0010     </a:t>
              </a:r>
            </a:p>
          </p:txBody>
        </p:sp>
        <p:sp>
          <p:nvSpPr>
            <p:cNvPr id="89098" name="Line 9"/>
            <p:cNvSpPr>
              <a:spLocks noChangeShapeType="1"/>
            </p:cNvSpPr>
            <p:nvPr/>
          </p:nvSpPr>
          <p:spPr bwMode="auto">
            <a:xfrm>
              <a:off x="295" y="3067"/>
              <a:ext cx="133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1210" name="Rectangle 10"/>
          <p:cNvSpPr>
            <a:spLocks noChangeArrowheads="1"/>
          </p:cNvSpPr>
          <p:nvPr/>
        </p:nvSpPr>
        <p:spPr bwMode="auto">
          <a:xfrm>
            <a:off x="868363" y="4943475"/>
            <a:ext cx="7731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dirty="0">
                <a:effectLst>
                  <a:outerShdw blurRad="38100" dist="38100" dir="2700000" algn="tl">
                    <a:srgbClr val="C0C0C0"/>
                  </a:outerShdw>
                </a:effectLst>
              </a:rPr>
              <a:t>因为符号位为</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，故应再对其求补得原码。</a:t>
            </a:r>
          </a:p>
        </p:txBody>
      </p:sp>
      <p:sp>
        <p:nvSpPr>
          <p:cNvPr id="51211" name="Rectangle 11"/>
          <p:cNvSpPr>
            <a:spLocks noChangeArrowheads="1"/>
          </p:cNvSpPr>
          <p:nvPr/>
        </p:nvSpPr>
        <p:spPr bwMode="auto">
          <a:xfrm>
            <a:off x="877888" y="5513388"/>
            <a:ext cx="8394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补</a:t>
            </a:r>
            <a:r>
              <a:rPr lang="en-US" altLang="zh-CN" sz="3200" b="1" dirty="0">
                <a:effectLst>
                  <a:outerShdw blurRad="38100" dist="38100" dir="2700000" algn="tl">
                    <a:srgbClr val="C0C0C0"/>
                  </a:outerShdw>
                </a:effectLst>
              </a:rPr>
              <a:t>=1.0010</a:t>
            </a:r>
            <a:r>
              <a:rPr lang="zh-CN" altLang="en-US" sz="3200" b="1" dirty="0">
                <a:effectLst>
                  <a:outerShdw blurRad="38100" dist="38100" dir="2700000" algn="tl">
                    <a:srgbClr val="C0C0C0"/>
                  </a:outerShdw>
                </a:effectLst>
              </a:rPr>
              <a:t>，所以</a:t>
            </a: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baseline="-30000" dirty="0">
                <a:effectLst>
                  <a:outerShdw blurRad="38100" dist="38100" dir="2700000" algn="tl">
                    <a:srgbClr val="C0C0C0"/>
                  </a:outerShdw>
                </a:effectLst>
              </a:rPr>
              <a:t>原</a:t>
            </a:r>
            <a:r>
              <a:rPr lang="en-US" altLang="zh-CN" sz="3200" b="1" dirty="0">
                <a:effectLst>
                  <a:outerShdw blurRad="38100" dist="38100" dir="2700000" algn="tl">
                    <a:srgbClr val="C0C0C0"/>
                  </a:outerShdw>
                </a:effectLst>
              </a:rPr>
              <a:t>=1.1110</a:t>
            </a:r>
            <a:r>
              <a:rPr lang="zh-CN" altLang="en-US" sz="3200" b="1" dirty="0">
                <a:effectLst>
                  <a:outerShdw blurRad="38100" dist="38100" dir="2700000" algn="tl">
                    <a:srgbClr val="C0C0C0"/>
                  </a:outerShdw>
                </a:effectLst>
              </a:rPr>
              <a:t>。</a:t>
            </a:r>
          </a:p>
        </p:txBody>
      </p:sp>
      <p:sp>
        <p:nvSpPr>
          <p:cNvPr id="51212" name="Rectangle 12"/>
          <p:cNvSpPr>
            <a:spLocks noChangeArrowheads="1"/>
          </p:cNvSpPr>
          <p:nvPr/>
        </p:nvSpPr>
        <p:spPr bwMode="auto">
          <a:xfrm>
            <a:off x="841375" y="6092825"/>
            <a:ext cx="67833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dirty="0">
                <a:effectLst>
                  <a:outerShdw blurRad="38100" dist="38100" dir="2700000" algn="tl">
                    <a:srgbClr val="C0C0C0"/>
                  </a:outerShdw>
                </a:effectLst>
              </a:rPr>
              <a:t>因此其真值为：</a:t>
            </a:r>
            <a:r>
              <a:rPr lang="en-US" altLang="zh-CN" sz="3200" b="1" dirty="0">
                <a:effectLst>
                  <a:outerShdw blurRad="38100" dist="38100" dir="2700000" algn="tl">
                    <a:srgbClr val="C0C0C0"/>
                  </a:outerShdw>
                </a:effectLst>
              </a:rPr>
              <a:t>X1</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X2</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0.1110</a:t>
            </a:r>
            <a:r>
              <a:rPr lang="zh-CN" altLang="en-US" sz="3200" b="1" dirty="0">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left)">
                                      <p:cBhvr>
                                        <p:cTn id="7" dur="500"/>
                                        <p:tgtEl>
                                          <p:spTgt spid="512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1207"/>
                                        </p:tgtEl>
                                        <p:attrNameLst>
                                          <p:attrName>style.visibility</p:attrName>
                                        </p:attrNameLst>
                                      </p:cBhvr>
                                      <p:to>
                                        <p:strVal val="visible"/>
                                      </p:to>
                                    </p:set>
                                    <p:animEffect transition="in" filter="dissolve">
                                      <p:cBhvr>
                                        <p:cTn id="12" dur="500"/>
                                        <p:tgtEl>
                                          <p:spTgt spid="512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10"/>
                                        </p:tgtEl>
                                        <p:attrNameLst>
                                          <p:attrName>style.visibility</p:attrName>
                                        </p:attrNameLst>
                                      </p:cBhvr>
                                      <p:to>
                                        <p:strVal val="visible"/>
                                      </p:to>
                                    </p:set>
                                    <p:animEffect transition="in" filter="wipe(left)">
                                      <p:cBhvr>
                                        <p:cTn id="17" dur="500"/>
                                        <p:tgtEl>
                                          <p:spTgt spid="512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11"/>
                                        </p:tgtEl>
                                        <p:attrNameLst>
                                          <p:attrName>style.visibility</p:attrName>
                                        </p:attrNameLst>
                                      </p:cBhvr>
                                      <p:to>
                                        <p:strVal val="visible"/>
                                      </p:to>
                                    </p:set>
                                    <p:animEffect transition="in" filter="wipe(left)">
                                      <p:cBhvr>
                                        <p:cTn id="22" dur="500"/>
                                        <p:tgtEl>
                                          <p:spTgt spid="512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12"/>
                                        </p:tgtEl>
                                        <p:attrNameLst>
                                          <p:attrName>style.visibility</p:attrName>
                                        </p:attrNameLst>
                                      </p:cBhvr>
                                      <p:to>
                                        <p:strVal val="visible"/>
                                      </p:to>
                                    </p:set>
                                    <p:animEffect transition="in" filter="wipe(left)">
                                      <p:cBhvr>
                                        <p:cTn id="27" dur="500"/>
                                        <p:tgtEl>
                                          <p:spTgt spid="51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bldLvl="0" animBg="1" autoUpdateAnimBg="0"/>
      <p:bldP spid="51210" grpId="0" bldLvl="0" animBg="1" autoUpdateAnimBg="0"/>
      <p:bldP spid="51211" grpId="0" bldLvl="0" animBg="1" autoUpdateAnimBg="0"/>
      <p:bldP spid="51212" grpId="0" bldLvl="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BF6A91C-8536-456F-8D5F-4AF5F0F2BAF1}" type="slidenum">
              <a:rPr lang="en-US" altLang="zh-CN" sz="1400" smtClean="0"/>
              <a:t>36</a:t>
            </a:fld>
            <a:endParaRPr lang="en-US" altLang="zh-CN" sz="1400"/>
          </a:p>
        </p:txBody>
      </p:sp>
      <p:sp>
        <p:nvSpPr>
          <p:cNvPr id="52226" name="Rectangle 2"/>
          <p:cNvSpPr>
            <a:spLocks noChangeArrowheads="1"/>
          </p:cNvSpPr>
          <p:nvPr/>
        </p:nvSpPr>
        <p:spPr bwMode="auto">
          <a:xfrm>
            <a:off x="539750" y="1143000"/>
            <a:ext cx="7494588"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又：</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p>
          <a:p>
            <a:pPr eaLnBrk="1" hangingPunct="1">
              <a:defRPr/>
            </a:pPr>
            <a:r>
              <a:rPr lang="zh-CN" altLang="en-US" sz="3200" b="1" baseline="-30000">
                <a:effectLst>
                  <a:outerShdw blurRad="38100" dist="38100" dir="2700000" algn="tl">
                    <a:srgbClr val="C0C0C0"/>
                  </a:outerShdw>
                </a:effectLst>
              </a:rPr>
              <a:t>                                         </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1.0110</a:t>
            </a:r>
          </a:p>
          <a:p>
            <a:pPr eaLnBrk="1" hangingPunct="1">
              <a:defRPr/>
            </a:pPr>
            <a:endParaRPr lang="en-US" altLang="zh-CN" sz="3200" b="1">
              <a:effectLst>
                <a:outerShdw blurRad="38100" dist="38100" dir="2700000" algn="tl">
                  <a:srgbClr val="C0C0C0"/>
                </a:outerShdw>
              </a:effectLst>
            </a:endParaRPr>
          </a:p>
        </p:txBody>
      </p:sp>
      <p:sp>
        <p:nvSpPr>
          <p:cNvPr id="52228" name="Rectangle 4"/>
          <p:cNvSpPr>
            <a:spLocks noChangeArrowheads="1"/>
          </p:cNvSpPr>
          <p:nvPr/>
        </p:nvSpPr>
        <p:spPr bwMode="auto">
          <a:xfrm>
            <a:off x="533400" y="4127500"/>
            <a:ext cx="5502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再求补得：</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原</a:t>
            </a:r>
            <a:r>
              <a:rPr lang="en-US" altLang="zh-CN" sz="3200" b="1">
                <a:effectLst>
                  <a:outerShdw blurRad="38100" dist="38100" dir="2700000" algn="tl">
                    <a:srgbClr val="C0C0C0"/>
                  </a:outerShdw>
                </a:effectLst>
              </a:rPr>
              <a:t>=1.1010</a:t>
            </a:r>
          </a:p>
        </p:txBody>
      </p:sp>
      <p:sp>
        <p:nvSpPr>
          <p:cNvPr id="52229" name="Rectangle 5"/>
          <p:cNvSpPr>
            <a:spLocks noChangeArrowheads="1"/>
          </p:cNvSpPr>
          <p:nvPr/>
        </p:nvSpPr>
        <p:spPr bwMode="auto">
          <a:xfrm>
            <a:off x="533400" y="5135563"/>
            <a:ext cx="5559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其真值为：</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0.1010</a:t>
            </a:r>
          </a:p>
        </p:txBody>
      </p:sp>
      <p:grpSp>
        <p:nvGrpSpPr>
          <p:cNvPr id="52230" name="Group 6"/>
          <p:cNvGrpSpPr/>
          <p:nvPr/>
        </p:nvGrpSpPr>
        <p:grpSpPr bwMode="auto">
          <a:xfrm>
            <a:off x="3089275" y="2286000"/>
            <a:ext cx="2016125" cy="1554163"/>
            <a:chOff x="295" y="1117"/>
            <a:chExt cx="1270" cy="979"/>
          </a:xfrm>
        </p:grpSpPr>
        <p:sp>
          <p:nvSpPr>
            <p:cNvPr id="52231" name="Rectangle 7"/>
            <p:cNvSpPr>
              <a:spLocks noChangeArrowheads="1"/>
            </p:cNvSpPr>
            <p:nvPr/>
          </p:nvSpPr>
          <p:spPr bwMode="auto">
            <a:xfrm>
              <a:off x="295" y="1117"/>
              <a:ext cx="1201" cy="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1.0100</a:t>
              </a:r>
            </a:p>
            <a:p>
              <a:pPr eaLnBrk="1" hangingPunct="1">
                <a:defRPr/>
              </a:pPr>
              <a:r>
                <a:rPr lang="en-US" altLang="zh-CN" sz="3200" b="1">
                  <a:effectLst>
                    <a:outerShdw blurRad="38100" dist="38100" dir="2700000" algn="tl">
                      <a:srgbClr val="C0C0C0"/>
                    </a:outerShdw>
                  </a:effectLst>
                </a:rPr>
                <a:t>+  0.0010</a:t>
              </a:r>
            </a:p>
            <a:p>
              <a:pPr eaLnBrk="1" hangingPunct="1">
                <a:defRPr/>
              </a:pPr>
              <a:r>
                <a:rPr lang="en-US" altLang="zh-CN" sz="3200" b="1">
                  <a:effectLst>
                    <a:outerShdw blurRad="38100" dist="38100" dir="2700000" algn="tl">
                      <a:srgbClr val="C0C0C0"/>
                    </a:outerShdw>
                  </a:effectLst>
                </a:rPr>
                <a:t>    1.0110</a:t>
              </a:r>
            </a:p>
          </p:txBody>
        </p:sp>
        <p:sp>
          <p:nvSpPr>
            <p:cNvPr id="91145" name="Line 8"/>
            <p:cNvSpPr>
              <a:spLocks noChangeShapeType="1"/>
            </p:cNvSpPr>
            <p:nvPr/>
          </p:nvSpPr>
          <p:spPr bwMode="auto">
            <a:xfrm>
              <a:off x="295" y="1752"/>
              <a:ext cx="127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2233" name="Rectangle 9"/>
          <p:cNvSpPr>
            <a:spLocks noChangeArrowheads="1"/>
          </p:cNvSpPr>
          <p:nvPr/>
        </p:nvSpPr>
        <p:spPr bwMode="auto">
          <a:xfrm>
            <a:off x="215900" y="322263"/>
            <a:ext cx="7140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原值</a:t>
            </a:r>
            <a:r>
              <a:rPr lang="en-US" altLang="zh-CN" sz="3200" b="1">
                <a:effectLst>
                  <a:outerShdw blurRad="38100" dist="38100" dir="2700000" algn="tl">
                    <a:srgbClr val="C0C0C0"/>
                  </a:outerShdw>
                </a:effectLst>
              </a:rPr>
              <a:t>: 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0.1100          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dissolve">
                                      <p:cBhvr>
                                        <p:cTn id="12" dur="500"/>
                                        <p:tgtEl>
                                          <p:spTgt spid="522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8"/>
                                        </p:tgtEl>
                                        <p:attrNameLst>
                                          <p:attrName>style.visibility</p:attrName>
                                        </p:attrNameLst>
                                      </p:cBhvr>
                                      <p:to>
                                        <p:strVal val="visible"/>
                                      </p:to>
                                    </p:set>
                                    <p:animEffect transition="in" filter="wipe(left)">
                                      <p:cBhvr>
                                        <p:cTn id="17" dur="500"/>
                                        <p:tgtEl>
                                          <p:spTgt spid="522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9"/>
                                        </p:tgtEl>
                                        <p:attrNameLst>
                                          <p:attrName>style.visibility</p:attrName>
                                        </p:attrNameLst>
                                      </p:cBhvr>
                                      <p:to>
                                        <p:strVal val="visible"/>
                                      </p:to>
                                    </p:set>
                                    <p:animEffect transition="in" filter="wipe(left)">
                                      <p:cBhvr>
                                        <p:cTn id="22" dur="5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ldLvl="0" animBg="1" autoUpdateAnimBg="0"/>
      <p:bldP spid="52228" grpId="0" bldLvl="0" animBg="1" autoUpdateAnimBg="0"/>
      <p:bldP spid="52229"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AAF9786-7230-485F-B627-5C33466FA8C6}" type="slidenum">
              <a:rPr lang="en-US" altLang="zh-CN" sz="1400" smtClean="0"/>
              <a:t>37</a:t>
            </a:fld>
            <a:endParaRPr lang="en-US" altLang="zh-CN" sz="1400"/>
          </a:p>
        </p:txBody>
      </p:sp>
      <p:sp>
        <p:nvSpPr>
          <p:cNvPr id="53250" name="Rectangle 2"/>
          <p:cNvSpPr>
            <a:spLocks noChangeArrowheads="1"/>
          </p:cNvSpPr>
          <p:nvPr/>
        </p:nvSpPr>
        <p:spPr bwMode="auto">
          <a:xfrm>
            <a:off x="349250" y="228600"/>
            <a:ext cx="2632075"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Arial Black" panose="020B0A04020102020204" pitchFamily="34" charset="0"/>
                <a:ea typeface="黑体" panose="02010609060101010101" pitchFamily="49" charset="-122"/>
              </a:rPr>
              <a:t>三、反码运算</a:t>
            </a:r>
          </a:p>
        </p:txBody>
      </p:sp>
      <p:sp>
        <p:nvSpPr>
          <p:cNvPr id="53251" name="Rectangle 3"/>
          <p:cNvSpPr>
            <a:spLocks noChangeArrowheads="1"/>
          </p:cNvSpPr>
          <p:nvPr/>
        </p:nvSpPr>
        <p:spPr bwMode="auto">
          <a:xfrm>
            <a:off x="533400" y="990600"/>
            <a:ext cx="8229600"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b="1">
                <a:effectLst>
                  <a:outerShdw blurRad="38100" dist="38100" dir="2700000" algn="tl">
                    <a:srgbClr val="C0C0C0"/>
                  </a:outerShdw>
                </a:effectLst>
              </a:rPr>
              <a:t>运算规则：</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p>
          <a:p>
            <a:pPr eaLnBrk="1" hangingPunct="1">
              <a:spcBef>
                <a:spcPct val="20000"/>
              </a:spcBef>
              <a:defRPr/>
            </a:pPr>
            <a:r>
              <a:rPr lang="zh-CN" altLang="en-US" sz="3200" b="1">
                <a:effectLst>
                  <a:outerShdw blurRad="38100" dist="38100" dir="2700000" algn="tl">
                    <a:srgbClr val="C0C0C0"/>
                  </a:outerShdw>
                </a:effectLst>
              </a:rPr>
              <a:t>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p>
        </p:txBody>
      </p:sp>
      <p:sp>
        <p:nvSpPr>
          <p:cNvPr id="53254" name="Rectangle 6"/>
          <p:cNvSpPr>
            <a:spLocks noChangeArrowheads="1"/>
          </p:cNvSpPr>
          <p:nvPr/>
        </p:nvSpPr>
        <p:spPr bwMode="auto">
          <a:xfrm>
            <a:off x="381000" y="2514600"/>
            <a:ext cx="848995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运算时，符号位参加运算，如果符号位产生了进位，则该进位应该加到和数的最低位，称之为“循环进位”。</a:t>
            </a:r>
          </a:p>
        </p:txBody>
      </p:sp>
      <p:sp>
        <p:nvSpPr>
          <p:cNvPr id="53258" name="Rectangle 10"/>
          <p:cNvSpPr>
            <a:spLocks noChangeArrowheads="1"/>
          </p:cNvSpPr>
          <p:nvPr/>
        </p:nvSpPr>
        <p:spPr bwMode="auto">
          <a:xfrm>
            <a:off x="403225" y="4267200"/>
            <a:ext cx="84582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运算结果符号位为</a:t>
            </a:r>
            <a:r>
              <a:rPr lang="en-US" altLang="zh-CN" sz="3200" b="1">
                <a:effectLst>
                  <a:outerShdw blurRad="38100" dist="38100" dir="2700000" algn="tl">
                    <a:srgbClr val="C0C0C0"/>
                  </a:outerShdw>
                </a:effectLst>
              </a:rPr>
              <a:t>0</a:t>
            </a:r>
            <a:r>
              <a:rPr lang="zh-CN" altLang="en-US" sz="3200" b="1">
                <a:effectLst>
                  <a:outerShdw blurRad="38100" dist="38100" dir="2700000" algn="tl">
                    <a:srgbClr val="C0C0C0"/>
                  </a:outerShdw>
                </a:effectLst>
              </a:rPr>
              <a:t>时，说明是正数的反码，其与原码相同。</a:t>
            </a:r>
          </a:p>
        </p:txBody>
      </p:sp>
      <p:sp>
        <p:nvSpPr>
          <p:cNvPr id="53260" name="Rectangle 12"/>
          <p:cNvSpPr>
            <a:spLocks noChangeArrowheads="1"/>
          </p:cNvSpPr>
          <p:nvPr/>
        </p:nvSpPr>
        <p:spPr bwMode="auto">
          <a:xfrm>
            <a:off x="403225" y="5524500"/>
            <a:ext cx="84582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若符号位为</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，说明是负数的反码，应对结果再求反码才能得到原码。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blinds(horizontal)">
                                      <p:cBhvr>
                                        <p:cTn id="7" dur="500"/>
                                        <p:tgtEl>
                                          <p:spTgt spid="532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3254"/>
                                        </p:tgtEl>
                                        <p:attrNameLst>
                                          <p:attrName>style.visibility</p:attrName>
                                        </p:attrNameLst>
                                      </p:cBhvr>
                                      <p:to>
                                        <p:strVal val="visible"/>
                                      </p:to>
                                    </p:set>
                                    <p:animEffect transition="in" filter="box(in)">
                                      <p:cBhvr>
                                        <p:cTn id="12" dur="500"/>
                                        <p:tgtEl>
                                          <p:spTgt spid="5325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3258"/>
                                        </p:tgtEl>
                                        <p:attrNameLst>
                                          <p:attrName>style.visibility</p:attrName>
                                        </p:attrNameLst>
                                      </p:cBhvr>
                                      <p:to>
                                        <p:strVal val="visible"/>
                                      </p:to>
                                    </p:set>
                                    <p:animEffect transition="in" filter="box(in)">
                                      <p:cBhvr>
                                        <p:cTn id="17" dur="500"/>
                                        <p:tgtEl>
                                          <p:spTgt spid="5325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3260"/>
                                        </p:tgtEl>
                                        <p:attrNameLst>
                                          <p:attrName>style.visibility</p:attrName>
                                        </p:attrNameLst>
                                      </p:cBhvr>
                                      <p:to>
                                        <p:strVal val="visible"/>
                                      </p:to>
                                    </p:set>
                                    <p:animEffect transition="in" filter="box(in)">
                                      <p:cBhvr>
                                        <p:cTn id="22" dur="500"/>
                                        <p:tgtEl>
                                          <p:spTgt spid="53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ldLvl="0" animBg="1" autoUpdateAnimBg="0"/>
      <p:bldP spid="53254" grpId="0" bldLvl="0" animBg="1" autoUpdateAnimBg="0"/>
      <p:bldP spid="53258" grpId="0" bldLvl="0" animBg="1" autoUpdateAnimBg="0"/>
      <p:bldP spid="53260" grpId="0" bldLvl="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3E00ABE-6383-4FFA-A530-866FF1ADDE32}" type="slidenum">
              <a:rPr lang="en-US" altLang="zh-CN" sz="1400" smtClean="0"/>
              <a:t>38</a:t>
            </a:fld>
            <a:endParaRPr lang="en-US" altLang="zh-CN" sz="1400"/>
          </a:p>
        </p:txBody>
      </p:sp>
      <p:sp>
        <p:nvSpPr>
          <p:cNvPr id="54274" name="Rectangle 2"/>
          <p:cNvSpPr>
            <a:spLocks noChangeArrowheads="1"/>
          </p:cNvSpPr>
          <p:nvPr/>
        </p:nvSpPr>
        <p:spPr bwMode="auto">
          <a:xfrm>
            <a:off x="438150" y="457200"/>
            <a:ext cx="77152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例：</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0.0010</a:t>
            </a:r>
            <a:r>
              <a:rPr lang="zh-CN" altLang="en-US" sz="3200" b="1">
                <a:effectLst>
                  <a:outerShdw blurRad="38100" dist="38100" dir="2700000" algn="tl">
                    <a:srgbClr val="C0C0C0"/>
                  </a:outerShdw>
                </a:effectLst>
              </a:rPr>
              <a:t>，</a:t>
            </a:r>
          </a:p>
          <a:p>
            <a:pPr eaLnBrk="1" hangingPunct="1">
              <a:defRPr/>
            </a:pPr>
            <a:r>
              <a:rPr lang="zh-CN" altLang="en-US" sz="3200" b="1">
                <a:effectLst>
                  <a:outerShdw blurRad="38100" dist="38100" dir="2700000" algn="tl">
                    <a:srgbClr val="C0C0C0"/>
                  </a:outerShdw>
                </a:effectLst>
              </a:rPr>
              <a:t>         求</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 </a:t>
            </a:r>
            <a:r>
              <a:rPr lang="zh-CN" altLang="en-US" sz="3200" b="1">
                <a:effectLst>
                  <a:outerShdw blurRad="38100" dist="38100" dir="2700000" algn="tl">
                    <a:srgbClr val="C0C0C0"/>
                  </a:outerShdw>
                </a:effectLst>
              </a:rPr>
              <a:t>和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p>
        </p:txBody>
      </p:sp>
      <p:sp>
        <p:nvSpPr>
          <p:cNvPr id="54277" name="Rectangle 5"/>
          <p:cNvSpPr>
            <a:spLocks noChangeArrowheads="1"/>
          </p:cNvSpPr>
          <p:nvPr/>
        </p:nvSpPr>
        <p:spPr bwMode="auto">
          <a:xfrm>
            <a:off x="582613" y="1752600"/>
            <a:ext cx="7494587"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C0C0C0"/>
                  </a:outerShdw>
                </a:effectLst>
              </a:rPr>
              <a:t>解：</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p>
          <a:p>
            <a:pPr eaLnBrk="1" hangingPunct="1">
              <a:spcBef>
                <a:spcPct val="20000"/>
              </a:spcBef>
              <a:defRPr/>
            </a:pPr>
            <a:r>
              <a:rPr lang="zh-CN" altLang="en-US" sz="3200" b="1" baseline="-30000">
                <a:effectLst>
                  <a:outerShdw blurRad="38100" dist="38100" dir="2700000" algn="tl">
                    <a:srgbClr val="C0C0C0"/>
                  </a:outerShdw>
                </a:effectLst>
              </a:rPr>
              <a:t>                                         </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0.1110</a:t>
            </a:r>
          </a:p>
        </p:txBody>
      </p:sp>
      <p:grpSp>
        <p:nvGrpSpPr>
          <p:cNvPr id="54279" name="Group 7"/>
          <p:cNvGrpSpPr/>
          <p:nvPr/>
        </p:nvGrpSpPr>
        <p:grpSpPr bwMode="auto">
          <a:xfrm>
            <a:off x="3241675" y="3094038"/>
            <a:ext cx="2016125" cy="1554162"/>
            <a:chOff x="295" y="2478"/>
            <a:chExt cx="1270" cy="979"/>
          </a:xfrm>
        </p:grpSpPr>
        <p:sp>
          <p:nvSpPr>
            <p:cNvPr id="54280" name="Rectangle 8"/>
            <p:cNvSpPr>
              <a:spLocks noChangeArrowheads="1"/>
            </p:cNvSpPr>
            <p:nvPr/>
          </p:nvSpPr>
          <p:spPr bwMode="auto">
            <a:xfrm>
              <a:off x="340" y="2478"/>
              <a:ext cx="1156" cy="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b="1">
                  <a:effectLst>
                    <a:outerShdw blurRad="38100" dist="38100" dir="2700000" algn="tl">
                      <a:srgbClr val="C0C0C0"/>
                    </a:outerShdw>
                  </a:effectLst>
                </a:rPr>
                <a:t>    0.1100</a:t>
              </a:r>
            </a:p>
            <a:p>
              <a:pPr eaLnBrk="1" hangingPunct="1">
                <a:defRPr/>
              </a:pPr>
              <a:r>
                <a:rPr lang="en-US" altLang="zh-CN" sz="3200" b="1">
                  <a:effectLst>
                    <a:outerShdw blurRad="38100" dist="38100" dir="2700000" algn="tl">
                      <a:srgbClr val="C0C0C0"/>
                    </a:outerShdw>
                  </a:effectLst>
                </a:rPr>
                <a:t>+  0.0010</a:t>
              </a:r>
            </a:p>
            <a:p>
              <a:pPr eaLnBrk="1" hangingPunct="1">
                <a:defRPr/>
              </a:pPr>
              <a:r>
                <a:rPr lang="en-US" altLang="zh-CN" sz="3200" b="1">
                  <a:effectLst>
                    <a:outerShdw blurRad="38100" dist="38100" dir="2700000" algn="tl">
                      <a:srgbClr val="C0C0C0"/>
                    </a:outerShdw>
                  </a:effectLst>
                </a:rPr>
                <a:t>    0.1110</a:t>
              </a:r>
            </a:p>
          </p:txBody>
        </p:sp>
        <p:sp>
          <p:nvSpPr>
            <p:cNvPr id="95240" name="Line 9"/>
            <p:cNvSpPr>
              <a:spLocks noChangeShapeType="1"/>
            </p:cNvSpPr>
            <p:nvPr/>
          </p:nvSpPr>
          <p:spPr bwMode="auto">
            <a:xfrm>
              <a:off x="295" y="3158"/>
              <a:ext cx="127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4282" name="Rectangle 10"/>
          <p:cNvSpPr>
            <a:spLocks noChangeArrowheads="1"/>
          </p:cNvSpPr>
          <p:nvPr/>
        </p:nvSpPr>
        <p:spPr bwMode="auto">
          <a:xfrm>
            <a:off x="1371600" y="4876800"/>
            <a:ext cx="5151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C0C0C0"/>
                  </a:outerShdw>
                </a:effectLst>
              </a:rPr>
              <a:t>其真值：</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wipe(left)">
                                      <p:cBhvr>
                                        <p:cTn id="7" dur="500"/>
                                        <p:tgtEl>
                                          <p:spTgt spid="542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4279"/>
                                        </p:tgtEl>
                                        <p:attrNameLst>
                                          <p:attrName>style.visibility</p:attrName>
                                        </p:attrNameLst>
                                      </p:cBhvr>
                                      <p:to>
                                        <p:strVal val="visible"/>
                                      </p:to>
                                    </p:set>
                                    <p:animEffect transition="in" filter="dissolve">
                                      <p:cBhvr>
                                        <p:cTn id="12" dur="500"/>
                                        <p:tgtEl>
                                          <p:spTgt spid="542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82"/>
                                        </p:tgtEl>
                                        <p:attrNameLst>
                                          <p:attrName>style.visibility</p:attrName>
                                        </p:attrNameLst>
                                      </p:cBhvr>
                                      <p:to>
                                        <p:strVal val="visible"/>
                                      </p:to>
                                    </p:set>
                                    <p:animEffect transition="in" filter="wipe(left)">
                                      <p:cBhvr>
                                        <p:cTn id="17" dur="500"/>
                                        <p:tgtEl>
                                          <p:spTgt spid="54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bldLvl="0" animBg="1" autoUpdateAnimBg="0"/>
      <p:bldP spid="54282"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3C1AAD-FF6D-4046-9365-093F190EBAD7}" type="slidenum">
              <a:rPr lang="en-US" altLang="zh-CN" sz="1400" smtClean="0"/>
              <a:t>39</a:t>
            </a:fld>
            <a:endParaRPr lang="en-US" altLang="zh-CN" sz="1400"/>
          </a:p>
        </p:txBody>
      </p:sp>
      <p:grpSp>
        <p:nvGrpSpPr>
          <p:cNvPr id="55298" name="Group 2"/>
          <p:cNvGrpSpPr/>
          <p:nvPr/>
        </p:nvGrpSpPr>
        <p:grpSpPr bwMode="auto">
          <a:xfrm>
            <a:off x="3276600" y="2849563"/>
            <a:ext cx="2286000" cy="2865437"/>
            <a:chOff x="1248" y="1457"/>
            <a:chExt cx="1440" cy="1805"/>
          </a:xfrm>
        </p:grpSpPr>
        <p:sp>
          <p:nvSpPr>
            <p:cNvPr id="97286" name="Line 3"/>
            <p:cNvSpPr>
              <a:spLocks noChangeShapeType="1"/>
            </p:cNvSpPr>
            <p:nvPr/>
          </p:nvSpPr>
          <p:spPr bwMode="auto">
            <a:xfrm>
              <a:off x="1248" y="2842"/>
              <a:ext cx="14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287" name="Line 4"/>
            <p:cNvSpPr>
              <a:spLocks noChangeShapeType="1"/>
            </p:cNvSpPr>
            <p:nvPr/>
          </p:nvSpPr>
          <p:spPr bwMode="auto">
            <a:xfrm>
              <a:off x="1248" y="2122"/>
              <a:ext cx="14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288" name="Line 5"/>
            <p:cNvSpPr>
              <a:spLocks noChangeShapeType="1"/>
            </p:cNvSpPr>
            <p:nvPr/>
          </p:nvSpPr>
          <p:spPr bwMode="auto">
            <a:xfrm>
              <a:off x="1488" y="2506"/>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289" name="Line 6"/>
            <p:cNvSpPr>
              <a:spLocks noChangeShapeType="1"/>
            </p:cNvSpPr>
            <p:nvPr/>
          </p:nvSpPr>
          <p:spPr bwMode="auto">
            <a:xfrm>
              <a:off x="1488" y="2698"/>
              <a:ext cx="816" cy="0"/>
            </a:xfrm>
            <a:prstGeom prst="line">
              <a:avLst/>
            </a:prstGeom>
            <a:noFill/>
            <a:ln w="190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290" name="Rectangle 7"/>
            <p:cNvSpPr>
              <a:spLocks noChangeArrowheads="1"/>
            </p:cNvSpPr>
            <p:nvPr/>
          </p:nvSpPr>
          <p:spPr bwMode="auto">
            <a:xfrm>
              <a:off x="1632" y="1457"/>
              <a:ext cx="94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  0.1100</a:t>
              </a:r>
            </a:p>
          </p:txBody>
        </p:sp>
        <p:sp>
          <p:nvSpPr>
            <p:cNvPr id="97291" name="Rectangle 8"/>
            <p:cNvSpPr>
              <a:spLocks noChangeArrowheads="1"/>
            </p:cNvSpPr>
            <p:nvPr/>
          </p:nvSpPr>
          <p:spPr bwMode="auto">
            <a:xfrm>
              <a:off x="1392" y="1755"/>
              <a:ext cx="11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   1.1101</a:t>
              </a:r>
            </a:p>
          </p:txBody>
        </p:sp>
        <p:sp>
          <p:nvSpPr>
            <p:cNvPr id="97292" name="Rectangle 9"/>
            <p:cNvSpPr>
              <a:spLocks noChangeArrowheads="1"/>
            </p:cNvSpPr>
            <p:nvPr/>
          </p:nvSpPr>
          <p:spPr bwMode="auto">
            <a:xfrm>
              <a:off x="1296" y="2129"/>
              <a:ext cx="124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[1]  0.1001</a:t>
              </a:r>
            </a:p>
          </p:txBody>
        </p:sp>
        <p:sp>
          <p:nvSpPr>
            <p:cNvPr id="97293" name="Rectangle 10"/>
            <p:cNvSpPr>
              <a:spLocks noChangeArrowheads="1"/>
            </p:cNvSpPr>
            <p:nvPr/>
          </p:nvSpPr>
          <p:spPr bwMode="auto">
            <a:xfrm>
              <a:off x="2304" y="246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1</a:t>
              </a:r>
            </a:p>
          </p:txBody>
        </p:sp>
        <p:sp>
          <p:nvSpPr>
            <p:cNvPr id="97294" name="Rectangle 11"/>
            <p:cNvSpPr>
              <a:spLocks noChangeArrowheads="1"/>
            </p:cNvSpPr>
            <p:nvPr/>
          </p:nvSpPr>
          <p:spPr bwMode="auto">
            <a:xfrm>
              <a:off x="1680" y="2897"/>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t> 0.1010</a:t>
              </a:r>
            </a:p>
          </p:txBody>
        </p:sp>
      </p:grpSp>
      <p:sp>
        <p:nvSpPr>
          <p:cNvPr id="55309" name="Rectangle 13"/>
          <p:cNvSpPr>
            <a:spLocks noChangeArrowheads="1"/>
          </p:cNvSpPr>
          <p:nvPr/>
        </p:nvSpPr>
        <p:spPr bwMode="auto">
          <a:xfrm>
            <a:off x="762000" y="1524000"/>
            <a:ext cx="7694613"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又： </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p>
          <a:p>
            <a:pPr eaLnBrk="1" hangingPunct="1">
              <a:spcBef>
                <a:spcPct val="20000"/>
              </a:spcBef>
              <a:defRPr/>
            </a:pPr>
            <a:r>
              <a:rPr lang="zh-CN" altLang="en-US" sz="3200" b="1" baseline="-30000">
                <a:effectLst>
                  <a:outerShdw blurRad="38100" dist="38100" dir="2700000" algn="tl">
                    <a:srgbClr val="C0C0C0"/>
                  </a:outerShdw>
                </a:effectLst>
              </a:rPr>
              <a:t>                                            </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0.1100</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1.1101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0.1010</a:t>
            </a:r>
          </a:p>
        </p:txBody>
      </p:sp>
      <p:sp>
        <p:nvSpPr>
          <p:cNvPr id="55310" name="Rectangle 14"/>
          <p:cNvSpPr>
            <a:spLocks noChangeArrowheads="1"/>
          </p:cNvSpPr>
          <p:nvPr/>
        </p:nvSpPr>
        <p:spPr bwMode="auto">
          <a:xfrm>
            <a:off x="847725" y="625475"/>
            <a:ext cx="6062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 </a:t>
            </a:r>
            <a:r>
              <a:rPr lang="zh-CN" altLang="en-US" sz="3200" b="1">
                <a:effectLst>
                  <a:outerShdw blurRad="38100" dist="38100" dir="2700000" algn="tl">
                    <a:srgbClr val="C0C0C0"/>
                  </a:outerShdw>
                </a:effectLst>
              </a:rPr>
              <a:t>原值：</a:t>
            </a: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0.1100     X2</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0.0010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09"/>
                                        </p:tgtEl>
                                        <p:attrNameLst>
                                          <p:attrName>style.visibility</p:attrName>
                                        </p:attrNameLst>
                                      </p:cBhvr>
                                      <p:to>
                                        <p:strVal val="visible"/>
                                      </p:to>
                                    </p:set>
                                    <p:animEffect transition="in" filter="wipe(left)">
                                      <p:cBhvr>
                                        <p:cTn id="7" dur="500"/>
                                        <p:tgtEl>
                                          <p:spTgt spid="553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298"/>
                                        </p:tgtEl>
                                        <p:attrNameLst>
                                          <p:attrName>style.visibility</p:attrName>
                                        </p:attrNameLst>
                                      </p:cBhvr>
                                      <p:to>
                                        <p:strVal val="visible"/>
                                      </p:to>
                                    </p:set>
                                    <p:animEffect transition="in" filter="dissolve">
                                      <p:cBhvr>
                                        <p:cTn id="12" dur="500"/>
                                        <p:tgtEl>
                                          <p:spTgt spid="5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1E202FE-5E24-4CE3-ABB6-84B62D014D32}" type="slidenum">
              <a:rPr lang="en-US" altLang="zh-CN" sz="1400" smtClean="0"/>
              <a:t>40</a:t>
            </a:fld>
            <a:endParaRPr lang="en-US" altLang="zh-CN" sz="1400"/>
          </a:p>
        </p:txBody>
      </p:sp>
      <p:sp>
        <p:nvSpPr>
          <p:cNvPr id="80898" name="Rectangle 2"/>
          <p:cNvSpPr>
            <a:spLocks noChangeArrowheads="1"/>
          </p:cNvSpPr>
          <p:nvPr/>
        </p:nvSpPr>
        <p:spPr bwMode="auto">
          <a:xfrm>
            <a:off x="1771650" y="2620963"/>
            <a:ext cx="5010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补</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补</a:t>
            </a:r>
          </a:p>
        </p:txBody>
      </p:sp>
      <p:sp>
        <p:nvSpPr>
          <p:cNvPr id="80899" name="Rectangle 3"/>
          <p:cNvSpPr>
            <a:spLocks noChangeArrowheads="1"/>
          </p:cNvSpPr>
          <p:nvPr/>
        </p:nvSpPr>
        <p:spPr bwMode="auto">
          <a:xfrm>
            <a:off x="1752600" y="1828800"/>
            <a:ext cx="501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反</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反</a:t>
            </a:r>
          </a:p>
        </p:txBody>
      </p:sp>
      <p:sp>
        <p:nvSpPr>
          <p:cNvPr id="80900" name="Rectangle 4"/>
          <p:cNvSpPr>
            <a:spLocks noChangeArrowheads="1"/>
          </p:cNvSpPr>
          <p:nvPr/>
        </p:nvSpPr>
        <p:spPr bwMode="auto">
          <a:xfrm>
            <a:off x="457200" y="838200"/>
            <a:ext cx="1408113"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Arial Black" panose="020B0A04020102020204" pitchFamily="34" charset="0"/>
                <a:ea typeface="黑体" panose="02010609060101010101" pitchFamily="49" charset="-122"/>
              </a:rPr>
              <a:t>注意：</a:t>
            </a:r>
          </a:p>
        </p:txBody>
      </p:sp>
      <p:sp>
        <p:nvSpPr>
          <p:cNvPr id="80902" name="Rectangle 6"/>
          <p:cNvSpPr>
            <a:spLocks noChangeArrowheads="1"/>
          </p:cNvSpPr>
          <p:nvPr/>
        </p:nvSpPr>
        <p:spPr bwMode="auto">
          <a:xfrm>
            <a:off x="1774825" y="3429000"/>
            <a:ext cx="501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b="1">
                <a:effectLst>
                  <a:outerShdw blurRad="38100" dist="38100" dir="2700000" algn="tl">
                    <a:srgbClr val="C0C0C0"/>
                  </a:outerShdw>
                </a:effectLst>
              </a:rPr>
              <a:t>[X1</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原</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[X1]</a:t>
            </a:r>
            <a:r>
              <a:rPr lang="zh-CN" altLang="en-US" sz="3200" b="1" baseline="-30000">
                <a:effectLst>
                  <a:outerShdw blurRad="38100" dist="38100" dir="2700000" algn="tl">
                    <a:srgbClr val="C0C0C0"/>
                  </a:outerShdw>
                </a:effectLst>
              </a:rPr>
              <a:t>原</a:t>
            </a:r>
            <a:r>
              <a:rPr lang="zh-CN" altLang="en-US" sz="3200" b="1">
                <a:effectLst>
                  <a:outerShdw blurRad="38100" dist="38100" dir="2700000" algn="tl">
                    <a:srgbClr val="C0C0C0"/>
                  </a:outerShdw>
                </a:effectLst>
              </a:rPr>
              <a:t>＋</a:t>
            </a:r>
            <a:r>
              <a:rPr lang="en-US" altLang="zh-CN" sz="3200" b="1">
                <a:effectLst>
                  <a:outerShdw blurRad="38100" dist="38100" dir="2700000" algn="tl">
                    <a:srgbClr val="C0C0C0"/>
                  </a:outerShdw>
                </a:effectLst>
              </a:rPr>
              <a:t>[X2]</a:t>
            </a:r>
            <a:r>
              <a:rPr lang="zh-CN" altLang="en-US" sz="3200" b="1" baseline="-30000">
                <a:effectLst>
                  <a:outerShdw blurRad="38100" dist="38100" dir="2700000" algn="tl">
                    <a:srgbClr val="C0C0C0"/>
                  </a:outerShdw>
                </a:effectLst>
              </a:rPr>
              <a:t>原</a:t>
            </a:r>
          </a:p>
        </p:txBody>
      </p:sp>
      <p:sp>
        <p:nvSpPr>
          <p:cNvPr id="80903" name="Rectangle 7"/>
          <p:cNvSpPr>
            <a:spLocks noChangeArrowheads="1"/>
          </p:cNvSpPr>
          <p:nvPr/>
        </p:nvSpPr>
        <p:spPr bwMode="auto">
          <a:xfrm>
            <a:off x="6934200" y="1676400"/>
            <a:ext cx="914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800" b="1">
                <a:solidFill>
                  <a:srgbClr val="FF0000"/>
                </a:solidFill>
                <a:latin typeface="宋体" panose="02010600030101010101" pitchFamily="2" charset="-122"/>
              </a:rPr>
              <a:t>√</a:t>
            </a:r>
            <a:endParaRPr lang="en-US" altLang="zh-CN" sz="4800" b="1">
              <a:solidFill>
                <a:srgbClr val="FF0000"/>
              </a:solidFill>
            </a:endParaRPr>
          </a:p>
        </p:txBody>
      </p:sp>
      <p:sp>
        <p:nvSpPr>
          <p:cNvPr id="80904" name="Rectangle 8"/>
          <p:cNvSpPr>
            <a:spLocks noChangeArrowheads="1"/>
          </p:cNvSpPr>
          <p:nvPr/>
        </p:nvSpPr>
        <p:spPr bwMode="auto">
          <a:xfrm>
            <a:off x="6934200" y="2514600"/>
            <a:ext cx="914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800" b="1">
                <a:solidFill>
                  <a:srgbClr val="FF0000"/>
                </a:solidFill>
                <a:latin typeface="宋体" panose="02010600030101010101" pitchFamily="2" charset="-122"/>
              </a:rPr>
              <a:t>√</a:t>
            </a:r>
            <a:endParaRPr lang="en-US" altLang="zh-CN" sz="4800" b="1">
              <a:solidFill>
                <a:srgbClr val="FF0000"/>
              </a:solidFill>
            </a:endParaRPr>
          </a:p>
        </p:txBody>
      </p:sp>
      <p:sp>
        <p:nvSpPr>
          <p:cNvPr id="80905" name="Rectangle 9"/>
          <p:cNvSpPr>
            <a:spLocks noChangeArrowheads="1"/>
          </p:cNvSpPr>
          <p:nvPr/>
        </p:nvSpPr>
        <p:spPr bwMode="auto">
          <a:xfrm>
            <a:off x="7010400" y="3352800"/>
            <a:ext cx="14478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800" b="1">
                <a:solidFill>
                  <a:srgbClr val="FF0000"/>
                </a:solidFill>
                <a:latin typeface="宋体" panose="02010600030101010101" pitchFamily="2" charset="-122"/>
              </a:rPr>
              <a:t>×</a:t>
            </a:r>
            <a:r>
              <a:rPr lang="en-US" altLang="zh-CN" sz="4800" b="1">
                <a:solidFill>
                  <a:srgbClr val="FF0000"/>
                </a:solid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0-#ppt_w/2"/>
                                          </p:val>
                                        </p:tav>
                                        <p:tav tm="100000">
                                          <p:val>
                                            <p:strVal val="#ppt_x"/>
                                          </p:val>
                                        </p:tav>
                                      </p:tavLst>
                                    </p:anim>
                                    <p:anim calcmode="lin" valueType="num">
                                      <p:cBhvr additive="base">
                                        <p:cTn id="8" dur="500" fill="hold"/>
                                        <p:tgtEl>
                                          <p:spTgt spid="808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80903"/>
                                        </p:tgtEl>
                                        <p:attrNameLst>
                                          <p:attrName>style.visibility</p:attrName>
                                        </p:attrNameLst>
                                      </p:cBhvr>
                                      <p:to>
                                        <p:strVal val="visible"/>
                                      </p:to>
                                    </p:set>
                                    <p:animEffect transition="in" filter="dissolve">
                                      <p:cBhvr>
                                        <p:cTn id="13" dur="500"/>
                                        <p:tgtEl>
                                          <p:spTgt spid="8090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0898"/>
                                        </p:tgtEl>
                                        <p:attrNameLst>
                                          <p:attrName>style.visibility</p:attrName>
                                        </p:attrNameLst>
                                      </p:cBhvr>
                                      <p:to>
                                        <p:strVal val="visible"/>
                                      </p:to>
                                    </p:set>
                                    <p:anim calcmode="lin" valueType="num">
                                      <p:cBhvr additive="base">
                                        <p:cTn id="18" dur="500" fill="hold"/>
                                        <p:tgtEl>
                                          <p:spTgt spid="80898"/>
                                        </p:tgtEl>
                                        <p:attrNameLst>
                                          <p:attrName>ppt_x</p:attrName>
                                        </p:attrNameLst>
                                      </p:cBhvr>
                                      <p:tavLst>
                                        <p:tav tm="0">
                                          <p:val>
                                            <p:strVal val="0-#ppt_w/2"/>
                                          </p:val>
                                        </p:tav>
                                        <p:tav tm="100000">
                                          <p:val>
                                            <p:strVal val="#ppt_x"/>
                                          </p:val>
                                        </p:tav>
                                      </p:tavLst>
                                    </p:anim>
                                    <p:anim calcmode="lin" valueType="num">
                                      <p:cBhvr additive="base">
                                        <p:cTn id="19" dur="500" fill="hold"/>
                                        <p:tgtEl>
                                          <p:spTgt spid="8089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0904"/>
                                        </p:tgtEl>
                                        <p:attrNameLst>
                                          <p:attrName>style.visibility</p:attrName>
                                        </p:attrNameLst>
                                      </p:cBhvr>
                                      <p:to>
                                        <p:strVal val="visible"/>
                                      </p:to>
                                    </p:set>
                                    <p:animEffect transition="in" filter="dissolve">
                                      <p:cBhvr>
                                        <p:cTn id="24" dur="500"/>
                                        <p:tgtEl>
                                          <p:spTgt spid="8090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0902"/>
                                        </p:tgtEl>
                                        <p:attrNameLst>
                                          <p:attrName>style.visibility</p:attrName>
                                        </p:attrNameLst>
                                      </p:cBhvr>
                                      <p:to>
                                        <p:strVal val="visible"/>
                                      </p:to>
                                    </p:set>
                                    <p:anim calcmode="lin" valueType="num">
                                      <p:cBhvr additive="base">
                                        <p:cTn id="29" dur="500" fill="hold"/>
                                        <p:tgtEl>
                                          <p:spTgt spid="80902"/>
                                        </p:tgtEl>
                                        <p:attrNameLst>
                                          <p:attrName>ppt_x</p:attrName>
                                        </p:attrNameLst>
                                      </p:cBhvr>
                                      <p:tavLst>
                                        <p:tav tm="0">
                                          <p:val>
                                            <p:strVal val="0-#ppt_w/2"/>
                                          </p:val>
                                        </p:tav>
                                        <p:tav tm="100000">
                                          <p:val>
                                            <p:strVal val="#ppt_x"/>
                                          </p:val>
                                        </p:tav>
                                      </p:tavLst>
                                    </p:anim>
                                    <p:anim calcmode="lin" valueType="num">
                                      <p:cBhvr additive="base">
                                        <p:cTn id="30" dur="500" fill="hold"/>
                                        <p:tgtEl>
                                          <p:spTgt spid="8090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80905"/>
                                        </p:tgtEl>
                                        <p:attrNameLst>
                                          <p:attrName>style.visibility</p:attrName>
                                        </p:attrNameLst>
                                      </p:cBhvr>
                                      <p:to>
                                        <p:strVal val="visible"/>
                                      </p:to>
                                    </p:set>
                                    <p:animEffect transition="in" filter="dissolve">
                                      <p:cBhvr>
                                        <p:cTn id="35" dur="500"/>
                                        <p:tgtEl>
                                          <p:spTgt spid="80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ldLvl="0" animBg="1" autoUpdateAnimBg="0"/>
      <p:bldP spid="80899" grpId="0" bldLvl="0" animBg="1" autoUpdateAnimBg="0"/>
      <p:bldP spid="80902" grpId="0" bldLvl="0" animBg="1" autoUpdateAnimBg="0"/>
      <p:bldP spid="80903" grpId="0" bldLvl="0" animBg="1" autoUpdateAnimBg="0"/>
      <p:bldP spid="80904" grpId="0" bldLvl="0" animBg="1" autoUpdateAnimBg="0"/>
      <p:bldP spid="80905"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12C0557-872D-4268-8628-B6287F4CA3E2}" type="slidenum">
              <a:rPr lang="en-US" altLang="zh-CN" sz="1400" smtClean="0"/>
              <a:t>41</a:t>
            </a:fld>
            <a:endParaRPr lang="en-US" altLang="zh-CN" sz="1400"/>
          </a:p>
        </p:txBody>
      </p:sp>
      <p:sp>
        <p:nvSpPr>
          <p:cNvPr id="60418" name="Rectangle 2"/>
          <p:cNvSpPr>
            <a:spLocks noChangeArrowheads="1"/>
          </p:cNvSpPr>
          <p:nvPr/>
        </p:nvSpPr>
        <p:spPr bwMode="auto">
          <a:xfrm>
            <a:off x="228600" y="1728788"/>
            <a:ext cx="6858000" cy="7016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000" b="1">
                <a:solidFill>
                  <a:schemeClr val="tx2"/>
                </a:solidFill>
                <a:latin typeface="黑体" panose="02010609060101010101" pitchFamily="49" charset="-122"/>
                <a:ea typeface="黑体" panose="02010609060101010101" pitchFamily="49" charset="-122"/>
              </a:rPr>
              <a:t>1.4.1 </a:t>
            </a:r>
            <a:r>
              <a:rPr lang="zh-CN" altLang="en-US" sz="4000" b="1">
                <a:solidFill>
                  <a:schemeClr val="tx2"/>
                </a:solidFill>
                <a:latin typeface="黑体" panose="02010609060101010101" pitchFamily="49" charset="-122"/>
                <a:ea typeface="黑体" panose="02010609060101010101" pitchFamily="49" charset="-122"/>
              </a:rPr>
              <a:t>十进制数的二进制编码</a:t>
            </a:r>
          </a:p>
        </p:txBody>
      </p:sp>
      <p:sp>
        <p:nvSpPr>
          <p:cNvPr id="60419" name="Rectangle 3"/>
          <p:cNvSpPr>
            <a:spLocks noChangeArrowheads="1"/>
          </p:cNvSpPr>
          <p:nvPr/>
        </p:nvSpPr>
        <p:spPr bwMode="auto">
          <a:xfrm>
            <a:off x="304800" y="5059363"/>
            <a:ext cx="40449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常见的编码形式如下</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60433" name="Rectangle 17"/>
          <p:cNvSpPr>
            <a:spLocks noChangeArrowheads="1"/>
          </p:cNvSpPr>
          <p:nvPr/>
        </p:nvSpPr>
        <p:spPr bwMode="auto">
          <a:xfrm>
            <a:off x="228600" y="2827338"/>
            <a:ext cx="899160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ea typeface="黑体" panose="02010609060101010101" pitchFamily="49" charset="-122"/>
              </a:rPr>
              <a:t>        </a:t>
            </a:r>
            <a:r>
              <a:rPr lang="zh-CN" altLang="en-US" sz="3200">
                <a:effectLst>
                  <a:outerShdw blurRad="38100" dist="38100" dir="2700000" algn="tl">
                    <a:srgbClr val="C0C0C0"/>
                  </a:outerShdw>
                </a:effectLst>
                <a:ea typeface="黑体" panose="02010609060101010101" pitchFamily="49" charset="-122"/>
              </a:rPr>
              <a:t>由于人们习惯使用十进制数，而电路单元最适宜于二进制操作，于是出现了一种用二进制码编写的十进制码，即二</a:t>
            </a:r>
            <a:r>
              <a:rPr lang="en-US" altLang="zh-CN" sz="3200">
                <a:effectLst>
                  <a:outerShdw blurRad="38100" dist="38100" dir="2700000" algn="tl">
                    <a:srgbClr val="C0C0C0"/>
                  </a:outerShdw>
                </a:effectLst>
                <a:ea typeface="黑体" panose="02010609060101010101" pitchFamily="49" charset="-122"/>
              </a:rPr>
              <a:t>—</a:t>
            </a:r>
            <a:r>
              <a:rPr lang="zh-CN" altLang="en-US" sz="3200">
                <a:effectLst>
                  <a:outerShdw blurRad="38100" dist="38100" dir="2700000" algn="tl">
                    <a:srgbClr val="C0C0C0"/>
                  </a:outerShdw>
                </a:effectLst>
                <a:ea typeface="黑体" panose="02010609060101010101" pitchFamily="49" charset="-122"/>
              </a:rPr>
              <a:t>十进制码，或称</a:t>
            </a:r>
            <a:r>
              <a:rPr lang="en-US" altLang="zh-CN" sz="3200">
                <a:effectLst>
                  <a:outerShdw blurRad="38100" dist="38100" dir="2700000" algn="tl">
                    <a:srgbClr val="C0C0C0"/>
                  </a:outerShdw>
                </a:effectLst>
                <a:ea typeface="黑体" panose="02010609060101010101" pitchFamily="49" charset="-122"/>
              </a:rPr>
              <a:t>BCD</a:t>
            </a:r>
            <a:r>
              <a:rPr lang="zh-CN" altLang="en-US" sz="3200">
                <a:effectLst>
                  <a:outerShdw blurRad="38100" dist="38100" dir="2700000" algn="tl">
                    <a:srgbClr val="C0C0C0"/>
                  </a:outerShdw>
                </a:effectLst>
                <a:ea typeface="黑体" panose="02010609060101010101" pitchFamily="49" charset="-122"/>
              </a:rPr>
              <a:t>码。</a:t>
            </a:r>
          </a:p>
        </p:txBody>
      </p:sp>
      <p:sp>
        <p:nvSpPr>
          <p:cNvPr id="101382" name="Rectangle 18"/>
          <p:cNvSpPr>
            <a:spLocks noChangeArrowheads="1"/>
          </p:cNvSpPr>
          <p:nvPr/>
        </p:nvSpPr>
        <p:spPr bwMode="auto">
          <a:xfrm>
            <a:off x="1066800" y="457200"/>
            <a:ext cx="7315200" cy="762000"/>
          </a:xfrm>
          <a:prstGeom prst="rect">
            <a:avLst/>
          </a:prstGeom>
          <a:solidFill>
            <a:srgbClr val="FF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1.4 </a:t>
            </a:r>
            <a:r>
              <a:rPr lang="zh-CN" altLang="en-US" sz="4400" b="1">
                <a:solidFill>
                  <a:schemeClr val="tx2"/>
                </a:solidFill>
                <a:latin typeface="黑体" panose="02010609060101010101" pitchFamily="49" charset="-122"/>
                <a:ea typeface="黑体" panose="02010609060101010101" pitchFamily="49" charset="-122"/>
              </a:rPr>
              <a:t>数码和字符的代码表示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additive="base">
                                        <p:cTn id="7" dur="500" fill="hold"/>
                                        <p:tgtEl>
                                          <p:spTgt spid="60418"/>
                                        </p:tgtEl>
                                        <p:attrNameLst>
                                          <p:attrName>ppt_x</p:attrName>
                                        </p:attrNameLst>
                                      </p:cBhvr>
                                      <p:tavLst>
                                        <p:tav tm="0">
                                          <p:val>
                                            <p:strVal val="0-#ppt_w/2"/>
                                          </p:val>
                                        </p:tav>
                                        <p:tav tm="100000">
                                          <p:val>
                                            <p:strVal val="#ppt_x"/>
                                          </p:val>
                                        </p:tav>
                                      </p:tavLst>
                                    </p:anim>
                                    <p:anim calcmode="lin" valueType="num">
                                      <p:cBhvr additive="base">
                                        <p:cTn id="8" dur="500" fill="hold"/>
                                        <p:tgtEl>
                                          <p:spTgt spid="60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0433"/>
                                        </p:tgtEl>
                                        <p:attrNameLst>
                                          <p:attrName>style.visibility</p:attrName>
                                        </p:attrNameLst>
                                      </p:cBhvr>
                                      <p:to>
                                        <p:strVal val="visible"/>
                                      </p:to>
                                    </p:set>
                                    <p:animEffect transition="in" filter="blinds(horizontal)">
                                      <p:cBhvr>
                                        <p:cTn id="13" dur="500"/>
                                        <p:tgtEl>
                                          <p:spTgt spid="6043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0419"/>
                                        </p:tgtEl>
                                        <p:attrNameLst>
                                          <p:attrName>style.visibility</p:attrName>
                                        </p:attrNameLst>
                                      </p:cBhvr>
                                      <p:to>
                                        <p:strVal val="visible"/>
                                      </p:to>
                                    </p:set>
                                    <p:animEffect transition="in" filter="blinds(horizontal)">
                                      <p:cBhvr>
                                        <p:cTn id="18"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ldLvl="0" animBg="1" autoUpdateAnimBg="0"/>
      <p:bldP spid="60419" grpId="0" bldLvl="0" animBg="1" autoUpdateAnimBg="0"/>
      <p:bldP spid="60433" grpId="0" bldLvl="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176939C-739B-44AF-B59B-118E7587D7B3}" type="slidenum">
              <a:rPr lang="en-US" altLang="zh-CN" sz="1400" smtClean="0"/>
              <a:t>42</a:t>
            </a:fld>
            <a:endParaRPr lang="en-US" altLang="zh-CN" sz="1400"/>
          </a:p>
        </p:txBody>
      </p:sp>
      <p:sp>
        <p:nvSpPr>
          <p:cNvPr id="62466" name="Rectangle 1026"/>
          <p:cNvSpPr>
            <a:spLocks noChangeArrowheads="1"/>
          </p:cNvSpPr>
          <p:nvPr/>
        </p:nvSpPr>
        <p:spPr bwMode="auto">
          <a:xfrm>
            <a:off x="0" y="-28575"/>
            <a:ext cx="89154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en-US" altLang="zh-CN" sz="2800"/>
          </a:p>
          <a:p>
            <a:pPr eaLnBrk="1" hangingPunct="1">
              <a:buFontTx/>
              <a:buNone/>
            </a:pPr>
            <a:endParaRPr lang="en-US" altLang="zh-CN" sz="2800"/>
          </a:p>
          <a:p>
            <a:pPr eaLnBrk="1" hangingPunct="1">
              <a:buFontTx/>
              <a:buNone/>
            </a:pPr>
            <a:r>
              <a:rPr lang="en-US" altLang="zh-CN" sz="2800"/>
              <a:t>     </a:t>
            </a:r>
          </a:p>
          <a:p>
            <a:pPr eaLnBrk="1" hangingPunct="1">
              <a:buFontTx/>
              <a:buNone/>
            </a:pPr>
            <a:r>
              <a:rPr lang="en-US" altLang="zh-CN" sz="2800"/>
              <a:t>      </a:t>
            </a:r>
            <a:endParaRPr lang="en-US" altLang="zh-CN" sz="2400"/>
          </a:p>
          <a:p>
            <a:pPr eaLnBrk="1" hangingPunct="1">
              <a:buFontTx/>
              <a:buNone/>
            </a:pPr>
            <a:r>
              <a:rPr lang="en-US" altLang="zh-CN" sz="2400"/>
              <a:t>       </a:t>
            </a:r>
          </a:p>
          <a:p>
            <a:pPr eaLnBrk="1" hangingPunct="1">
              <a:buFontTx/>
              <a:buNone/>
            </a:pPr>
            <a:r>
              <a:rPr lang="en-US" altLang="zh-CN" sz="2400"/>
              <a:t>       </a:t>
            </a:r>
          </a:p>
          <a:p>
            <a:pPr eaLnBrk="1" hangingPunct="1">
              <a:buFontTx/>
              <a:buNone/>
            </a:pPr>
            <a:r>
              <a:rPr lang="en-US" altLang="zh-CN" sz="2400"/>
              <a:t>       </a:t>
            </a:r>
          </a:p>
          <a:p>
            <a:pPr eaLnBrk="1" hangingPunct="1">
              <a:buFontTx/>
              <a:buNone/>
            </a:pPr>
            <a:r>
              <a:rPr lang="en-US" altLang="zh-CN" sz="2400"/>
              <a:t>       </a:t>
            </a:r>
          </a:p>
          <a:p>
            <a:pPr eaLnBrk="1" hangingPunct="1">
              <a:buFontTx/>
              <a:buNone/>
            </a:pPr>
            <a:r>
              <a:rPr lang="en-US" altLang="zh-CN" sz="2800"/>
              <a:t>      </a:t>
            </a:r>
            <a:endParaRPr lang="en-US" altLang="zh-CN" sz="2400"/>
          </a:p>
        </p:txBody>
      </p:sp>
      <p:sp>
        <p:nvSpPr>
          <p:cNvPr id="62467" name="Line 1027"/>
          <p:cNvSpPr>
            <a:spLocks noChangeShapeType="1"/>
          </p:cNvSpPr>
          <p:nvPr/>
        </p:nvSpPr>
        <p:spPr bwMode="auto">
          <a:xfrm>
            <a:off x="1828800" y="1038225"/>
            <a:ext cx="0" cy="33528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68" name="Line 1028"/>
          <p:cNvSpPr>
            <a:spLocks noChangeShapeType="1"/>
          </p:cNvSpPr>
          <p:nvPr/>
        </p:nvSpPr>
        <p:spPr bwMode="auto">
          <a:xfrm>
            <a:off x="3810000" y="1038225"/>
            <a:ext cx="0" cy="35052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69" name="Line 1029"/>
          <p:cNvSpPr>
            <a:spLocks noChangeShapeType="1"/>
          </p:cNvSpPr>
          <p:nvPr/>
        </p:nvSpPr>
        <p:spPr bwMode="auto">
          <a:xfrm>
            <a:off x="5486400" y="1038225"/>
            <a:ext cx="0" cy="35814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0" name="Line 1030"/>
          <p:cNvSpPr>
            <a:spLocks noChangeShapeType="1"/>
          </p:cNvSpPr>
          <p:nvPr/>
        </p:nvSpPr>
        <p:spPr bwMode="auto">
          <a:xfrm>
            <a:off x="7467600" y="1038225"/>
            <a:ext cx="0" cy="35814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1" name="Rectangle 1031"/>
          <p:cNvSpPr>
            <a:spLocks noChangeArrowheads="1"/>
          </p:cNvSpPr>
          <p:nvPr/>
        </p:nvSpPr>
        <p:spPr bwMode="auto">
          <a:xfrm>
            <a:off x="69850" y="390525"/>
            <a:ext cx="8921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十进制数  </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8421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   余</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    </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   </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5421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a:t>
            </a:r>
          </a:p>
        </p:txBody>
      </p:sp>
      <p:sp>
        <p:nvSpPr>
          <p:cNvPr id="62473" name="Line 1033"/>
          <p:cNvSpPr>
            <a:spLocks noChangeShapeType="1"/>
          </p:cNvSpPr>
          <p:nvPr/>
        </p:nvSpPr>
        <p:spPr bwMode="auto">
          <a:xfrm>
            <a:off x="152400" y="1038225"/>
            <a:ext cx="899160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4" name="Rectangle 1034"/>
          <p:cNvSpPr>
            <a:spLocks noChangeArrowheads="1"/>
          </p:cNvSpPr>
          <p:nvPr/>
        </p:nvSpPr>
        <p:spPr bwMode="auto">
          <a:xfrm>
            <a:off x="857250" y="981075"/>
            <a:ext cx="790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0      0000     0011     0000     0000</a:t>
            </a:r>
          </a:p>
        </p:txBody>
      </p:sp>
      <p:sp>
        <p:nvSpPr>
          <p:cNvPr id="62475" name="Rectangle 1035"/>
          <p:cNvSpPr>
            <a:spLocks noChangeArrowheads="1"/>
          </p:cNvSpPr>
          <p:nvPr/>
        </p:nvSpPr>
        <p:spPr bwMode="auto">
          <a:xfrm>
            <a:off x="857250" y="1447800"/>
            <a:ext cx="790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1      0001     0100     0001     0001</a:t>
            </a:r>
          </a:p>
        </p:txBody>
      </p:sp>
      <p:sp>
        <p:nvSpPr>
          <p:cNvPr id="62476" name="Rectangle 1036"/>
          <p:cNvSpPr>
            <a:spLocks noChangeArrowheads="1"/>
          </p:cNvSpPr>
          <p:nvPr/>
        </p:nvSpPr>
        <p:spPr bwMode="auto">
          <a:xfrm>
            <a:off x="857250" y="19351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2      0010     0101     0010     0010</a:t>
            </a:r>
          </a:p>
        </p:txBody>
      </p:sp>
      <p:sp>
        <p:nvSpPr>
          <p:cNvPr id="62477" name="Rectangle 1037"/>
          <p:cNvSpPr>
            <a:spLocks noChangeArrowheads="1"/>
          </p:cNvSpPr>
          <p:nvPr/>
        </p:nvSpPr>
        <p:spPr bwMode="auto">
          <a:xfrm>
            <a:off x="857250" y="2438400"/>
            <a:ext cx="790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3      0011     0110     0011     0011</a:t>
            </a:r>
          </a:p>
        </p:txBody>
      </p:sp>
      <p:sp>
        <p:nvSpPr>
          <p:cNvPr id="62478" name="Rectangle 1038"/>
          <p:cNvSpPr>
            <a:spLocks noChangeArrowheads="1"/>
          </p:cNvSpPr>
          <p:nvPr/>
        </p:nvSpPr>
        <p:spPr bwMode="auto">
          <a:xfrm>
            <a:off x="857250" y="29257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4      0100     0111     0100     0100</a:t>
            </a:r>
          </a:p>
        </p:txBody>
      </p:sp>
      <p:sp>
        <p:nvSpPr>
          <p:cNvPr id="62479" name="Rectangle 1039"/>
          <p:cNvSpPr>
            <a:spLocks noChangeArrowheads="1"/>
          </p:cNvSpPr>
          <p:nvPr/>
        </p:nvSpPr>
        <p:spPr bwMode="auto">
          <a:xfrm>
            <a:off x="857250" y="33829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5      0101     1000     1011     1000</a:t>
            </a:r>
          </a:p>
        </p:txBody>
      </p:sp>
      <p:sp>
        <p:nvSpPr>
          <p:cNvPr id="62480" name="Rectangle 1040"/>
          <p:cNvSpPr>
            <a:spLocks noChangeArrowheads="1"/>
          </p:cNvSpPr>
          <p:nvPr/>
        </p:nvSpPr>
        <p:spPr bwMode="auto">
          <a:xfrm>
            <a:off x="857250" y="38401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6      0110     1001     1100     1001</a:t>
            </a:r>
          </a:p>
        </p:txBody>
      </p:sp>
      <p:sp>
        <p:nvSpPr>
          <p:cNvPr id="62481" name="Rectangle 1041"/>
          <p:cNvSpPr>
            <a:spLocks noChangeArrowheads="1"/>
          </p:cNvSpPr>
          <p:nvPr/>
        </p:nvSpPr>
        <p:spPr bwMode="auto">
          <a:xfrm>
            <a:off x="857250" y="4297363"/>
            <a:ext cx="790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7      0111     1010     1101     1010</a:t>
            </a:r>
          </a:p>
        </p:txBody>
      </p:sp>
      <p:sp>
        <p:nvSpPr>
          <p:cNvPr id="62482" name="Rectangle 1042"/>
          <p:cNvSpPr>
            <a:spLocks noChangeArrowheads="1"/>
          </p:cNvSpPr>
          <p:nvPr/>
        </p:nvSpPr>
        <p:spPr bwMode="auto">
          <a:xfrm>
            <a:off x="857250" y="4724400"/>
            <a:ext cx="790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8      1000     1011     1110     1011</a:t>
            </a:r>
          </a:p>
        </p:txBody>
      </p:sp>
      <p:sp>
        <p:nvSpPr>
          <p:cNvPr id="62483" name="Rectangle 1043"/>
          <p:cNvSpPr>
            <a:spLocks noChangeArrowheads="1"/>
          </p:cNvSpPr>
          <p:nvPr/>
        </p:nvSpPr>
        <p:spPr bwMode="auto">
          <a:xfrm>
            <a:off x="857250" y="5181600"/>
            <a:ext cx="790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9      1001     1100     1111     1100</a:t>
            </a:r>
          </a:p>
        </p:txBody>
      </p:sp>
      <p:sp>
        <p:nvSpPr>
          <p:cNvPr id="62484" name="Line 1044"/>
          <p:cNvSpPr>
            <a:spLocks noChangeShapeType="1"/>
          </p:cNvSpPr>
          <p:nvPr/>
        </p:nvSpPr>
        <p:spPr bwMode="auto">
          <a:xfrm>
            <a:off x="1828800" y="504825"/>
            <a:ext cx="0" cy="5438775"/>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6" name="Line 1046"/>
          <p:cNvSpPr>
            <a:spLocks noChangeShapeType="1"/>
          </p:cNvSpPr>
          <p:nvPr/>
        </p:nvSpPr>
        <p:spPr bwMode="auto">
          <a:xfrm>
            <a:off x="5486400" y="504825"/>
            <a:ext cx="0" cy="44958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7" name="Line 1047"/>
          <p:cNvSpPr>
            <a:spLocks noChangeShapeType="1"/>
          </p:cNvSpPr>
          <p:nvPr/>
        </p:nvSpPr>
        <p:spPr bwMode="auto">
          <a:xfrm>
            <a:off x="7467600" y="504825"/>
            <a:ext cx="0" cy="44958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8" name="Line 1048"/>
          <p:cNvSpPr>
            <a:spLocks noChangeShapeType="1"/>
          </p:cNvSpPr>
          <p:nvPr/>
        </p:nvSpPr>
        <p:spPr bwMode="auto">
          <a:xfrm>
            <a:off x="3810000" y="457200"/>
            <a:ext cx="0" cy="5438775"/>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9" name="Line 1049"/>
          <p:cNvSpPr>
            <a:spLocks noChangeShapeType="1"/>
          </p:cNvSpPr>
          <p:nvPr/>
        </p:nvSpPr>
        <p:spPr bwMode="auto">
          <a:xfrm>
            <a:off x="5486400" y="533400"/>
            <a:ext cx="0" cy="5438775"/>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0" name="Line 1050"/>
          <p:cNvSpPr>
            <a:spLocks noChangeShapeType="1"/>
          </p:cNvSpPr>
          <p:nvPr/>
        </p:nvSpPr>
        <p:spPr bwMode="auto">
          <a:xfrm>
            <a:off x="7467600" y="533400"/>
            <a:ext cx="0" cy="5438775"/>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dissolve">
                                      <p:cBhvr>
                                        <p:cTn id="7" dur="500"/>
                                        <p:tgtEl>
                                          <p:spTgt spid="6246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2468"/>
                                        </p:tgtEl>
                                        <p:attrNameLst>
                                          <p:attrName>style.visibility</p:attrName>
                                        </p:attrNameLst>
                                      </p:cBhvr>
                                      <p:to>
                                        <p:strVal val="visible"/>
                                      </p:to>
                                    </p:set>
                                    <p:animEffect transition="in" filter="dissolve">
                                      <p:cBhvr>
                                        <p:cTn id="10" dur="500"/>
                                        <p:tgtEl>
                                          <p:spTgt spid="6246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2469"/>
                                        </p:tgtEl>
                                        <p:attrNameLst>
                                          <p:attrName>style.visibility</p:attrName>
                                        </p:attrNameLst>
                                      </p:cBhvr>
                                      <p:to>
                                        <p:strVal val="visible"/>
                                      </p:to>
                                    </p:set>
                                    <p:animEffect transition="in" filter="dissolve">
                                      <p:cBhvr>
                                        <p:cTn id="13" dur="500"/>
                                        <p:tgtEl>
                                          <p:spTgt spid="6246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2470"/>
                                        </p:tgtEl>
                                        <p:attrNameLst>
                                          <p:attrName>style.visibility</p:attrName>
                                        </p:attrNameLst>
                                      </p:cBhvr>
                                      <p:to>
                                        <p:strVal val="visible"/>
                                      </p:to>
                                    </p:set>
                                    <p:animEffect transition="in" filter="dissolve">
                                      <p:cBhvr>
                                        <p:cTn id="16" dur="500"/>
                                        <p:tgtEl>
                                          <p:spTgt spid="6247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2471"/>
                                        </p:tgtEl>
                                        <p:attrNameLst>
                                          <p:attrName>style.visibility</p:attrName>
                                        </p:attrNameLst>
                                      </p:cBhvr>
                                      <p:to>
                                        <p:strVal val="visible"/>
                                      </p:to>
                                    </p:set>
                                    <p:animEffect transition="in" filter="dissolve">
                                      <p:cBhvr>
                                        <p:cTn id="19" dur="500"/>
                                        <p:tgtEl>
                                          <p:spTgt spid="6247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62473"/>
                                        </p:tgtEl>
                                        <p:attrNameLst>
                                          <p:attrName>style.visibility</p:attrName>
                                        </p:attrNameLst>
                                      </p:cBhvr>
                                      <p:to>
                                        <p:strVal val="visible"/>
                                      </p:to>
                                    </p:set>
                                    <p:animEffect transition="in" filter="dissolve">
                                      <p:cBhvr>
                                        <p:cTn id="22" dur="500"/>
                                        <p:tgtEl>
                                          <p:spTgt spid="6247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2474"/>
                                        </p:tgtEl>
                                        <p:attrNameLst>
                                          <p:attrName>style.visibility</p:attrName>
                                        </p:attrNameLst>
                                      </p:cBhvr>
                                      <p:to>
                                        <p:strVal val="visible"/>
                                      </p:to>
                                    </p:set>
                                    <p:animEffect transition="in" filter="dissolve">
                                      <p:cBhvr>
                                        <p:cTn id="25" dur="500"/>
                                        <p:tgtEl>
                                          <p:spTgt spid="6247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2475"/>
                                        </p:tgtEl>
                                        <p:attrNameLst>
                                          <p:attrName>style.visibility</p:attrName>
                                        </p:attrNameLst>
                                      </p:cBhvr>
                                      <p:to>
                                        <p:strVal val="visible"/>
                                      </p:to>
                                    </p:set>
                                    <p:animEffect transition="in" filter="dissolve">
                                      <p:cBhvr>
                                        <p:cTn id="28" dur="500"/>
                                        <p:tgtEl>
                                          <p:spTgt spid="6247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2476"/>
                                        </p:tgtEl>
                                        <p:attrNameLst>
                                          <p:attrName>style.visibility</p:attrName>
                                        </p:attrNameLst>
                                      </p:cBhvr>
                                      <p:to>
                                        <p:strVal val="visible"/>
                                      </p:to>
                                    </p:set>
                                    <p:animEffect transition="in" filter="dissolve">
                                      <p:cBhvr>
                                        <p:cTn id="31" dur="500"/>
                                        <p:tgtEl>
                                          <p:spTgt spid="6247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2477"/>
                                        </p:tgtEl>
                                        <p:attrNameLst>
                                          <p:attrName>style.visibility</p:attrName>
                                        </p:attrNameLst>
                                      </p:cBhvr>
                                      <p:to>
                                        <p:strVal val="visible"/>
                                      </p:to>
                                    </p:set>
                                    <p:animEffect transition="in" filter="dissolve">
                                      <p:cBhvr>
                                        <p:cTn id="34" dur="500"/>
                                        <p:tgtEl>
                                          <p:spTgt spid="6247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62478"/>
                                        </p:tgtEl>
                                        <p:attrNameLst>
                                          <p:attrName>style.visibility</p:attrName>
                                        </p:attrNameLst>
                                      </p:cBhvr>
                                      <p:to>
                                        <p:strVal val="visible"/>
                                      </p:to>
                                    </p:set>
                                    <p:animEffect transition="in" filter="dissolve">
                                      <p:cBhvr>
                                        <p:cTn id="37" dur="500"/>
                                        <p:tgtEl>
                                          <p:spTgt spid="6247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62479"/>
                                        </p:tgtEl>
                                        <p:attrNameLst>
                                          <p:attrName>style.visibility</p:attrName>
                                        </p:attrNameLst>
                                      </p:cBhvr>
                                      <p:to>
                                        <p:strVal val="visible"/>
                                      </p:to>
                                    </p:set>
                                    <p:animEffect transition="in" filter="dissolve">
                                      <p:cBhvr>
                                        <p:cTn id="40" dur="500"/>
                                        <p:tgtEl>
                                          <p:spTgt spid="6247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62480"/>
                                        </p:tgtEl>
                                        <p:attrNameLst>
                                          <p:attrName>style.visibility</p:attrName>
                                        </p:attrNameLst>
                                      </p:cBhvr>
                                      <p:to>
                                        <p:strVal val="visible"/>
                                      </p:to>
                                    </p:set>
                                    <p:animEffect transition="in" filter="dissolve">
                                      <p:cBhvr>
                                        <p:cTn id="43" dur="500"/>
                                        <p:tgtEl>
                                          <p:spTgt spid="62480"/>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62481"/>
                                        </p:tgtEl>
                                        <p:attrNameLst>
                                          <p:attrName>style.visibility</p:attrName>
                                        </p:attrNameLst>
                                      </p:cBhvr>
                                      <p:to>
                                        <p:strVal val="visible"/>
                                      </p:to>
                                    </p:set>
                                    <p:animEffect transition="in" filter="dissolve">
                                      <p:cBhvr>
                                        <p:cTn id="46" dur="500"/>
                                        <p:tgtEl>
                                          <p:spTgt spid="6248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62482"/>
                                        </p:tgtEl>
                                        <p:attrNameLst>
                                          <p:attrName>style.visibility</p:attrName>
                                        </p:attrNameLst>
                                      </p:cBhvr>
                                      <p:to>
                                        <p:strVal val="visible"/>
                                      </p:to>
                                    </p:set>
                                    <p:animEffect transition="in" filter="dissolve">
                                      <p:cBhvr>
                                        <p:cTn id="49" dur="500"/>
                                        <p:tgtEl>
                                          <p:spTgt spid="6248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2483"/>
                                        </p:tgtEl>
                                        <p:attrNameLst>
                                          <p:attrName>style.visibility</p:attrName>
                                        </p:attrNameLst>
                                      </p:cBhvr>
                                      <p:to>
                                        <p:strVal val="visible"/>
                                      </p:to>
                                    </p:set>
                                    <p:animEffect transition="in" filter="dissolve">
                                      <p:cBhvr>
                                        <p:cTn id="52" dur="500"/>
                                        <p:tgtEl>
                                          <p:spTgt spid="62483"/>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2484"/>
                                        </p:tgtEl>
                                        <p:attrNameLst>
                                          <p:attrName>style.visibility</p:attrName>
                                        </p:attrNameLst>
                                      </p:cBhvr>
                                      <p:to>
                                        <p:strVal val="visible"/>
                                      </p:to>
                                    </p:set>
                                    <p:animEffect transition="in" filter="dissolve">
                                      <p:cBhvr>
                                        <p:cTn id="55" dur="500"/>
                                        <p:tgtEl>
                                          <p:spTgt spid="6248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62486"/>
                                        </p:tgtEl>
                                        <p:attrNameLst>
                                          <p:attrName>style.visibility</p:attrName>
                                        </p:attrNameLst>
                                      </p:cBhvr>
                                      <p:to>
                                        <p:strVal val="visible"/>
                                      </p:to>
                                    </p:set>
                                    <p:animEffect transition="in" filter="dissolve">
                                      <p:cBhvr>
                                        <p:cTn id="58" dur="500"/>
                                        <p:tgtEl>
                                          <p:spTgt spid="62486"/>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62487"/>
                                        </p:tgtEl>
                                        <p:attrNameLst>
                                          <p:attrName>style.visibility</p:attrName>
                                        </p:attrNameLst>
                                      </p:cBhvr>
                                      <p:to>
                                        <p:strVal val="visible"/>
                                      </p:to>
                                    </p:set>
                                    <p:animEffect transition="in" filter="dissolve">
                                      <p:cBhvr>
                                        <p:cTn id="61" dur="500"/>
                                        <p:tgtEl>
                                          <p:spTgt spid="62487"/>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62488"/>
                                        </p:tgtEl>
                                        <p:attrNameLst>
                                          <p:attrName>style.visibility</p:attrName>
                                        </p:attrNameLst>
                                      </p:cBhvr>
                                      <p:to>
                                        <p:strVal val="visible"/>
                                      </p:to>
                                    </p:set>
                                    <p:animEffect transition="in" filter="dissolve">
                                      <p:cBhvr>
                                        <p:cTn id="64" dur="500"/>
                                        <p:tgtEl>
                                          <p:spTgt spid="62488"/>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62489"/>
                                        </p:tgtEl>
                                        <p:attrNameLst>
                                          <p:attrName>style.visibility</p:attrName>
                                        </p:attrNameLst>
                                      </p:cBhvr>
                                      <p:to>
                                        <p:strVal val="visible"/>
                                      </p:to>
                                    </p:set>
                                    <p:animEffect transition="in" filter="dissolve">
                                      <p:cBhvr>
                                        <p:cTn id="67" dur="500"/>
                                        <p:tgtEl>
                                          <p:spTgt spid="62489"/>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62490"/>
                                        </p:tgtEl>
                                        <p:attrNameLst>
                                          <p:attrName>style.visibility</p:attrName>
                                        </p:attrNameLst>
                                      </p:cBhvr>
                                      <p:to>
                                        <p:strVal val="visible"/>
                                      </p:to>
                                    </p:set>
                                    <p:animEffect transition="in" filter="dissolve">
                                      <p:cBhvr>
                                        <p:cTn id="70" dur="500"/>
                                        <p:tgtEl>
                                          <p:spTgt spid="62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ldLvl="0" animBg="1"/>
      <p:bldP spid="62468" grpId="0" bldLvl="0" animBg="1"/>
      <p:bldP spid="62469" grpId="0" bldLvl="0" animBg="1"/>
      <p:bldP spid="62470" grpId="0" bldLvl="0" animBg="1"/>
      <p:bldP spid="62471" grpId="0" bldLvl="0" animBg="1"/>
      <p:bldP spid="62473" grpId="0" bldLvl="0" animBg="1"/>
      <p:bldP spid="62474" grpId="0" bldLvl="0" animBg="1"/>
      <p:bldP spid="62475" grpId="0" bldLvl="0" animBg="1"/>
      <p:bldP spid="62476" grpId="0" bldLvl="0" animBg="1"/>
      <p:bldP spid="62477" grpId="0" bldLvl="0" animBg="1"/>
      <p:bldP spid="62478" grpId="0" bldLvl="0" animBg="1"/>
      <p:bldP spid="62479" grpId="0" bldLvl="0" animBg="1"/>
      <p:bldP spid="62480" grpId="0" bldLvl="0" animBg="1"/>
      <p:bldP spid="62481" grpId="0" bldLvl="0" animBg="1"/>
      <p:bldP spid="62482" grpId="0" bldLvl="0" animBg="1"/>
      <p:bldP spid="62483" grpId="0" bldLvl="0" animBg="1"/>
      <p:bldP spid="62484" grpId="0" bldLvl="0" animBg="1"/>
      <p:bldP spid="62486" grpId="0" bldLvl="0" animBg="1"/>
      <p:bldP spid="62487" grpId="0" bldLvl="0" animBg="1"/>
      <p:bldP spid="62488" grpId="0" bldLvl="0" animBg="1"/>
      <p:bldP spid="62489" grpId="0" bldLvl="0" animBg="1"/>
      <p:bldP spid="62490"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AECD326-F1B8-4654-929B-ED5C766A7D94}" type="slidenum">
              <a:rPr lang="en-US" altLang="zh-CN" sz="1400" smtClean="0"/>
              <a:t>43</a:t>
            </a:fld>
            <a:endParaRPr lang="en-US" altLang="zh-CN" sz="1400"/>
          </a:p>
        </p:txBody>
      </p:sp>
      <p:sp>
        <p:nvSpPr>
          <p:cNvPr id="34819" name="Rectangle 3"/>
          <p:cNvSpPr>
            <a:spLocks noChangeArrowheads="1"/>
          </p:cNvSpPr>
          <p:nvPr/>
        </p:nvSpPr>
        <p:spPr bwMode="auto">
          <a:xfrm>
            <a:off x="304800" y="334963"/>
            <a:ext cx="2533650"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一、</a:t>
            </a:r>
            <a:r>
              <a:rPr lang="zh-CN" altLang="en-US" b="1">
                <a:ea typeface="黑体" panose="02010609060101010101" pitchFamily="49" charset="-122"/>
              </a:rPr>
              <a:t> </a:t>
            </a: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8421</a:t>
            </a:r>
            <a:r>
              <a:rPr lang="zh-CN" altLang="en-US" b="1">
                <a:latin typeface="黑体" panose="02010609060101010101" pitchFamily="49" charset="-122"/>
                <a:ea typeface="黑体" panose="02010609060101010101" pitchFamily="49" charset="-122"/>
              </a:rPr>
              <a:t>码</a:t>
            </a:r>
          </a:p>
        </p:txBody>
      </p:sp>
      <p:sp>
        <p:nvSpPr>
          <p:cNvPr id="34820" name="Rectangle 4"/>
          <p:cNvSpPr>
            <a:spLocks noChangeArrowheads="1"/>
          </p:cNvSpPr>
          <p:nvPr/>
        </p:nvSpPr>
        <p:spPr bwMode="auto">
          <a:xfrm>
            <a:off x="304800" y="1676400"/>
            <a:ext cx="85344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a:latin typeface="黑体" panose="02010609060101010101" pitchFamily="49" charset="-122"/>
                <a:ea typeface="黑体" panose="02010609060101010101" pitchFamily="49" charset="-122"/>
                <a:sym typeface="Wingdings" panose="05000000000000000000" pitchFamily="2" charset="2"/>
              </a:rPr>
              <a:t>(</a:t>
            </a:r>
            <a:r>
              <a:rPr lang="en-US" altLang="zh-CN">
                <a:latin typeface="黑体" panose="02010609060101010101" pitchFamily="49" charset="-122"/>
                <a:ea typeface="黑体" panose="02010609060101010101" pitchFamily="49" charset="-122"/>
              </a:rPr>
              <a:t>1) </a:t>
            </a:r>
            <a:r>
              <a:rPr lang="zh-CN" altLang="en-US">
                <a:latin typeface="黑体" panose="02010609060101010101" pitchFamily="49" charset="-122"/>
                <a:ea typeface="黑体" panose="02010609060101010101" pitchFamily="49" charset="-122"/>
              </a:rPr>
              <a:t>从左到右，权位分别为</a:t>
            </a:r>
            <a:r>
              <a:rPr lang="en-US" altLang="zh-CN">
                <a:latin typeface="黑体" panose="02010609060101010101" pitchFamily="49" charset="-122"/>
                <a:ea typeface="黑体" panose="02010609060101010101" pitchFamily="49" charset="-122"/>
              </a:rPr>
              <a:t>8</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4</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，其按自然二进制数的规律排列，不允许出现</a:t>
            </a:r>
            <a:r>
              <a:rPr lang="en-US" altLang="zh-CN">
                <a:latin typeface="黑体" panose="02010609060101010101" pitchFamily="49" charset="-122"/>
                <a:ea typeface="黑体" panose="02010609060101010101" pitchFamily="49" charset="-122"/>
              </a:rPr>
              <a:t>1010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1111</a:t>
            </a:r>
            <a:r>
              <a:rPr lang="zh-CN" altLang="en-US">
                <a:latin typeface="黑体" panose="02010609060101010101" pitchFamily="49" charset="-122"/>
                <a:ea typeface="黑体" panose="02010609060101010101" pitchFamily="49" charset="-122"/>
              </a:rPr>
              <a:t>这</a:t>
            </a:r>
            <a:r>
              <a:rPr lang="en-US" altLang="zh-CN">
                <a:latin typeface="黑体" panose="02010609060101010101" pitchFamily="49" charset="-122"/>
                <a:ea typeface="黑体" panose="02010609060101010101" pitchFamily="49" charset="-122"/>
              </a:rPr>
              <a:t>6</a:t>
            </a:r>
            <a:r>
              <a:rPr lang="zh-CN" altLang="en-US">
                <a:latin typeface="黑体" panose="02010609060101010101" pitchFamily="49" charset="-122"/>
                <a:ea typeface="黑体" panose="02010609060101010101" pitchFamily="49" charset="-122"/>
              </a:rPr>
              <a:t>种代码。</a:t>
            </a:r>
          </a:p>
        </p:txBody>
      </p:sp>
      <p:sp>
        <p:nvSpPr>
          <p:cNvPr id="34822" name="Rectangle 6"/>
          <p:cNvSpPr>
            <a:spLocks noChangeArrowheads="1"/>
          </p:cNvSpPr>
          <p:nvPr/>
        </p:nvSpPr>
        <p:spPr bwMode="auto">
          <a:xfrm>
            <a:off x="304800" y="1020763"/>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特点：</a:t>
            </a:r>
          </a:p>
        </p:txBody>
      </p:sp>
      <p:sp>
        <p:nvSpPr>
          <p:cNvPr id="34824" name="Rectangle 8"/>
          <p:cNvSpPr>
            <a:spLocks noChangeArrowheads="1"/>
          </p:cNvSpPr>
          <p:nvPr/>
        </p:nvSpPr>
        <p:spPr bwMode="auto">
          <a:xfrm>
            <a:off x="323850" y="3467100"/>
            <a:ext cx="851535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具有奇偶特性，当十进制数为奇数时，对应的代码的最低位为</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，为偶数时最低位</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34827" name="Rectangle 11"/>
          <p:cNvSpPr>
            <a:spLocks noChangeArrowheads="1"/>
          </p:cNvSpPr>
          <p:nvPr/>
        </p:nvSpPr>
        <p:spPr bwMode="auto">
          <a:xfrm>
            <a:off x="349250" y="4754563"/>
            <a:ext cx="8458200" cy="1592262"/>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dirty="0">
                <a:latin typeface="黑体" panose="02010609060101010101" pitchFamily="49" charset="-122"/>
                <a:ea typeface="黑体" panose="02010609060101010101" pitchFamily="49" charset="-122"/>
              </a:rPr>
              <a:t>(3) 8421</a:t>
            </a:r>
            <a:r>
              <a:rPr lang="zh-CN" altLang="en-US" dirty="0">
                <a:latin typeface="黑体" panose="02010609060101010101" pitchFamily="49" charset="-122"/>
                <a:ea typeface="黑体" panose="02010609060101010101" pitchFamily="49" charset="-122"/>
              </a:rPr>
              <a:t>码的编码值与字符</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9</a:t>
            </a:r>
            <a:r>
              <a:rPr lang="zh-CN" altLang="en-US" dirty="0">
                <a:latin typeface="黑体" panose="02010609060101010101" pitchFamily="49" charset="-122"/>
                <a:ea typeface="黑体" panose="02010609060101010101" pitchFamily="49" charset="-122"/>
              </a:rPr>
              <a:t>的</a:t>
            </a:r>
            <a:r>
              <a:rPr lang="en-US" altLang="zh-CN" dirty="0">
                <a:latin typeface="黑体" panose="02010609060101010101" pitchFamily="49" charset="-122"/>
                <a:ea typeface="黑体" panose="02010609060101010101" pitchFamily="49" charset="-122"/>
              </a:rPr>
              <a:t>ASCII</a:t>
            </a:r>
            <a:r>
              <a:rPr lang="zh-CN" altLang="en-US" dirty="0">
                <a:latin typeface="黑体" panose="02010609060101010101" pitchFamily="49" charset="-122"/>
                <a:ea typeface="黑体" panose="02010609060101010101" pitchFamily="49" charset="-122"/>
              </a:rPr>
              <a:t>码低四位相同。有利于简化输入输出过程中从字符到</a:t>
            </a:r>
            <a:r>
              <a:rPr lang="en-US" altLang="zh-CN" dirty="0">
                <a:latin typeface="黑体" panose="02010609060101010101" pitchFamily="49" charset="-122"/>
                <a:ea typeface="黑体" panose="02010609060101010101" pitchFamily="49" charset="-122"/>
              </a:rPr>
              <a:t>BCD</a:t>
            </a:r>
            <a:r>
              <a:rPr lang="zh-CN" altLang="en-US" dirty="0">
                <a:latin typeface="黑体" panose="02010609060101010101" pitchFamily="49" charset="-122"/>
                <a:ea typeface="黑体" panose="02010609060101010101" pitchFamily="49" charset="-122"/>
              </a:rPr>
              <a:t>码或从</a:t>
            </a:r>
            <a:r>
              <a:rPr lang="en-US" altLang="zh-CN" dirty="0">
                <a:latin typeface="黑体" panose="02010609060101010101" pitchFamily="49" charset="-122"/>
                <a:ea typeface="黑体" panose="02010609060101010101" pitchFamily="49" charset="-122"/>
              </a:rPr>
              <a:t>BCD</a:t>
            </a:r>
            <a:r>
              <a:rPr lang="zh-CN" altLang="en-US" dirty="0">
                <a:latin typeface="黑体" panose="02010609060101010101" pitchFamily="49" charset="-122"/>
                <a:ea typeface="黑体" panose="02010609060101010101" pitchFamily="49" charset="-122"/>
              </a:rPr>
              <a:t>码到字符的转换操作。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 calcmode="lin" valueType="num">
                                      <p:cBhvr additive="base">
                                        <p:cTn id="7" dur="500" fill="hold"/>
                                        <p:tgtEl>
                                          <p:spTgt spid="34822"/>
                                        </p:tgtEl>
                                        <p:attrNameLst>
                                          <p:attrName>ppt_x</p:attrName>
                                        </p:attrNameLst>
                                      </p:cBhvr>
                                      <p:tavLst>
                                        <p:tav tm="0">
                                          <p:val>
                                            <p:strVal val="0-#ppt_w/2"/>
                                          </p:val>
                                        </p:tav>
                                        <p:tav tm="100000">
                                          <p:val>
                                            <p:strVal val="#ppt_x"/>
                                          </p:val>
                                        </p:tav>
                                      </p:tavLst>
                                    </p:anim>
                                    <p:anim calcmode="lin" valueType="num">
                                      <p:cBhvr additive="base">
                                        <p:cTn id="8" dur="500" fill="hold"/>
                                        <p:tgtEl>
                                          <p:spTgt spid="348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4820"/>
                                        </p:tgtEl>
                                        <p:attrNameLst>
                                          <p:attrName>style.visibility</p:attrName>
                                        </p:attrNameLst>
                                      </p:cBhvr>
                                      <p:to>
                                        <p:strVal val="visible"/>
                                      </p:to>
                                    </p:set>
                                    <p:animEffect transition="in" filter="box(in)">
                                      <p:cBhvr>
                                        <p:cTn id="13" dur="500"/>
                                        <p:tgtEl>
                                          <p:spTgt spid="34820"/>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4824"/>
                                        </p:tgtEl>
                                        <p:attrNameLst>
                                          <p:attrName>style.visibility</p:attrName>
                                        </p:attrNameLst>
                                      </p:cBhvr>
                                      <p:to>
                                        <p:strVal val="visible"/>
                                      </p:to>
                                    </p:set>
                                    <p:animEffect transition="in" filter="box(in)">
                                      <p:cBhvr>
                                        <p:cTn id="18" dur="500"/>
                                        <p:tgtEl>
                                          <p:spTgt spid="34824"/>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34827"/>
                                        </p:tgtEl>
                                        <p:attrNameLst>
                                          <p:attrName>style.visibility</p:attrName>
                                        </p:attrNameLst>
                                      </p:cBhvr>
                                      <p:to>
                                        <p:strVal val="visible"/>
                                      </p:to>
                                    </p:set>
                                    <p:animEffect transition="in" filter="box(in)">
                                      <p:cBhvr>
                                        <p:cTn id="23" dur="500"/>
                                        <p:tgtEl>
                                          <p:spTgt spid="34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ldLvl="0" animBg="1" autoUpdateAnimBg="0"/>
      <p:bldP spid="34822" grpId="0" bldLvl="0" animBg="1" autoUpdateAnimBg="0"/>
      <p:bldP spid="34824" grpId="0" bldLvl="0" animBg="1" autoUpdateAnimBg="0"/>
      <p:bldP spid="34827" grpId="0" bldLvl="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C20E42-82A0-F94A-0FFC-51F261B4E612}"/>
              </a:ext>
            </a:extLst>
          </p:cNvPr>
          <p:cNvSpPr>
            <a:spLocks noGrp="1"/>
          </p:cNvSpPr>
          <p:nvPr>
            <p:ph type="dt" sz="half" idx="10"/>
          </p:nvPr>
        </p:nvSpPr>
        <p:spPr/>
        <p:txBody>
          <a:bodyPr/>
          <a:lstStyle/>
          <a:p>
            <a:fld id="{1AAC58AA-0FB2-407D-B580-C4B0AFB2044B}" type="datetime1">
              <a:rPr lang="zh-CN" altLang="en-US" smtClean="0"/>
              <a:t>2026/8/12</a:t>
            </a:fld>
            <a:endParaRPr lang="zh-CN" altLang="en-US"/>
          </a:p>
        </p:txBody>
      </p:sp>
      <p:sp>
        <p:nvSpPr>
          <p:cNvPr id="3" name="页脚占位符 2">
            <a:extLst>
              <a:ext uri="{FF2B5EF4-FFF2-40B4-BE49-F238E27FC236}">
                <a16:creationId xmlns:a16="http://schemas.microsoft.com/office/drawing/2014/main" id="{93B922F5-D8C3-88BF-58FB-0E9321CFE5A0}"/>
              </a:ext>
            </a:extLst>
          </p:cNvPr>
          <p:cNvSpPr>
            <a:spLocks noGrp="1"/>
          </p:cNvSpPr>
          <p:nvPr>
            <p:ph type="ftr" sz="quarter" idx="11"/>
          </p:nvPr>
        </p:nvSpPr>
        <p:spPr/>
        <p:txBody>
          <a:bodyPr/>
          <a:lstStyle/>
          <a:p>
            <a:r>
              <a:rPr lang="zh-CN" altLang="en-US"/>
              <a:t>计算机组成原理--第二章 计算机中的信息表示</a:t>
            </a:r>
          </a:p>
        </p:txBody>
      </p:sp>
      <p:sp>
        <p:nvSpPr>
          <p:cNvPr id="4" name="灯片编号占位符 3">
            <a:extLst>
              <a:ext uri="{FF2B5EF4-FFF2-40B4-BE49-F238E27FC236}">
                <a16:creationId xmlns:a16="http://schemas.microsoft.com/office/drawing/2014/main" id="{45214B38-BC08-75BD-860D-E6680C0779D5}"/>
              </a:ext>
            </a:extLst>
          </p:cNvPr>
          <p:cNvSpPr>
            <a:spLocks noGrp="1"/>
          </p:cNvSpPr>
          <p:nvPr>
            <p:ph type="sldNum" sz="quarter" idx="12"/>
          </p:nvPr>
        </p:nvSpPr>
        <p:spPr/>
        <p:txBody>
          <a:bodyPr/>
          <a:lstStyle/>
          <a:p>
            <a:fld id="{CD331227-691F-4B7F-8493-F4368ED92163}" type="slidenum">
              <a:rPr lang="zh-CN" altLang="en-US" smtClean="0"/>
              <a:t>44</a:t>
            </a:fld>
            <a:endParaRPr lang="zh-CN" altLang="en-US"/>
          </a:p>
        </p:txBody>
      </p:sp>
      <p:sp>
        <p:nvSpPr>
          <p:cNvPr id="6" name="文本框 5">
            <a:extLst>
              <a:ext uri="{FF2B5EF4-FFF2-40B4-BE49-F238E27FC236}">
                <a16:creationId xmlns:a16="http://schemas.microsoft.com/office/drawing/2014/main" id="{3D256761-050C-6D8F-74B8-3C708935026A}"/>
              </a:ext>
            </a:extLst>
          </p:cNvPr>
          <p:cNvSpPr txBox="1"/>
          <p:nvPr/>
        </p:nvSpPr>
        <p:spPr>
          <a:xfrm>
            <a:off x="1735493" y="1212980"/>
            <a:ext cx="6298163" cy="3898707"/>
          </a:xfrm>
          <a:prstGeom prst="rect">
            <a:avLst/>
          </a:prstGeom>
          <a:noFill/>
        </p:spPr>
        <p:txBody>
          <a:bodyPr wrap="square">
            <a:spAutoFit/>
          </a:bodyPr>
          <a:lstStyle/>
          <a:p>
            <a:pPr algn="l">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‘0’</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48</a:t>
            </a:r>
            <a:r>
              <a:rPr lang="zh-CN" altLang="en-US" sz="2400" b="0" i="0" dirty="0">
                <a:solidFill>
                  <a:srgbClr val="333333"/>
                </a:solidFill>
                <a:effectLst/>
                <a:latin typeface="PingFang SC"/>
              </a:rPr>
              <a:t>‌， </a:t>
            </a:r>
            <a:r>
              <a:rPr lang="en-US" altLang="zh-CN" sz="2400" dirty="0">
                <a:solidFill>
                  <a:srgbClr val="333333"/>
                </a:solidFill>
                <a:latin typeface="PingFang SC"/>
              </a:rPr>
              <a:t>00110000</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‘1’</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49</a:t>
            </a:r>
            <a:r>
              <a:rPr lang="zh-CN" altLang="en-US" sz="2400" b="0" i="0" dirty="0">
                <a:solidFill>
                  <a:srgbClr val="333333"/>
                </a:solidFill>
                <a:effectLst/>
                <a:latin typeface="PingFang SC"/>
              </a:rPr>
              <a:t>‌， </a:t>
            </a:r>
            <a:r>
              <a:rPr lang="en-US" altLang="zh-CN" sz="2400" dirty="0">
                <a:solidFill>
                  <a:srgbClr val="333333"/>
                </a:solidFill>
                <a:latin typeface="PingFang SC"/>
              </a:rPr>
              <a:t>00110001</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‘2’</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50</a:t>
            </a:r>
            <a:r>
              <a:rPr lang="zh-CN" altLang="en-US" sz="2400" b="0" i="0" dirty="0">
                <a:solidFill>
                  <a:srgbClr val="333333"/>
                </a:solidFill>
                <a:effectLst/>
                <a:latin typeface="PingFang SC"/>
              </a:rPr>
              <a:t>‌，</a:t>
            </a:r>
            <a:r>
              <a:rPr lang="en-US" altLang="zh-CN" sz="2400" dirty="0">
                <a:solidFill>
                  <a:srgbClr val="333333"/>
                </a:solidFill>
                <a:latin typeface="PingFang SC"/>
              </a:rPr>
              <a:t> 00110010</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‘3’</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51</a:t>
            </a:r>
            <a:r>
              <a:rPr lang="zh-CN" altLang="en-US" sz="2400" b="0" i="0" dirty="0">
                <a:solidFill>
                  <a:srgbClr val="333333"/>
                </a:solidFill>
                <a:effectLst/>
                <a:latin typeface="PingFang SC"/>
              </a:rPr>
              <a:t>‌，</a:t>
            </a:r>
            <a:r>
              <a:rPr lang="en-US" altLang="zh-CN" sz="2400" dirty="0">
                <a:solidFill>
                  <a:srgbClr val="333333"/>
                </a:solidFill>
                <a:latin typeface="PingFang SC"/>
              </a:rPr>
              <a:t> 00110011</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‘4’</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52</a:t>
            </a:r>
            <a:r>
              <a:rPr lang="zh-CN" altLang="en-US" sz="2400" b="0" i="0" dirty="0">
                <a:solidFill>
                  <a:srgbClr val="333333"/>
                </a:solidFill>
                <a:effectLst/>
                <a:latin typeface="PingFang SC"/>
              </a:rPr>
              <a:t>‌，</a:t>
            </a:r>
            <a:r>
              <a:rPr lang="en-US" altLang="zh-CN" sz="2400" dirty="0">
                <a:solidFill>
                  <a:srgbClr val="333333"/>
                </a:solidFill>
                <a:latin typeface="PingFang SC"/>
              </a:rPr>
              <a:t> 00110100</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‘5’</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53</a:t>
            </a:r>
            <a:r>
              <a:rPr lang="zh-CN" altLang="en-US" sz="2400" b="0" i="0" dirty="0">
                <a:solidFill>
                  <a:srgbClr val="333333"/>
                </a:solidFill>
                <a:effectLst/>
                <a:latin typeface="PingFang SC"/>
              </a:rPr>
              <a:t>‌，</a:t>
            </a:r>
            <a:r>
              <a:rPr lang="en-US" altLang="zh-CN" sz="2400" dirty="0">
                <a:solidFill>
                  <a:srgbClr val="333333"/>
                </a:solidFill>
                <a:latin typeface="PingFang SC"/>
              </a:rPr>
              <a:t> 00110101</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‘6’</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54</a:t>
            </a:r>
            <a:r>
              <a:rPr lang="zh-CN" altLang="en-US" sz="2400" b="0" i="0" dirty="0">
                <a:solidFill>
                  <a:srgbClr val="333333"/>
                </a:solidFill>
                <a:effectLst/>
                <a:latin typeface="PingFang SC"/>
              </a:rPr>
              <a:t>‌，</a:t>
            </a:r>
            <a:r>
              <a:rPr lang="en-US" altLang="zh-CN" sz="2400" dirty="0">
                <a:solidFill>
                  <a:srgbClr val="333333"/>
                </a:solidFill>
                <a:latin typeface="PingFang SC"/>
              </a:rPr>
              <a:t> 00110110</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‘7’</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55</a:t>
            </a:r>
            <a:r>
              <a:rPr lang="zh-CN" altLang="en-US" sz="2400" b="0" i="0" dirty="0">
                <a:solidFill>
                  <a:srgbClr val="333333"/>
                </a:solidFill>
                <a:effectLst/>
                <a:latin typeface="PingFang SC"/>
              </a:rPr>
              <a:t>‌，</a:t>
            </a:r>
            <a:r>
              <a:rPr lang="en-US" altLang="zh-CN" sz="2400" dirty="0">
                <a:solidFill>
                  <a:srgbClr val="333333"/>
                </a:solidFill>
                <a:latin typeface="PingFang SC"/>
              </a:rPr>
              <a:t> 00110111</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‘8’</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56</a:t>
            </a:r>
            <a:r>
              <a:rPr lang="zh-CN" altLang="en-US" sz="2400" b="0" i="0" dirty="0">
                <a:solidFill>
                  <a:srgbClr val="333333"/>
                </a:solidFill>
                <a:effectLst/>
                <a:latin typeface="PingFang SC"/>
              </a:rPr>
              <a:t>‌，</a:t>
            </a:r>
            <a:r>
              <a:rPr lang="en-US" altLang="zh-CN" sz="2400" dirty="0">
                <a:solidFill>
                  <a:srgbClr val="333333"/>
                </a:solidFill>
                <a:latin typeface="PingFang SC"/>
              </a:rPr>
              <a:t> 00111000</a:t>
            </a:r>
            <a:endParaRPr lang="zh-CN" altLang="en-US" sz="2400" b="0" i="0" dirty="0">
              <a:solidFill>
                <a:srgbClr val="333333"/>
              </a:solidFill>
              <a:effectLst/>
              <a:latin typeface="PingFang SC"/>
            </a:endParaRPr>
          </a:p>
          <a:p>
            <a:pPr>
              <a:buFont typeface="Arial" panose="020B0604020202020204" pitchFamily="34" charset="0"/>
              <a:buChar char="•"/>
            </a:pPr>
            <a:r>
              <a:rPr lang="zh-CN" altLang="en-US" sz="2400" b="0" i="0" dirty="0">
                <a:solidFill>
                  <a:srgbClr val="333333"/>
                </a:solidFill>
                <a:effectLst/>
                <a:latin typeface="PingFang SC"/>
              </a:rPr>
              <a:t>字符</a:t>
            </a:r>
            <a:r>
              <a:rPr lang="en-US" altLang="zh-CN" sz="2400" b="0" i="0" dirty="0">
                <a:solidFill>
                  <a:srgbClr val="333333"/>
                </a:solidFill>
                <a:effectLst/>
                <a:latin typeface="PingFang SC"/>
              </a:rPr>
              <a:t>‘9’</a:t>
            </a:r>
            <a:r>
              <a:rPr lang="zh-CN" altLang="en-US" sz="2400" b="0" i="0" dirty="0">
                <a:solidFill>
                  <a:srgbClr val="333333"/>
                </a:solidFill>
                <a:effectLst/>
                <a:latin typeface="PingFang SC"/>
              </a:rPr>
              <a:t>：</a:t>
            </a:r>
            <a:r>
              <a:rPr lang="en-US" altLang="zh-CN" sz="2400" b="0" i="0" dirty="0">
                <a:solidFill>
                  <a:srgbClr val="333333"/>
                </a:solidFill>
                <a:effectLst/>
                <a:latin typeface="PingFang SC"/>
              </a:rPr>
              <a:t>ASCII </a:t>
            </a:r>
            <a:r>
              <a:rPr lang="zh-CN" altLang="en-US" sz="2400" b="0" i="0" dirty="0">
                <a:solidFill>
                  <a:srgbClr val="333333"/>
                </a:solidFill>
                <a:effectLst/>
                <a:latin typeface="PingFang SC"/>
              </a:rPr>
              <a:t>码 ‌</a:t>
            </a:r>
            <a:r>
              <a:rPr lang="en-US" altLang="zh-CN" sz="2400" b="1" i="0" dirty="0">
                <a:solidFill>
                  <a:srgbClr val="333333"/>
                </a:solidFill>
                <a:effectLst/>
                <a:latin typeface="PingFang SC"/>
              </a:rPr>
              <a:t>57</a:t>
            </a:r>
            <a:r>
              <a:rPr lang="zh-CN" altLang="en-US" sz="2400" b="1" i="0" dirty="0">
                <a:solidFill>
                  <a:srgbClr val="333333"/>
                </a:solidFill>
                <a:effectLst/>
                <a:latin typeface="PingFang SC"/>
              </a:rPr>
              <a:t>，</a:t>
            </a:r>
            <a:r>
              <a:rPr lang="en-US" altLang="zh-CN" sz="2400" dirty="0">
                <a:solidFill>
                  <a:srgbClr val="333333"/>
                </a:solidFill>
                <a:latin typeface="PingFang SC"/>
              </a:rPr>
              <a:t> 00111001</a:t>
            </a:r>
            <a:endParaRPr lang="zh-CN" altLang="en-US" sz="2400" b="0" i="0" dirty="0">
              <a:solidFill>
                <a:srgbClr val="333333"/>
              </a:solidFill>
              <a:effectLst/>
              <a:latin typeface="PingFang SC"/>
            </a:endParaRPr>
          </a:p>
        </p:txBody>
      </p:sp>
    </p:spTree>
    <p:extLst>
      <p:ext uri="{BB962C8B-B14F-4D97-AF65-F5344CB8AC3E}">
        <p14:creationId xmlns:p14="http://schemas.microsoft.com/office/powerpoint/2010/main" val="36010755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7D94EE2-9FE9-414D-9FDF-91CF52AAEA77}" type="slidenum">
              <a:rPr lang="en-US" altLang="zh-CN" sz="1400" smtClean="0"/>
              <a:t>45</a:t>
            </a:fld>
            <a:endParaRPr lang="en-US" altLang="zh-CN" sz="1400"/>
          </a:p>
        </p:txBody>
      </p:sp>
      <p:sp>
        <p:nvSpPr>
          <p:cNvPr id="66562" name="Rectangle 2"/>
          <p:cNvSpPr>
            <a:spLocks noChangeArrowheads="1"/>
          </p:cNvSpPr>
          <p:nvPr/>
        </p:nvSpPr>
        <p:spPr bwMode="auto">
          <a:xfrm>
            <a:off x="381000" y="381000"/>
            <a:ext cx="2227263"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四、</a:t>
            </a: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2421</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码</a:t>
            </a:r>
          </a:p>
        </p:txBody>
      </p:sp>
      <p:sp>
        <p:nvSpPr>
          <p:cNvPr id="66563" name="Rectangle 3"/>
          <p:cNvSpPr>
            <a:spLocks noChangeArrowheads="1"/>
          </p:cNvSpPr>
          <p:nvPr/>
        </p:nvSpPr>
        <p:spPr bwMode="auto">
          <a:xfrm>
            <a:off x="304800" y="2362200"/>
            <a:ext cx="85344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将任意一个十进制数</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D</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对应的</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码各位取反，正好是与</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9</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互补的那个十进制数（</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9-D</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）的</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码，因此</a:t>
            </a: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码也被称为自补码。</a:t>
            </a:r>
          </a:p>
        </p:txBody>
      </p:sp>
      <p:sp>
        <p:nvSpPr>
          <p:cNvPr id="66564" name="Rectangle 4"/>
          <p:cNvSpPr>
            <a:spLocks noChangeArrowheads="1"/>
          </p:cNvSpPr>
          <p:nvPr/>
        </p:nvSpPr>
        <p:spPr bwMode="auto">
          <a:xfrm>
            <a:off x="304800" y="4343400"/>
            <a:ext cx="8686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例如：</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的代码</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0011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码）取反为</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1100</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，正好是</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9-3=6</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2421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码。</a:t>
            </a:r>
          </a:p>
        </p:txBody>
      </p:sp>
      <p:sp>
        <p:nvSpPr>
          <p:cNvPr id="66565" name="Rectangle 5"/>
          <p:cNvSpPr>
            <a:spLocks noChangeArrowheads="1"/>
          </p:cNvSpPr>
          <p:nvPr/>
        </p:nvSpPr>
        <p:spPr bwMode="auto">
          <a:xfrm>
            <a:off x="304800" y="1371600"/>
            <a:ext cx="85344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a:latin typeface="黑体" panose="02010609060101010101" pitchFamily="49" charset="-122"/>
                <a:ea typeface="黑体" panose="02010609060101010101" pitchFamily="49" charset="-122"/>
                <a:sym typeface="Wingdings" panose="05000000000000000000" pitchFamily="2" charset="2"/>
              </a:rPr>
              <a:t>(</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从左到右，权位分别为</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4</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5"/>
                                        </p:tgtEl>
                                        <p:attrNameLst>
                                          <p:attrName>style.visibility</p:attrName>
                                        </p:attrNameLst>
                                      </p:cBhvr>
                                      <p:to>
                                        <p:strVal val="visible"/>
                                      </p:to>
                                    </p:set>
                                    <p:anim calcmode="lin" valueType="num">
                                      <p:cBhvr additive="base">
                                        <p:cTn id="7" dur="500" fill="hold"/>
                                        <p:tgtEl>
                                          <p:spTgt spid="66565"/>
                                        </p:tgtEl>
                                        <p:attrNameLst>
                                          <p:attrName>ppt_x</p:attrName>
                                        </p:attrNameLst>
                                      </p:cBhvr>
                                      <p:tavLst>
                                        <p:tav tm="0">
                                          <p:val>
                                            <p:strVal val="0-#ppt_w/2"/>
                                          </p:val>
                                        </p:tav>
                                        <p:tav tm="100000">
                                          <p:val>
                                            <p:strVal val="#ppt_x"/>
                                          </p:val>
                                        </p:tav>
                                      </p:tavLst>
                                    </p:anim>
                                    <p:anim calcmode="lin" valueType="num">
                                      <p:cBhvr additive="base">
                                        <p:cTn id="8" dur="500" fill="hold"/>
                                        <p:tgtEl>
                                          <p:spTgt spid="665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6563"/>
                                        </p:tgtEl>
                                        <p:attrNameLst>
                                          <p:attrName>style.visibility</p:attrName>
                                        </p:attrNameLst>
                                      </p:cBhvr>
                                      <p:to>
                                        <p:strVal val="visible"/>
                                      </p:to>
                                    </p:set>
                                    <p:anim calcmode="lin" valueType="num">
                                      <p:cBhvr additive="base">
                                        <p:cTn id="13" dur="500" fill="hold"/>
                                        <p:tgtEl>
                                          <p:spTgt spid="66563"/>
                                        </p:tgtEl>
                                        <p:attrNameLst>
                                          <p:attrName>ppt_x</p:attrName>
                                        </p:attrNameLst>
                                      </p:cBhvr>
                                      <p:tavLst>
                                        <p:tav tm="0">
                                          <p:val>
                                            <p:strVal val="0-#ppt_w/2"/>
                                          </p:val>
                                        </p:tav>
                                        <p:tav tm="100000">
                                          <p:val>
                                            <p:strVal val="#ppt_x"/>
                                          </p:val>
                                        </p:tav>
                                      </p:tavLst>
                                    </p:anim>
                                    <p:anim calcmode="lin" valueType="num">
                                      <p:cBhvr additive="base">
                                        <p:cTn id="14" dur="500" fill="hold"/>
                                        <p:tgtEl>
                                          <p:spTgt spid="6656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6564"/>
                                        </p:tgtEl>
                                        <p:attrNameLst>
                                          <p:attrName>style.visibility</p:attrName>
                                        </p:attrNameLst>
                                      </p:cBhvr>
                                      <p:to>
                                        <p:strVal val="visible"/>
                                      </p:to>
                                    </p:set>
                                    <p:anim calcmode="lin" valueType="num">
                                      <p:cBhvr additive="base">
                                        <p:cTn id="19" dur="500" fill="hold"/>
                                        <p:tgtEl>
                                          <p:spTgt spid="66564"/>
                                        </p:tgtEl>
                                        <p:attrNameLst>
                                          <p:attrName>ppt_x</p:attrName>
                                        </p:attrNameLst>
                                      </p:cBhvr>
                                      <p:tavLst>
                                        <p:tav tm="0">
                                          <p:val>
                                            <p:strVal val="0-#ppt_w/2"/>
                                          </p:val>
                                        </p:tav>
                                        <p:tav tm="100000">
                                          <p:val>
                                            <p:strVal val="#ppt_x"/>
                                          </p:val>
                                        </p:tav>
                                      </p:tavLst>
                                    </p:anim>
                                    <p:anim calcmode="lin" valueType="num">
                                      <p:cBhvr additive="base">
                                        <p:cTn id="20" dur="500" fill="hold"/>
                                        <p:tgtEl>
                                          <p:spTgt spid="665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ldLvl="0" animBg="1" autoUpdateAnimBg="0"/>
      <p:bldP spid="66564" grpId="0" bldLvl="0" animBg="1" autoUpdateAnimBg="0"/>
      <p:bldP spid="66565"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AC25993-853D-4DD1-8EB3-61DE29591EC8}" type="slidenum">
              <a:rPr lang="en-US" altLang="zh-CN" sz="1400" smtClean="0"/>
              <a:t>46</a:t>
            </a:fld>
            <a:endParaRPr lang="en-US" altLang="zh-CN" sz="1400"/>
          </a:p>
        </p:txBody>
      </p:sp>
      <p:sp>
        <p:nvSpPr>
          <p:cNvPr id="67586" name="Rectangle 2"/>
          <p:cNvSpPr>
            <a:spLocks noChangeArrowheads="1"/>
          </p:cNvSpPr>
          <p:nvPr/>
        </p:nvSpPr>
        <p:spPr bwMode="auto">
          <a:xfrm>
            <a:off x="304800" y="334963"/>
            <a:ext cx="5257800" cy="762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4400" b="1">
                <a:solidFill>
                  <a:schemeClr val="tx2"/>
                </a:solidFill>
                <a:latin typeface="黑体" panose="02010609060101010101" pitchFamily="49" charset="-122"/>
                <a:ea typeface="黑体" panose="02010609060101010101" pitchFamily="49" charset="-122"/>
              </a:rPr>
              <a:t>1.4.2 </a:t>
            </a:r>
            <a:r>
              <a:rPr lang="zh-CN" altLang="en-US" sz="4400" b="1">
                <a:solidFill>
                  <a:schemeClr val="tx2"/>
                </a:solidFill>
                <a:latin typeface="黑体" panose="02010609060101010101" pitchFamily="49" charset="-122"/>
                <a:ea typeface="黑体" panose="02010609060101010101" pitchFamily="49" charset="-122"/>
              </a:rPr>
              <a:t>可靠性编码</a:t>
            </a:r>
          </a:p>
        </p:txBody>
      </p:sp>
      <p:sp>
        <p:nvSpPr>
          <p:cNvPr id="67588" name="Rectangle 4"/>
          <p:cNvSpPr>
            <a:spLocks noChangeArrowheads="1"/>
          </p:cNvSpPr>
          <p:nvPr/>
        </p:nvSpPr>
        <p:spPr bwMode="auto">
          <a:xfrm>
            <a:off x="304800" y="2544763"/>
            <a:ext cx="8534400" cy="1592262"/>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特点：任意相邻两个代码之间只有一位状态不同，这样在计数过程中就不会出现其它代码，译码时就不会产生抖动和毛刺。</a:t>
            </a:r>
          </a:p>
        </p:txBody>
      </p:sp>
      <p:sp>
        <p:nvSpPr>
          <p:cNvPr id="67591" name="Rectangle 7"/>
          <p:cNvSpPr>
            <a:spLocks noChangeArrowheads="1"/>
          </p:cNvSpPr>
          <p:nvPr/>
        </p:nvSpPr>
        <p:spPr bwMode="auto">
          <a:xfrm>
            <a:off x="304800" y="1630363"/>
            <a:ext cx="3857625"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一、格雷码</a:t>
            </a: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循环码</a:t>
            </a: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a:t>
            </a:r>
          </a:p>
        </p:txBody>
      </p:sp>
      <p:sp>
        <p:nvSpPr>
          <p:cNvPr id="67592" name="Rectangle 8"/>
          <p:cNvSpPr>
            <a:spLocks noChangeArrowheads="1"/>
          </p:cNvSpPr>
          <p:nvPr/>
        </p:nvSpPr>
        <p:spPr bwMode="auto">
          <a:xfrm>
            <a:off x="327025" y="4572000"/>
            <a:ext cx="8512175"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将二进制转换到格雷码的方法为：保持最高位不变，其他位与前面一位</a:t>
            </a:r>
            <a:r>
              <a:rPr lang="zh-CN" altLang="en-US" sz="32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异或</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91"/>
                                        </p:tgtEl>
                                        <p:attrNameLst>
                                          <p:attrName>style.visibility</p:attrName>
                                        </p:attrNameLst>
                                      </p:cBhvr>
                                      <p:to>
                                        <p:strVal val="visible"/>
                                      </p:to>
                                    </p:set>
                                    <p:anim calcmode="lin" valueType="num">
                                      <p:cBhvr additive="base">
                                        <p:cTn id="7" dur="500" fill="hold"/>
                                        <p:tgtEl>
                                          <p:spTgt spid="67591"/>
                                        </p:tgtEl>
                                        <p:attrNameLst>
                                          <p:attrName>ppt_x</p:attrName>
                                        </p:attrNameLst>
                                      </p:cBhvr>
                                      <p:tavLst>
                                        <p:tav tm="0">
                                          <p:val>
                                            <p:strVal val="0-#ppt_w/2"/>
                                          </p:val>
                                        </p:tav>
                                        <p:tav tm="100000">
                                          <p:val>
                                            <p:strVal val="#ppt_x"/>
                                          </p:val>
                                        </p:tav>
                                      </p:tavLst>
                                    </p:anim>
                                    <p:anim calcmode="lin" valueType="num">
                                      <p:cBhvr additive="base">
                                        <p:cTn id="8" dur="500" fill="hold"/>
                                        <p:tgtEl>
                                          <p:spTgt spid="675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7588"/>
                                        </p:tgtEl>
                                        <p:attrNameLst>
                                          <p:attrName>style.visibility</p:attrName>
                                        </p:attrNameLst>
                                      </p:cBhvr>
                                      <p:to>
                                        <p:strVal val="visible"/>
                                      </p:to>
                                    </p:set>
                                    <p:animEffect transition="in" filter="box(in)">
                                      <p:cBhvr>
                                        <p:cTn id="13" dur="500"/>
                                        <p:tgtEl>
                                          <p:spTgt spid="67588"/>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7592"/>
                                        </p:tgtEl>
                                        <p:attrNameLst>
                                          <p:attrName>style.visibility</p:attrName>
                                        </p:attrNameLst>
                                      </p:cBhvr>
                                      <p:to>
                                        <p:strVal val="visible"/>
                                      </p:to>
                                    </p:set>
                                    <p:animEffect transition="in" filter="box(in)">
                                      <p:cBhvr>
                                        <p:cTn id="18" dur="500"/>
                                        <p:tgtEl>
                                          <p:spTgt spid="67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bldLvl="0" animBg="1" autoUpdateAnimBg="0"/>
      <p:bldP spid="67591" grpId="0" bldLvl="0" animBg="1" autoUpdateAnimBg="0"/>
      <p:bldP spid="67592" grpId="0" bldLvl="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9E0C06D-F84C-4CDA-B6E4-5CB6798C4D59}" type="slidenum">
              <a:rPr lang="en-US" altLang="zh-CN" sz="1400" smtClean="0"/>
              <a:t>47</a:t>
            </a:fld>
            <a:endParaRPr lang="en-US" altLang="zh-CN" sz="1400"/>
          </a:p>
        </p:txBody>
      </p:sp>
      <p:sp>
        <p:nvSpPr>
          <p:cNvPr id="71682" name="Rectangle 2"/>
          <p:cNvSpPr>
            <a:spLocks noChangeArrowheads="1"/>
          </p:cNvSpPr>
          <p:nvPr/>
        </p:nvSpPr>
        <p:spPr bwMode="auto">
          <a:xfrm>
            <a:off x="273050" y="404813"/>
            <a:ext cx="3435350" cy="5794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3200" b="1">
                <a:effectLst>
                  <a:outerShdw blurRad="38100" dist="38100" dir="2700000" algn="tl">
                    <a:srgbClr val="FFFFFF"/>
                  </a:outerShdw>
                </a:effectLst>
                <a:latin typeface="黑体" panose="02010609060101010101" pitchFamily="49" charset="-122"/>
                <a:ea typeface="黑体" panose="02010609060101010101" pitchFamily="49" charset="-122"/>
              </a:rPr>
              <a:t> </a:t>
            </a:r>
            <a:r>
              <a:rPr lang="zh-CN" altLang="en-US" sz="3200" b="1">
                <a:effectLst>
                  <a:outerShdw blurRad="38100" dist="38100" dir="2700000" algn="tl">
                    <a:srgbClr val="FFFFFF"/>
                  </a:outerShdw>
                </a:effectLst>
                <a:latin typeface="黑体" panose="02010609060101010101" pitchFamily="49" charset="-122"/>
                <a:ea typeface="黑体" panose="02010609060101010101" pitchFamily="49" charset="-122"/>
              </a:rPr>
              <a:t>二、奇偶效验码</a:t>
            </a:r>
          </a:p>
        </p:txBody>
      </p:sp>
      <p:sp>
        <p:nvSpPr>
          <p:cNvPr id="71684" name="Rectangle 4"/>
          <p:cNvSpPr>
            <a:spLocks noChangeArrowheads="1"/>
          </p:cNvSpPr>
          <p:nvPr/>
        </p:nvSpPr>
        <p:spPr bwMode="auto">
          <a:xfrm>
            <a:off x="304800" y="1322388"/>
            <a:ext cx="84582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在数据中加入校验位，校验位的加入如果使整个代码中的</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en-US" altLang="zh-CN" sz="320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的个数为奇数，称奇校验。</a:t>
            </a:r>
          </a:p>
        </p:txBody>
      </p:sp>
      <p:sp>
        <p:nvSpPr>
          <p:cNvPr id="71687" name="Rectangle 7"/>
          <p:cNvSpPr>
            <a:spLocks noChangeArrowheads="1"/>
          </p:cNvSpPr>
          <p:nvPr/>
        </p:nvSpPr>
        <p:spPr bwMode="auto">
          <a:xfrm>
            <a:off x="304800" y="2667000"/>
            <a:ext cx="84582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若使整个代码中的</a:t>
            </a:r>
            <a:r>
              <a:rPr lang="zh-CN" altLang="en-US" sz="3200">
                <a:effectLst>
                  <a:outerShdw blurRad="38100" dist="38100" dir="2700000" algn="tl">
                    <a:srgbClr val="C0C0C0"/>
                  </a:outerShdw>
                </a:effectLst>
                <a:latin typeface="Times New Roman" panose="02020603050405020304"/>
                <a:ea typeface="黑体" panose="02010609060101010101" pitchFamily="49" charset="-122"/>
              </a:rPr>
              <a:t>“</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en-US" altLang="zh-CN" sz="3200">
                <a:effectLst>
                  <a:outerShdw blurRad="38100" dist="38100" dir="2700000" algn="tl">
                    <a:srgbClr val="C0C0C0"/>
                  </a:outerShdw>
                </a:effectLst>
                <a:latin typeface="Times New Roman" panose="02020603050405020304"/>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的个数为偶数，称偶校验。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box(in)">
                                      <p:cBhvr>
                                        <p:cTn id="7" dur="500"/>
                                        <p:tgtEl>
                                          <p:spTgt spid="7168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1687"/>
                                        </p:tgtEl>
                                        <p:attrNameLst>
                                          <p:attrName>style.visibility</p:attrName>
                                        </p:attrNameLst>
                                      </p:cBhvr>
                                      <p:to>
                                        <p:strVal val="visible"/>
                                      </p:to>
                                    </p:set>
                                    <p:animEffect transition="in" filter="box(in)">
                                      <p:cBhvr>
                                        <p:cTn id="12" dur="500"/>
                                        <p:tgtEl>
                                          <p:spTgt spid="71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ldLvl="0" animBg="1" autoUpdateAnimBg="0"/>
      <p:bldP spid="71687"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48</a:t>
            </a:fld>
            <a:endParaRPr lang="zh-CN" altLang="en-US"/>
          </a:p>
        </p:txBody>
      </p:sp>
      <p:sp>
        <p:nvSpPr>
          <p:cNvPr id="3" name="Text Box 5"/>
          <p:cNvSpPr txBox="1"/>
          <p:nvPr/>
        </p:nvSpPr>
        <p:spPr>
          <a:xfrm>
            <a:off x="181610" y="761365"/>
            <a:ext cx="8571865" cy="5546711"/>
          </a:xfrm>
          <a:prstGeom prst="rect">
            <a:avLst/>
          </a:prstGeom>
          <a:noFill/>
          <a:ln w="9525">
            <a:noFill/>
          </a:ln>
        </p:spPr>
        <p:txBody>
          <a:bodyPr wrap="square" anchor="t">
            <a:spAutoFit/>
          </a:bodyPr>
          <a:lstStyle/>
          <a:p>
            <a:pPr fontAlgn="auto">
              <a:lnSpc>
                <a:spcPct val="150000"/>
              </a:lnSpc>
              <a:spcBef>
                <a:spcPts val="600"/>
              </a:spcBef>
              <a:spcAft>
                <a:spcPts val="0"/>
              </a:spcAft>
            </a:pP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sym typeface="+mn-ea"/>
              </a:rPr>
              <a:t>数的定点表示与浮点表示</a:t>
            </a:r>
          </a:p>
          <a:p>
            <a:pPr fontAlgn="auto">
              <a:lnSpc>
                <a:spcPct val="150000"/>
              </a:lnSpc>
              <a:spcBef>
                <a:spcPts val="60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1）定点表示法</a:t>
            </a:r>
            <a:r>
              <a:rPr lang="zh-CN" altLang="en-US" sz="2800" b="1" dirty="0">
                <a:solidFill>
                  <a:schemeClr val="tx1"/>
                </a:solidFill>
                <a:latin typeface="楷体" panose="02010609060101010101" pitchFamily="49" charset="-122"/>
                <a:ea typeface="楷体" panose="02010609060101010101" pitchFamily="49" charset="-122"/>
                <a:sym typeface="+mn-ea"/>
              </a:rPr>
              <a:t>：在计算机中，小数点位置固定不变</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的数称为定点数。</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600"/>
              </a:spcBef>
              <a:spcAft>
                <a:spcPts val="0"/>
              </a:spcAft>
            </a:pPr>
            <a:r>
              <a:rPr lang="en-US" altLang="zh-CN"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表示数的范围和分辨率固定不变。</a:t>
            </a:r>
          </a:p>
          <a:p>
            <a:pPr fontAlgn="auto">
              <a:lnSpc>
                <a:spcPct val="150000"/>
              </a:lnSpc>
              <a:spcBef>
                <a:spcPts val="60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a.</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无符号定点整数</a:t>
            </a:r>
            <a:r>
              <a:rPr lang="zh-CN" altLang="en-US" sz="2800" b="1" dirty="0">
                <a:solidFill>
                  <a:schemeClr val="tx1"/>
                </a:solidFill>
                <a:latin typeface="楷体" panose="02010609060101010101" pitchFamily="49" charset="-122"/>
                <a:ea typeface="楷体" panose="02010609060101010101" pitchFamily="49" charset="-122"/>
                <a:sym typeface="+mn-ea"/>
              </a:rPr>
              <a:t>：略去符号位的正整数。</a:t>
            </a:r>
          </a:p>
          <a:p>
            <a:pPr fontAlgn="auto">
              <a:lnSpc>
                <a:spcPct val="150000"/>
              </a:lnSpc>
              <a:spcBef>
                <a:spcPts val="60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b.带符号定点整数</a:t>
            </a:r>
            <a:r>
              <a:rPr lang="zh-CN" altLang="en-US" sz="2800" b="1" dirty="0">
                <a:solidFill>
                  <a:schemeClr val="tx1"/>
                </a:solidFill>
                <a:latin typeface="楷体" panose="02010609060101010101" pitchFamily="49" charset="-122"/>
                <a:ea typeface="楷体" panose="02010609060101010101" pitchFamily="49" charset="-122"/>
                <a:sym typeface="+mn-ea"/>
              </a:rPr>
              <a:t>：是纯整数，小数点在最低位之后，</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最高位为符号位。</a:t>
            </a:r>
          </a:p>
          <a:p>
            <a:pPr fontAlgn="auto">
              <a:lnSpc>
                <a:spcPct val="150000"/>
              </a:lnSpc>
              <a:spcBef>
                <a:spcPts val="60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c.带符号定点小数</a:t>
            </a:r>
            <a:r>
              <a:rPr lang="zh-CN" altLang="en-US" sz="2800" b="1" dirty="0">
                <a:solidFill>
                  <a:schemeClr val="tx1"/>
                </a:solidFill>
                <a:latin typeface="楷体" panose="02010609060101010101" pitchFamily="49" charset="-122"/>
                <a:ea typeface="楷体" panose="02010609060101010101" pitchFamily="49" charset="-122"/>
                <a:sym typeface="+mn-ea"/>
              </a:rPr>
              <a:t>：是纯小数，用原码或补码表示。</a:t>
            </a:r>
            <a:endParaRPr lang="zh-CN" altLang="en-US" sz="2800" b="1" dirty="0">
              <a:solidFill>
                <a:schemeClr val="accent6">
                  <a:lumMod val="75000"/>
                </a:schemeClr>
              </a:solidFill>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49</a:t>
            </a:fld>
            <a:endParaRPr lang="zh-CN" altLang="en-US"/>
          </a:p>
        </p:txBody>
      </p:sp>
      <p:sp>
        <p:nvSpPr>
          <p:cNvPr id="3" name="Text Box 5"/>
          <p:cNvSpPr txBox="1"/>
          <p:nvPr/>
        </p:nvSpPr>
        <p:spPr>
          <a:xfrm>
            <a:off x="181610" y="761365"/>
            <a:ext cx="8571865" cy="5823585"/>
          </a:xfrm>
          <a:prstGeom prst="rect">
            <a:avLst/>
          </a:prstGeom>
          <a:noFill/>
          <a:ln w="9525">
            <a:noFill/>
          </a:ln>
        </p:spPr>
        <p:txBody>
          <a:bodyPr wrap="square" anchor="t">
            <a:spAutoFit/>
          </a:bodyPr>
          <a:lstStyle/>
          <a:p>
            <a:pPr fontAlgn="auto">
              <a:lnSpc>
                <a:spcPct val="140000"/>
              </a:lnSpc>
              <a:spcBef>
                <a:spcPts val="60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2</a:t>
            </a:r>
            <a:r>
              <a:rPr lang="zh-CN" altLang="en-US" sz="2800" b="1" dirty="0">
                <a:solidFill>
                  <a:srgbClr val="ED7D31"/>
                </a:solidFill>
                <a:latin typeface="楷体" panose="02010609060101010101" pitchFamily="49" charset="-122"/>
                <a:ea typeface="楷体" panose="02010609060101010101" pitchFamily="49" charset="-122"/>
                <a:sym typeface="+mn-ea"/>
              </a:rPr>
              <a:t>）浮点表示法</a:t>
            </a:r>
            <a:r>
              <a:rPr lang="zh-CN" altLang="en-US" sz="2800" b="1" dirty="0">
                <a:solidFill>
                  <a:schemeClr val="tx1"/>
                </a:solidFill>
                <a:latin typeface="楷体" panose="02010609060101010101" pitchFamily="49" charset="-122"/>
                <a:ea typeface="楷体" panose="02010609060101010101" pitchFamily="49" charset="-122"/>
                <a:sym typeface="+mn-ea"/>
              </a:rPr>
              <a:t>：浮点数是一种小数点位置不固定可随需要浮动的数。</a:t>
            </a:r>
          </a:p>
          <a:p>
            <a:pPr fontAlgn="auto">
              <a:lnSpc>
                <a:spcPct val="140000"/>
              </a:lnSpc>
              <a:spcBef>
                <a:spcPts val="60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a.</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浮点数格式</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40000"/>
              </a:lnSpc>
              <a:spcBef>
                <a:spcPts val="60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浮点数的代码由两部分组成：阶码E与尾数M。</a:t>
            </a:r>
          </a:p>
          <a:p>
            <a:pPr fontAlgn="auto">
              <a:lnSpc>
                <a:spcPct val="140000"/>
              </a:lnSpc>
              <a:spcBef>
                <a:spcPts val="60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b.浮点的真值</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N = ± R</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E</a:t>
            </a:r>
            <a:r>
              <a:rPr lang="zh-CN" altLang="en-US" sz="2800" b="1" dirty="0">
                <a:solidFill>
                  <a:schemeClr val="tx1"/>
                </a:solidFill>
                <a:latin typeface="楷体" panose="02010609060101010101" pitchFamily="49" charset="-122"/>
                <a:ea typeface="楷体" panose="02010609060101010101" pitchFamily="49" charset="-122"/>
                <a:sym typeface="+mn-ea"/>
              </a:rPr>
              <a:t> ×M        </a:t>
            </a:r>
          </a:p>
          <a:p>
            <a:pPr fontAlgn="auto">
              <a:lnSpc>
                <a:spcPct val="140000"/>
              </a:lnSpc>
              <a:spcBef>
                <a:spcPts val="60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式中N为真值，R</a:t>
            </a:r>
            <a:r>
              <a:rPr lang="zh-CN" altLang="en-US" sz="2800" b="1" baseline="30000" dirty="0">
                <a:solidFill>
                  <a:schemeClr val="tx1"/>
                </a:solidFill>
                <a:latin typeface="楷体" panose="02010609060101010101" pitchFamily="49" charset="-122"/>
                <a:ea typeface="楷体" panose="02010609060101010101" pitchFamily="49" charset="-122"/>
                <a:sym typeface="+mn-ea"/>
              </a:rPr>
              <a:t>E</a:t>
            </a:r>
            <a:r>
              <a:rPr lang="zh-CN" altLang="en-US" sz="2800" b="1" dirty="0">
                <a:solidFill>
                  <a:schemeClr val="tx1"/>
                </a:solidFill>
                <a:latin typeface="楷体" panose="02010609060101010101" pitchFamily="49" charset="-122"/>
                <a:ea typeface="楷体" panose="02010609060101010101" pitchFamily="49" charset="-122"/>
                <a:sym typeface="+mn-ea"/>
              </a:rPr>
              <a:t>为比例因子，M是尾数。对于某种</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浮点格式，R固定不变且隐含约定，因此浮点数代</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码序列中只需分别给出E和M两部分（连同它们的符</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号）。</a:t>
            </a:r>
            <a:endParaRPr lang="zh-CN" altLang="en-US" sz="2800" b="1" dirty="0">
              <a:solidFill>
                <a:schemeClr val="accent6">
                  <a:lumMod val="75000"/>
                </a:schemeClr>
              </a:solidFill>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50</a:t>
            </a:fld>
            <a:endParaRPr lang="zh-CN" altLang="en-US"/>
          </a:p>
        </p:txBody>
      </p:sp>
      <p:sp>
        <p:nvSpPr>
          <p:cNvPr id="3" name="Text Box 5"/>
          <p:cNvSpPr txBox="1"/>
          <p:nvPr/>
        </p:nvSpPr>
        <p:spPr>
          <a:xfrm>
            <a:off x="181610" y="2034540"/>
            <a:ext cx="8811895" cy="4569460"/>
          </a:xfrm>
          <a:prstGeom prst="rect">
            <a:avLst/>
          </a:prstGeom>
          <a:noFill/>
          <a:ln w="9525">
            <a:noFill/>
          </a:ln>
        </p:spPr>
        <p:txBody>
          <a:bodyPr wrap="square" anchor="t">
            <a:spAutoFit/>
          </a:bodyPr>
          <a:lstStyle/>
          <a:p>
            <a:pPr fontAlgn="auto">
              <a:lnSpc>
                <a:spcPct val="13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R是阶码的底</a:t>
            </a:r>
            <a:r>
              <a:rPr lang="zh-CN" altLang="en-US" sz="2800" b="1" dirty="0">
                <a:latin typeface="楷体" panose="02010609060101010101" pitchFamily="49" charset="-122"/>
                <a:ea typeface="楷体" panose="02010609060101010101" pitchFamily="49" charset="-122"/>
                <a:sym typeface="+mn-ea"/>
              </a:rPr>
              <a:t>，一般选择与尾数M的基数相同，R是隐含约定的常数，不直接表示在浮点数代码之中。例如尾数为二进制，基数为2，则选择R=2。</a:t>
            </a:r>
          </a:p>
          <a:p>
            <a:pPr fontAlgn="auto">
              <a:lnSpc>
                <a:spcPct val="13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E是阶码</a:t>
            </a:r>
            <a:r>
              <a:rPr lang="zh-CN" altLang="en-US" sz="2800" b="1" dirty="0">
                <a:latin typeface="楷体" panose="02010609060101010101" pitchFamily="49" charset="-122"/>
                <a:ea typeface="楷体" panose="02010609060101010101" pitchFamily="49" charset="-122"/>
                <a:sym typeface="+mn-ea"/>
              </a:rPr>
              <a:t>，也就是比例因子R</a:t>
            </a:r>
            <a:r>
              <a:rPr lang="zh-CN" altLang="en-US" sz="2800" b="1" baseline="30000" dirty="0">
                <a:latin typeface="楷体" panose="02010609060101010101" pitchFamily="49" charset="-122"/>
                <a:ea typeface="楷体" panose="02010609060101010101" pitchFamily="49" charset="-122"/>
                <a:sym typeface="+mn-ea"/>
              </a:rPr>
              <a:t>E</a:t>
            </a:r>
            <a:r>
              <a:rPr lang="zh-CN" altLang="en-US" sz="2800" b="1" dirty="0">
                <a:latin typeface="楷体" panose="02010609060101010101" pitchFamily="49" charset="-122"/>
                <a:ea typeface="楷体" panose="02010609060101010101" pitchFamily="49" charset="-122"/>
                <a:sym typeface="+mn-ea"/>
              </a:rPr>
              <a:t>的指数值，为二进制正负整数，可用补码或移码表示（有关移码的概念将在后面介绍）。若阶码E为正，表明尾数M将被扩大若干倍。若E为负，表明M将被缩小若干倍。</a:t>
            </a:r>
          </a:p>
          <a:p>
            <a:pPr fontAlgn="auto">
              <a:lnSpc>
                <a:spcPct val="13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M是尾数</a:t>
            </a:r>
            <a:r>
              <a:rPr lang="zh-CN" altLang="en-US" sz="2800" b="1" dirty="0">
                <a:latin typeface="楷体" panose="02010609060101010101" pitchFamily="49" charset="-122"/>
                <a:ea typeface="楷体" panose="02010609060101010101" pitchFamily="49" charset="-122"/>
                <a:sym typeface="+mn-ea"/>
              </a:rPr>
              <a:t>，为带符号定点小数，可用补码或原码表示。</a:t>
            </a:r>
          </a:p>
        </p:txBody>
      </p:sp>
      <p:sp>
        <p:nvSpPr>
          <p:cNvPr id="243719" name="Line 7"/>
          <p:cNvSpPr/>
          <p:nvPr/>
        </p:nvSpPr>
        <p:spPr>
          <a:xfrm flipH="1">
            <a:off x="3223260" y="1474470"/>
            <a:ext cx="381000" cy="304800"/>
          </a:xfrm>
          <a:prstGeom prst="line">
            <a:avLst/>
          </a:prstGeom>
          <a:ln w="38100" cap="flat" cmpd="sng">
            <a:solidFill>
              <a:schemeClr val="accent1"/>
            </a:solidFill>
            <a:prstDash val="solid"/>
            <a:round/>
            <a:headEnd type="none" w="med" len="med"/>
            <a:tailEnd type="none" w="med" len="med"/>
          </a:ln>
        </p:spPr>
      </p:sp>
      <p:sp>
        <p:nvSpPr>
          <p:cNvPr id="243720" name="Text Box 8"/>
          <p:cNvSpPr txBox="1"/>
          <p:nvPr/>
        </p:nvSpPr>
        <p:spPr>
          <a:xfrm>
            <a:off x="3985260" y="1703070"/>
            <a:ext cx="1371600" cy="521970"/>
          </a:xfrm>
          <a:prstGeom prst="rect">
            <a:avLst/>
          </a:prstGeom>
          <a:noFill/>
          <a:ln w="9525">
            <a:noFill/>
          </a:ln>
        </p:spPr>
        <p:txBody>
          <a:bodyPr anchor="t">
            <a:spAutoFit/>
          </a:bodyPr>
          <a:lstStyle/>
          <a:p>
            <a:pPr>
              <a:spcBef>
                <a:spcPct val="50000"/>
              </a:spcBef>
            </a:pPr>
            <a:r>
              <a:rPr lang="zh-CN" altLang="zh-CN" sz="2800" b="1" dirty="0">
                <a:solidFill>
                  <a:srgbClr val="FF0000"/>
                </a:solidFill>
                <a:latin typeface="楷体" panose="02010609060101010101" pitchFamily="49" charset="-122"/>
                <a:ea typeface="楷体" panose="02010609060101010101" pitchFamily="49" charset="-122"/>
              </a:rPr>
              <a:t>阶码</a:t>
            </a:r>
            <a:r>
              <a:rPr lang="en-US" altLang="zh-CN" sz="2800" b="1" dirty="0">
                <a:solidFill>
                  <a:srgbClr val="FF0000"/>
                </a:solidFill>
                <a:latin typeface="楷体" panose="02010609060101010101" pitchFamily="49" charset="-122"/>
                <a:ea typeface="楷体" panose="02010609060101010101" pitchFamily="49" charset="-122"/>
              </a:rPr>
              <a:t>E</a:t>
            </a:r>
          </a:p>
        </p:txBody>
      </p:sp>
      <p:grpSp>
        <p:nvGrpSpPr>
          <p:cNvPr id="9" name="Group 38"/>
          <p:cNvGrpSpPr/>
          <p:nvPr/>
        </p:nvGrpSpPr>
        <p:grpSpPr>
          <a:xfrm>
            <a:off x="235585" y="895351"/>
            <a:ext cx="7914640" cy="954088"/>
            <a:chOff x="230" y="1056"/>
            <a:chExt cx="4906" cy="601"/>
          </a:xfrm>
        </p:grpSpPr>
        <p:sp>
          <p:nvSpPr>
            <p:cNvPr id="9225" name="Text Box 10"/>
            <p:cNvSpPr txBox="1"/>
            <p:nvPr/>
          </p:nvSpPr>
          <p:spPr>
            <a:xfrm>
              <a:off x="2208" y="1056"/>
              <a:ext cx="2928" cy="329"/>
            </a:xfrm>
            <a:prstGeom prst="rect">
              <a:avLst/>
            </a:prstGeom>
            <a:noFill/>
            <a:ln w="38100" cap="flat" cmpd="sng">
              <a:solidFill>
                <a:schemeClr val="tx1"/>
              </a:solidFill>
              <a:prstDash val="solid"/>
              <a:miter/>
              <a:headEnd type="none" w="med" len="med"/>
              <a:tailEnd type="none" w="med" len="med"/>
            </a:ln>
          </p:spPr>
          <p:txBody>
            <a:bodyPr anchor="t">
              <a:spAutoFit/>
            </a:bodyPr>
            <a:lstStyle/>
            <a:p>
              <a:pPr>
                <a:spcBef>
                  <a:spcPct val="50000"/>
                </a:spcBef>
              </a:pPr>
              <a:r>
                <a:rPr lang="en-US" altLang="zh-CN" sz="2800" b="1" dirty="0">
                  <a:latin typeface="楷体" panose="02010609060101010101" pitchFamily="49" charset="-122"/>
                  <a:ea typeface="楷体" panose="02010609060101010101" pitchFamily="49" charset="-122"/>
                </a:rPr>
                <a:t>Ef  E1 … Em  Mf M1 … Mn</a:t>
              </a:r>
            </a:p>
          </p:txBody>
        </p:sp>
        <p:sp>
          <p:nvSpPr>
            <p:cNvPr id="9226" name="Line 11"/>
            <p:cNvSpPr/>
            <p:nvPr/>
          </p:nvSpPr>
          <p:spPr>
            <a:xfrm>
              <a:off x="2592" y="1056"/>
              <a:ext cx="2" cy="329"/>
            </a:xfrm>
            <a:prstGeom prst="line">
              <a:avLst/>
            </a:prstGeom>
            <a:ln w="38100" cap="flat" cmpd="sng">
              <a:solidFill>
                <a:schemeClr val="tx1"/>
              </a:solidFill>
              <a:prstDash val="solid"/>
              <a:round/>
              <a:headEnd type="none" w="med" len="med"/>
              <a:tailEnd type="none" w="med" len="med"/>
            </a:ln>
          </p:spPr>
        </p:sp>
        <p:sp>
          <p:nvSpPr>
            <p:cNvPr id="9227" name="Text Box 12"/>
            <p:cNvSpPr txBox="1"/>
            <p:nvPr/>
          </p:nvSpPr>
          <p:spPr>
            <a:xfrm>
              <a:off x="230" y="1056"/>
              <a:ext cx="1866" cy="601"/>
            </a:xfrm>
            <a:prstGeom prst="rect">
              <a:avLst/>
            </a:prstGeom>
            <a:noFill/>
            <a:ln w="9525">
              <a:noFill/>
            </a:ln>
          </p:spPr>
          <p:txBody>
            <a:bodyPr wrap="square" anchor="t">
              <a:spAutoFit/>
            </a:bodyPr>
            <a:lstStyle/>
            <a:p>
              <a:pPr>
                <a:spcBef>
                  <a:spcPct val="50000"/>
                </a:spcBef>
              </a:pPr>
              <a:r>
                <a:rPr lang="zh-CN" altLang="en-US" sz="2800" b="1" dirty="0">
                  <a:latin typeface="楷体" panose="02010609060101010101" pitchFamily="49" charset="-122"/>
                  <a:ea typeface="楷体" panose="02010609060101010101" pitchFamily="49" charset="-122"/>
                </a:rPr>
                <a:t>一种浮点数机器格式：</a:t>
              </a:r>
            </a:p>
          </p:txBody>
        </p:sp>
        <p:sp>
          <p:nvSpPr>
            <p:cNvPr id="9228" name="Line 13"/>
            <p:cNvSpPr/>
            <p:nvPr/>
          </p:nvSpPr>
          <p:spPr>
            <a:xfrm>
              <a:off x="2983" y="1056"/>
              <a:ext cx="4" cy="329"/>
            </a:xfrm>
            <a:prstGeom prst="line">
              <a:avLst/>
            </a:prstGeom>
            <a:ln w="38100" cap="flat" cmpd="sng">
              <a:solidFill>
                <a:schemeClr val="tx1"/>
              </a:solidFill>
              <a:prstDash val="solid"/>
              <a:round/>
              <a:headEnd type="none" w="med" len="med"/>
              <a:tailEnd type="none" w="med" len="med"/>
            </a:ln>
          </p:spPr>
        </p:sp>
        <p:sp>
          <p:nvSpPr>
            <p:cNvPr id="9229" name="Line 14"/>
            <p:cNvSpPr/>
            <p:nvPr/>
          </p:nvSpPr>
          <p:spPr>
            <a:xfrm>
              <a:off x="3343" y="1056"/>
              <a:ext cx="0" cy="329"/>
            </a:xfrm>
            <a:prstGeom prst="line">
              <a:avLst/>
            </a:prstGeom>
            <a:ln w="38100" cap="flat" cmpd="sng">
              <a:solidFill>
                <a:schemeClr val="tx1"/>
              </a:solidFill>
              <a:prstDash val="solid"/>
              <a:round/>
              <a:headEnd type="none" w="med" len="med"/>
              <a:tailEnd type="none" w="med" len="med"/>
            </a:ln>
          </p:spPr>
        </p:sp>
        <p:sp>
          <p:nvSpPr>
            <p:cNvPr id="9230" name="Line 15"/>
            <p:cNvSpPr/>
            <p:nvPr/>
          </p:nvSpPr>
          <p:spPr>
            <a:xfrm flipH="1">
              <a:off x="3738" y="1056"/>
              <a:ext cx="1" cy="340"/>
            </a:xfrm>
            <a:prstGeom prst="line">
              <a:avLst/>
            </a:prstGeom>
            <a:ln w="38100" cap="flat" cmpd="sng">
              <a:solidFill>
                <a:schemeClr val="tx1"/>
              </a:solidFill>
              <a:prstDash val="solid"/>
              <a:round/>
              <a:headEnd type="none" w="med" len="med"/>
              <a:tailEnd type="none" w="med" len="med"/>
            </a:ln>
          </p:spPr>
        </p:sp>
        <p:sp>
          <p:nvSpPr>
            <p:cNvPr id="9231" name="Line 16"/>
            <p:cNvSpPr/>
            <p:nvPr/>
          </p:nvSpPr>
          <p:spPr>
            <a:xfrm>
              <a:off x="4132" y="1056"/>
              <a:ext cx="2" cy="340"/>
            </a:xfrm>
            <a:prstGeom prst="line">
              <a:avLst/>
            </a:prstGeom>
            <a:ln w="38100" cap="flat" cmpd="sng">
              <a:solidFill>
                <a:schemeClr val="tx1"/>
              </a:solidFill>
              <a:prstDash val="solid"/>
              <a:round/>
              <a:headEnd type="none" w="med" len="med"/>
              <a:tailEnd type="none" w="med" len="med"/>
            </a:ln>
          </p:spPr>
        </p:sp>
        <p:sp>
          <p:nvSpPr>
            <p:cNvPr id="9232" name="Line 17"/>
            <p:cNvSpPr/>
            <p:nvPr/>
          </p:nvSpPr>
          <p:spPr>
            <a:xfrm>
              <a:off x="4463" y="1057"/>
              <a:ext cx="1" cy="328"/>
            </a:xfrm>
            <a:prstGeom prst="line">
              <a:avLst/>
            </a:prstGeom>
            <a:ln w="38100" cap="flat" cmpd="sng">
              <a:solidFill>
                <a:schemeClr val="tx1"/>
              </a:solidFill>
              <a:prstDash val="solid"/>
              <a:round/>
              <a:headEnd type="none" w="med" len="med"/>
              <a:tailEnd type="none" w="med" len="med"/>
            </a:ln>
          </p:spPr>
        </p:sp>
        <p:sp>
          <p:nvSpPr>
            <p:cNvPr id="9233" name="Line 18"/>
            <p:cNvSpPr/>
            <p:nvPr/>
          </p:nvSpPr>
          <p:spPr>
            <a:xfrm flipH="1">
              <a:off x="4769" y="1056"/>
              <a:ext cx="2" cy="329"/>
            </a:xfrm>
            <a:prstGeom prst="line">
              <a:avLst/>
            </a:prstGeom>
            <a:ln w="38100" cap="flat" cmpd="sng">
              <a:solidFill>
                <a:schemeClr val="tx1"/>
              </a:solidFill>
              <a:prstDash val="solid"/>
              <a:round/>
              <a:headEnd type="none" w="med" len="med"/>
              <a:tailEnd type="none" w="med" len="med"/>
            </a:ln>
          </p:spPr>
        </p:sp>
      </p:grpSp>
      <p:sp>
        <p:nvSpPr>
          <p:cNvPr id="243731" name="AutoShape 19"/>
          <p:cNvSpPr/>
          <p:nvPr/>
        </p:nvSpPr>
        <p:spPr>
          <a:xfrm rot="-5400000">
            <a:off x="4522470" y="480695"/>
            <a:ext cx="228600" cy="2369185"/>
          </a:xfrm>
          <a:prstGeom prst="leftBrace">
            <a:avLst>
              <a:gd name="adj1" fmla="val 75000"/>
              <a:gd name="adj2" fmla="val 50000"/>
            </a:avLst>
          </a:prstGeom>
          <a:noFill/>
          <a:ln w="38100" cap="flat" cmpd="sng">
            <a:solidFill>
              <a:schemeClr val="tx1"/>
            </a:solidFill>
            <a:prstDash val="solid"/>
            <a:round/>
            <a:headEnd type="none" w="med" len="med"/>
            <a:tailEnd type="none" w="med" len="med"/>
          </a:ln>
        </p:spPr>
        <p:txBody>
          <a:bodyPr wrap="none" anchor="ctr"/>
          <a:lstStyle/>
          <a:p>
            <a:pPr eaLnBrk="0" hangingPunct="0"/>
            <a:endParaRPr lang="zh-CN" altLang="en-US" sz="2800" b="1" dirty="0">
              <a:latin typeface="楷体" panose="02010609060101010101" pitchFamily="49" charset="-122"/>
              <a:ea typeface="楷体" panose="02010609060101010101" pitchFamily="49" charset="-122"/>
            </a:endParaRPr>
          </a:p>
        </p:txBody>
      </p:sp>
      <p:sp>
        <p:nvSpPr>
          <p:cNvPr id="243732" name="AutoShape 20"/>
          <p:cNvSpPr/>
          <p:nvPr/>
        </p:nvSpPr>
        <p:spPr>
          <a:xfrm rot="-5400000">
            <a:off x="6917690" y="546100"/>
            <a:ext cx="228600" cy="2237740"/>
          </a:xfrm>
          <a:prstGeom prst="leftBrace">
            <a:avLst>
              <a:gd name="adj1" fmla="val 75000"/>
              <a:gd name="adj2" fmla="val 50000"/>
            </a:avLst>
          </a:prstGeom>
          <a:noFill/>
          <a:ln w="38100" cap="flat" cmpd="sng">
            <a:solidFill>
              <a:schemeClr val="tx1"/>
            </a:solidFill>
            <a:prstDash val="solid"/>
            <a:round/>
            <a:headEnd type="none" w="med" len="med"/>
            <a:tailEnd type="none" w="med" len="med"/>
          </a:ln>
        </p:spPr>
        <p:txBody>
          <a:bodyPr wrap="none" anchor="ctr"/>
          <a:lstStyle/>
          <a:p>
            <a:pPr eaLnBrk="0" hangingPunct="0"/>
            <a:endParaRPr lang="zh-CN" altLang="en-US" sz="2800" b="1" dirty="0">
              <a:latin typeface="楷体" panose="02010609060101010101" pitchFamily="49" charset="-122"/>
              <a:ea typeface="楷体" panose="02010609060101010101" pitchFamily="49" charset="-122"/>
            </a:endParaRPr>
          </a:p>
        </p:txBody>
      </p:sp>
      <p:sp>
        <p:nvSpPr>
          <p:cNvPr id="243733" name="Text Box 21"/>
          <p:cNvSpPr txBox="1"/>
          <p:nvPr/>
        </p:nvSpPr>
        <p:spPr>
          <a:xfrm>
            <a:off x="6446520" y="1703070"/>
            <a:ext cx="1371600" cy="521970"/>
          </a:xfrm>
          <a:prstGeom prst="rect">
            <a:avLst/>
          </a:prstGeom>
          <a:noFill/>
          <a:ln w="9525">
            <a:noFill/>
          </a:ln>
        </p:spPr>
        <p:txBody>
          <a:bodyPr anchor="t">
            <a:spAutoFit/>
          </a:bodyPr>
          <a:lstStyle/>
          <a:p>
            <a:pPr>
              <a:spcBef>
                <a:spcPct val="50000"/>
              </a:spcBef>
            </a:pPr>
            <a:r>
              <a:rPr lang="zh-CN" altLang="zh-CN" sz="2800" b="1" dirty="0">
                <a:solidFill>
                  <a:srgbClr val="FF0000"/>
                </a:solidFill>
                <a:latin typeface="楷体" panose="02010609060101010101" pitchFamily="49" charset="-122"/>
                <a:ea typeface="楷体" panose="02010609060101010101" pitchFamily="49" charset="-122"/>
              </a:rPr>
              <a:t>尾数</a:t>
            </a:r>
            <a:r>
              <a:rPr lang="en-US" altLang="zh-CN" sz="2800" b="1" dirty="0">
                <a:solidFill>
                  <a:srgbClr val="FF0000"/>
                </a:solidFill>
                <a:latin typeface="楷体" panose="02010609060101010101" pitchFamily="49" charset="-122"/>
                <a:ea typeface="楷体" panose="02010609060101010101" pitchFamily="49" charset="-122"/>
              </a:rPr>
              <a:t>M</a:t>
            </a:r>
          </a:p>
        </p:txBody>
      </p:sp>
      <p:sp>
        <p:nvSpPr>
          <p:cNvPr id="243734" name="Text Box 22"/>
          <p:cNvSpPr txBox="1"/>
          <p:nvPr/>
        </p:nvSpPr>
        <p:spPr>
          <a:xfrm>
            <a:off x="2689860" y="1703070"/>
            <a:ext cx="1371600" cy="521970"/>
          </a:xfrm>
          <a:prstGeom prst="rect">
            <a:avLst/>
          </a:prstGeom>
          <a:noFill/>
          <a:ln w="9525">
            <a:noFill/>
          </a:ln>
        </p:spPr>
        <p:txBody>
          <a:bodyPr anchor="t">
            <a:spAutoFit/>
          </a:bodyPr>
          <a:lstStyle/>
          <a:p>
            <a:pPr>
              <a:spcBef>
                <a:spcPct val="50000"/>
              </a:spcBef>
            </a:pPr>
            <a:r>
              <a:rPr lang="zh-CN" altLang="zh-CN" sz="2800" b="1" dirty="0">
                <a:solidFill>
                  <a:schemeClr val="accent1"/>
                </a:solidFill>
                <a:latin typeface="楷体" panose="02010609060101010101" pitchFamily="49" charset="-122"/>
                <a:ea typeface="楷体" panose="02010609060101010101" pitchFamily="49" charset="-122"/>
              </a:rPr>
              <a:t>阶符</a:t>
            </a:r>
          </a:p>
        </p:txBody>
      </p:sp>
      <p:sp>
        <p:nvSpPr>
          <p:cNvPr id="243735" name="Text Box 23"/>
          <p:cNvSpPr txBox="1"/>
          <p:nvPr/>
        </p:nvSpPr>
        <p:spPr>
          <a:xfrm>
            <a:off x="5425440" y="1703070"/>
            <a:ext cx="1371600" cy="521970"/>
          </a:xfrm>
          <a:prstGeom prst="rect">
            <a:avLst/>
          </a:prstGeom>
          <a:noFill/>
          <a:ln w="9525">
            <a:noFill/>
          </a:ln>
        </p:spPr>
        <p:txBody>
          <a:bodyPr anchor="t">
            <a:spAutoFit/>
          </a:bodyPr>
          <a:lstStyle/>
          <a:p>
            <a:pPr>
              <a:spcBef>
                <a:spcPct val="50000"/>
              </a:spcBef>
            </a:pPr>
            <a:r>
              <a:rPr lang="zh-CN" altLang="zh-CN" sz="2800" b="1" dirty="0">
                <a:solidFill>
                  <a:schemeClr val="accent1"/>
                </a:solidFill>
                <a:latin typeface="楷体" panose="02010609060101010101" pitchFamily="49" charset="-122"/>
                <a:ea typeface="楷体" panose="02010609060101010101" pitchFamily="49" charset="-122"/>
              </a:rPr>
              <a:t>数符</a:t>
            </a:r>
          </a:p>
        </p:txBody>
      </p:sp>
      <p:sp>
        <p:nvSpPr>
          <p:cNvPr id="243736" name="Line 24"/>
          <p:cNvSpPr/>
          <p:nvPr/>
        </p:nvSpPr>
        <p:spPr>
          <a:xfrm flipH="1">
            <a:off x="5882640" y="1474470"/>
            <a:ext cx="381000" cy="304800"/>
          </a:xfrm>
          <a:prstGeom prst="line">
            <a:avLst/>
          </a:prstGeom>
          <a:ln w="38100" cap="flat" cmpd="sng">
            <a:solidFill>
              <a:schemeClr val="accent1"/>
            </a:solidFill>
            <a:prstDash val="solid"/>
            <a:round/>
            <a:headEnd type="none" w="med" len="med"/>
            <a:tailEnd type="none" w="med" len="med"/>
          </a:ln>
        </p:spPr>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3731"/>
                                        </p:tgtEl>
                                        <p:attrNameLst>
                                          <p:attrName>style.visibility</p:attrName>
                                        </p:attrNameLst>
                                      </p:cBhvr>
                                      <p:to>
                                        <p:strVal val="visible"/>
                                      </p:to>
                                    </p:set>
                                    <p:animEffect transition="in" filter="wipe(up)">
                                      <p:cBhvr>
                                        <p:cTn id="12" dur="500"/>
                                        <p:tgtEl>
                                          <p:spTgt spid="243731"/>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43720"/>
                                        </p:tgtEl>
                                        <p:attrNameLst>
                                          <p:attrName>style.visibility</p:attrName>
                                        </p:attrNameLst>
                                      </p:cBhvr>
                                      <p:to>
                                        <p:strVal val="visible"/>
                                      </p:to>
                                    </p:set>
                                    <p:animEffect transition="in" filter="wipe(up)">
                                      <p:cBhvr>
                                        <p:cTn id="16" dur="500"/>
                                        <p:tgtEl>
                                          <p:spTgt spid="2437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43732"/>
                                        </p:tgtEl>
                                        <p:attrNameLst>
                                          <p:attrName>style.visibility</p:attrName>
                                        </p:attrNameLst>
                                      </p:cBhvr>
                                      <p:to>
                                        <p:strVal val="visible"/>
                                      </p:to>
                                    </p:set>
                                    <p:animEffect transition="in" filter="wipe(up)">
                                      <p:cBhvr>
                                        <p:cTn id="21" dur="500"/>
                                        <p:tgtEl>
                                          <p:spTgt spid="243732"/>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243733"/>
                                        </p:tgtEl>
                                        <p:attrNameLst>
                                          <p:attrName>style.visibility</p:attrName>
                                        </p:attrNameLst>
                                      </p:cBhvr>
                                      <p:to>
                                        <p:strVal val="visible"/>
                                      </p:to>
                                    </p:set>
                                    <p:animEffect transition="in" filter="wipe(up)">
                                      <p:cBhvr>
                                        <p:cTn id="25" dur="500"/>
                                        <p:tgtEl>
                                          <p:spTgt spid="24373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43719"/>
                                        </p:tgtEl>
                                        <p:attrNameLst>
                                          <p:attrName>style.visibility</p:attrName>
                                        </p:attrNameLst>
                                      </p:cBhvr>
                                      <p:to>
                                        <p:strVal val="visible"/>
                                      </p:to>
                                    </p:set>
                                    <p:animEffect transition="in" filter="wipe(up)">
                                      <p:cBhvr>
                                        <p:cTn id="30" dur="500"/>
                                        <p:tgtEl>
                                          <p:spTgt spid="243719"/>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243734"/>
                                        </p:tgtEl>
                                        <p:attrNameLst>
                                          <p:attrName>style.visibility</p:attrName>
                                        </p:attrNameLst>
                                      </p:cBhvr>
                                      <p:to>
                                        <p:strVal val="visible"/>
                                      </p:to>
                                    </p:set>
                                    <p:animEffect transition="in" filter="wipe(up)">
                                      <p:cBhvr>
                                        <p:cTn id="34" dur="500"/>
                                        <p:tgtEl>
                                          <p:spTgt spid="24373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43736"/>
                                        </p:tgtEl>
                                        <p:attrNameLst>
                                          <p:attrName>style.visibility</p:attrName>
                                        </p:attrNameLst>
                                      </p:cBhvr>
                                      <p:to>
                                        <p:strVal val="visible"/>
                                      </p:to>
                                    </p:set>
                                    <p:animEffect transition="in" filter="wipe(up)">
                                      <p:cBhvr>
                                        <p:cTn id="39" dur="500"/>
                                        <p:tgtEl>
                                          <p:spTgt spid="243736"/>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43735"/>
                                        </p:tgtEl>
                                        <p:attrNameLst>
                                          <p:attrName>style.visibility</p:attrName>
                                        </p:attrNameLst>
                                      </p:cBhvr>
                                      <p:to>
                                        <p:strVal val="visible"/>
                                      </p:to>
                                    </p:set>
                                    <p:animEffect transition="in" filter="wipe(up)">
                                      <p:cBhvr>
                                        <p:cTn id="43" dur="500"/>
                                        <p:tgtEl>
                                          <p:spTgt spid="2437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
                                            <p:txEl>
                                              <p:pRg st="0" end="0"/>
                                            </p:txEl>
                                          </p:spTgt>
                                        </p:tgtEl>
                                        <p:attrNameLst>
                                          <p:attrName>style.visibility</p:attrName>
                                        </p:attrNameLst>
                                      </p:cBhvr>
                                      <p:to>
                                        <p:strVal val="visible"/>
                                      </p:to>
                                    </p:set>
                                    <p:animEffect transition="in" filter="wipe(left)">
                                      <p:cBhvr>
                                        <p:cTn id="48" dur="500"/>
                                        <p:tgtEl>
                                          <p:spTgt spid="3">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wipe(left)">
                                      <p:cBhvr>
                                        <p:cTn id="53" dur="500"/>
                                        <p:tgtEl>
                                          <p:spTgt spid="3">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wipe(left)">
                                      <p:cBhvr>
                                        <p:cTn id="5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43720" grpId="0"/>
      <p:bldP spid="243731" grpId="0" bldLvl="0" animBg="1"/>
      <p:bldP spid="243732" grpId="0" bldLvl="0" animBg="1"/>
      <p:bldP spid="243733" grpId="0"/>
      <p:bldP spid="243734" grpId="0"/>
      <p:bldP spid="243735"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51</a:t>
            </a:fld>
            <a:endParaRPr lang="zh-CN" altLang="en-US"/>
          </a:p>
        </p:txBody>
      </p:sp>
      <p:sp>
        <p:nvSpPr>
          <p:cNvPr id="3" name="Text Box 5"/>
          <p:cNvSpPr txBox="1"/>
          <p:nvPr/>
        </p:nvSpPr>
        <p:spPr>
          <a:xfrm>
            <a:off x="363220" y="713740"/>
            <a:ext cx="8203565" cy="5908040"/>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solidFill>
                  <a:srgbClr val="ED7D31"/>
                </a:solidFill>
                <a:latin typeface="楷体" panose="02010609060101010101" pitchFamily="49" charset="-122"/>
                <a:ea typeface="楷体" panose="02010609060101010101" pitchFamily="49" charset="-122"/>
                <a:sym typeface="+mn-ea"/>
              </a:rPr>
              <a:t>移码（增码）</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前面提到的移码也称为增码，常用于表示浮点数的阶码中。移码定义如下：</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若阶码（连同一位符号位）共m+1位，代码序列为X</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m</a:t>
            </a:r>
            <a:r>
              <a:rPr lang="zh-CN" altLang="en-US" sz="2800" b="1" dirty="0">
                <a:latin typeface="楷体" panose="02010609060101010101" pitchFamily="49" charset="-122"/>
                <a:ea typeface="楷体" panose="02010609060101010101" pitchFamily="49" charset="-122"/>
                <a:sym typeface="+mn-ea"/>
              </a:rPr>
              <a:t>X</a:t>
            </a:r>
            <a:r>
              <a:rPr lang="zh-CN" altLang="en-US" sz="2800" b="1" baseline="-25000" dirty="0">
                <a:uFillTx/>
                <a:latin typeface="楷体" panose="02010609060101010101" pitchFamily="49" charset="-122"/>
                <a:ea typeface="楷体" panose="02010609060101010101" pitchFamily="49" charset="-122"/>
                <a:sym typeface="+mn-ea"/>
              </a:rPr>
              <a:t>m</a:t>
            </a:r>
            <a:r>
              <a:rPr lang="en-US" altLang="zh-CN" sz="2800" b="1" baseline="-25000" dirty="0">
                <a:uFillTx/>
                <a:latin typeface="楷体" panose="02010609060101010101" pitchFamily="49" charset="-122"/>
                <a:ea typeface="楷体" panose="02010609060101010101" pitchFamily="49" charset="-122"/>
                <a:sym typeface="+mn-ea"/>
              </a:rPr>
              <a:t>-</a:t>
            </a:r>
            <a:r>
              <a:rPr lang="zh-CN" altLang="en-US" sz="2800" b="1" baseline="-25000" dirty="0">
                <a:uFillTx/>
                <a:latin typeface="楷体" panose="02010609060101010101" pitchFamily="49" charset="-122"/>
                <a:ea typeface="楷体" panose="02010609060101010101" pitchFamily="49" charset="-122"/>
                <a:sym typeface="+mn-ea"/>
              </a:rPr>
              <a:t>1</a:t>
            </a:r>
            <a:r>
              <a:rPr lang="zh-CN" altLang="en-US" sz="2800" b="1" dirty="0">
                <a:latin typeface="楷体" panose="02010609060101010101" pitchFamily="49" charset="-122"/>
                <a:ea typeface="楷体" panose="02010609060101010101" pitchFamily="49" charset="-122"/>
                <a:sym typeface="+mn-ea"/>
              </a:rPr>
              <a:t>…X</a:t>
            </a:r>
            <a:r>
              <a:rPr lang="zh-CN" altLang="en-US" sz="2800" b="1" baseline="-25000" dirty="0">
                <a:uFillTx/>
                <a:latin typeface="楷体" panose="02010609060101010101" pitchFamily="49" charset="-122"/>
                <a:ea typeface="楷体" panose="02010609060101010101" pitchFamily="49" charset="-122"/>
                <a:sym typeface="+mn-ea"/>
              </a:rPr>
              <a:t>1</a:t>
            </a:r>
            <a:r>
              <a:rPr lang="zh-CN" altLang="en-US" sz="2800" b="1" dirty="0">
                <a:latin typeface="楷体" panose="02010609060101010101" pitchFamily="49" charset="-122"/>
                <a:ea typeface="楷体" panose="02010609060101010101" pitchFamily="49" charset="-122"/>
                <a:sym typeface="+mn-ea"/>
              </a:rPr>
              <a:t>X</a:t>
            </a:r>
            <a:r>
              <a:rPr lang="zh-CN" altLang="en-US" sz="2800" b="1" baseline="-25000" dirty="0">
                <a:uFillTx/>
                <a:latin typeface="楷体" panose="02010609060101010101" pitchFamily="49" charset="-122"/>
                <a:ea typeface="楷体" panose="02010609060101010101" pitchFamily="49" charset="-122"/>
                <a:sym typeface="+mn-ea"/>
              </a:rPr>
              <a:t>0</a:t>
            </a:r>
            <a:r>
              <a:rPr lang="zh-CN" altLang="en-US" sz="2800" b="1" dirty="0">
                <a:latin typeface="楷体" panose="02010609060101010101" pitchFamily="49" charset="-122"/>
                <a:ea typeface="楷体" panose="02010609060101010101" pitchFamily="49" charset="-122"/>
                <a:sym typeface="+mn-ea"/>
              </a:rPr>
              <a:t>，则</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             </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X</a:t>
            </a:r>
            <a:r>
              <a:rPr lang="zh-CN" altLang="en-US" sz="2800" b="1" baseline="-25000" dirty="0">
                <a:solidFill>
                  <a:schemeClr val="accent6">
                    <a:lumMod val="75000"/>
                  </a:schemeClr>
                </a:solidFill>
                <a:uFillTx/>
                <a:latin typeface="楷体" panose="02010609060101010101" pitchFamily="49" charset="-122"/>
                <a:ea typeface="楷体" panose="02010609060101010101" pitchFamily="49" charset="-122"/>
                <a:sym typeface="+mn-ea"/>
              </a:rPr>
              <a:t>移</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=2</a:t>
            </a:r>
            <a:r>
              <a:rPr lang="zh-CN" altLang="en-US" sz="2800" b="1" baseline="30000" dirty="0">
                <a:solidFill>
                  <a:schemeClr val="accent6">
                    <a:lumMod val="75000"/>
                  </a:schemeClr>
                </a:solidFill>
                <a:uFillTx/>
                <a:latin typeface="楷体" panose="02010609060101010101" pitchFamily="49" charset="-122"/>
                <a:ea typeface="楷体" panose="02010609060101010101" pitchFamily="49" charset="-122"/>
                <a:sym typeface="+mn-ea"/>
              </a:rPr>
              <a:t>m</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+X    －2</a:t>
            </a:r>
            <a:r>
              <a:rPr lang="zh-CN" altLang="en-US" sz="2800" b="1" baseline="30000" dirty="0">
                <a:solidFill>
                  <a:schemeClr val="accent6">
                    <a:lumMod val="75000"/>
                  </a:schemeClr>
                </a:solidFill>
                <a:uFillTx/>
                <a:latin typeface="楷体" panose="02010609060101010101" pitchFamily="49" charset="-122"/>
                <a:ea typeface="楷体" panose="02010609060101010101" pitchFamily="49" charset="-122"/>
                <a:sym typeface="+mn-ea"/>
              </a:rPr>
              <a:t>m</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≤X＜2</a:t>
            </a:r>
            <a:r>
              <a:rPr lang="zh-CN" altLang="en-US" sz="2800" b="1" baseline="30000" dirty="0">
                <a:solidFill>
                  <a:schemeClr val="accent6">
                    <a:lumMod val="75000"/>
                  </a:schemeClr>
                </a:solidFill>
                <a:uFillTx/>
                <a:latin typeface="楷体" panose="02010609060101010101" pitchFamily="49" charset="-122"/>
                <a:ea typeface="楷体" panose="02010609060101010101" pitchFamily="49" charset="-122"/>
                <a:sym typeface="+mn-ea"/>
              </a:rPr>
              <a:t>m</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             </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式中X是阶码的真值，2</a:t>
            </a:r>
            <a:r>
              <a:rPr lang="zh-CN" altLang="en-US" sz="2800" b="1" baseline="30000" dirty="0">
                <a:uFillTx/>
                <a:latin typeface="楷体" panose="02010609060101010101" pitchFamily="49" charset="-122"/>
                <a:ea typeface="楷体" panose="02010609060101010101" pitchFamily="49" charset="-122"/>
                <a:sym typeface="+mn-ea"/>
              </a:rPr>
              <a:t>m</a:t>
            </a:r>
            <a:r>
              <a:rPr lang="zh-CN" altLang="en-US" sz="2800" b="1" dirty="0">
                <a:latin typeface="楷体" panose="02010609060101010101" pitchFamily="49" charset="-122"/>
                <a:ea typeface="楷体" panose="02010609060101010101" pitchFamily="49" charset="-122"/>
                <a:sym typeface="+mn-ea"/>
              </a:rPr>
              <a:t>是符号位X</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m</a:t>
            </a:r>
            <a:r>
              <a:rPr lang="zh-CN" altLang="en-US" sz="2800" b="1" dirty="0">
                <a:latin typeface="楷体" panose="02010609060101010101" pitchFamily="49" charset="-122"/>
                <a:ea typeface="楷体" panose="02010609060101010101" pitchFamily="49" charset="-122"/>
                <a:sym typeface="+mn-ea"/>
              </a:rPr>
              <a:t>的位权。因此X移相当于将真值X沿数轴正向平移2</a:t>
            </a:r>
            <a:r>
              <a:rPr lang="zh-CN" altLang="en-US" sz="2800" b="1" baseline="30000" dirty="0">
                <a:uFillTx/>
                <a:latin typeface="楷体" panose="02010609060101010101" pitchFamily="49" charset="-122"/>
                <a:ea typeface="楷体" panose="02010609060101010101" pitchFamily="49" charset="-122"/>
                <a:sym typeface="+mn-ea"/>
              </a:rPr>
              <a:t>m</a:t>
            </a:r>
            <a:r>
              <a:rPr lang="zh-CN" altLang="en-US" sz="2800" b="1" dirty="0">
                <a:latin typeface="楷体" panose="02010609060101010101" pitchFamily="49" charset="-122"/>
                <a:ea typeface="楷体" panose="02010609060101010101" pitchFamily="49" charset="-122"/>
                <a:sym typeface="+mn-ea"/>
              </a:rPr>
              <a:t>，所以称为移码。或者说将X增加2</a:t>
            </a:r>
            <a:r>
              <a:rPr lang="zh-CN" altLang="en-US" sz="2800" b="1" baseline="30000" dirty="0">
                <a:uFillTx/>
                <a:latin typeface="楷体" panose="02010609060101010101" pitchFamily="49" charset="-122"/>
                <a:ea typeface="楷体" panose="02010609060101010101" pitchFamily="49" charset="-122"/>
                <a:sym typeface="+mn-ea"/>
              </a:rPr>
              <a:t>m</a:t>
            </a:r>
            <a:r>
              <a:rPr lang="zh-CN" altLang="en-US" sz="2800" b="1" dirty="0">
                <a:latin typeface="楷体" panose="02010609060101010101" pitchFamily="49" charset="-122"/>
                <a:ea typeface="楷体" panose="02010609060101010101" pitchFamily="49" charset="-122"/>
                <a:sym typeface="+mn-ea"/>
              </a:rPr>
              <a:t>，所以又取名为增码。</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52</a:t>
            </a:fld>
            <a:endParaRPr lang="zh-CN" altLang="en-US"/>
          </a:p>
        </p:txBody>
      </p:sp>
      <p:sp>
        <p:nvSpPr>
          <p:cNvPr id="3" name="Text Box 5"/>
          <p:cNvSpPr txBox="1"/>
          <p:nvPr/>
        </p:nvSpPr>
        <p:spPr>
          <a:xfrm>
            <a:off x="251460" y="713740"/>
            <a:ext cx="8315325" cy="2030095"/>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例：若某浮点数阶码（连同一位符号位）共8位，移码表示，表示范围－128≤X≤127，则X移=2</a:t>
            </a:r>
            <a:r>
              <a:rPr lang="zh-CN" altLang="en-US" sz="2800" b="1" baseline="30000" dirty="0">
                <a:latin typeface="楷体" panose="02010609060101010101" pitchFamily="49" charset="-122"/>
                <a:ea typeface="楷体" panose="02010609060101010101" pitchFamily="49" charset="-122"/>
                <a:sym typeface="+mn-ea"/>
              </a:rPr>
              <a:t>7</a:t>
            </a:r>
            <a:r>
              <a:rPr lang="zh-CN" altLang="en-US" sz="2800" b="1" dirty="0">
                <a:latin typeface="楷体" panose="02010609060101010101" pitchFamily="49" charset="-122"/>
                <a:ea typeface="楷体" panose="02010609060101010101" pitchFamily="49" charset="-122"/>
                <a:sym typeface="+mn-ea"/>
              </a:rPr>
              <a:t>+X。真值、移码、补码对应表如下：</a:t>
            </a:r>
          </a:p>
        </p:txBody>
      </p:sp>
      <p:graphicFrame>
        <p:nvGraphicFramePr>
          <p:cNvPr id="2" name="表格 1"/>
          <p:cNvGraphicFramePr/>
          <p:nvPr>
            <p:custDataLst>
              <p:tags r:id="rId1"/>
            </p:custDataLst>
            <p:extLst>
              <p:ext uri="{D42A27DB-BD31-4B8C-83A1-F6EECF244321}">
                <p14:modId xmlns:p14="http://schemas.microsoft.com/office/powerpoint/2010/main" val="2462337809"/>
              </p:ext>
            </p:extLst>
          </p:nvPr>
        </p:nvGraphicFramePr>
        <p:xfrm>
          <a:off x="345440" y="2809875"/>
          <a:ext cx="8413750" cy="3617595"/>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2102485">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5025">
                  <a:extLst>
                    <a:ext uri="{9D8B030D-6E8A-4147-A177-3AD203B41FA5}">
                      <a16:colId xmlns:a16="http://schemas.microsoft.com/office/drawing/2014/main" val="20003"/>
                    </a:ext>
                  </a:extLst>
                </a:gridCol>
              </a:tblGrid>
              <a:tr h="401955">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真值X（十进制）</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楷体" panose="02010609060101010101" pitchFamily="49" charset="-122"/>
                          <a:ea typeface="楷体" panose="02010609060101010101" pitchFamily="49" charset="-122"/>
                          <a:cs typeface="楷体" panose="02010609060101010101" pitchFamily="49" charset="-122"/>
                        </a:rPr>
                        <a:t>真值X（二进制</a:t>
                      </a:r>
                      <a:r>
                        <a:rPr lang="en-US" sz="2000" b="1" dirty="0">
                          <a:latin typeface="楷体" panose="02010609060101010101" pitchFamily="49" charset="-122"/>
                          <a:ea typeface="楷体" panose="02010609060101010101" pitchFamily="49" charset="-122"/>
                          <a:cs typeface="楷体" panose="02010609060101010101" pitchFamily="49" charset="-122"/>
                        </a:rPr>
                        <a:t>）</a:t>
                      </a:r>
                      <a:endParaRPr lang="en-US" altLang="en-US" sz="2000" b="1" dirty="0">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X</a:t>
                      </a:r>
                      <a:r>
                        <a:rPr lang="en-US" sz="2000" b="1" baseline="-25000">
                          <a:latin typeface="楷体" panose="02010609060101010101" pitchFamily="49" charset="-122"/>
                          <a:ea typeface="楷体" panose="02010609060101010101" pitchFamily="49" charset="-122"/>
                          <a:cs typeface="楷体" panose="02010609060101010101" pitchFamily="49" charset="-122"/>
                        </a:rPr>
                        <a:t>移</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X</a:t>
                      </a:r>
                      <a:r>
                        <a:rPr lang="en-US" sz="2000" b="1" baseline="-25000">
                          <a:latin typeface="楷体" panose="02010609060101010101" pitchFamily="49" charset="-122"/>
                          <a:ea typeface="楷体" panose="02010609060101010101" pitchFamily="49" charset="-122"/>
                          <a:cs typeface="楷体" panose="02010609060101010101" pitchFamily="49" charset="-122"/>
                        </a:rPr>
                        <a:t>补</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－128</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楷体" panose="02010609060101010101" pitchFamily="49" charset="-122"/>
                        </a:rPr>
                        <a:t>－10000000</a:t>
                      </a:r>
                      <a:endParaRPr lang="en-US" altLang="en-US" sz="2000" b="1" dirty="0">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00000000</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100000</a:t>
                      </a:r>
                      <a:r>
                        <a:rPr lang="en-US" altLang="zh-CN" sz="2000" b="1" dirty="0">
                          <a:latin typeface="楷体" panose="02010609060101010101" pitchFamily="49" charset="-122"/>
                          <a:ea typeface="楷体" panose="02010609060101010101" pitchFamily="49" charset="-122"/>
                          <a:cs typeface="宋体" panose="02010600030101010101" pitchFamily="2" charset="-122"/>
                        </a:rPr>
                        <a:t>0</a:t>
                      </a:r>
                      <a:r>
                        <a:rPr lang="en-US" sz="2000" b="1" dirty="0">
                          <a:latin typeface="楷体" panose="02010609060101010101" pitchFamily="49" charset="-122"/>
                          <a:ea typeface="楷体" panose="02010609060101010101" pitchFamily="49" charset="-122"/>
                          <a:cs typeface="宋体" panose="02010600030101010101" pitchFamily="2" charset="-122"/>
                        </a:rPr>
                        <a:t>0</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－127</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－01111111</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00000001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100000</a:t>
                      </a:r>
                      <a:r>
                        <a:rPr lang="en-US" altLang="zh-CN" sz="2000" b="1" dirty="0">
                          <a:latin typeface="楷体" panose="02010609060101010101" pitchFamily="49" charset="-122"/>
                          <a:ea typeface="楷体" panose="02010609060101010101" pitchFamily="49" charset="-122"/>
                          <a:cs typeface="宋体" panose="02010600030101010101" pitchFamily="2" charset="-122"/>
                        </a:rPr>
                        <a:t>0</a:t>
                      </a:r>
                      <a:r>
                        <a:rPr lang="en-US" sz="2000" b="1" dirty="0">
                          <a:latin typeface="楷体" panose="02010609060101010101" pitchFamily="49" charset="-122"/>
                          <a:ea typeface="楷体" panose="02010609060101010101" pitchFamily="49" charset="-122"/>
                          <a:cs typeface="宋体" panose="02010600030101010101" pitchFamily="2" charset="-122"/>
                        </a:rPr>
                        <a:t>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－1</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楷体" panose="02010609060101010101" pitchFamily="49" charset="-122"/>
                        </a:rPr>
                        <a:t>－00000001</a:t>
                      </a:r>
                      <a:endParaRPr lang="en-US" altLang="en-US" sz="20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01111111</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11111111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0</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00000000</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10000000</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00000000</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+1</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  00000001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10000001</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00000001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 </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1955">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+127</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  01111111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楷体" panose="02010609060101010101" pitchFamily="49" charset="-122"/>
                          <a:ea typeface="楷体" panose="02010609060101010101" pitchFamily="49" charset="-122"/>
                          <a:cs typeface="宋体" panose="02010600030101010101" pitchFamily="2" charset="-122"/>
                        </a:rPr>
                        <a:t>11111111</a:t>
                      </a:r>
                      <a:endParaRPr lang="en-US" altLang="en-US" sz="20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楷体" panose="02010609060101010101" pitchFamily="49" charset="-122"/>
                          <a:ea typeface="楷体" panose="02010609060101010101" pitchFamily="49" charset="-122"/>
                          <a:cs typeface="宋体" panose="02010600030101010101" pitchFamily="2" charset="-122"/>
                        </a:rPr>
                        <a:t>01111111</a:t>
                      </a:r>
                      <a:endParaRPr lang="en-US" altLang="en-US" sz="20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53</a:t>
            </a:fld>
            <a:endParaRPr lang="zh-CN" altLang="en-US"/>
          </a:p>
        </p:txBody>
      </p:sp>
      <p:sp>
        <p:nvSpPr>
          <p:cNvPr id="3" name="Text Box 5"/>
          <p:cNvSpPr txBox="1"/>
          <p:nvPr/>
        </p:nvSpPr>
        <p:spPr>
          <a:xfrm>
            <a:off x="224790" y="786130"/>
            <a:ext cx="891921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移码的特点</a:t>
            </a:r>
            <a:r>
              <a:rPr lang="zh-CN" altLang="en-US" sz="2800" b="1" dirty="0">
                <a:latin typeface="楷体" panose="02010609060101010101" pitchFamily="49" charset="-122"/>
                <a:ea typeface="楷体" panose="02010609060101010101" pitchFamily="49" charset="-122"/>
                <a:sym typeface="+mn-ea"/>
              </a:rPr>
              <a:t>如下：</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a.最高位为符号位，但其取值与原码、补码正好相反。</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b.除符号位相反之外，移码的其余各位与补码相同。</a:t>
            </a:r>
            <a:br>
              <a:rPr lang="zh-CN" altLang="en-US" sz="2800" b="1" dirty="0">
                <a:latin typeface="楷体" panose="02010609060101010101" pitchFamily="49" charset="-122"/>
                <a:ea typeface="楷体" panose="02010609060101010101" pitchFamily="49" charset="-122"/>
                <a:sym typeface="+mn-ea"/>
              </a:rPr>
            </a:br>
            <a:r>
              <a:rPr lang="zh-CN" altLang="en-US" sz="2800" b="1" dirty="0">
                <a:latin typeface="楷体" panose="02010609060101010101" pitchFamily="49" charset="-122"/>
                <a:ea typeface="楷体" panose="02010609060101010101" pitchFamily="49" charset="-122"/>
                <a:sym typeface="+mn-ea"/>
              </a:rPr>
              <a:t>  这是由于移码平移了2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7</a:t>
            </a:r>
            <a:r>
              <a:rPr lang="zh-CN" altLang="en-US" sz="2800" b="1" dirty="0">
                <a:latin typeface="楷体" panose="02010609060101010101" pitchFamily="49" charset="-122"/>
                <a:ea typeface="楷体" panose="02010609060101010101" pitchFamily="49" charset="-122"/>
                <a:sym typeface="+mn-ea"/>
              </a:rPr>
              <a:t>，而补码则平移了2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8</a:t>
            </a:r>
            <a:r>
              <a:rPr lang="zh-CN" altLang="en-US" sz="2800" b="1" dirty="0">
                <a:latin typeface="楷体" panose="02010609060101010101" pitchFamily="49" charset="-122"/>
                <a:ea typeface="楷体" panose="02010609060101010101" pitchFamily="49" charset="-122"/>
                <a:sym typeface="+mn-ea"/>
              </a:rPr>
              <a:t>（模值）。</a:t>
            </a:r>
          </a:p>
          <a:p>
            <a:pPr fontAlgn="auto">
              <a:lnSpc>
                <a:spcPct val="150000"/>
              </a:lnSpc>
              <a:spcBef>
                <a:spcPts val="0"/>
              </a:spcBef>
              <a:spcAft>
                <a:spcPts val="0"/>
              </a:spcAft>
            </a:pPr>
            <a:r>
              <a:rPr lang="zh-CN" altLang="en-US" sz="2800" b="1" dirty="0">
                <a:latin typeface="楷体" panose="02010609060101010101" pitchFamily="49" charset="-122"/>
                <a:ea typeface="楷体" panose="02010609060101010101" pitchFamily="49" charset="-122"/>
                <a:sym typeface="+mn-ea"/>
              </a:rPr>
              <a:t>c.让X从－128逐渐增至+127，相应地X</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移</a:t>
            </a:r>
            <a:r>
              <a:rPr lang="zh-CN" altLang="en-US" sz="2800" b="1" dirty="0">
                <a:latin typeface="楷体" panose="02010609060101010101" pitchFamily="49" charset="-122"/>
                <a:ea typeface="楷体" panose="02010609060101010101" pitchFamily="49" charset="-122"/>
                <a:sym typeface="+mn-ea"/>
              </a:rPr>
              <a:t>从00…00逐渐</a:t>
            </a:r>
            <a:br>
              <a:rPr lang="zh-CN" altLang="en-US" sz="2800" b="1" dirty="0">
                <a:latin typeface="楷体" panose="02010609060101010101" pitchFamily="49" charset="-122"/>
                <a:ea typeface="楷体" panose="02010609060101010101" pitchFamily="49" charset="-122"/>
                <a:sym typeface="+mn-ea"/>
              </a:rPr>
            </a:br>
            <a:r>
              <a:rPr lang="zh-CN" altLang="en-US" sz="2800" b="1" dirty="0">
                <a:latin typeface="楷体" panose="02010609060101010101" pitchFamily="49" charset="-122"/>
                <a:ea typeface="楷体" panose="02010609060101010101" pitchFamily="49" charset="-122"/>
                <a:sym typeface="+mn-ea"/>
              </a:rPr>
              <a:t>  增至11……11，呈递增状。可见采用移码能更直观地</a:t>
            </a:r>
            <a:br>
              <a:rPr lang="zh-CN" altLang="en-US" sz="2800" b="1" dirty="0">
                <a:latin typeface="楷体" panose="02010609060101010101" pitchFamily="49" charset="-122"/>
                <a:ea typeface="楷体" panose="02010609060101010101" pitchFamily="49" charset="-122"/>
                <a:sym typeface="+mn-ea"/>
              </a:rPr>
            </a:br>
            <a:r>
              <a:rPr lang="zh-CN" altLang="en-US" sz="2800" b="1" dirty="0">
                <a:latin typeface="楷体" panose="02010609060101010101" pitchFamily="49" charset="-122"/>
                <a:ea typeface="楷体" panose="02010609060101010101" pitchFamily="49" charset="-122"/>
                <a:sym typeface="+mn-ea"/>
              </a:rPr>
              <a:t>  比较正负阶码的大小，例如+1与－127之间的比较。</a:t>
            </a:r>
          </a:p>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3）表示范围与精度</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54</a:t>
            </a:fld>
            <a:endParaRPr lang="zh-CN" altLang="en-US"/>
          </a:p>
        </p:txBody>
      </p:sp>
      <p:sp>
        <p:nvSpPr>
          <p:cNvPr id="3" name="Text Box 5"/>
          <p:cNvSpPr txBox="1"/>
          <p:nvPr/>
        </p:nvSpPr>
        <p:spPr>
          <a:xfrm>
            <a:off x="224790" y="786130"/>
            <a:ext cx="8919210" cy="332295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4）IEEE754标准浮点格式</a:t>
            </a:r>
          </a:p>
          <a:p>
            <a:pPr fontAlgn="auto">
              <a:lnSpc>
                <a:spcPct val="150000"/>
              </a:lnSpc>
              <a:spcBef>
                <a:spcPts val="0"/>
              </a:spcBef>
              <a:spcAft>
                <a:spcPts val="0"/>
              </a:spcAft>
            </a:pPr>
            <a:r>
              <a:rPr lang="en-US" altLang="zh-CN" sz="2800" b="1" dirty="0">
                <a:solidFill>
                  <a:schemeClr val="tx1"/>
                </a:solidFill>
                <a:latin typeface="楷体" panose="02010609060101010101" pitchFamily="49" charset="-122"/>
                <a:ea typeface="楷体" panose="02010609060101010101" pitchFamily="49" charset="-122"/>
                <a:sym typeface="+mn-ea"/>
              </a:rPr>
              <a:t>前面讨论的是原理性浮点格式，但实际计算机的浮点格式与此有一些差异。下面简要介绍在当前主流微机中广泛采用的IEEE754标准浮点格式。</a:t>
            </a:r>
          </a:p>
          <a:p>
            <a:pPr fontAlgn="auto">
              <a:lnSpc>
                <a:spcPct val="150000"/>
              </a:lnSpc>
              <a:spcBef>
                <a:spcPts val="0"/>
              </a:spcBef>
              <a:spcAft>
                <a:spcPts val="0"/>
              </a:spcAft>
            </a:pPr>
            <a:r>
              <a:rPr lang="en-US" altLang="zh-CN" sz="2800" b="1" dirty="0">
                <a:solidFill>
                  <a:schemeClr val="tx1"/>
                </a:solidFill>
                <a:latin typeface="楷体" panose="02010609060101010101" pitchFamily="49" charset="-122"/>
                <a:ea typeface="楷体" panose="02010609060101010101" pitchFamily="49" charset="-122"/>
                <a:sym typeface="+mn-ea"/>
              </a:rPr>
              <a:t>按IEEE754标准，常用的浮点数的格式如</a:t>
            </a:r>
            <a:r>
              <a:rPr lang="zh-CN" altLang="en-US" sz="2800" b="1" dirty="0">
                <a:solidFill>
                  <a:schemeClr val="tx1"/>
                </a:solidFill>
                <a:latin typeface="楷体" panose="02010609060101010101" pitchFamily="49" charset="-122"/>
                <a:ea typeface="楷体" panose="02010609060101010101" pitchFamily="49" charset="-122"/>
                <a:sym typeface="+mn-ea"/>
              </a:rPr>
              <a:t>下图</a:t>
            </a:r>
            <a:r>
              <a:rPr lang="en-US" altLang="zh-CN" sz="2800" b="1" dirty="0">
                <a:solidFill>
                  <a:schemeClr val="tx1"/>
                </a:solidFill>
                <a:latin typeface="楷体" panose="02010609060101010101" pitchFamily="49" charset="-122"/>
                <a:ea typeface="楷体" panose="02010609060101010101" pitchFamily="49" charset="-122"/>
                <a:sym typeface="+mn-ea"/>
              </a:rPr>
              <a:t>所示</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en-US" altLang="zh-CN" sz="2800" b="1" dirty="0">
                <a:solidFill>
                  <a:srgbClr val="ED7D31"/>
                </a:solidFill>
                <a:latin typeface="楷体" panose="02010609060101010101" pitchFamily="49" charset="-122"/>
                <a:ea typeface="楷体" panose="02010609060101010101" pitchFamily="49" charset="-122"/>
                <a:sym typeface="+mn-ea"/>
              </a:rPr>
              <a:t>  </a:t>
            </a:r>
          </a:p>
        </p:txBody>
      </p:sp>
      <p:pic>
        <p:nvPicPr>
          <p:cNvPr id="2" name="图片 1"/>
          <p:cNvPicPr>
            <a:picLocks noChangeAspect="1"/>
          </p:cNvPicPr>
          <p:nvPr/>
        </p:nvPicPr>
        <p:blipFill>
          <a:blip r:embed="rId5"/>
          <a:stretch>
            <a:fillRect/>
          </a:stretch>
        </p:blipFill>
        <p:spPr>
          <a:xfrm>
            <a:off x="342265" y="4315460"/>
            <a:ext cx="8526145" cy="16446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55</a:t>
            </a:fld>
            <a:endParaRPr lang="zh-CN" altLang="en-US"/>
          </a:p>
        </p:txBody>
      </p:sp>
      <p:sp>
        <p:nvSpPr>
          <p:cNvPr id="3" name="Text Box 5"/>
          <p:cNvSpPr txBox="1"/>
          <p:nvPr/>
        </p:nvSpPr>
        <p:spPr>
          <a:xfrm>
            <a:off x="224790" y="786130"/>
            <a:ext cx="8919210" cy="267652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IEEE754有3种浮点表示格式，分别称为：	</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短浮点数</a:t>
            </a:r>
            <a:r>
              <a:rPr lang="en-US" altLang="zh-CN" sz="2800" b="1" dirty="0">
                <a:latin typeface="楷体" panose="02010609060101010101" pitchFamily="49" charset="-122"/>
                <a:ea typeface="楷体" panose="02010609060101010101" pitchFamily="49" charset="-122"/>
                <a:sym typeface="+mn-ea"/>
              </a:rPr>
              <a:t>(或称短实数、或称单精度浮点数)、</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长浮点数</a:t>
            </a:r>
            <a:r>
              <a:rPr lang="en-US" altLang="zh-CN" sz="2800" b="1" dirty="0">
                <a:latin typeface="楷体" panose="02010609060101010101" pitchFamily="49" charset="-122"/>
                <a:ea typeface="楷体" panose="02010609060101010101" pitchFamily="49" charset="-122"/>
                <a:sym typeface="+mn-ea"/>
              </a:rPr>
              <a:t>（或称长实数、或称双精度浮点数）、</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临时浮点数</a:t>
            </a:r>
            <a:r>
              <a:rPr lang="en-US" altLang="zh-CN" sz="2800" b="1" dirty="0">
                <a:latin typeface="楷体" panose="02010609060101010101" pitchFamily="49" charset="-122"/>
                <a:ea typeface="楷体" panose="02010609060101010101" pitchFamily="49" charset="-122"/>
                <a:sym typeface="+mn-ea"/>
              </a:rPr>
              <a:t>（或称临时实数、或称扩展精度浮点数）。</a:t>
            </a:r>
            <a:r>
              <a:rPr lang="en-US" altLang="zh-CN" sz="2800" b="1" dirty="0">
                <a:solidFill>
                  <a:srgbClr val="ED7D31"/>
                </a:solidFill>
                <a:latin typeface="楷体" panose="02010609060101010101" pitchFamily="49" charset="-122"/>
                <a:ea typeface="楷体" panose="02010609060101010101" pitchFamily="49" charset="-122"/>
                <a:sym typeface="+mn-ea"/>
              </a:rPr>
              <a:t>  </a:t>
            </a:r>
          </a:p>
        </p:txBody>
      </p:sp>
      <p:graphicFrame>
        <p:nvGraphicFramePr>
          <p:cNvPr id="7" name="表格 6"/>
          <p:cNvGraphicFramePr/>
          <p:nvPr>
            <p:custDataLst>
              <p:tags r:id="rId1"/>
            </p:custDataLst>
          </p:nvPr>
        </p:nvGraphicFramePr>
        <p:xfrm>
          <a:off x="295275" y="3589655"/>
          <a:ext cx="8575675" cy="2865120"/>
        </p:xfrm>
        <a:graphic>
          <a:graphicData uri="http://schemas.openxmlformats.org/drawingml/2006/table">
            <a:tbl>
              <a:tblPr firstRow="1" bandRow="1">
                <a:tableStyleId>{5940675A-B579-460E-94D1-54222C63F5DA}</a:tableStyleId>
              </a:tblPr>
              <a:tblGrid>
                <a:gridCol w="1419225">
                  <a:extLst>
                    <a:ext uri="{9D8B030D-6E8A-4147-A177-3AD203B41FA5}">
                      <a16:colId xmlns:a16="http://schemas.microsoft.com/office/drawing/2014/main" val="20000"/>
                    </a:ext>
                  </a:extLst>
                </a:gridCol>
                <a:gridCol w="760095">
                  <a:extLst>
                    <a:ext uri="{9D8B030D-6E8A-4147-A177-3AD203B41FA5}">
                      <a16:colId xmlns:a16="http://schemas.microsoft.com/office/drawing/2014/main" val="20001"/>
                    </a:ext>
                  </a:extLst>
                </a:gridCol>
                <a:gridCol w="103060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gridCol w="1160145">
                  <a:extLst>
                    <a:ext uri="{9D8B030D-6E8A-4147-A177-3AD203B41FA5}">
                      <a16:colId xmlns:a16="http://schemas.microsoft.com/office/drawing/2014/main" val="20004"/>
                    </a:ext>
                  </a:extLst>
                </a:gridCol>
                <a:gridCol w="1668145">
                  <a:extLst>
                    <a:ext uri="{9D8B030D-6E8A-4147-A177-3AD203B41FA5}">
                      <a16:colId xmlns:a16="http://schemas.microsoft.com/office/drawing/2014/main" val="20005"/>
                    </a:ext>
                  </a:extLst>
                </a:gridCol>
                <a:gridCol w="1108710">
                  <a:extLst>
                    <a:ext uri="{9D8B030D-6E8A-4147-A177-3AD203B41FA5}">
                      <a16:colId xmlns:a16="http://schemas.microsoft.com/office/drawing/2014/main" val="20006"/>
                    </a:ext>
                  </a:extLst>
                </a:gridCol>
              </a:tblGrid>
              <a:tr h="365760">
                <a:tc rowSpan="2">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类型</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数符（位）</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阶码（位）</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尾数数值（位）</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总位数（位）</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sz="2400" b="1">
                          <a:latin typeface="楷体" panose="02010609060101010101" pitchFamily="49" charset="-122"/>
                          <a:ea typeface="楷体" panose="02010609060101010101" pitchFamily="49" charset="-122"/>
                          <a:cs typeface="楷体" panose="02010609060101010101" pitchFamily="49" charset="-122"/>
                        </a:rPr>
                        <a:t>偏 置 值</a:t>
                      </a:r>
                      <a:endParaRPr lang="en-US" altLang="en-US" sz="2400" b="1">
                        <a:latin typeface="楷体" panose="02010609060101010101" pitchFamily="49" charset="-122"/>
                        <a:ea typeface="楷体" panose="02010609060101010101" pitchFamily="49" charset="-122"/>
                        <a:cs typeface="楷体" panose="02010609060101010101" pitchFamily="49"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65532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十六进制</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十进制</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780">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短浮点数</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1</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dirty="0">
                          <a:latin typeface="楷体" panose="02010609060101010101" pitchFamily="49" charset="-122"/>
                          <a:ea typeface="楷体" panose="02010609060101010101" pitchFamily="49" charset="-122"/>
                          <a:cs typeface="宋体" panose="02010600030101010101" pitchFamily="2" charset="-122"/>
                        </a:rPr>
                        <a:t>8</a:t>
                      </a:r>
                      <a:endParaRPr lang="en-US" altLang="en-US" sz="24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dirty="0">
                          <a:latin typeface="楷体" panose="02010609060101010101" pitchFamily="49" charset="-122"/>
                          <a:ea typeface="楷体" panose="02010609060101010101" pitchFamily="49" charset="-122"/>
                          <a:cs typeface="宋体" panose="02010600030101010101" pitchFamily="2" charset="-122"/>
                        </a:rPr>
                        <a:t>23</a:t>
                      </a:r>
                      <a:endParaRPr lang="en-US" altLang="en-US" sz="24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dirty="0">
                          <a:latin typeface="楷体" panose="02010609060101010101" pitchFamily="49" charset="-122"/>
                          <a:ea typeface="楷体" panose="02010609060101010101" pitchFamily="49" charset="-122"/>
                          <a:cs typeface="宋体" panose="02010600030101010101" pitchFamily="2" charset="-122"/>
                        </a:rPr>
                        <a:t>32</a:t>
                      </a:r>
                      <a:endParaRPr lang="en-US" altLang="en-US" sz="24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dirty="0">
                          <a:latin typeface="楷体" panose="02010609060101010101" pitchFamily="49" charset="-122"/>
                          <a:ea typeface="楷体" panose="02010609060101010101" pitchFamily="49" charset="-122"/>
                          <a:cs typeface="宋体" panose="02010600030101010101" pitchFamily="2" charset="-122"/>
                        </a:rPr>
                        <a:t>7FH</a:t>
                      </a:r>
                      <a:endParaRPr lang="en-US" altLang="en-US" sz="24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rPr>
                        <a:t>127</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0540">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sym typeface="+mn-ea"/>
                        </a:rPr>
                        <a:t>长浮点数</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1</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11</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52</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64</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sym typeface="+mn-ea"/>
                        </a:rPr>
                        <a:t>3FFH</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sym typeface="+mn-ea"/>
                        </a:rPr>
                        <a:t>1023</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sym typeface="+mn-ea"/>
                        </a:rPr>
                        <a:t>临时浮点数</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1</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15</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64</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2400" b="1">
                          <a:latin typeface="楷体" panose="02010609060101010101" pitchFamily="49" charset="-122"/>
                          <a:ea typeface="楷体" panose="02010609060101010101" pitchFamily="49" charset="-122"/>
                          <a:cs typeface="宋体" panose="02010600030101010101" pitchFamily="2" charset="-122"/>
                        </a:rPr>
                        <a:t>80</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latin typeface="楷体" panose="02010609060101010101" pitchFamily="49" charset="-122"/>
                          <a:ea typeface="楷体" panose="02010609060101010101" pitchFamily="49" charset="-122"/>
                          <a:cs typeface="宋体" panose="02010600030101010101" pitchFamily="2" charset="-122"/>
                          <a:sym typeface="+mn-ea"/>
                        </a:rPr>
                        <a:t>3FFFH</a:t>
                      </a:r>
                      <a:endParaRPr lang="en-US" altLang="en-US" sz="2400" b="1">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dirty="0">
                          <a:latin typeface="楷体" panose="02010609060101010101" pitchFamily="49" charset="-122"/>
                          <a:ea typeface="楷体" panose="02010609060101010101" pitchFamily="49" charset="-122"/>
                          <a:cs typeface="宋体" panose="02010600030101010101" pitchFamily="2" charset="-122"/>
                          <a:sym typeface="+mn-ea"/>
                        </a:rPr>
                        <a:t>16383</a:t>
                      </a:r>
                      <a:endParaRPr lang="en-US" altLang="en-US" sz="2400" b="1" dirty="0">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56</a:t>
            </a:fld>
            <a:endParaRPr lang="zh-CN" altLang="en-US"/>
          </a:p>
        </p:txBody>
      </p:sp>
      <p:sp>
        <p:nvSpPr>
          <p:cNvPr id="3" name="Text Box 5"/>
          <p:cNvSpPr txBox="1"/>
          <p:nvPr/>
        </p:nvSpPr>
        <p:spPr>
          <a:xfrm>
            <a:off x="535305" y="1224915"/>
            <a:ext cx="8094980" cy="461581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短浮点数</a:t>
            </a:r>
            <a:r>
              <a:rPr lang="en-US" altLang="zh-CN" sz="2800" b="1" dirty="0">
                <a:latin typeface="楷体" panose="02010609060101010101" pitchFamily="49" charset="-122"/>
                <a:ea typeface="楷体" panose="02010609060101010101" pitchFamily="49" charset="-122"/>
                <a:sym typeface="+mn-ea"/>
              </a:rPr>
              <a:t>又称为单精度浮点数，</a:t>
            </a:r>
            <a:r>
              <a:rPr lang="en-US" altLang="zh-CN" sz="2800" b="1" dirty="0">
                <a:solidFill>
                  <a:srgbClr val="ED7D31"/>
                </a:solidFill>
                <a:latin typeface="楷体" panose="02010609060101010101" pitchFamily="49" charset="-122"/>
                <a:ea typeface="楷体" panose="02010609060101010101" pitchFamily="49" charset="-122"/>
                <a:sym typeface="+mn-ea"/>
              </a:rPr>
              <a:t>长浮点数</a:t>
            </a:r>
            <a:r>
              <a:rPr lang="en-US" altLang="zh-CN" sz="2800" b="1" dirty="0">
                <a:latin typeface="楷体" panose="02010609060101010101" pitchFamily="49" charset="-122"/>
                <a:ea typeface="楷体" panose="02010609060101010101" pitchFamily="49" charset="-122"/>
                <a:sym typeface="+mn-ea"/>
              </a:rPr>
              <a:t>又称为双精度浮点数，它们都采用</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隐含尾数最高数位</a:t>
            </a:r>
            <a:r>
              <a:rPr lang="en-US" altLang="zh-CN" sz="2800" b="1" dirty="0">
                <a:latin typeface="楷体" panose="02010609060101010101" pitchFamily="49" charset="-122"/>
                <a:ea typeface="楷体" panose="02010609060101010101" pitchFamily="49" charset="-122"/>
                <a:sym typeface="+mn-ea"/>
              </a:rPr>
              <a:t>（2</a:t>
            </a:r>
            <a:r>
              <a:rPr lang="en-US" altLang="zh-CN" sz="2800" b="1" baseline="30000" dirty="0">
                <a:solidFill>
                  <a:schemeClr val="tx1"/>
                </a:solidFill>
                <a:uFillTx/>
                <a:latin typeface="楷体" panose="02010609060101010101" pitchFamily="49" charset="-122"/>
                <a:ea typeface="楷体" panose="02010609060101010101" pitchFamily="49" charset="-122"/>
                <a:sym typeface="+mn-ea"/>
              </a:rPr>
              <a:t>0</a:t>
            </a:r>
            <a:r>
              <a:rPr lang="en-US" altLang="zh-CN" sz="2800" b="1" dirty="0">
                <a:latin typeface="楷体" panose="02010609060101010101" pitchFamily="49" charset="-122"/>
                <a:ea typeface="楷体" panose="02010609060101010101" pitchFamily="49" charset="-122"/>
                <a:sym typeface="+mn-ea"/>
              </a:rPr>
              <a:t>）的方法，这样，无形中又增加了一位尾数，因此，相应地尾数真值实际上等于1+（23位尾数数值或52位尾数数值）。</a:t>
            </a:r>
          </a:p>
          <a:p>
            <a:pPr fontAlgn="auto">
              <a:lnSpc>
                <a:spcPct val="15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临时浮点数</a:t>
            </a:r>
            <a:r>
              <a:rPr lang="en-US" altLang="zh-CN" sz="2800" b="1" dirty="0">
                <a:latin typeface="楷体" panose="02010609060101010101" pitchFamily="49" charset="-122"/>
                <a:ea typeface="楷体" panose="02010609060101010101" pitchFamily="49" charset="-122"/>
                <a:sym typeface="+mn-ea"/>
              </a:rPr>
              <a:t>又称为扩展精度浮点数，它</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没有隐含位</a:t>
            </a:r>
            <a:r>
              <a:rPr lang="en-US" altLang="zh-CN" sz="2800" b="1" dirty="0">
                <a:latin typeface="楷体" panose="02010609060101010101" pitchFamily="49" charset="-122"/>
                <a:ea typeface="楷体" panose="02010609060101010101" pitchFamily="49" charset="-122"/>
                <a:sym typeface="+mn-ea"/>
              </a:rPr>
              <a:t>，尾数真值就等于64位尾数数值。</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57</a:t>
            </a:fld>
            <a:endParaRPr lang="zh-CN" altLang="en-US"/>
          </a:p>
        </p:txBody>
      </p:sp>
      <p:sp>
        <p:nvSpPr>
          <p:cNvPr id="3" name="Text Box 5"/>
          <p:cNvSpPr txBox="1"/>
          <p:nvPr/>
        </p:nvSpPr>
        <p:spPr>
          <a:xfrm>
            <a:off x="535305" y="1035050"/>
            <a:ext cx="8094980" cy="4485005"/>
          </a:xfrm>
          <a:prstGeom prst="rect">
            <a:avLst/>
          </a:prstGeom>
          <a:noFill/>
          <a:ln w="9525">
            <a:noFill/>
          </a:ln>
        </p:spPr>
        <p:txBody>
          <a:bodyPr wrap="square" anchor="t">
            <a:spAutoFit/>
          </a:bodyPr>
          <a:lstStyle/>
          <a:p>
            <a:pPr fontAlgn="auto">
              <a:lnSpc>
                <a:spcPct val="17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下面以32位短浮点数为例，最高位是数符，其后是8位阶码，以2为底，采用移码表示，但偏置量为127，例如阶码真值为1，则阶码的代码值为128，这点与前述原理性偏置量（128）有点差异。其余23位尾数为纯小数，因此，尾数位数实际上是：</a:t>
            </a:r>
          </a:p>
          <a:p>
            <a:pPr fontAlgn="auto">
              <a:lnSpc>
                <a:spcPct val="17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a:t>
            </a:r>
            <a:r>
              <a:rPr lang="en-US" altLang="zh-CN" sz="2800" b="1" dirty="0">
                <a:solidFill>
                  <a:srgbClr val="ED7D31"/>
                </a:solidFill>
                <a:latin typeface="楷体" panose="02010609060101010101" pitchFamily="49" charset="-122"/>
                <a:ea typeface="楷体" panose="02010609060101010101" pitchFamily="49" charset="-122"/>
                <a:sym typeface="+mn-ea"/>
              </a:rPr>
              <a:t>1位隐含位+23位尾数=24位</a:t>
            </a:r>
            <a:endParaRPr lang="en-US" altLang="zh-CN" sz="2800" b="1" dirty="0">
              <a:latin typeface="楷体" panose="02010609060101010101" pitchFamily="49" charset="-122"/>
              <a:ea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58</a:t>
            </a:fld>
            <a:endParaRPr lang="zh-CN" altLang="en-US"/>
          </a:p>
        </p:txBody>
      </p:sp>
      <p:sp>
        <p:nvSpPr>
          <p:cNvPr id="3" name="Text Box 5"/>
          <p:cNvSpPr txBox="1"/>
          <p:nvPr/>
        </p:nvSpPr>
        <p:spPr>
          <a:xfrm>
            <a:off x="535305" y="1035050"/>
            <a:ext cx="8094980" cy="4364849"/>
          </a:xfrm>
          <a:prstGeom prst="rect">
            <a:avLst/>
          </a:prstGeom>
          <a:noFill/>
          <a:ln w="9525">
            <a:noFill/>
          </a:ln>
        </p:spPr>
        <p:txBody>
          <a:bodyPr wrap="square" anchor="t">
            <a:spAutoFit/>
          </a:bodyPr>
          <a:lstStyle/>
          <a:p>
            <a:pPr fontAlgn="auto">
              <a:lnSpc>
                <a:spcPct val="170000"/>
              </a:lnSpc>
              <a:spcBef>
                <a:spcPts val="0"/>
              </a:spcBef>
              <a:spcAft>
                <a:spcPts val="0"/>
              </a:spcAft>
            </a:pPr>
            <a:r>
              <a:rPr lang="en-US" altLang="zh-CN" sz="2800" b="1" dirty="0">
                <a:solidFill>
                  <a:srgbClr val="ED7D31"/>
                </a:solidFill>
                <a:latin typeface="楷体" panose="02010609060101010101" pitchFamily="49" charset="-122"/>
                <a:ea typeface="楷体" panose="02010609060101010101" pitchFamily="49" charset="-122"/>
                <a:sym typeface="+mn-ea"/>
              </a:rPr>
              <a:t>注意：</a:t>
            </a:r>
          </a:p>
          <a:p>
            <a:pPr fontAlgn="auto">
              <a:lnSpc>
                <a:spcPct val="17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隐含的“1”是一位整数（即权位为2</a:t>
            </a:r>
            <a:r>
              <a:rPr lang="en-US" altLang="zh-CN" sz="2800" b="1" baseline="30000" dirty="0">
                <a:solidFill>
                  <a:schemeClr val="accent6">
                    <a:lumMod val="75000"/>
                  </a:schemeClr>
                </a:solidFill>
                <a:uFillTx/>
                <a:latin typeface="楷体" panose="02010609060101010101" pitchFamily="49" charset="-122"/>
                <a:ea typeface="楷体" panose="02010609060101010101" pitchFamily="49" charset="-122"/>
                <a:sym typeface="+mn-ea"/>
              </a:rPr>
              <a:t>0</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a:t>
            </a:r>
            <a:r>
              <a:rPr lang="en-US" altLang="zh-CN" sz="2800" b="1" dirty="0">
                <a:latin typeface="楷体" panose="02010609060101010101" pitchFamily="49" charset="-122"/>
                <a:ea typeface="楷体" panose="02010609060101010101" pitchFamily="49" charset="-122"/>
                <a:sym typeface="+mn-ea"/>
              </a:rPr>
              <a:t>。在浮点格式中表示出来的23位尾数是纯小数，用原码表示。</a:t>
            </a:r>
          </a:p>
          <a:p>
            <a:pPr fontAlgn="auto">
              <a:lnSpc>
                <a:spcPct val="170000"/>
              </a:lnSpc>
              <a:spcBef>
                <a:spcPts val="0"/>
              </a:spcBef>
              <a:spcAft>
                <a:spcPts val="0"/>
              </a:spcAft>
            </a:pPr>
            <a:r>
              <a:rPr lang="en-US" altLang="zh-CN" sz="2800" b="1" dirty="0" err="1">
                <a:latin typeface="楷体" panose="02010609060101010101" pitchFamily="49" charset="-122"/>
                <a:ea typeface="楷体" panose="02010609060101010101" pitchFamily="49" charset="-122"/>
                <a:sym typeface="+mn-ea"/>
              </a:rPr>
              <a:t>例如</a:t>
            </a:r>
            <a:r>
              <a:rPr lang="en-US" altLang="zh-CN" sz="2800" b="1" dirty="0">
                <a:latin typeface="楷体" panose="02010609060101010101" pitchFamily="49" charset="-122"/>
                <a:ea typeface="楷体" panose="02010609060101010101" pitchFamily="49" charset="-122"/>
                <a:sym typeface="+mn-ea"/>
              </a:rPr>
              <a:t>： (15)</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 =(1111)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2</a:t>
            </a:r>
            <a:r>
              <a:rPr lang="en-US" altLang="zh-CN" sz="2800" b="1" dirty="0">
                <a:latin typeface="楷体" panose="02010609060101010101" pitchFamily="49" charset="-122"/>
                <a:ea typeface="楷体" panose="02010609060101010101" pitchFamily="49" charset="-122"/>
                <a:sym typeface="+mn-ea"/>
              </a:rPr>
              <a:t> ，将它规格化后结果为1.111×2</a:t>
            </a:r>
            <a:r>
              <a:rPr lang="en-US" altLang="zh-CN" sz="2800" b="1" baseline="30000" dirty="0">
                <a:solidFill>
                  <a:schemeClr val="tx1"/>
                </a:solidFill>
                <a:uFillTx/>
                <a:latin typeface="楷体" panose="02010609060101010101" pitchFamily="49" charset="-122"/>
                <a:ea typeface="楷体" panose="02010609060101010101" pitchFamily="49" charset="-122"/>
                <a:sym typeface="+mn-ea"/>
              </a:rPr>
              <a:t>3 </a:t>
            </a:r>
            <a:r>
              <a:rPr lang="en-US" altLang="zh-CN" sz="2800" b="1" dirty="0">
                <a:latin typeface="楷体" panose="02010609060101010101" pitchFamily="49" charset="-122"/>
                <a:ea typeface="楷体" panose="02010609060101010101" pitchFamily="49" charset="-122"/>
                <a:sym typeface="+mn-ea"/>
              </a:rPr>
              <a:t>，其中整数部分的“1”将不存储在23位尾数内。</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59</a:t>
            </a:fld>
            <a:endParaRPr lang="zh-CN" altLang="en-US"/>
          </a:p>
        </p:txBody>
      </p:sp>
      <p:sp>
        <p:nvSpPr>
          <p:cNvPr id="3" name="Text Box 5"/>
          <p:cNvSpPr txBox="1"/>
          <p:nvPr/>
        </p:nvSpPr>
        <p:spPr>
          <a:xfrm>
            <a:off x="336550" y="1087574"/>
            <a:ext cx="8619490" cy="3538220"/>
          </a:xfrm>
          <a:prstGeom prst="rect">
            <a:avLst/>
          </a:prstGeom>
          <a:noFill/>
          <a:ln w="9525">
            <a:noFill/>
          </a:ln>
        </p:spPr>
        <p:txBody>
          <a:bodyPr wrap="square" anchor="t">
            <a:spAutoFit/>
          </a:bodyPr>
          <a:lstStyle/>
          <a:p>
            <a:pPr fontAlgn="auto">
              <a:lnSpc>
                <a:spcPct val="20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阶码是以移码形式存储的</a:t>
            </a:r>
            <a:r>
              <a:rPr lang="en-US" altLang="zh-CN" sz="2800" b="1" dirty="0">
                <a:latin typeface="楷体" panose="02010609060101010101" pitchFamily="49" charset="-122"/>
                <a:ea typeface="楷体" panose="02010609060101010101" pitchFamily="49" charset="-122"/>
                <a:sym typeface="+mn-ea"/>
              </a:rPr>
              <a:t>。</a:t>
            </a:r>
          </a:p>
          <a:p>
            <a:pPr fontAlgn="auto">
              <a:lnSpc>
                <a:spcPct val="20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短浮点数的偏置值为十进制127或十六进制7FH；</a:t>
            </a:r>
          </a:p>
          <a:p>
            <a:pPr fontAlgn="auto">
              <a:lnSpc>
                <a:spcPct val="20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长浮点数的偏置值为十进制1023或十六进制3FFH；</a:t>
            </a:r>
          </a:p>
          <a:p>
            <a:pPr fontAlgn="auto">
              <a:lnSpc>
                <a:spcPct val="20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临时浮点数的偏置值为十进制16383或十六进制3FFFH。</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60</a:t>
            </a:fld>
            <a:endParaRPr lang="zh-CN" altLang="en-US"/>
          </a:p>
        </p:txBody>
      </p:sp>
      <p:sp>
        <p:nvSpPr>
          <p:cNvPr id="3" name="Text Box 5"/>
          <p:cNvSpPr txBox="1"/>
          <p:nvPr/>
        </p:nvSpPr>
        <p:spPr>
          <a:xfrm>
            <a:off x="290195" y="871855"/>
            <a:ext cx="861949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存储浮点数阶码部分之前，偏置值先要加到阶码真值上</a:t>
            </a:r>
            <a:r>
              <a:rPr lang="en-US" altLang="zh-CN" sz="2800" b="1" dirty="0">
                <a:latin typeface="楷体" panose="02010609060101010101" pitchFamily="49" charset="-122"/>
                <a:ea typeface="楷体" panose="02010609060101010101" pitchFamily="49" charset="-122"/>
                <a:sym typeface="+mn-ea"/>
              </a:rPr>
              <a:t>。</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若阶码真值为3，在短浮点数中，移码表示的阶码为：十进制127+3=130或十六进制82H；</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长浮点数中，移码表示的阶码为：十进制1023+3=1026或十六进制402H；</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临时浮点数中，移码表示的阶码为：十进制16383+3=16386或十六进制4002H。</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61</a:t>
            </a:fld>
            <a:endParaRPr lang="zh-CN" altLang="en-US"/>
          </a:p>
        </p:txBody>
      </p:sp>
      <p:sp>
        <p:nvSpPr>
          <p:cNvPr id="3" name="Text Box 5"/>
          <p:cNvSpPr txBox="1"/>
          <p:nvPr/>
        </p:nvSpPr>
        <p:spPr>
          <a:xfrm>
            <a:off x="290195" y="871855"/>
            <a:ext cx="861949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solidFill>
                  <a:schemeClr val="accent2"/>
                </a:solidFill>
                <a:latin typeface="楷体" panose="02010609060101010101" pitchFamily="49" charset="-122"/>
                <a:ea typeface="楷体" panose="02010609060101010101" pitchFamily="49" charset="-122"/>
                <a:sym typeface="+mn-ea"/>
              </a:rPr>
              <a:t>第一类应用：将二进制数转换为短浮点数</a:t>
            </a:r>
            <a:endParaRPr lang="en-US" altLang="zh-CN" sz="2800" b="1" dirty="0">
              <a:solidFill>
                <a:schemeClr val="accent2"/>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例：将(82.25)</a:t>
            </a:r>
            <a:r>
              <a:rPr lang="en-US" altLang="zh-CN" sz="2800" b="1" baseline="-25000" dirty="0">
                <a:solidFill>
                  <a:schemeClr val="accent6">
                    <a:lumMod val="75000"/>
                  </a:schemeClr>
                </a:solidFill>
                <a:uFillTx/>
                <a:latin typeface="楷体" panose="02010609060101010101" pitchFamily="49" charset="-122"/>
                <a:ea typeface="楷体" panose="02010609060101010101" pitchFamily="49" charset="-122"/>
                <a:sym typeface="+mn-ea"/>
              </a:rPr>
              <a:t>10</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 转换成短浮点数格式。</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1）先将(82.25)</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10 </a:t>
            </a:r>
            <a:r>
              <a:rPr lang="en-US" altLang="zh-CN" sz="2800" b="1" dirty="0">
                <a:latin typeface="楷体" panose="02010609060101010101" pitchFamily="49" charset="-122"/>
                <a:ea typeface="楷体" panose="02010609060101010101" pitchFamily="49" charset="-122"/>
                <a:sym typeface="+mn-ea"/>
              </a:rPr>
              <a:t>转换成二进制数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(82.25)</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 =(1010010.01)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2</a:t>
            </a:r>
            <a:r>
              <a:rPr lang="en-US" altLang="zh-CN" sz="2800" b="1" dirty="0">
                <a:latin typeface="楷体" panose="02010609060101010101" pitchFamily="49" charset="-122"/>
                <a:ea typeface="楷体" panose="02010609060101010101" pitchFamily="49" charset="-122"/>
                <a:sym typeface="+mn-ea"/>
              </a:rPr>
              <a:t>    </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2）规格化二进制数(1010010.01)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2</a:t>
            </a:r>
            <a:r>
              <a:rPr lang="en-US" altLang="zh-CN" sz="2800" b="1" dirty="0">
                <a:latin typeface="楷体" panose="02010609060101010101" pitchFamily="49" charset="-122"/>
                <a:ea typeface="楷体" panose="02010609060101010101" pitchFamily="49" charset="-122"/>
                <a:sym typeface="+mn-ea"/>
              </a:rPr>
              <a:t>      </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1010010.01=1.01001001×2</a:t>
            </a:r>
            <a:r>
              <a:rPr lang="en-US" altLang="zh-CN" sz="2800" b="1" baseline="30000" dirty="0">
                <a:solidFill>
                  <a:schemeClr val="tx1"/>
                </a:solidFill>
                <a:uFillTx/>
                <a:latin typeface="楷体" panose="02010609060101010101" pitchFamily="49" charset="-122"/>
                <a:ea typeface="楷体" panose="02010609060101010101" pitchFamily="49" charset="-122"/>
                <a:sym typeface="+mn-ea"/>
              </a:rPr>
              <a:t>6</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3）计算移码表示的阶码=偏置值+阶码真值：</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(127+6)</a:t>
            </a:r>
            <a:r>
              <a:rPr lang="en-US" altLang="zh-CN" sz="2800" b="1" baseline="-25000" dirty="0">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=(133)</a:t>
            </a:r>
            <a:r>
              <a:rPr lang="en-US" altLang="zh-CN" sz="2800" b="1" baseline="-25000" dirty="0">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 =(10000101)</a:t>
            </a:r>
            <a:r>
              <a:rPr lang="en-US" altLang="zh-CN" sz="2800" b="1" baseline="-25000" dirty="0">
                <a:uFillTx/>
                <a:latin typeface="楷体" panose="02010609060101010101" pitchFamily="49" charset="-122"/>
                <a:ea typeface="楷体" panose="02010609060101010101" pitchFamily="49" charset="-122"/>
                <a:sym typeface="+mn-ea"/>
              </a:rPr>
              <a:t>2</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62</a:t>
            </a:fld>
            <a:endParaRPr lang="zh-CN" altLang="en-US"/>
          </a:p>
        </p:txBody>
      </p:sp>
      <p:sp>
        <p:nvSpPr>
          <p:cNvPr id="3" name="Text Box 5"/>
          <p:cNvSpPr txBox="1"/>
          <p:nvPr/>
        </p:nvSpPr>
        <p:spPr>
          <a:xfrm>
            <a:off x="262255" y="859790"/>
            <a:ext cx="861949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4）以短浮点数格式存储该数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因此：符号位=0              表示该数为正数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阶码=10000101             由3）可得</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尾数=</a:t>
            </a:r>
            <a:r>
              <a:rPr lang="en-US" altLang="zh-CN" sz="2400" b="1" dirty="0">
                <a:latin typeface="楷体" panose="02010609060101010101" pitchFamily="49" charset="-122"/>
                <a:ea typeface="楷体" panose="02010609060101010101" pitchFamily="49" charset="-122"/>
                <a:sym typeface="+mn-ea"/>
              </a:rPr>
              <a:t>01001001000000000000000</a:t>
            </a:r>
            <a:r>
              <a:rPr lang="en-US" altLang="zh-CN" sz="2800" b="1" dirty="0">
                <a:latin typeface="楷体" panose="02010609060101010101" pitchFamily="49" charset="-122"/>
                <a:ea typeface="楷体" panose="02010609060101010101" pitchFamily="49" charset="-122"/>
                <a:sym typeface="+mn-ea"/>
              </a:rPr>
              <a:t>  由2）可得</a:t>
            </a:r>
            <a:r>
              <a:rPr lang="zh-CN" altLang="en-US" sz="2800" b="1" dirty="0">
                <a:latin typeface="楷体" panose="02010609060101010101" pitchFamily="49" charset="-122"/>
                <a:ea typeface="楷体" panose="02010609060101010101" pitchFamily="49" charset="-122"/>
                <a:sym typeface="+mn-ea"/>
              </a:rPr>
              <a:t>         </a:t>
            </a:r>
            <a:br>
              <a:rPr lang="zh-CN" altLang="en-US" sz="2800" b="1" dirty="0">
                <a:latin typeface="楷体" panose="02010609060101010101" pitchFamily="49" charset="-122"/>
                <a:ea typeface="楷体" panose="02010609060101010101" pitchFamily="49" charset="-122"/>
                <a:sym typeface="+mn-ea"/>
              </a:rPr>
            </a:br>
            <a:r>
              <a:rPr lang="zh-CN" altLang="en-US" sz="2800" b="1" dirty="0">
                <a:latin typeface="楷体" panose="02010609060101010101" pitchFamily="49" charset="-122"/>
                <a:ea typeface="楷体" panose="02010609060101010101" pitchFamily="49" charset="-122"/>
                <a:sym typeface="+mn-ea"/>
              </a:rPr>
              <a:t>                     </a:t>
            </a:r>
            <a:r>
              <a:rPr lang="en-US" altLang="zh-CN" sz="2400" b="1" dirty="0">
                <a:solidFill>
                  <a:schemeClr val="accent6">
                    <a:lumMod val="75000"/>
                  </a:schemeClr>
                </a:solidFill>
                <a:latin typeface="楷体" panose="02010609060101010101" pitchFamily="49" charset="-122"/>
                <a:ea typeface="楷体" panose="02010609060101010101" pitchFamily="49" charset="-122"/>
                <a:sym typeface="+mn-ea"/>
              </a:rPr>
              <a:t>尾数为23位，不足在后面添15位0</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所以，短浮点数代码为：</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0；10000101；0100100100054000000000000</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表示为十六进制代码为：42A48000H</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537"/>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63</a:t>
            </a:fld>
            <a:endParaRPr lang="zh-CN" altLang="en-US"/>
          </a:p>
        </p:txBody>
      </p:sp>
      <p:sp>
        <p:nvSpPr>
          <p:cNvPr id="3" name="Text Box 5"/>
          <p:cNvSpPr txBox="1"/>
          <p:nvPr/>
        </p:nvSpPr>
        <p:spPr>
          <a:xfrm>
            <a:off x="290195" y="871855"/>
            <a:ext cx="8619490" cy="461581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例：将(﹣18.125)</a:t>
            </a:r>
            <a:r>
              <a:rPr lang="en-US" altLang="zh-CN" sz="2800" b="1" baseline="-25000" dirty="0">
                <a:solidFill>
                  <a:schemeClr val="accent6">
                    <a:lumMod val="75000"/>
                  </a:schemeClr>
                </a:solidFill>
                <a:uFillTx/>
                <a:latin typeface="楷体" panose="02010609060101010101" pitchFamily="49" charset="-122"/>
                <a:ea typeface="楷体" panose="02010609060101010101" pitchFamily="49" charset="-122"/>
                <a:sym typeface="+mn-ea"/>
              </a:rPr>
              <a:t>10</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 转换成短浮点数格式。</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1）先将(﹣18.125)</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10 </a:t>
            </a:r>
            <a:r>
              <a:rPr lang="en-US" altLang="zh-CN" sz="2800" b="1" dirty="0">
                <a:latin typeface="楷体" panose="02010609060101010101" pitchFamily="49" charset="-122"/>
                <a:ea typeface="楷体" panose="02010609060101010101" pitchFamily="49" charset="-122"/>
                <a:sym typeface="+mn-ea"/>
              </a:rPr>
              <a:t>转换成二进制数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(﹣18.125)</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 =(﹣10010.001)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2</a:t>
            </a:r>
            <a:r>
              <a:rPr lang="en-US" altLang="zh-CN" sz="2800" b="1" dirty="0">
                <a:latin typeface="楷体" panose="02010609060101010101" pitchFamily="49" charset="-122"/>
                <a:ea typeface="楷体" panose="02010609060101010101" pitchFamily="49" charset="-122"/>
                <a:sym typeface="+mn-ea"/>
              </a:rPr>
              <a:t>    </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2）规格化二进制数(﹣10010.001)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2</a:t>
            </a:r>
            <a:r>
              <a:rPr lang="en-US" altLang="zh-CN" sz="2800" b="1" dirty="0">
                <a:latin typeface="楷体" panose="02010609060101010101" pitchFamily="49" charset="-122"/>
                <a:ea typeface="楷体" panose="02010609060101010101" pitchFamily="49" charset="-122"/>
                <a:sym typeface="+mn-ea"/>
              </a:rPr>
              <a:t>      </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﹣10010.001= ﹣1.0010001×2</a:t>
            </a:r>
            <a:r>
              <a:rPr lang="en-US" altLang="zh-CN" sz="2800" b="1" baseline="30000" dirty="0">
                <a:solidFill>
                  <a:schemeClr val="tx1"/>
                </a:solidFill>
                <a:uFillTx/>
                <a:latin typeface="楷体" panose="02010609060101010101" pitchFamily="49" charset="-122"/>
                <a:ea typeface="楷体" panose="02010609060101010101" pitchFamily="49" charset="-122"/>
                <a:sym typeface="+mn-ea"/>
              </a:rPr>
              <a:t>4</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3）计算移码表示的阶码=偏置值+阶码真值：</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(127+4)</a:t>
            </a:r>
            <a:r>
              <a:rPr lang="en-US" altLang="zh-CN" sz="2800" b="1" baseline="-25000" dirty="0">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=(131)</a:t>
            </a:r>
            <a:r>
              <a:rPr lang="en-US" altLang="zh-CN" sz="2800" b="1" baseline="-25000" dirty="0">
                <a:uFillTx/>
                <a:latin typeface="楷体" panose="02010609060101010101" pitchFamily="49" charset="-122"/>
                <a:ea typeface="楷体" panose="02010609060101010101" pitchFamily="49" charset="-122"/>
                <a:sym typeface="+mn-ea"/>
              </a:rPr>
              <a:t>10</a:t>
            </a:r>
            <a:r>
              <a:rPr lang="en-US" altLang="zh-CN" sz="2800" b="1" dirty="0">
                <a:latin typeface="楷体" panose="02010609060101010101" pitchFamily="49" charset="-122"/>
                <a:ea typeface="楷体" panose="02010609060101010101" pitchFamily="49" charset="-122"/>
                <a:sym typeface="+mn-ea"/>
              </a:rPr>
              <a:t> =(10000011)</a:t>
            </a:r>
            <a:r>
              <a:rPr lang="en-US" altLang="zh-CN" sz="2800" b="1" baseline="-25000" dirty="0">
                <a:uFillTx/>
                <a:latin typeface="楷体" panose="02010609060101010101" pitchFamily="49" charset="-122"/>
                <a:ea typeface="楷体" panose="02010609060101010101" pitchFamily="49" charset="-122"/>
                <a:sym typeface="+mn-ea"/>
              </a:rPr>
              <a:t>2</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64</a:t>
            </a:fld>
            <a:endParaRPr lang="zh-CN" altLang="en-US"/>
          </a:p>
        </p:txBody>
      </p:sp>
      <p:sp>
        <p:nvSpPr>
          <p:cNvPr id="3" name="Text Box 5"/>
          <p:cNvSpPr txBox="1"/>
          <p:nvPr/>
        </p:nvSpPr>
        <p:spPr>
          <a:xfrm>
            <a:off x="262255" y="859790"/>
            <a:ext cx="861949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4）以短浮点数格式存储该数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因此：符号位=1                表示该数为负数</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阶码=10000011            由3）可得         </a:t>
            </a:r>
            <a:br>
              <a:rPr lang="en-US" altLang="zh-CN" sz="2800" b="1" dirty="0">
                <a:latin typeface="楷体" panose="02010609060101010101" pitchFamily="49" charset="-122"/>
                <a:ea typeface="楷体" panose="02010609060101010101" pitchFamily="49" charset="-122"/>
                <a:sym typeface="+mn-ea"/>
              </a:rPr>
            </a:br>
            <a:r>
              <a:rPr lang="en-US" altLang="zh-CN" sz="2800" b="1" dirty="0">
                <a:latin typeface="楷体" panose="02010609060101010101" pitchFamily="49" charset="-122"/>
                <a:ea typeface="楷体" panose="02010609060101010101" pitchFamily="49" charset="-122"/>
                <a:sym typeface="+mn-ea"/>
              </a:rPr>
              <a:t>         尾数=</a:t>
            </a:r>
            <a:r>
              <a:rPr lang="en-US" altLang="zh-CN" sz="2400" b="1" dirty="0">
                <a:latin typeface="楷体" panose="02010609060101010101" pitchFamily="49" charset="-122"/>
                <a:ea typeface="楷体" panose="02010609060101010101" pitchFamily="49" charset="-122"/>
                <a:sym typeface="+mn-ea"/>
              </a:rPr>
              <a:t>00100010000000000000000</a:t>
            </a:r>
            <a:r>
              <a:rPr lang="en-US" altLang="zh-CN" sz="2800" b="1" dirty="0">
                <a:latin typeface="楷体" panose="02010609060101010101" pitchFamily="49" charset="-122"/>
                <a:ea typeface="楷体" panose="02010609060101010101" pitchFamily="49" charset="-122"/>
                <a:sym typeface="+mn-ea"/>
              </a:rPr>
              <a:t>  由2）可得</a:t>
            </a:r>
            <a:r>
              <a:rPr lang="zh-CN" altLang="en-US" sz="2800" b="1" dirty="0">
                <a:latin typeface="楷体" panose="02010609060101010101" pitchFamily="49" charset="-122"/>
                <a:ea typeface="楷体" panose="02010609060101010101" pitchFamily="49" charset="-122"/>
                <a:sym typeface="+mn-ea"/>
              </a:rPr>
              <a:t>         </a:t>
            </a:r>
            <a:br>
              <a:rPr lang="zh-CN" altLang="en-US" sz="2800" b="1" dirty="0">
                <a:latin typeface="楷体" panose="02010609060101010101" pitchFamily="49" charset="-122"/>
                <a:ea typeface="楷体" panose="02010609060101010101" pitchFamily="49" charset="-122"/>
                <a:sym typeface="+mn-ea"/>
              </a:rPr>
            </a:br>
            <a:r>
              <a:rPr lang="zh-CN" altLang="en-US" sz="2800" b="1" dirty="0">
                <a:latin typeface="楷体" panose="02010609060101010101" pitchFamily="49" charset="-122"/>
                <a:ea typeface="楷体" panose="02010609060101010101" pitchFamily="49" charset="-122"/>
                <a:sym typeface="+mn-ea"/>
              </a:rPr>
              <a:t>                     </a:t>
            </a:r>
            <a:r>
              <a:rPr lang="en-US" altLang="zh-CN" sz="2400" b="1" dirty="0">
                <a:solidFill>
                  <a:schemeClr val="accent6">
                    <a:lumMod val="75000"/>
                  </a:schemeClr>
                </a:solidFill>
                <a:latin typeface="楷体" panose="02010609060101010101" pitchFamily="49" charset="-122"/>
                <a:ea typeface="楷体" panose="02010609060101010101" pitchFamily="49" charset="-122"/>
                <a:sym typeface="+mn-ea"/>
              </a:rPr>
              <a:t>尾数为23位，不足在后面添16位0</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所以，短浮点数代码为：</a:t>
            </a:r>
          </a:p>
          <a:p>
            <a:pPr fontAlgn="auto">
              <a:lnSpc>
                <a:spcPct val="150000"/>
              </a:lnSpc>
              <a:spcBef>
                <a:spcPts val="0"/>
              </a:spcBef>
              <a:spcAft>
                <a:spcPts val="0"/>
              </a:spcAft>
            </a:pPr>
            <a:r>
              <a:rPr lang="en-US" altLang="zh-CN" sz="2800" b="1" dirty="0">
                <a:latin typeface="楷体" panose="02010609060101010101" pitchFamily="49" charset="-122"/>
                <a:ea typeface="楷体" panose="02010609060101010101" pitchFamily="49" charset="-122"/>
                <a:sym typeface="+mn-ea"/>
              </a:rPr>
              <a:t>      1；10000011；00100010000000000000000</a:t>
            </a:r>
            <a:br>
              <a:rPr lang="en-US" altLang="zh-CN" sz="2800" b="1" dirty="0">
                <a:latin typeface="楷体" panose="02010609060101010101" pitchFamily="49" charset="-122"/>
                <a:ea typeface="楷体" panose="02010609060101010101" pitchFamily="49" charset="-122"/>
                <a:sym typeface="+mn-ea"/>
              </a:rPr>
            </a:br>
            <a:r>
              <a:rPr lang="en-US" altLang="zh-CN" sz="2800" b="1" dirty="0">
                <a:latin typeface="楷体" panose="02010609060101010101" pitchFamily="49" charset="-122"/>
                <a:ea typeface="楷体" panose="02010609060101010101" pitchFamily="49" charset="-122"/>
                <a:sym typeface="+mn-ea"/>
              </a:rPr>
              <a:t>   表示为十六进制代码为：C1910000H</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65</a:t>
            </a:fld>
            <a:endParaRPr lang="zh-CN" altLang="en-US"/>
          </a:p>
        </p:txBody>
      </p:sp>
      <p:sp>
        <p:nvSpPr>
          <p:cNvPr id="3" name="Text Box 5"/>
          <p:cNvSpPr txBox="1"/>
          <p:nvPr/>
        </p:nvSpPr>
        <p:spPr>
          <a:xfrm>
            <a:off x="262255" y="859790"/>
            <a:ext cx="8619490" cy="1284006"/>
          </a:xfrm>
          <a:prstGeom prst="rect">
            <a:avLst/>
          </a:prstGeom>
          <a:noFill/>
          <a:ln w="9525">
            <a:noFill/>
          </a:ln>
        </p:spPr>
        <p:txBody>
          <a:bodyPr wrap="square" anchor="t">
            <a:spAutoFit/>
          </a:bodyPr>
          <a:lstStyle/>
          <a:p>
            <a:pPr>
              <a:lnSpc>
                <a:spcPct val="150000"/>
              </a:lnSpc>
            </a:pPr>
            <a:r>
              <a:rPr lang="zh-CN" altLang="en-US" sz="2800" b="1" dirty="0">
                <a:solidFill>
                  <a:schemeClr val="accent2"/>
                </a:solidFill>
                <a:latin typeface="楷体" panose="02010609060101010101" pitchFamily="49" charset="-122"/>
                <a:ea typeface="楷体" panose="02010609060101010101" pitchFamily="49" charset="-122"/>
                <a:sym typeface="+mn-ea"/>
              </a:rPr>
              <a:t>第二类应用：将短浮点数转换为二进制数</a:t>
            </a:r>
            <a:endParaRPr lang="en-US" altLang="zh-CN" sz="2800" b="1" dirty="0">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单精度浮点计算公式</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a:t>
            </a:r>
          </a:p>
        </p:txBody>
      </p:sp>
      <p:sp>
        <p:nvSpPr>
          <p:cNvPr id="100" name="文本框 99"/>
          <p:cNvSpPr txBox="1"/>
          <p:nvPr/>
        </p:nvSpPr>
        <p:spPr>
          <a:xfrm>
            <a:off x="386080" y="2788285"/>
            <a:ext cx="3632835" cy="737235"/>
          </a:xfrm>
          <a:prstGeom prst="rect">
            <a:avLst/>
          </a:prstGeom>
          <a:noFill/>
          <a:ln w="9525">
            <a:noFill/>
          </a:ln>
        </p:spPr>
        <p:txBody>
          <a:bodyPr wrap="square" anchor="t">
            <a:spAutoFit/>
          </a:bodyPr>
          <a:lstStyle/>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（-1）</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S</a:t>
            </a:r>
            <a:r>
              <a:rPr lang="zh-CN" altLang="en-US" sz="2800" b="1" dirty="0">
                <a:solidFill>
                  <a:schemeClr val="tx1"/>
                </a:solidFill>
                <a:latin typeface="楷体" panose="02010609060101010101" pitchFamily="49" charset="-122"/>
                <a:ea typeface="楷体" panose="02010609060101010101" pitchFamily="49" charset="-122"/>
                <a:sym typeface="+mn-ea"/>
              </a:rPr>
              <a:t>×1.M×2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E-127</a:t>
            </a:r>
            <a:r>
              <a:rPr lang="zh-CN" altLang="en-US" sz="2800" b="1" dirty="0">
                <a:solidFill>
                  <a:schemeClr val="tx1"/>
                </a:solidFill>
                <a:latin typeface="楷体" panose="02010609060101010101" pitchFamily="49" charset="-122"/>
                <a:ea typeface="楷体" panose="02010609060101010101" pitchFamily="49" charset="-122"/>
                <a:sym typeface="+mn-ea"/>
              </a:rPr>
              <a:t> </a:t>
            </a:r>
          </a:p>
        </p:txBody>
      </p:sp>
      <p:sp>
        <p:nvSpPr>
          <p:cNvPr id="13" name="AutoShape 5"/>
          <p:cNvSpPr/>
          <p:nvPr/>
        </p:nvSpPr>
        <p:spPr bwMode="auto">
          <a:xfrm>
            <a:off x="3867785" y="2529205"/>
            <a:ext cx="196850" cy="150114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 name="文本框 1"/>
          <p:cNvSpPr txBox="1"/>
          <p:nvPr/>
        </p:nvSpPr>
        <p:spPr>
          <a:xfrm>
            <a:off x="4147820" y="2189480"/>
            <a:ext cx="4169410" cy="2030095"/>
          </a:xfrm>
          <a:prstGeom prst="rect">
            <a:avLst/>
          </a:prstGeom>
          <a:noFill/>
          <a:ln w="9525">
            <a:noFill/>
          </a:ln>
        </p:spPr>
        <p:txBody>
          <a:bodyPr wrap="square" anchor="t">
            <a:spAutoFit/>
          </a:bodyPr>
          <a:lstStyle/>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S:符号位(1为负,0为正)</a:t>
            </a:r>
          </a:p>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M:尾数,表示小数</a:t>
            </a:r>
          </a:p>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E:阶码</a:t>
            </a:r>
          </a:p>
        </p:txBody>
      </p:sp>
      <p:sp>
        <p:nvSpPr>
          <p:cNvPr id="7" name="Text Box 5"/>
          <p:cNvSpPr txBox="1"/>
          <p:nvPr/>
        </p:nvSpPr>
        <p:spPr>
          <a:xfrm>
            <a:off x="262255" y="4082415"/>
            <a:ext cx="5241290" cy="1814830"/>
          </a:xfrm>
          <a:prstGeom prst="rect">
            <a:avLst/>
          </a:prstGeom>
          <a:noFill/>
          <a:ln w="9525">
            <a:noFill/>
          </a:ln>
        </p:spPr>
        <p:txBody>
          <a:bodyPr wrap="square" anchor="t">
            <a:spAutoFit/>
          </a:bodyPr>
          <a:lstStyle/>
          <a:p>
            <a:pPr fontAlgn="auto">
              <a:lnSpc>
                <a:spcPct val="20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双</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精度浮点计算公式</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a:t>
            </a:r>
          </a:p>
          <a:p>
            <a:pPr fontAlgn="auto">
              <a:lnSpc>
                <a:spcPct val="20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（-1）</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S </a:t>
            </a:r>
            <a:r>
              <a:rPr lang="zh-CN" altLang="en-US" sz="2800" b="1" dirty="0">
                <a:solidFill>
                  <a:schemeClr val="tx1"/>
                </a:solidFill>
                <a:latin typeface="楷体" panose="02010609060101010101" pitchFamily="49" charset="-122"/>
                <a:ea typeface="楷体" panose="02010609060101010101" pitchFamily="49" charset="-122"/>
                <a:sym typeface="+mn-ea"/>
              </a:rPr>
              <a:t>×1.M×2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E-1023</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left)">
                                      <p:cBhvr>
                                        <p:cTn id="17" dur="500"/>
                                        <p:tgtEl>
                                          <p:spTgt spid="10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Effect transition="in" filter="wipe(left)">
                                      <p:cBhvr>
                                        <p:cTn id="26" dur="500"/>
                                        <p:tgtEl>
                                          <p:spTgt spid="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wipe(left)">
                                      <p:cBhvr>
                                        <p:cTn id="31" dur="500"/>
                                        <p:tgtEl>
                                          <p:spTgt spid="2">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wipe(left)">
                                      <p:cBhvr>
                                        <p:cTn id="36" dur="500"/>
                                        <p:tgtEl>
                                          <p:spTgt spid="2">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wipe(left)">
                                      <p:cBhvr>
                                        <p:cTn id="41" dur="500"/>
                                        <p:tgtEl>
                                          <p:spTgt spid="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1" end="1"/>
                                            </p:txEl>
                                          </p:spTgt>
                                        </p:tgtEl>
                                        <p:attrNameLst>
                                          <p:attrName>style.visibility</p:attrName>
                                        </p:attrNameLst>
                                      </p:cBhvr>
                                      <p:to>
                                        <p:strVal val="visible"/>
                                      </p:to>
                                    </p:set>
                                    <p:animEffect transition="in" filter="wipe(left)">
                                      <p:cBhvr>
                                        <p:cTn id="4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0" grpId="0"/>
      <p:bldP spid="13" grpId="0" bldLvl="0" animBg="1"/>
      <p:bldP spid="2" grpId="0" build="p"/>
      <p:bldP spid="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66</a:t>
            </a:fld>
            <a:endParaRPr lang="zh-CN" altLang="en-US"/>
          </a:p>
        </p:txBody>
      </p:sp>
      <p:sp>
        <p:nvSpPr>
          <p:cNvPr id="3" name="Text Box 5"/>
          <p:cNvSpPr txBox="1"/>
          <p:nvPr/>
        </p:nvSpPr>
        <p:spPr>
          <a:xfrm>
            <a:off x="43180" y="697865"/>
            <a:ext cx="9013825" cy="5908040"/>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例1:</a:t>
            </a:r>
            <a:r>
              <a:rPr lang="zh-CN" altLang="en-US" sz="2800" b="1" dirty="0">
                <a:solidFill>
                  <a:schemeClr val="tx1"/>
                </a:solidFill>
                <a:latin typeface="楷体" panose="02010609060101010101" pitchFamily="49" charset="-122"/>
                <a:ea typeface="楷体" panose="02010609060101010101" pitchFamily="49" charset="-122"/>
                <a:sym typeface="+mn-ea"/>
              </a:rPr>
              <a:t>IEEE754单精度浮点数:C0A00000H的十进制值是多少</a:t>
            </a: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(C0A00000)</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16 </a:t>
            </a:r>
            <a:r>
              <a:rPr lang="zh-CN" altLang="en-US" sz="2800" b="1" dirty="0">
                <a:solidFill>
                  <a:schemeClr val="tx1"/>
                </a:solidFill>
                <a:latin typeface="楷体" panose="02010609060101010101" pitchFamily="49" charset="-122"/>
                <a:ea typeface="楷体" panose="02010609060101010101" pitchFamily="49" charset="-122"/>
                <a:sym typeface="+mn-ea"/>
              </a:rPr>
              <a:t>=(1100,0000,1010,0000, 0000, 0000, </a:t>
            </a:r>
            <a:br>
              <a:rPr lang="zh-CN" altLang="en-US" sz="2800" b="1" dirty="0">
                <a:solidFill>
                  <a:schemeClr val="tx1"/>
                </a:solidFill>
                <a:latin typeface="楷体" panose="02010609060101010101" pitchFamily="49" charset="-122"/>
                <a:ea typeface="楷体" panose="02010609060101010101" pitchFamily="49" charset="-122"/>
                <a:sym typeface="+mn-ea"/>
              </a:rPr>
            </a:br>
            <a:r>
              <a:rPr lang="zh-CN" altLang="en-US" sz="2800" b="1" dirty="0">
                <a:solidFill>
                  <a:schemeClr val="tx1"/>
                </a:solidFill>
                <a:latin typeface="楷体" panose="02010609060101010101" pitchFamily="49" charset="-122"/>
                <a:ea typeface="楷体" panose="02010609060101010101" pitchFamily="49" charset="-122"/>
                <a:sym typeface="+mn-ea"/>
              </a:rPr>
              <a:t>              0000,0000)</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可得, 符号位S是1 </a:t>
            </a: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阶码位E是10000001</a:t>
            </a:r>
            <a:r>
              <a:rPr lang="zh-CN" altLang="en-US" sz="2800" b="1" dirty="0">
                <a:solidFill>
                  <a:schemeClr val="tx1"/>
                </a:solidFill>
                <a:latin typeface="Arial" panose="020B0604020202020204" pitchFamily="34" charset="0"/>
                <a:ea typeface="楷体" panose="02010609060101010101" pitchFamily="49" charset="-122"/>
                <a:cs typeface="Arial" panose="020B0604020202020204" pitchFamily="34" charset="0"/>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(10000001)</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a:t>
            </a:r>
            <a:r>
              <a:rPr lang="zh-CN" altLang="en-US" sz="2800" b="1" dirty="0">
                <a:solidFill>
                  <a:schemeClr val="tx1"/>
                </a:solidFill>
                <a:latin typeface="楷体" panose="02010609060101010101" pitchFamily="49" charset="-122"/>
                <a:ea typeface="楷体" panose="02010609060101010101" pitchFamily="49" charset="-122"/>
                <a:sym typeface="+mn-ea"/>
              </a:rPr>
              <a:t>=(129)</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尾数M是: 010,0000, 0000,0000,0000,0000</a:t>
            </a: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a:t>
            </a:r>
            <a:r>
              <a:rPr lang="zh-CN" altLang="en-US" sz="2800" b="1" dirty="0">
                <a:latin typeface="Arial" panose="020B0604020202020204" pitchFamily="34" charset="0"/>
                <a:ea typeface="楷体" panose="02010609060101010101" pitchFamily="49" charset="-122"/>
                <a:cs typeface="Arial" panose="020B0604020202020204" pitchFamily="34" charset="0"/>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(0. 01000000000000000000000)</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a:t>
            </a:r>
            <a:r>
              <a:rPr lang="zh-CN" altLang="en-US" sz="2800" b="1" dirty="0">
                <a:solidFill>
                  <a:schemeClr val="tx1"/>
                </a:solidFill>
                <a:latin typeface="楷体" panose="02010609060101010101" pitchFamily="49" charset="-122"/>
                <a:ea typeface="楷体" panose="02010609060101010101" pitchFamily="49" charset="-122"/>
                <a:sym typeface="+mn-ea"/>
              </a:rPr>
              <a:t>=(0.25)</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a:t>
            </a:r>
            <a:endParaRPr lang="zh-CN" altLang="en-US" sz="2800" b="1" dirty="0">
              <a:solidFill>
                <a:schemeClr val="tx1"/>
              </a:solidFill>
              <a:latin typeface="楷体" panose="02010609060101010101" pitchFamily="49" charset="-122"/>
              <a:ea typeface="楷体" panose="02010609060101010101" pitchFamily="49" charset="-122"/>
              <a:sym typeface="+mn-ea"/>
            </a:endParaRP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因此,由公式（-1）</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S</a:t>
            </a:r>
            <a:r>
              <a:rPr lang="zh-CN" altLang="en-US" sz="2800" b="1" dirty="0">
                <a:solidFill>
                  <a:schemeClr val="tx1"/>
                </a:solidFill>
                <a:latin typeface="楷体" panose="02010609060101010101" pitchFamily="49" charset="-122"/>
                <a:ea typeface="楷体" panose="02010609060101010101" pitchFamily="49" charset="-122"/>
                <a:sym typeface="+mn-ea"/>
              </a:rPr>
              <a:t> ×1.M×2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E-127</a:t>
            </a:r>
            <a:r>
              <a:rPr lang="zh-CN" altLang="en-US" sz="2800" b="1" dirty="0">
                <a:solidFill>
                  <a:schemeClr val="tx1"/>
                </a:solidFill>
                <a:latin typeface="楷体" panose="02010609060101010101" pitchFamily="49" charset="-122"/>
                <a:ea typeface="楷体" panose="02010609060101010101" pitchFamily="49" charset="-122"/>
                <a:sym typeface="+mn-ea"/>
              </a:rPr>
              <a:t>得</a:t>
            </a: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      （-1）</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1</a:t>
            </a:r>
            <a:r>
              <a:rPr lang="zh-CN" altLang="en-US" sz="2800" b="1" dirty="0">
                <a:solidFill>
                  <a:schemeClr val="tx1"/>
                </a:solidFill>
                <a:latin typeface="楷体" panose="02010609060101010101" pitchFamily="49" charset="-122"/>
                <a:ea typeface="楷体" panose="02010609060101010101" pitchFamily="49" charset="-122"/>
                <a:sym typeface="+mn-ea"/>
              </a:rPr>
              <a:t> ×1.25×2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129-127</a:t>
            </a:r>
            <a:r>
              <a:rPr lang="zh-CN" altLang="en-US" sz="2800" b="1" dirty="0">
                <a:solidFill>
                  <a:schemeClr val="tx1"/>
                </a:solidFill>
                <a:latin typeface="楷体" panose="02010609060101010101" pitchFamily="49" charset="-122"/>
                <a:ea typeface="楷体" panose="02010609060101010101" pitchFamily="49" charset="-122"/>
                <a:sym typeface="+mn-ea"/>
              </a:rPr>
              <a:t>=-1.25×4=-5</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一、数值型数据的表示方法</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67</a:t>
            </a:fld>
            <a:endParaRPr lang="zh-CN" altLang="en-US"/>
          </a:p>
        </p:txBody>
      </p:sp>
      <p:sp>
        <p:nvSpPr>
          <p:cNvPr id="3" name="Text Box 5"/>
          <p:cNvSpPr txBox="1"/>
          <p:nvPr/>
        </p:nvSpPr>
        <p:spPr>
          <a:xfrm>
            <a:off x="43180" y="697865"/>
            <a:ext cx="9013825" cy="1383665"/>
          </a:xfrm>
          <a:prstGeom prst="rect">
            <a:avLst/>
          </a:prstGeom>
          <a:noFill/>
          <a:ln w="9525">
            <a:noFill/>
          </a:ln>
        </p:spPr>
        <p:txBody>
          <a:bodyPr wrap="square" anchor="t">
            <a:spAutoFit/>
          </a:bodyPr>
          <a:lstStyle/>
          <a:p>
            <a:pPr fontAlgn="auto">
              <a:lnSpc>
                <a:spcPct val="150000"/>
              </a:lnSpc>
              <a:spcBef>
                <a:spcPts val="0"/>
              </a:spcBef>
              <a:spcAft>
                <a:spcPts val="0"/>
              </a:spcAft>
            </a:pP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例</a:t>
            </a:r>
            <a:r>
              <a:rPr lang="en-US" altLang="zh-CN" sz="2800" b="1" dirty="0">
                <a:solidFill>
                  <a:schemeClr val="accent6">
                    <a:lumMod val="75000"/>
                  </a:schemeClr>
                </a:solidFill>
                <a:latin typeface="楷体" panose="02010609060101010101" pitchFamily="49" charset="-122"/>
                <a:ea typeface="楷体" panose="02010609060101010101" pitchFamily="49" charset="-122"/>
                <a:sym typeface="+mn-ea"/>
              </a:rPr>
              <a:t>2</a:t>
            </a:r>
            <a:r>
              <a:rPr lang="zh-CN" altLang="en-US" sz="2800" b="1" dirty="0">
                <a:solidFill>
                  <a:schemeClr val="accent6">
                    <a:lumMod val="75000"/>
                  </a:schemeClr>
                </a:solidFill>
                <a:latin typeface="楷体" panose="02010609060101010101" pitchFamily="49" charset="-122"/>
                <a:ea typeface="楷体" panose="02010609060101010101" pitchFamily="49" charset="-122"/>
                <a:sym typeface="+mn-ea"/>
              </a:rPr>
              <a:t>:</a:t>
            </a:r>
            <a:r>
              <a:rPr lang="zh-CN" altLang="en-US" sz="2800" b="1" dirty="0">
                <a:solidFill>
                  <a:schemeClr val="tx1"/>
                </a:solidFill>
                <a:latin typeface="楷体" panose="02010609060101010101" pitchFamily="49" charset="-122"/>
                <a:ea typeface="楷体" panose="02010609060101010101" pitchFamily="49" charset="-122"/>
                <a:sym typeface="+mn-ea"/>
              </a:rPr>
              <a:t>将(﹣18.125)</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 </a:t>
            </a:r>
            <a:r>
              <a:rPr lang="zh-CN" altLang="en-US" sz="2800" b="1" dirty="0">
                <a:solidFill>
                  <a:schemeClr val="tx1"/>
                </a:solidFill>
                <a:latin typeface="楷体" panose="02010609060101010101" pitchFamily="49" charset="-122"/>
                <a:ea typeface="楷体" panose="02010609060101010101" pitchFamily="49" charset="-122"/>
                <a:sym typeface="+mn-ea"/>
              </a:rPr>
              <a:t>转换成短浮点数格式</a:t>
            </a:r>
          </a:p>
          <a:p>
            <a:pPr fontAlgn="auto">
              <a:lnSpc>
                <a:spcPct val="150000"/>
              </a:lnSpc>
              <a:spcBef>
                <a:spcPts val="0"/>
              </a:spcBef>
              <a:spcAft>
                <a:spcPts val="0"/>
              </a:spcAft>
            </a:pPr>
            <a:r>
              <a:rPr lang="zh-CN" altLang="en-US" sz="2800" b="1" dirty="0">
                <a:solidFill>
                  <a:schemeClr val="tx1"/>
                </a:solidFill>
                <a:latin typeface="楷体" panose="02010609060101010101" pitchFamily="49" charset="-122"/>
                <a:ea typeface="楷体" panose="02010609060101010101" pitchFamily="49" charset="-122"/>
                <a:sym typeface="+mn-ea"/>
              </a:rPr>
              <a:t>(</a:t>
            </a:r>
            <a:r>
              <a:rPr lang="zh-CN" altLang="en-US" sz="2800" b="1" dirty="0">
                <a:latin typeface="楷体" panose="02010609060101010101" pitchFamily="49" charset="-122"/>
                <a:ea typeface="楷体" panose="02010609060101010101" pitchFamily="49" charset="-122"/>
                <a:sym typeface="+mn-ea"/>
              </a:rPr>
              <a:t>﹣18.125</a:t>
            </a:r>
            <a:r>
              <a:rPr lang="zh-CN" altLang="en-US" sz="2800" b="1" dirty="0">
                <a:solidFill>
                  <a:schemeClr val="tx1"/>
                </a:solidFill>
                <a:latin typeface="楷体" panose="02010609060101010101" pitchFamily="49" charset="-122"/>
                <a:ea typeface="楷体" panose="02010609060101010101" pitchFamily="49" charset="-122"/>
                <a:sym typeface="+mn-ea"/>
              </a:rPr>
              <a:t>)</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a:t>
            </a:r>
            <a:r>
              <a:rPr lang="en-US" altLang="zh-CN" sz="2800" b="1" baseline="-25000" dirty="0">
                <a:solidFill>
                  <a:schemeClr val="tx1"/>
                </a:solidFill>
                <a:uFillTx/>
                <a:latin typeface="楷体" panose="02010609060101010101" pitchFamily="49" charset="-122"/>
                <a:ea typeface="楷体" panose="02010609060101010101" pitchFamily="49" charset="-122"/>
                <a:sym typeface="+mn-ea"/>
              </a:rPr>
              <a:t>0</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=(﹣10010.001)</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 </a:t>
            </a:r>
            <a:r>
              <a:rPr lang="zh-CN" altLang="en-US" sz="2800" b="1" dirty="0">
                <a:latin typeface="楷体" panose="02010609060101010101" pitchFamily="49" charset="-122"/>
                <a:ea typeface="楷体" panose="02010609060101010101" pitchFamily="49" charset="-122"/>
                <a:sym typeface="+mn-ea"/>
              </a:rPr>
              <a:t>=﹣1.0010001×2</a:t>
            </a:r>
            <a:r>
              <a:rPr lang="zh-CN" altLang="en-US" sz="2800" b="1" baseline="30000" dirty="0">
                <a:solidFill>
                  <a:schemeClr val="tx1"/>
                </a:solidFill>
                <a:uFillTx/>
                <a:latin typeface="楷体" panose="02010609060101010101" pitchFamily="49" charset="-122"/>
                <a:ea typeface="楷体" panose="02010609060101010101" pitchFamily="49" charset="-122"/>
                <a:sym typeface="+mn-ea"/>
              </a:rPr>
              <a:t>4</a:t>
            </a:r>
            <a:endParaRPr lang="zh-CN" altLang="en-US" sz="2800" b="1" dirty="0">
              <a:solidFill>
                <a:schemeClr val="tx1"/>
              </a:solidFill>
              <a:latin typeface="楷体" panose="02010609060101010101" pitchFamily="49" charset="-122"/>
              <a:ea typeface="楷体" panose="02010609060101010101" pitchFamily="49" charset="-122"/>
              <a:sym typeface="+mn-ea"/>
            </a:endParaRPr>
          </a:p>
        </p:txBody>
      </p:sp>
      <p:sp>
        <p:nvSpPr>
          <p:cNvPr id="100" name="文本框 99"/>
          <p:cNvSpPr txBox="1"/>
          <p:nvPr/>
        </p:nvSpPr>
        <p:spPr>
          <a:xfrm>
            <a:off x="208280" y="2478405"/>
            <a:ext cx="648970" cy="737235"/>
          </a:xfrm>
          <a:prstGeom prst="rect">
            <a:avLst/>
          </a:prstGeom>
          <a:noFill/>
          <a:ln w="9525">
            <a:noFill/>
          </a:ln>
        </p:spPr>
        <p:txBody>
          <a:bodyPr wrap="square" anchor="t">
            <a:spAutoFit/>
          </a:bodyPr>
          <a:lstStyle/>
          <a:p>
            <a:pPr lvl="0" algn="l">
              <a:lnSpc>
                <a:spcPct val="150000"/>
              </a:lnSpc>
              <a:spcBef>
                <a:spcPts val="0"/>
              </a:spcBef>
              <a:spcAft>
                <a:spcPts val="0"/>
              </a:spcAft>
              <a:buClrTx/>
              <a:buSzTx/>
              <a:buFontTx/>
            </a:pPr>
            <a:r>
              <a:rPr lang="zh-CN" altLang="en-US" sz="2800" b="1" dirty="0">
                <a:solidFill>
                  <a:schemeClr val="tx1"/>
                </a:solidFill>
                <a:latin typeface="Arial" panose="020B0604020202020204" pitchFamily="34" charset="0"/>
                <a:ea typeface="楷体" panose="02010609060101010101" pitchFamily="49" charset="-122"/>
                <a:cs typeface="Arial" panose="020B0604020202020204" pitchFamily="34" charset="0"/>
                <a:sym typeface="+mn-ea"/>
              </a:rPr>
              <a:t>→</a:t>
            </a:r>
          </a:p>
        </p:txBody>
      </p:sp>
      <p:sp>
        <p:nvSpPr>
          <p:cNvPr id="13" name="AutoShape 5"/>
          <p:cNvSpPr/>
          <p:nvPr/>
        </p:nvSpPr>
        <p:spPr bwMode="auto">
          <a:xfrm>
            <a:off x="819785" y="2224405"/>
            <a:ext cx="196850" cy="150114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 name="文本框 1"/>
          <p:cNvSpPr txBox="1"/>
          <p:nvPr/>
        </p:nvSpPr>
        <p:spPr>
          <a:xfrm>
            <a:off x="1099820" y="1846580"/>
            <a:ext cx="7804150" cy="2030095"/>
          </a:xfrm>
          <a:prstGeom prst="rect">
            <a:avLst/>
          </a:prstGeom>
          <a:noFill/>
          <a:ln w="9525">
            <a:noFill/>
          </a:ln>
        </p:spPr>
        <p:txBody>
          <a:bodyPr wrap="square" anchor="t">
            <a:spAutoFit/>
          </a:bodyPr>
          <a:lstStyle/>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S</a:t>
            </a:r>
            <a:r>
              <a:rPr lang="en-US" altLang="zh-CN" sz="2800" b="1" dirty="0">
                <a:solidFill>
                  <a:schemeClr val="tx1"/>
                </a:solidFill>
                <a:latin typeface="楷体" panose="02010609060101010101" pitchFamily="49" charset="-122"/>
                <a:ea typeface="楷体" panose="02010609060101010101" pitchFamily="49" charset="-122"/>
                <a:sym typeface="+mn-ea"/>
              </a:rPr>
              <a:t>=1</a:t>
            </a:r>
          </a:p>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M</a:t>
            </a:r>
            <a:r>
              <a:rPr lang="en-US" altLang="zh-CN" sz="2800" b="1" dirty="0">
                <a:solidFill>
                  <a:schemeClr val="tx1"/>
                </a:solidFill>
                <a:latin typeface="楷体" panose="02010609060101010101" pitchFamily="49" charset="-122"/>
                <a:ea typeface="楷体" panose="02010609060101010101" pitchFamily="49" charset="-122"/>
                <a:sym typeface="+mn-ea"/>
              </a:rPr>
              <a:t>=0.0010001,即0010001 </a:t>
            </a:r>
            <a:r>
              <a:rPr lang="en-US" altLang="zh-CN" sz="2800" b="1" u="sng" dirty="0">
                <a:solidFill>
                  <a:schemeClr val="tx1"/>
                </a:solidFill>
                <a:latin typeface="楷体" panose="02010609060101010101" pitchFamily="49" charset="-122"/>
                <a:ea typeface="楷体" panose="02010609060101010101" pitchFamily="49" charset="-122"/>
                <a:sym typeface="+mn-ea"/>
              </a:rPr>
              <a:t>0………0</a:t>
            </a:r>
            <a:r>
              <a:rPr lang="en-US" altLang="zh-CN" sz="2800" b="1" dirty="0">
                <a:solidFill>
                  <a:schemeClr val="tx1"/>
                </a:solidFill>
                <a:latin typeface="楷体" panose="02010609060101010101" pitchFamily="49" charset="-122"/>
                <a:ea typeface="楷体" panose="02010609060101010101" pitchFamily="49" charset="-122"/>
                <a:sym typeface="+mn-ea"/>
              </a:rPr>
              <a:t>(连续16个0)</a:t>
            </a:r>
          </a:p>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E=127+4=131,即(131)</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10</a:t>
            </a:r>
            <a:r>
              <a:rPr lang="zh-CN" altLang="en-US" sz="2800" b="1" dirty="0">
                <a:solidFill>
                  <a:schemeClr val="tx1"/>
                </a:solidFill>
                <a:latin typeface="楷体" panose="02010609060101010101" pitchFamily="49" charset="-122"/>
                <a:ea typeface="楷体" panose="02010609060101010101" pitchFamily="49" charset="-122"/>
                <a:sym typeface="+mn-ea"/>
              </a:rPr>
              <a:t> =(10000011)</a:t>
            </a:r>
            <a:r>
              <a:rPr lang="zh-CN" altLang="en-US" sz="2800" b="1" baseline="-25000" dirty="0">
                <a:solidFill>
                  <a:schemeClr val="tx1"/>
                </a:solidFill>
                <a:uFillTx/>
                <a:latin typeface="楷体" panose="02010609060101010101" pitchFamily="49" charset="-122"/>
                <a:ea typeface="楷体" panose="02010609060101010101" pitchFamily="49" charset="-122"/>
                <a:sym typeface="+mn-ea"/>
              </a:rPr>
              <a:t>2</a:t>
            </a:r>
          </a:p>
        </p:txBody>
      </p:sp>
      <p:sp>
        <p:nvSpPr>
          <p:cNvPr id="7" name="文本框 6"/>
          <p:cNvSpPr txBox="1"/>
          <p:nvPr/>
        </p:nvSpPr>
        <p:spPr>
          <a:xfrm>
            <a:off x="208280" y="3876675"/>
            <a:ext cx="8484235" cy="2676525"/>
          </a:xfrm>
          <a:prstGeom prst="rect">
            <a:avLst/>
          </a:prstGeom>
          <a:noFill/>
          <a:ln w="9525">
            <a:noFill/>
          </a:ln>
        </p:spPr>
        <p:txBody>
          <a:bodyPr wrap="square" anchor="t">
            <a:spAutoFit/>
          </a:bodyPr>
          <a:lstStyle/>
          <a:p>
            <a:pPr lvl="0" algn="l">
              <a:lnSpc>
                <a:spcPct val="150000"/>
              </a:lnSpc>
              <a:spcBef>
                <a:spcPts val="0"/>
              </a:spcBef>
              <a:spcAft>
                <a:spcPts val="0"/>
              </a:spcAft>
              <a:buClrTx/>
              <a:buSzTx/>
              <a:buFontTx/>
            </a:pPr>
            <a:r>
              <a:rPr lang="zh-CN" altLang="en-US" sz="2800" b="1" dirty="0">
                <a:latin typeface="Arial" panose="020B0604020202020204" pitchFamily="34" charset="0"/>
                <a:ea typeface="楷体" panose="02010609060101010101" pitchFamily="49" charset="-122"/>
                <a:cs typeface="Arial" panose="020B0604020202020204" pitchFamily="34" charset="0"/>
                <a:sym typeface="+mn-ea"/>
              </a:rPr>
              <a:t>→ </a:t>
            </a:r>
            <a:r>
              <a:rPr lang="zh-CN" altLang="en-US" sz="2800" b="1" dirty="0">
                <a:solidFill>
                  <a:schemeClr val="tx1"/>
                </a:solidFill>
                <a:latin typeface="楷体" panose="02010609060101010101" pitchFamily="49" charset="-122"/>
                <a:ea typeface="楷体" panose="02010609060101010101" pitchFamily="49" charset="-122"/>
                <a:sym typeface="+mn-ea"/>
              </a:rPr>
              <a:t>1；10000011；00100010000000000000000</a:t>
            </a:r>
          </a:p>
          <a:p>
            <a:pPr lvl="0" algn="l">
              <a:lnSpc>
                <a:spcPct val="150000"/>
              </a:lnSpc>
              <a:spcBef>
                <a:spcPts val="0"/>
              </a:spcBef>
              <a:spcAft>
                <a:spcPts val="0"/>
              </a:spcAft>
              <a:buClrTx/>
              <a:buSzTx/>
              <a:buFontTx/>
            </a:pPr>
            <a:r>
              <a:rPr lang="zh-CN" altLang="en-US" sz="2800" b="1" dirty="0">
                <a:solidFill>
                  <a:schemeClr val="tx1"/>
                </a:solidFill>
                <a:latin typeface="楷体" panose="02010609060101010101" pitchFamily="49" charset="-122"/>
                <a:ea typeface="楷体" panose="02010609060101010101" pitchFamily="49" charset="-122"/>
                <a:sym typeface="+mn-ea"/>
              </a:rPr>
              <a:t>如何由十进制数转换成长浮点数格式、临时浮点数格式；以及又如何由短浮点数格式、长浮点数格式、临时浮点数格式转换成十进制数请读者自己思考</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left)">
                                      <p:cBhvr>
                                        <p:cTn id="17" dur="500"/>
                                        <p:tgtEl>
                                          <p:spTgt spid="10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Effect transition="in" filter="wipe(left)">
                                      <p:cBhvr>
                                        <p:cTn id="26" dur="500"/>
                                        <p:tgtEl>
                                          <p:spTgt spid="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wipe(left)">
                                      <p:cBhvr>
                                        <p:cTn id="31" dur="500"/>
                                        <p:tgtEl>
                                          <p:spTgt spid="2">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wipe(left)">
                                      <p:cBhvr>
                                        <p:cTn id="36" dur="500"/>
                                        <p:tgtEl>
                                          <p:spTgt spid="2">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wipe(left)">
                                      <p:cBhvr>
                                        <p:cTn id="41" dur="500"/>
                                        <p:tgtEl>
                                          <p:spTgt spid="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1" end="1"/>
                                            </p:txEl>
                                          </p:spTgt>
                                        </p:tgtEl>
                                        <p:attrNameLst>
                                          <p:attrName>style.visibility</p:attrName>
                                        </p:attrNameLst>
                                      </p:cBhvr>
                                      <p:to>
                                        <p:strVal val="visible"/>
                                      </p:to>
                                    </p:set>
                                    <p:animEffect transition="in" filter="wipe(left)">
                                      <p:cBhvr>
                                        <p:cTn id="4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0" grpId="0"/>
      <p:bldP spid="13" grpId="0" bldLvl="0" animBg="1"/>
      <p:bldP spid="2" grpId="0" build="p"/>
      <p:bldP spid="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D3A0782-5711-44C8-A5A6-8E0CD5B16373}"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2026/8/12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计算机组成原理--第二章 计算机中的信息表示</a:t>
            </a: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68</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字符的表示方法</a:t>
              </a: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4062733"/>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02.</a:t>
            </a:r>
          </a:p>
        </p:txBody>
      </p:sp>
      <p:sp>
        <p:nvSpPr>
          <p:cNvPr id="15" name="ísḻiḑe"/>
          <p:cNvSpPr/>
          <p:nvPr/>
        </p:nvSpPr>
        <p:spPr>
          <a:xfrm>
            <a:off x="2526228" y="4074275"/>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汉字编码简介</a:t>
            </a:r>
          </a:p>
        </p:txBody>
      </p:sp>
      <p:sp>
        <p:nvSpPr>
          <p:cNvPr id="22" name="îṩļíḑé"/>
          <p:cNvSpPr/>
          <p:nvPr/>
        </p:nvSpPr>
        <p:spPr>
          <a:xfrm>
            <a:off x="1524070" y="409128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5" name="îsḻíḋé"/>
          <p:cNvSpPr txBox="1"/>
          <p:nvPr/>
        </p:nvSpPr>
        <p:spPr>
          <a:xfrm>
            <a:off x="1865444" y="332976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p>
        </p:txBody>
      </p:sp>
      <p:sp>
        <p:nvSpPr>
          <p:cNvPr id="28" name="ísḻiḑe"/>
          <p:cNvSpPr/>
          <p:nvPr/>
        </p:nvSpPr>
        <p:spPr>
          <a:xfrm>
            <a:off x="2518974" y="3341310"/>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ASCII码</a:t>
            </a:r>
          </a:p>
        </p:txBody>
      </p:sp>
      <p:sp>
        <p:nvSpPr>
          <p:cNvPr id="31" name="îṩļíḑé"/>
          <p:cNvSpPr/>
          <p:nvPr/>
        </p:nvSpPr>
        <p:spPr>
          <a:xfrm>
            <a:off x="1516816" y="3358323"/>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32" name="直接连接符 31"/>
          <p:cNvCxnSpPr/>
          <p:nvPr/>
        </p:nvCxnSpPr>
        <p:spPr>
          <a:xfrm>
            <a:off x="1952174" y="383597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69</a:t>
            </a:fld>
            <a:endParaRPr lang="zh-CN" altLang="en-US"/>
          </a:p>
        </p:txBody>
      </p:sp>
      <p:sp>
        <p:nvSpPr>
          <p:cNvPr id="3" name="Text Box 5"/>
          <p:cNvSpPr txBox="1"/>
          <p:nvPr/>
        </p:nvSpPr>
        <p:spPr>
          <a:xfrm>
            <a:off x="462280" y="1193165"/>
            <a:ext cx="8150225" cy="4615815"/>
          </a:xfrm>
          <a:prstGeom prst="rect">
            <a:avLst/>
          </a:prstGeom>
          <a:noFill/>
          <a:ln w="9525">
            <a:noFill/>
          </a:ln>
        </p:spPr>
        <p:txBody>
          <a:bodyPr wrap="square" anchor="t">
            <a:spAutoFit/>
          </a:bodyPr>
          <a:lstStyle/>
          <a:p>
            <a:pPr fontAlgn="auto">
              <a:lnSpc>
                <a:spcPct val="150000"/>
              </a:lnSpc>
              <a:spcBef>
                <a:spcPts val="0"/>
              </a:spcBef>
              <a:spcAft>
                <a:spcPts val="0"/>
              </a:spcAft>
            </a:pPr>
            <a:r>
              <a:rPr sz="2800" b="1" dirty="0">
                <a:solidFill>
                  <a:srgbClr val="ED7D31"/>
                </a:solidFill>
                <a:latin typeface="楷体" panose="02010609060101010101" pitchFamily="49" charset="-122"/>
                <a:ea typeface="楷体" panose="02010609060101010101" pitchFamily="49" charset="-122"/>
                <a:sym typeface="+mn-ea"/>
              </a:rPr>
              <a:t>非数值型数据</a:t>
            </a:r>
            <a:r>
              <a:rPr sz="2800" b="1" dirty="0">
                <a:latin typeface="楷体" panose="02010609060101010101" pitchFamily="49" charset="-122"/>
                <a:ea typeface="楷体" panose="02010609060101010101" pitchFamily="49" charset="-122"/>
                <a:sym typeface="+mn-ea"/>
              </a:rPr>
              <a:t>：一类是字符及以字符为基础的数据信息，另一类是可以数字化的、范围极其广泛的如逻辑信息、图形、图像、声音等等静态的或动态的信息。</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本节内容是介绍</a:t>
            </a:r>
            <a:r>
              <a:rPr sz="2800" b="1" dirty="0">
                <a:solidFill>
                  <a:srgbClr val="ED7D31"/>
                </a:solidFill>
                <a:latin typeface="楷体" panose="02010609060101010101" pitchFamily="49" charset="-122"/>
                <a:ea typeface="楷体" panose="02010609060101010101" pitchFamily="49" charset="-122"/>
                <a:sym typeface="+mn-ea"/>
              </a:rPr>
              <a:t>字符型信息</a:t>
            </a:r>
            <a:r>
              <a:rPr sz="2800" b="1" dirty="0">
                <a:latin typeface="楷体" panose="02010609060101010101" pitchFamily="49" charset="-122"/>
                <a:ea typeface="楷体" panose="02010609060101010101" pitchFamily="49" charset="-122"/>
                <a:sym typeface="+mn-ea"/>
              </a:rPr>
              <a:t>的表示方法。字符是非数值型信息的表示基础，也可以用它来间接描述范围广泛的绝大多数信息。</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a:t>
            </a:r>
            <a:r>
              <a:rPr lang="en-US" altLang="zh-CN" sz="2800" b="1" dirty="0">
                <a:solidFill>
                  <a:schemeClr val="bg1"/>
                </a:solidFill>
                <a:latin typeface="隶书" panose="02010509060101010101" pitchFamily="49" charset="-122"/>
                <a:ea typeface="隶书" panose="02010509060101010101" pitchFamily="49" charset="-122"/>
              </a:rPr>
              <a:t>ASCII码</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70</a:t>
            </a:fld>
            <a:endParaRPr lang="zh-CN" altLang="en-US"/>
          </a:p>
        </p:txBody>
      </p:sp>
      <p:sp>
        <p:nvSpPr>
          <p:cNvPr id="3" name="Text Box 5"/>
          <p:cNvSpPr txBox="1"/>
          <p:nvPr/>
        </p:nvSpPr>
        <p:spPr>
          <a:xfrm>
            <a:off x="365125" y="940435"/>
            <a:ext cx="8150225" cy="5262245"/>
          </a:xfrm>
          <a:prstGeom prst="rect">
            <a:avLst/>
          </a:prstGeom>
          <a:noFill/>
          <a:ln w="9525">
            <a:noFill/>
          </a:ln>
        </p:spPr>
        <p:txBody>
          <a:bodyPr wrap="square" anchor="t">
            <a:spAutoFit/>
          </a:bodyPr>
          <a:lstStyle/>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国际上广泛采用美国信息交换标准码（American Standard Code For Information Interchange）作为标准，简称为</a:t>
            </a:r>
            <a:r>
              <a:rPr sz="2800" b="1" dirty="0">
                <a:solidFill>
                  <a:schemeClr val="accent6">
                    <a:lumMod val="75000"/>
                  </a:schemeClr>
                </a:solidFill>
                <a:latin typeface="楷体" panose="02010609060101010101" pitchFamily="49" charset="-122"/>
                <a:ea typeface="楷体" panose="02010609060101010101" pitchFamily="49" charset="-122"/>
                <a:sym typeface="+mn-ea"/>
              </a:rPr>
              <a:t>ASCII码</a:t>
            </a:r>
            <a:r>
              <a:rPr sz="2800" b="1" dirty="0">
                <a:latin typeface="楷体" panose="02010609060101010101" pitchFamily="49" charset="-122"/>
                <a:ea typeface="楷体" panose="02010609060101010101" pitchFamily="49" charset="-122"/>
                <a:sym typeface="+mn-ea"/>
              </a:rPr>
              <a:t>。</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在ASCII字符集中共有</a:t>
            </a:r>
            <a:r>
              <a:rPr sz="2800" b="1" dirty="0">
                <a:solidFill>
                  <a:schemeClr val="accent6">
                    <a:lumMod val="75000"/>
                  </a:schemeClr>
                </a:solidFill>
                <a:latin typeface="楷体" panose="02010609060101010101" pitchFamily="49" charset="-122"/>
                <a:ea typeface="楷体" panose="02010609060101010101" pitchFamily="49" charset="-122"/>
                <a:sym typeface="+mn-ea"/>
              </a:rPr>
              <a:t>128种常用字符</a:t>
            </a:r>
            <a:r>
              <a:rPr sz="2800" b="1" dirty="0">
                <a:latin typeface="楷体" panose="02010609060101010101" pitchFamily="49" charset="-122"/>
                <a:ea typeface="楷体" panose="02010609060101010101" pitchFamily="49" charset="-122"/>
                <a:sym typeface="+mn-ea"/>
              </a:rPr>
              <a:t>，每个ASCII字符自身有七位编码，存储器中的一个字节单元正好可以存放一个ASCII字符编码与一位奇偶校验位。这样，存储器也就常以字节为一个存储单元的编址单元。</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71</a:t>
            </a:fld>
            <a:endParaRPr lang="zh-CN" altLang="en-US"/>
          </a:p>
        </p:txBody>
      </p:sp>
      <p:sp>
        <p:nvSpPr>
          <p:cNvPr id="3" name="Text Box 5"/>
          <p:cNvSpPr txBox="1"/>
          <p:nvPr/>
        </p:nvSpPr>
        <p:spPr>
          <a:xfrm>
            <a:off x="660400" y="1174750"/>
            <a:ext cx="7957185" cy="3752215"/>
          </a:xfrm>
          <a:prstGeom prst="rect">
            <a:avLst/>
          </a:prstGeom>
          <a:noFill/>
          <a:ln w="9525">
            <a:noFill/>
          </a:ln>
        </p:spPr>
        <p:txBody>
          <a:bodyPr wrap="square" anchor="t">
            <a:spAutoFit/>
          </a:bodyPr>
          <a:lstStyle/>
          <a:p>
            <a:pPr fontAlgn="auto">
              <a:lnSpc>
                <a:spcPct val="170000"/>
              </a:lnSpc>
              <a:spcBef>
                <a:spcPts val="0"/>
              </a:spcBef>
              <a:spcAft>
                <a:spcPts val="0"/>
              </a:spcAft>
            </a:pPr>
            <a:r>
              <a:rPr sz="2800" b="1" dirty="0">
                <a:latin typeface="楷体" panose="02010609060101010101" pitchFamily="49" charset="-122"/>
                <a:ea typeface="楷体" panose="02010609060101010101" pitchFamily="49" charset="-122"/>
                <a:sym typeface="+mn-ea"/>
              </a:rPr>
              <a:t>汉字也是字符，是中文的基本组成单位。由于汉字数量极大，接近7万个，字形复杂、异体字多、同音字多，因此，汉字信息的处理比西文复杂得多。汉字信息的处理一般包括汉字的编码、输入、输出、存储、处理与传输。</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72</a:t>
            </a:fld>
            <a:endParaRPr lang="zh-CN" altLang="en-US"/>
          </a:p>
        </p:txBody>
      </p:sp>
      <p:sp>
        <p:nvSpPr>
          <p:cNvPr id="3" name="Text Box 5"/>
          <p:cNvSpPr txBox="1"/>
          <p:nvPr/>
        </p:nvSpPr>
        <p:spPr>
          <a:xfrm>
            <a:off x="2731135" y="744220"/>
            <a:ext cx="3815715" cy="737235"/>
          </a:xfrm>
          <a:prstGeom prst="rect">
            <a:avLst/>
          </a:prstGeom>
          <a:noFill/>
          <a:ln w="9525">
            <a:noFill/>
          </a:ln>
        </p:spPr>
        <p:txBody>
          <a:bodyPr wrap="square" anchor="t">
            <a:spAutoFit/>
          </a:bodyPr>
          <a:lstStyle/>
          <a:p>
            <a:pPr algn="ct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汉字信息处理的模型</a:t>
            </a:r>
          </a:p>
        </p:txBody>
      </p:sp>
      <p:pic>
        <p:nvPicPr>
          <p:cNvPr id="2" name="图片 1"/>
          <p:cNvPicPr>
            <a:picLocks noChangeAspect="1"/>
          </p:cNvPicPr>
          <p:nvPr/>
        </p:nvPicPr>
        <p:blipFill>
          <a:blip r:embed="rId5"/>
          <a:stretch>
            <a:fillRect/>
          </a:stretch>
        </p:blipFill>
        <p:spPr>
          <a:xfrm>
            <a:off x="345440" y="1489075"/>
            <a:ext cx="8453120" cy="2980055"/>
          </a:xfrm>
          <a:prstGeom prst="rect">
            <a:avLst/>
          </a:prstGeom>
        </p:spPr>
      </p:pic>
      <p:sp>
        <p:nvSpPr>
          <p:cNvPr id="7" name="Text Box 5"/>
          <p:cNvSpPr txBox="1"/>
          <p:nvPr/>
        </p:nvSpPr>
        <p:spPr>
          <a:xfrm>
            <a:off x="316230" y="4498340"/>
            <a:ext cx="8533765" cy="1899285"/>
          </a:xfrm>
          <a:prstGeom prst="rect">
            <a:avLst/>
          </a:prstGeom>
          <a:noFill/>
          <a:ln w="9525">
            <a:noFill/>
          </a:ln>
        </p:spPr>
        <p:txBody>
          <a:bodyPr wrap="square" anchor="t">
            <a:spAutoFit/>
          </a:bodyPr>
          <a:lstStyle/>
          <a:p>
            <a:pPr fontAlgn="auto">
              <a:lnSpc>
                <a:spcPct val="140000"/>
              </a:lnSpc>
              <a:spcBef>
                <a:spcPts val="0"/>
              </a:spcBef>
              <a:spcAft>
                <a:spcPts val="0"/>
              </a:spcAft>
            </a:pPr>
            <a:r>
              <a:rPr sz="2800" b="1" dirty="0">
                <a:latin typeface="楷体" panose="02010609060101010101" pitchFamily="49" charset="-122"/>
                <a:ea typeface="楷体" panose="02010609060101010101" pitchFamily="49" charset="-122"/>
                <a:sym typeface="+mn-ea"/>
              </a:rPr>
              <a:t>本小节主要讨论编码问题，不考虑输入、输出存储、处理与传输。在一个汉字信息处理系统的不同部位，需使用下述三类编码：</a:t>
            </a:r>
            <a:r>
              <a:rPr sz="2800" b="1" dirty="0">
                <a:solidFill>
                  <a:schemeClr val="accent6">
                    <a:lumMod val="75000"/>
                  </a:schemeClr>
                </a:solidFill>
                <a:latin typeface="楷体" panose="02010609060101010101" pitchFamily="49" charset="-122"/>
                <a:ea typeface="楷体" panose="02010609060101010101" pitchFamily="49" charset="-122"/>
                <a:sym typeface="+mn-ea"/>
              </a:rPr>
              <a:t>输入码、内部码、交换码</a:t>
            </a:r>
            <a:r>
              <a:rPr sz="2800" b="1" dirty="0">
                <a:latin typeface="楷体" panose="02010609060101010101" pitchFamily="49" charset="-122"/>
                <a:ea typeface="楷体" panose="02010609060101010101" pitchFamily="49"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wipe(left)">
                                      <p:cBhvr>
                                        <p:cTn id="1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73</a:t>
            </a:fld>
            <a:endParaRPr lang="zh-CN" altLang="en-US"/>
          </a:p>
        </p:txBody>
      </p:sp>
      <p:sp>
        <p:nvSpPr>
          <p:cNvPr id="3" name="Text Box 5"/>
          <p:cNvSpPr txBox="1"/>
          <p:nvPr/>
        </p:nvSpPr>
        <p:spPr>
          <a:xfrm>
            <a:off x="533400" y="1149985"/>
            <a:ext cx="8211185" cy="4615815"/>
          </a:xfrm>
          <a:prstGeom prst="rect">
            <a:avLst/>
          </a:prstGeom>
          <a:noFill/>
          <a:ln w="9525">
            <a:noFill/>
          </a:ln>
        </p:spPr>
        <p:txBody>
          <a:bodyPr wrap="square" anchor="t">
            <a:spAutoFit/>
          </a:bodyPr>
          <a:lstStyle/>
          <a:p>
            <a:pPr fontAlgn="auto">
              <a:lnSpc>
                <a:spcPct val="150000"/>
              </a:lnSpc>
              <a:spcBef>
                <a:spcPts val="0"/>
              </a:spcBef>
              <a:spcAft>
                <a:spcPts val="0"/>
              </a:spcAft>
            </a:pPr>
            <a:r>
              <a:rPr sz="2800" b="1" dirty="0">
                <a:solidFill>
                  <a:srgbClr val="0563C1"/>
                </a:solidFill>
                <a:latin typeface="楷体" panose="02010609060101010101" pitchFamily="49" charset="-122"/>
                <a:ea typeface="楷体" panose="02010609060101010101" pitchFamily="49" charset="-122"/>
                <a:sym typeface="+mn-ea"/>
              </a:rPr>
              <a:t>1、汉字输入码</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每个汉字用一个或几个键输入的编码来表示。这种编码方式称为汉字的输入编码，也称</a:t>
            </a:r>
            <a:r>
              <a:rPr sz="2800" b="1" dirty="0">
                <a:solidFill>
                  <a:srgbClr val="ED7D31"/>
                </a:solidFill>
                <a:latin typeface="楷体" panose="02010609060101010101" pitchFamily="49" charset="-122"/>
                <a:ea typeface="楷体" panose="02010609060101010101" pitchFamily="49" charset="-122"/>
                <a:sym typeface="+mn-ea"/>
              </a:rPr>
              <a:t>外码</a:t>
            </a:r>
            <a:r>
              <a:rPr sz="2800" b="1" dirty="0">
                <a:latin typeface="楷体" panose="02010609060101010101" pitchFamily="49" charset="-122"/>
                <a:ea typeface="楷体" panose="02010609060101010101" pitchFamily="49" charset="-122"/>
                <a:sym typeface="+mn-ea"/>
              </a:rPr>
              <a:t>。</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目前汉字的编码方案有几百种之多，较常使用的也有几十种之多。归纳起来，所采用的方法可分为数字码、拼音码、字形码、音形结合、以及具有某些提示和联想功能的编码等几类。</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74</a:t>
            </a:fld>
            <a:endParaRPr lang="zh-CN" altLang="en-US"/>
          </a:p>
        </p:txBody>
      </p:sp>
      <p:sp>
        <p:nvSpPr>
          <p:cNvPr id="3" name="Text Box 5"/>
          <p:cNvSpPr txBox="1"/>
          <p:nvPr/>
        </p:nvSpPr>
        <p:spPr>
          <a:xfrm>
            <a:off x="533400" y="1149985"/>
            <a:ext cx="8211185" cy="3322955"/>
          </a:xfrm>
          <a:prstGeom prst="rect">
            <a:avLst/>
          </a:prstGeom>
          <a:noFill/>
          <a:ln w="9525">
            <a:noFill/>
          </a:ln>
        </p:spPr>
        <p:txBody>
          <a:bodyPr wrap="square" anchor="t">
            <a:spAutoFit/>
          </a:bodyPr>
          <a:lstStyle/>
          <a:p>
            <a:pPr fontAlgn="auto">
              <a:lnSpc>
                <a:spcPct val="150000"/>
              </a:lnSpc>
              <a:spcBef>
                <a:spcPts val="0"/>
              </a:spcBef>
              <a:spcAft>
                <a:spcPts val="0"/>
              </a:spcAft>
            </a:pPr>
            <a:r>
              <a:rPr lang="en-US" sz="2800" b="1" dirty="0">
                <a:solidFill>
                  <a:srgbClr val="0563C1"/>
                </a:solidFill>
                <a:latin typeface="楷体" panose="02010609060101010101" pitchFamily="49" charset="-122"/>
                <a:ea typeface="楷体" panose="02010609060101010101" pitchFamily="49" charset="-122"/>
                <a:sym typeface="+mn-ea"/>
              </a:rPr>
              <a:t>2</a:t>
            </a:r>
            <a:r>
              <a:rPr sz="2800" b="1" dirty="0">
                <a:solidFill>
                  <a:srgbClr val="0563C1"/>
                </a:solidFill>
                <a:latin typeface="楷体" panose="02010609060101010101" pitchFamily="49" charset="-122"/>
                <a:ea typeface="楷体" panose="02010609060101010101" pitchFamily="49" charset="-122"/>
                <a:sym typeface="+mn-ea"/>
              </a:rPr>
              <a:t>、汉字</a:t>
            </a:r>
            <a:r>
              <a:rPr lang="zh-CN" sz="2800" b="1" dirty="0">
                <a:solidFill>
                  <a:srgbClr val="0563C1"/>
                </a:solidFill>
                <a:latin typeface="楷体" panose="02010609060101010101" pitchFamily="49" charset="-122"/>
                <a:ea typeface="楷体" panose="02010609060101010101" pitchFamily="49" charset="-122"/>
                <a:sym typeface="+mn-ea"/>
              </a:rPr>
              <a:t>内部</a:t>
            </a:r>
            <a:r>
              <a:rPr sz="2800" b="1" dirty="0">
                <a:solidFill>
                  <a:srgbClr val="0563C1"/>
                </a:solidFill>
                <a:latin typeface="楷体" panose="02010609060101010101" pitchFamily="49" charset="-122"/>
                <a:ea typeface="楷体" panose="02010609060101010101" pitchFamily="49" charset="-122"/>
                <a:sym typeface="+mn-ea"/>
              </a:rPr>
              <a:t>码</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汉字内部码也称</a:t>
            </a:r>
            <a:r>
              <a:rPr sz="2800" b="1" dirty="0">
                <a:solidFill>
                  <a:srgbClr val="ED7D31"/>
                </a:solidFill>
                <a:latin typeface="楷体" panose="02010609060101010101" pitchFamily="49" charset="-122"/>
                <a:ea typeface="楷体" panose="02010609060101010101" pitchFamily="49" charset="-122"/>
                <a:sym typeface="+mn-ea"/>
              </a:rPr>
              <a:t>机内码</a:t>
            </a:r>
            <a:r>
              <a:rPr sz="2800" b="1" dirty="0">
                <a:latin typeface="楷体" panose="02010609060101010101" pitchFamily="49" charset="-122"/>
                <a:ea typeface="楷体" panose="02010609060101010101" pitchFamily="49" charset="-122"/>
                <a:sym typeface="+mn-ea"/>
              </a:rPr>
              <a:t>，它是计算机内部供存储、处理、传输用的代码，简称内码，是汉字在设备或信息处理系统内部最基本的表达。目前国内采用的内部码有四十种左右。</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75</a:t>
            </a:fld>
            <a:endParaRPr lang="zh-CN" altLang="en-US"/>
          </a:p>
        </p:txBody>
      </p:sp>
      <p:sp>
        <p:nvSpPr>
          <p:cNvPr id="3" name="Text Box 5"/>
          <p:cNvSpPr txBox="1"/>
          <p:nvPr/>
        </p:nvSpPr>
        <p:spPr>
          <a:xfrm>
            <a:off x="161925" y="854710"/>
            <a:ext cx="8809990" cy="5262245"/>
          </a:xfrm>
          <a:prstGeom prst="rect">
            <a:avLst/>
          </a:prstGeom>
          <a:noFill/>
          <a:ln w="9525">
            <a:noFill/>
          </a:ln>
        </p:spPr>
        <p:txBody>
          <a:bodyPr wrap="square" anchor="t">
            <a:spAutoFit/>
          </a:bodyPr>
          <a:lstStyle/>
          <a:p>
            <a:pPr fontAlgn="auto">
              <a:lnSpc>
                <a:spcPct val="150000"/>
              </a:lnSpc>
              <a:spcBef>
                <a:spcPts val="0"/>
              </a:spcBef>
              <a:spcAft>
                <a:spcPts val="0"/>
              </a:spcAft>
            </a:pPr>
            <a:r>
              <a:rPr lang="en-US" sz="2800" b="1" dirty="0">
                <a:solidFill>
                  <a:srgbClr val="0563C1"/>
                </a:solidFill>
                <a:latin typeface="楷体" panose="02010609060101010101" pitchFamily="49" charset="-122"/>
                <a:ea typeface="楷体" panose="02010609060101010101" pitchFamily="49" charset="-122"/>
                <a:sym typeface="+mn-ea"/>
              </a:rPr>
              <a:t>3</a:t>
            </a:r>
            <a:r>
              <a:rPr sz="2800" b="1" dirty="0">
                <a:solidFill>
                  <a:srgbClr val="0563C1"/>
                </a:solidFill>
                <a:latin typeface="楷体" panose="02010609060101010101" pitchFamily="49" charset="-122"/>
                <a:ea typeface="楷体" panose="02010609060101010101" pitchFamily="49" charset="-122"/>
                <a:sym typeface="+mn-ea"/>
              </a:rPr>
              <a:t>、汉字</a:t>
            </a:r>
            <a:r>
              <a:rPr lang="zh-CN" sz="2800" b="1" dirty="0">
                <a:solidFill>
                  <a:srgbClr val="0563C1"/>
                </a:solidFill>
                <a:latin typeface="楷体" panose="02010609060101010101" pitchFamily="49" charset="-122"/>
                <a:ea typeface="楷体" panose="02010609060101010101" pitchFamily="49" charset="-122"/>
                <a:sym typeface="+mn-ea"/>
              </a:rPr>
              <a:t>交换</a:t>
            </a:r>
            <a:r>
              <a:rPr sz="2800" b="1" dirty="0">
                <a:solidFill>
                  <a:srgbClr val="0563C1"/>
                </a:solidFill>
                <a:latin typeface="楷体" panose="02010609060101010101" pitchFamily="49" charset="-122"/>
                <a:ea typeface="楷体" panose="02010609060101010101" pitchFamily="49" charset="-122"/>
                <a:sym typeface="+mn-ea"/>
              </a:rPr>
              <a:t>码</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如前所述，早期的各种汉字系统的内码不统一，因此在各汉字系统之间或汉字系统与通信系统之间进行汉字信息交换（即传输）时，需要制定一种编码标准，即汉字交换码。</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我国制定了《信息处理交换用的七位编码字符集》，后来成为国家标准GB1988。除个别字符（如货币符号）外，GB1988与ASCII是一致的，可视为ASCII的中国版本。</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76</a:t>
            </a:fld>
            <a:endParaRPr lang="zh-CN" altLang="en-US"/>
          </a:p>
        </p:txBody>
      </p:sp>
      <p:sp>
        <p:nvSpPr>
          <p:cNvPr id="3" name="Text Box 5"/>
          <p:cNvSpPr txBox="1"/>
          <p:nvPr/>
        </p:nvSpPr>
        <p:spPr>
          <a:xfrm>
            <a:off x="161925" y="711835"/>
            <a:ext cx="8809990" cy="5908040"/>
          </a:xfrm>
          <a:prstGeom prst="rect">
            <a:avLst/>
          </a:prstGeom>
          <a:noFill/>
          <a:ln w="9525">
            <a:noFill/>
          </a:ln>
        </p:spPr>
        <p:txBody>
          <a:bodyPr wrap="square" anchor="t">
            <a:spAutoFit/>
          </a:bodyPr>
          <a:lstStyle/>
          <a:p>
            <a:pPr fontAlgn="auto">
              <a:lnSpc>
                <a:spcPct val="150000"/>
              </a:lnSpc>
              <a:spcBef>
                <a:spcPts val="0"/>
              </a:spcBef>
              <a:spcAft>
                <a:spcPts val="0"/>
              </a:spcAft>
            </a:pPr>
            <a:r>
              <a:rPr sz="2800" b="1" dirty="0">
                <a:solidFill>
                  <a:srgbClr val="ED7D31"/>
                </a:solidFill>
                <a:latin typeface="楷体" panose="02010609060101010101" pitchFamily="49" charset="-122"/>
                <a:ea typeface="楷体" panose="02010609060101010101" pitchFamily="49" charset="-122"/>
                <a:sym typeface="+mn-ea"/>
              </a:rPr>
              <a:t>GB2312</a:t>
            </a:r>
            <a:r>
              <a:rPr sz="2800" b="1" dirty="0">
                <a:latin typeface="楷体" panose="02010609060101010101" pitchFamily="49" charset="-122"/>
                <a:ea typeface="楷体" panose="02010609060101010101" pitchFamily="49" charset="-122"/>
                <a:sym typeface="+mn-ea"/>
              </a:rPr>
              <a:t>只收录了6763个汉字字符和682个非汉字图形字符（如间隔、标点、运算符、制表符、数字、汉语拼音、拉丁文字母、希腊文字母、俄文字母、日文假名等），已不能满足用户应用的需要。</a:t>
            </a:r>
          </a:p>
          <a:p>
            <a:pPr fontAlgn="auto">
              <a:lnSpc>
                <a:spcPct val="150000"/>
              </a:lnSpc>
              <a:spcBef>
                <a:spcPts val="0"/>
              </a:spcBef>
              <a:spcAft>
                <a:spcPts val="0"/>
              </a:spcAft>
            </a:pPr>
            <a:r>
              <a:rPr sz="2800" b="1" dirty="0">
                <a:latin typeface="楷体" panose="02010609060101010101" pitchFamily="49" charset="-122"/>
                <a:ea typeface="楷体" panose="02010609060101010101" pitchFamily="49" charset="-122"/>
                <a:sym typeface="+mn-ea"/>
              </a:rPr>
              <a:t>2000年底又颁布了</a:t>
            </a:r>
            <a:r>
              <a:rPr sz="2800" b="1" dirty="0">
                <a:solidFill>
                  <a:srgbClr val="ED7D31"/>
                </a:solidFill>
                <a:latin typeface="楷体" panose="02010609060101010101" pitchFamily="49" charset="-122"/>
                <a:ea typeface="楷体" panose="02010609060101010101" pitchFamily="49" charset="-122"/>
                <a:sym typeface="+mn-ea"/>
              </a:rPr>
              <a:t>GB18030</a:t>
            </a:r>
            <a:r>
              <a:rPr sz="2800" b="1" dirty="0">
                <a:latin typeface="楷体" panose="02010609060101010101" pitchFamily="49" charset="-122"/>
                <a:ea typeface="楷体" panose="02010609060101010101" pitchFamily="49" charset="-122"/>
                <a:sym typeface="+mn-ea"/>
              </a:rPr>
              <a:t>大字符集标准，该标准涵盖27484个汉字，简繁体字均处于同一平台，并在统一的编码框架下，为以后的扩充提供了充足的空间。GB18030采用单字节、双字节、四字节混合编码，总编码空间超过150万个。</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7172"/>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a:t>
            </a:r>
            <a:r>
              <a:rPr lang="en-US" altLang="zh-CN" sz="2800" b="1" dirty="0">
                <a:solidFill>
                  <a:schemeClr val="bg1"/>
                </a:solidFill>
                <a:latin typeface="隶书" panose="02010509060101010101" pitchFamily="49" charset="-122"/>
                <a:ea typeface="隶书" panose="02010509060101010101" pitchFamily="49" charset="-122"/>
              </a:rPr>
              <a:t>汉字编码简介</a:t>
            </a: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2026/8/12</a:t>
            </a:fld>
            <a:endParaRPr lang="zh-CN" altLang="en-US" dirty="0"/>
          </a:p>
        </p:txBody>
      </p:sp>
      <p:sp>
        <p:nvSpPr>
          <p:cNvPr id="8" name="灯片编号占位符 7"/>
          <p:cNvSpPr>
            <a:spLocks noGrp="1"/>
          </p:cNvSpPr>
          <p:nvPr>
            <p:ph type="sldNum" sz="quarter" idx="12"/>
          </p:nvPr>
        </p:nvSpPr>
        <p:spPr/>
        <p:txBody>
          <a:bodyPr/>
          <a:lstStyle/>
          <a:p>
            <a:fld id="{CD331227-691F-4B7F-8493-F4368ED92163}" type="slidenum">
              <a:rPr lang="zh-CN" altLang="en-US" smtClean="0"/>
              <a:t>77</a:t>
            </a:fld>
            <a:endParaRPr lang="zh-CN" altLang="en-US"/>
          </a:p>
        </p:txBody>
      </p:sp>
      <p:sp>
        <p:nvSpPr>
          <p:cNvPr id="3" name="Text Box 5"/>
          <p:cNvSpPr txBox="1"/>
          <p:nvPr/>
        </p:nvSpPr>
        <p:spPr>
          <a:xfrm>
            <a:off x="238125" y="1026160"/>
            <a:ext cx="8353425" cy="1814830"/>
          </a:xfrm>
          <a:prstGeom prst="rect">
            <a:avLst/>
          </a:prstGeom>
          <a:noFill/>
          <a:ln w="9525">
            <a:noFill/>
          </a:ln>
        </p:spPr>
        <p:txBody>
          <a:bodyPr wrap="square" anchor="t">
            <a:spAutoFit/>
          </a:bodyPr>
          <a:lstStyle/>
          <a:p>
            <a:pPr fontAlgn="auto">
              <a:lnSpc>
                <a:spcPct val="200000"/>
              </a:lnSpc>
              <a:spcBef>
                <a:spcPts val="0"/>
              </a:spcBef>
              <a:spcAft>
                <a:spcPts val="0"/>
              </a:spcAft>
            </a:pPr>
            <a:r>
              <a:rPr sz="2800" b="1" dirty="0">
                <a:latin typeface="楷体" panose="02010609060101010101" pitchFamily="49" charset="-122"/>
                <a:ea typeface="楷体" panose="02010609060101010101" pitchFamily="49" charset="-122"/>
                <a:sym typeface="+mn-ea"/>
              </a:rPr>
              <a:t>目前内码推荐方案还不完全等同于汉字交换码国标，但二者之间存在简单的对应关系。</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介大气毕业答辩竞赛演讲PPT模板"/>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78d8eab7-90a7-4bb8-b79e-2348ee9e7c6b}"/>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0ab3acf9-e857-43e6-8540-ec53e4495bb0}"/>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449</TotalTime>
  <Words>6017</Words>
  <Application>Microsoft Office PowerPoint</Application>
  <PresentationFormat>全屏显示(4:3)</PresentationFormat>
  <Paragraphs>798</Paragraphs>
  <Slides>77</Slides>
  <Notes>74</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77</vt:i4>
      </vt:variant>
    </vt:vector>
  </HeadingPairs>
  <TitlesOfParts>
    <vt:vector size="96" baseType="lpstr">
      <vt:lpstr>PingFang SC</vt:lpstr>
      <vt:lpstr>等线</vt:lpstr>
      <vt:lpstr>黑体</vt:lpstr>
      <vt:lpstr>华文隶书</vt:lpstr>
      <vt:lpstr>华文行楷</vt:lpstr>
      <vt:lpstr>楷体</vt:lpstr>
      <vt:lpstr>隶书</vt:lpstr>
      <vt:lpstr>宋体</vt:lpstr>
      <vt:lpstr>微软雅黑</vt:lpstr>
      <vt:lpstr>Arial</vt:lpstr>
      <vt:lpstr>Arial Black</vt:lpstr>
      <vt:lpstr>Calibri</vt:lpstr>
      <vt:lpstr>Calibri Light</vt:lpstr>
      <vt:lpstr>Cambria Math</vt:lpstr>
      <vt:lpstr>Courier New</vt:lpstr>
      <vt:lpstr>Times New Roman</vt:lpstr>
      <vt:lpstr>Wingdings</vt:lpstr>
      <vt:lpstr>1_Office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蓝色简介大气毕业答辩竞赛演讲PPT模板</dc:title>
  <dc:creator>Windows 用户</dc:creator>
  <cp:lastModifiedBy>正华 吴</cp:lastModifiedBy>
  <cp:revision>1685</cp:revision>
  <dcterms:created xsi:type="dcterms:W3CDTF">2018-07-22T02:36:00Z</dcterms:created>
  <dcterms:modified xsi:type="dcterms:W3CDTF">2026-08-12T08:19:37Z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